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표지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강사 소개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목차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CHAPTER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강의 소개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교과 목표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수업 목표를 달성하면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CHAPTER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성적 평가 기준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출석 기준</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CHAPTER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주차 별 강의 계획</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과제물 제출 안내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CHAPTER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강의 요구 분석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CHAPTER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창업 인식도 조사</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창업 인식도 조사 — 설문 방법</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CHAPTER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진로준비도 검사란?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진로준비도 검사 — 접속 경로</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진로준비도 검사 — 검사 고르기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질의응답</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생성형 AI 사용 지침  · 이번에 추가한 장</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다음 차시 안내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5074890"/>
          </a:xfrm>
          <a:prstGeom prst="rect">
            <a:avLst/>
          </a:prstGeom>
          <a:ln>
            <a:noFill/>
          </a:ln>
          <a:effectLst/>
          <a:gradFill rotWithShape="1">
            <a:gsLst>
              <a:gs pos="0">
                <a:srgbClr val="0A9EE0"/>
              </a:gs>
              <a:gs pos="42000">
                <a:srgbClr val="0086CE"/>
              </a:gs>
              <a:gs pos="100000">
                <a:srgbClr val="0070C0"/>
              </a:gs>
            </a:gsLst>
            <a:lin ang="18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5093940"/>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5179665"/>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5274915"/>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438150" y="999172"/>
            <a:ext cx="3127058" cy="478155"/>
          </a:xfrm>
          <a:prstGeom prst="rect">
            <a:avLst/>
          </a:prstGeom>
          <a:noFill/>
        </p:spPr>
        <p:txBody>
          <a:bodyPr wrap="none" anchor="ctr" lIns="0" rIns="0" tIns="0" bIns="0">
            <a:noAutofit/>
          </a:bodyPr>
          <a:lstStyle/>
          <a:p>
            <a:pPr algn="l">
              <a:lnSpc>
                <a:spcPts val="2925"/>
              </a:lnSpc>
              <a:spcBef>
                <a:spcPts val="0"/>
              </a:spcBef>
              <a:spcAft>
                <a:spcPts val="0"/>
              </a:spcAft>
            </a:pPr>
            <a:r>
              <a:rPr sz="1950" b="1" spc="-20">
                <a:solidFill>
                  <a:srgbClr val="DCEEFB"/>
                </a:solidFill>
                <a:latin typeface="맑은 고딕"/>
                <a:ea typeface="맑은 고딕"/>
                <a:cs typeface="맑은 고딕"/>
              </a:rPr>
              <a:t>취업과경력개발</a:t>
            </a:r>
          </a:p>
        </p:txBody>
      </p:sp>
      <p:sp>
        <p:nvSpPr>
          <p:cNvPr id="9" name="TextBox 8"/>
          <p:cNvSpPr txBox="1"/>
          <p:nvPr/>
        </p:nvSpPr>
        <p:spPr>
          <a:xfrm>
            <a:off x="438150" y="1497330"/>
            <a:ext cx="8126254" cy="996315"/>
          </a:xfrm>
          <a:prstGeom prst="rect">
            <a:avLst/>
          </a:prstGeom>
          <a:noFill/>
        </p:spPr>
        <p:txBody>
          <a:bodyPr wrap="none" anchor="ctr" lIns="0" rIns="0" tIns="0" bIns="0">
            <a:noAutofit/>
          </a:bodyPr>
          <a:lstStyle/>
          <a:p>
            <a:pPr algn="l">
              <a:lnSpc>
                <a:spcPts val="5133"/>
              </a:lnSpc>
              <a:spcBef>
                <a:spcPts val="0"/>
              </a:spcBef>
              <a:spcAft>
                <a:spcPts val="0"/>
              </a:spcAft>
            </a:pPr>
            <a:r>
              <a:rPr sz="4350" b="1" spc="-152">
                <a:solidFill>
                  <a:srgbClr val="FFFFFF"/>
                </a:solidFill>
                <a:latin typeface="맑은 고딕"/>
                <a:ea typeface="맑은 고딕"/>
                <a:cs typeface="맑은 고딕"/>
              </a:rPr>
              <a:t>제1강_오리엔테이션</a:t>
            </a:r>
          </a:p>
        </p:txBody>
      </p:sp>
      <p:sp>
        <p:nvSpPr>
          <p:cNvPr id="10" name="TextBox 9"/>
          <p:cNvSpPr txBox="1"/>
          <p:nvPr/>
        </p:nvSpPr>
        <p:spPr>
          <a:xfrm>
            <a:off x="9045476" y="2393632"/>
            <a:ext cx="4714399" cy="2194560"/>
          </a:xfrm>
          <a:prstGeom prst="rect">
            <a:avLst/>
          </a:prstGeom>
          <a:noFill/>
        </p:spPr>
        <p:txBody>
          <a:bodyPr wrap="none" anchor="ctr" lIns="0" rIns="0" tIns="0" bIns="0">
            <a:noAutofit/>
          </a:bodyPr>
          <a:lstStyle/>
          <a:p>
            <a:pPr algn="l">
              <a:lnSpc>
                <a:spcPts val="9900"/>
              </a:lnSpc>
              <a:spcBef>
                <a:spcPts val="0"/>
              </a:spcBef>
              <a:spcAft>
                <a:spcPts val="0"/>
              </a:spcAft>
            </a:pPr>
            <a:r>
              <a:rPr sz="9900" b="1" spc="-446">
                <a:solidFill>
                  <a:srgbClr val="FFFFFF"/>
                </a:solidFill>
                <a:latin typeface="Arial"/>
                <a:ea typeface="맑은 고딕"/>
                <a:cs typeface="맑은 고딕"/>
              </a:rPr>
              <a:t>dima</a:t>
            </a:r>
          </a:p>
        </p:txBody>
      </p:sp>
      <p:sp>
        <p:nvSpPr>
          <p:cNvPr id="11" name="Oval 10"/>
          <p:cNvSpPr/>
          <p:nvPr/>
        </p:nvSpPr>
        <p:spPr>
          <a:xfrm>
            <a:off x="9783952" y="2454402"/>
            <a:ext cx="238887" cy="2388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68690" y="5547836"/>
            <a:ext cx="3185160" cy="429578"/>
          </a:xfrm>
          <a:prstGeom prst="rect">
            <a:avLst/>
          </a:prstGeom>
          <a:noFill/>
        </p:spPr>
        <p:txBody>
          <a:bodyPr wrap="none" anchor="ctr" lIns="0" rIns="0" tIns="0" bIns="0">
            <a:noAutofit/>
          </a:bodyPr>
          <a:lstStyle/>
          <a:p>
            <a:pPr algn="r">
              <a:lnSpc>
                <a:spcPts val="2587"/>
              </a:lnSpc>
              <a:spcBef>
                <a:spcPts val="0"/>
              </a:spcBef>
              <a:spcAft>
                <a:spcPts val="0"/>
              </a:spcAft>
            </a:pPr>
            <a:r>
              <a:rPr sz="1725" b="1">
                <a:solidFill>
                  <a:srgbClr val="0B2A4A"/>
                </a:solidFill>
                <a:latin typeface="맑은 고딕"/>
                <a:ea typeface="맑은 고딕"/>
                <a:cs typeface="맑은 고딕"/>
              </a:rPr>
              <a:t>창의융합교양학부</a:t>
            </a:r>
          </a:p>
        </p:txBody>
      </p:sp>
      <p:sp>
        <p:nvSpPr>
          <p:cNvPr id="13" name="TextBox 12"/>
          <p:cNvSpPr txBox="1"/>
          <p:nvPr/>
        </p:nvSpPr>
        <p:spPr>
          <a:xfrm>
            <a:off x="9522857" y="5990749"/>
            <a:ext cx="2230993" cy="429578"/>
          </a:xfrm>
          <a:prstGeom prst="rect">
            <a:avLst/>
          </a:prstGeom>
          <a:noFill/>
        </p:spPr>
        <p:txBody>
          <a:bodyPr wrap="none" anchor="ctr" lIns="0" rIns="0" tIns="0" bIns="0">
            <a:noAutofit/>
          </a:bodyPr>
          <a:lstStyle/>
          <a:p>
            <a:pPr algn="r">
              <a:lnSpc>
                <a:spcPts val="2587"/>
              </a:lnSpc>
              <a:spcBef>
                <a:spcPts val="0"/>
              </a:spcBef>
              <a:spcAft>
                <a:spcPts val="0"/>
              </a:spcAft>
            </a:pPr>
            <a:r>
              <a:rPr sz="1725" b="1">
                <a:solidFill>
                  <a:srgbClr val="3D4450"/>
                </a:solidFill>
                <a:latin typeface="맑은 고딕"/>
                <a:ea typeface="맑은 고딕"/>
                <a:cs typeface="맑은 고딕"/>
              </a:rPr>
              <a:t>정동엽 교수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112395"/>
            <a:ext cx="5158740"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FFF"/>
                </a:solidFill>
                <a:latin typeface="맑은 고딕"/>
                <a:ea typeface="맑은 고딕"/>
                <a:cs typeface="맑은 고딕"/>
              </a:rPr>
              <a:t>여러분과 함께 하는 저는 ?</a:t>
            </a:r>
          </a:p>
        </p:txBody>
      </p:sp>
      <p:sp>
        <p:nvSpPr>
          <p:cNvPr id="6" name="TextBox 5"/>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7" name="Oval 6"/>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150" y="857250"/>
            <a:ext cx="4703862" cy="1496913"/>
          </a:xfrm>
          <a:prstGeom prst="roundRect">
            <a:avLst>
              <a:gd name="adj" fmla="val 7635"/>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581025" y="901065"/>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10" name="TextBox 9"/>
          <p:cNvSpPr txBox="1"/>
          <p:nvPr/>
        </p:nvSpPr>
        <p:spPr>
          <a:xfrm>
            <a:off x="581025" y="1210628"/>
            <a:ext cx="2031921" cy="283845"/>
          </a:xfrm>
          <a:prstGeom prst="rect">
            <a:avLst/>
          </a:prstGeom>
          <a:noFill/>
        </p:spPr>
        <p:txBody>
          <a:bodyPr wrap="none" anchor="ctr" lIns="0" rIns="0" tIns="0" bIns="0">
            <a:noAutofit/>
          </a:bodyPr>
          <a:lstStyle/>
          <a:p>
            <a:pPr algn="l">
              <a:lnSpc>
                <a:spcPts val="1575"/>
              </a:lnSpc>
              <a:spcBef>
                <a:spcPts val="0"/>
              </a:spcBef>
              <a:spcAft>
                <a:spcPts val="0"/>
              </a:spcAft>
            </a:pPr>
            <a:r>
              <a:rPr sz="1050" b="1" spc="126">
                <a:solidFill>
                  <a:srgbClr val="0A9EE0"/>
                </a:solidFill>
                <a:latin typeface="Arial"/>
                <a:ea typeface="맑은 고딕"/>
                <a:cs typeface="맑은 고딕"/>
              </a:rPr>
              <a:t>INSTRUCTOR</a:t>
            </a:r>
          </a:p>
        </p:txBody>
      </p:sp>
      <p:sp>
        <p:nvSpPr>
          <p:cNvPr id="11" name="TextBox 10"/>
          <p:cNvSpPr txBox="1"/>
          <p:nvPr/>
        </p:nvSpPr>
        <p:spPr>
          <a:xfrm>
            <a:off x="581025" y="1447800"/>
            <a:ext cx="1434465"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정 동 엽</a:t>
            </a:r>
          </a:p>
        </p:txBody>
      </p:sp>
      <p:sp>
        <p:nvSpPr>
          <p:cNvPr id="12" name="TextBox 11"/>
          <p:cNvSpPr txBox="1"/>
          <p:nvPr/>
        </p:nvSpPr>
        <p:spPr>
          <a:xfrm>
            <a:off x="581025" y="1809750"/>
            <a:ext cx="4418112" cy="458688"/>
          </a:xfrm>
          <a:prstGeom prst="rect">
            <a:avLst/>
          </a:prstGeom>
          <a:noFill/>
        </p:spPr>
        <p:txBody>
          <a:bodyPr wrap="square" anchor="t" lIns="0" rIns="0" tIns="0" bIns="0">
            <a:noAutofit/>
          </a:bodyPr>
          <a:lstStyle/>
          <a:p>
            <a:pPr algn="l">
              <a:lnSpc>
                <a:spcPts val="1655"/>
              </a:lnSpc>
              <a:spcBef>
                <a:spcPts val="0"/>
              </a:spcBef>
              <a:spcAft>
                <a:spcPts val="0"/>
              </a:spcAft>
            </a:pPr>
            <a:r>
              <a:rPr sz="1200" b="0">
                <a:solidFill>
                  <a:srgbClr val="3D4450"/>
                </a:solidFill>
                <a:latin typeface="맑은 고딕"/>
                <a:ea typeface="맑은 고딕"/>
                <a:cs typeface="맑은 고딕"/>
              </a:rPr>
              <a:t>창의융합교양학부</a:t>
            </a:r>
            <a:r>
              <a:rPr sz="1200" b="0">
                <a:solidFill>
                  <a:srgbClr val="3D4450"/>
                </a:solidFill>
                <a:latin typeface="맑은 고딕"/>
                <a:ea typeface="맑은 고딕"/>
                <a:cs typeface="맑은 고딕"/>
              </a:rPr>
              <a:t/>
            </a:r>
          </a:p>
          <a:p>
            <a:pPr algn="l">
              <a:lnSpc>
                <a:spcPts val="1655"/>
              </a:lnSpc>
              <a:spcBef>
                <a:spcPts val="0"/>
              </a:spcBef>
              <a:spcAft>
                <a:spcPts val="0"/>
              </a:spcAft>
            </a:pPr>
            <a:r>
              <a:rPr sz="1200" b="0">
                <a:solidFill>
                  <a:srgbClr val="3D4450"/>
                </a:solidFill>
                <a:latin typeface="맑은 고딕"/>
                <a:ea typeface="맑은 고딕"/>
                <a:cs typeface="맑은 고딕"/>
              </a:rPr>
              <a:t/>
            </a:r>
            <a:r>
              <a:rPr sz="1200" b="0">
                <a:solidFill>
                  <a:srgbClr val="3D4450"/>
                </a:solidFill>
                <a:latin typeface="맑은 고딕"/>
                <a:ea typeface="맑은 고딕"/>
                <a:cs typeface="맑은 고딕"/>
              </a:rPr>
              <a:t>취업과 경력개발</a:t>
            </a:r>
          </a:p>
        </p:txBody>
      </p:sp>
      <p:sp>
        <p:nvSpPr>
          <p:cNvPr id="13" name="Rounded Rectangle 12"/>
          <p:cNvSpPr/>
          <p:nvPr/>
        </p:nvSpPr>
        <p:spPr>
          <a:xfrm>
            <a:off x="438150" y="2630388"/>
            <a:ext cx="4703862" cy="500062"/>
          </a:xfrm>
          <a:prstGeom prst="roundRect">
            <a:avLst>
              <a:gd name="adj" fmla="val 15238"/>
            </a:avLst>
          </a:prstGeom>
          <a:solidFill>
            <a:srgbClr val="EDF4FC"/>
          </a:solidFill>
          <a:ln w="1905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604838" y="2763738"/>
            <a:ext cx="219075" cy="219075"/>
          </a:xfrm>
          <a:prstGeom prst="rect">
            <a:avLst/>
          </a:prstGeom>
        </p:spPr>
      </p:pic>
      <p:sp>
        <p:nvSpPr>
          <p:cNvPr id="15" name="TextBox 14"/>
          <p:cNvSpPr txBox="1"/>
          <p:nvPr/>
        </p:nvSpPr>
        <p:spPr>
          <a:xfrm>
            <a:off x="904875" y="2700397"/>
            <a:ext cx="3543538" cy="364808"/>
          </a:xfrm>
          <a:prstGeom prst="rect">
            <a:avLst/>
          </a:prstGeom>
          <a:noFill/>
        </p:spPr>
        <p:txBody>
          <a:bodyPr wrap="none" anchor="ctr" lIns="0" rIns="0" tIns="0" bIns="0">
            <a:noAutofit/>
          </a:bodyPr>
          <a:lstStyle/>
          <a:p>
            <a:pPr algn="l">
              <a:lnSpc>
                <a:spcPts val="2137"/>
              </a:lnSpc>
              <a:spcBef>
                <a:spcPts val="0"/>
              </a:spcBef>
              <a:spcAft>
                <a:spcPts val="0"/>
              </a:spcAft>
            </a:pPr>
            <a:r>
              <a:rPr sz="1425" b="1">
                <a:solidFill>
                  <a:srgbClr val="0B2A4A"/>
                </a:solidFill>
                <a:latin typeface="맑은 고딕"/>
                <a:ea typeface="맑은 고딕"/>
                <a:cs typeface="맑은 고딕"/>
              </a:rPr>
              <a:t>dimajob4u@gmail.com</a:t>
            </a:r>
          </a:p>
        </p:txBody>
      </p:sp>
      <p:sp>
        <p:nvSpPr>
          <p:cNvPr id="16" name="TextBox 15"/>
          <p:cNvSpPr txBox="1"/>
          <p:nvPr/>
        </p:nvSpPr>
        <p:spPr>
          <a:xfrm>
            <a:off x="5161062" y="813435"/>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17" name="TextBox 16"/>
          <p:cNvSpPr txBox="1"/>
          <p:nvPr/>
        </p:nvSpPr>
        <p:spPr>
          <a:xfrm>
            <a:off x="5665887" y="816292"/>
            <a:ext cx="374927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아시아퓨처스그룹 사무국장</a:t>
            </a:r>
          </a:p>
        </p:txBody>
      </p:sp>
      <p:sp>
        <p:nvSpPr>
          <p:cNvPr id="18" name="TextBox 17"/>
          <p:cNvSpPr txBox="1"/>
          <p:nvPr/>
        </p:nvSpPr>
        <p:spPr>
          <a:xfrm>
            <a:off x="5161062" y="1138178"/>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19" name="TextBox 18"/>
          <p:cNvSpPr txBox="1"/>
          <p:nvPr/>
        </p:nvSpPr>
        <p:spPr>
          <a:xfrm>
            <a:off x="5665887" y="1141035"/>
            <a:ext cx="655320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아시아미래인재연구소 (前)교육실장 및 전문연구원</a:t>
            </a:r>
          </a:p>
        </p:txBody>
      </p:sp>
      <p:sp>
        <p:nvSpPr>
          <p:cNvPr id="20" name="TextBox 19"/>
          <p:cNvSpPr txBox="1"/>
          <p:nvPr/>
        </p:nvSpPr>
        <p:spPr>
          <a:xfrm>
            <a:off x="5161062" y="1462921"/>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21" name="TextBox 20"/>
          <p:cNvSpPr txBox="1"/>
          <p:nvPr/>
        </p:nvSpPr>
        <p:spPr>
          <a:xfrm>
            <a:off x="5665887" y="1465778"/>
            <a:ext cx="554759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경기대학교 일반대학원 직업학과 박사수료</a:t>
            </a:r>
          </a:p>
        </p:txBody>
      </p:sp>
      <p:sp>
        <p:nvSpPr>
          <p:cNvPr id="22" name="TextBox 21"/>
          <p:cNvSpPr txBox="1"/>
          <p:nvPr/>
        </p:nvSpPr>
        <p:spPr>
          <a:xfrm>
            <a:off x="5161062" y="1787664"/>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23" name="TextBox 22"/>
          <p:cNvSpPr txBox="1"/>
          <p:nvPr/>
        </p:nvSpPr>
        <p:spPr>
          <a:xfrm>
            <a:off x="5665887" y="1790521"/>
            <a:ext cx="652295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가천대학교 경영대학원 고용 및 직업상담학과 석사</a:t>
            </a:r>
          </a:p>
        </p:txBody>
      </p:sp>
      <p:sp>
        <p:nvSpPr>
          <p:cNvPr id="24" name="TextBox 23"/>
          <p:cNvSpPr txBox="1"/>
          <p:nvPr/>
        </p:nvSpPr>
        <p:spPr>
          <a:xfrm>
            <a:off x="5161062" y="2112407"/>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25" name="TextBox 24"/>
          <p:cNvSpPr txBox="1"/>
          <p:nvPr/>
        </p:nvSpPr>
        <p:spPr>
          <a:xfrm>
            <a:off x="5665887" y="2115264"/>
            <a:ext cx="8748236"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한국기술교육대학교 능력개발원 4차 산업혁명과 일/직업의 변화 교수</a:t>
            </a:r>
          </a:p>
        </p:txBody>
      </p:sp>
      <p:sp>
        <p:nvSpPr>
          <p:cNvPr id="26" name="TextBox 25"/>
          <p:cNvSpPr txBox="1"/>
          <p:nvPr/>
        </p:nvSpPr>
        <p:spPr>
          <a:xfrm>
            <a:off x="5161062" y="2437150"/>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27" name="TextBox 26"/>
          <p:cNvSpPr txBox="1"/>
          <p:nvPr/>
        </p:nvSpPr>
        <p:spPr>
          <a:xfrm>
            <a:off x="5665887" y="2440007"/>
            <a:ext cx="9610249"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서울산업진흥원 신 직업전문컨설턴트 및 자문위원, 창업 닥터(2013~2020년)</a:t>
            </a:r>
          </a:p>
        </p:txBody>
      </p:sp>
      <p:sp>
        <p:nvSpPr>
          <p:cNvPr id="28" name="TextBox 27"/>
          <p:cNvSpPr txBox="1"/>
          <p:nvPr/>
        </p:nvSpPr>
        <p:spPr>
          <a:xfrm>
            <a:off x="5161062" y="2761893"/>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29" name="TextBox 28"/>
          <p:cNvSpPr txBox="1"/>
          <p:nvPr/>
        </p:nvSpPr>
        <p:spPr>
          <a:xfrm>
            <a:off x="5665887" y="2764750"/>
            <a:ext cx="650748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고용노동부 직업심리 전문가(성인, 청소년, 대학생)</a:t>
            </a:r>
          </a:p>
        </p:txBody>
      </p:sp>
      <p:sp>
        <p:nvSpPr>
          <p:cNvPr id="30" name="TextBox 29"/>
          <p:cNvSpPr txBox="1"/>
          <p:nvPr/>
        </p:nvSpPr>
        <p:spPr>
          <a:xfrm>
            <a:off x="5161062" y="3086636"/>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31" name="TextBox 30"/>
          <p:cNvSpPr txBox="1"/>
          <p:nvPr/>
        </p:nvSpPr>
        <p:spPr>
          <a:xfrm>
            <a:off x="5665887" y="3089493"/>
            <a:ext cx="565404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고용노동부 온라인직업심리 전문가(청소년)</a:t>
            </a:r>
          </a:p>
        </p:txBody>
      </p:sp>
      <p:sp>
        <p:nvSpPr>
          <p:cNvPr id="32" name="TextBox 31"/>
          <p:cNvSpPr txBox="1"/>
          <p:nvPr/>
        </p:nvSpPr>
        <p:spPr>
          <a:xfrm>
            <a:off x="5161062" y="3411379"/>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33" name="TextBox 32"/>
          <p:cNvSpPr txBox="1"/>
          <p:nvPr/>
        </p:nvSpPr>
        <p:spPr>
          <a:xfrm>
            <a:off x="5665887" y="3414236"/>
            <a:ext cx="382547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미래학기반 커리어 컨설턴트</a:t>
            </a:r>
          </a:p>
        </p:txBody>
      </p:sp>
      <p:sp>
        <p:nvSpPr>
          <p:cNvPr id="34" name="TextBox 33"/>
          <p:cNvSpPr txBox="1"/>
          <p:nvPr/>
        </p:nvSpPr>
        <p:spPr>
          <a:xfrm>
            <a:off x="5161062" y="3736122"/>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35" name="TextBox 34"/>
          <p:cNvSpPr txBox="1"/>
          <p:nvPr/>
        </p:nvSpPr>
        <p:spPr>
          <a:xfrm>
            <a:off x="5665887" y="3738979"/>
            <a:ext cx="1010435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IT업계 20년 근무(교학사, 삼보컴퓨터 등에서 교육정보화 관련 컨설팅 업무 진행)</a:t>
            </a:r>
          </a:p>
        </p:txBody>
      </p:sp>
      <p:sp>
        <p:nvSpPr>
          <p:cNvPr id="36" name="TextBox 35"/>
          <p:cNvSpPr txBox="1"/>
          <p:nvPr/>
        </p:nvSpPr>
        <p:spPr>
          <a:xfrm>
            <a:off x="5161062" y="4060865"/>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37" name="TextBox 36"/>
          <p:cNvSpPr txBox="1"/>
          <p:nvPr/>
        </p:nvSpPr>
        <p:spPr>
          <a:xfrm>
            <a:off x="5665887" y="4063722"/>
            <a:ext cx="435864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한국어교원 2급(문화체육관광부)</a:t>
            </a:r>
          </a:p>
        </p:txBody>
      </p:sp>
      <p:sp>
        <p:nvSpPr>
          <p:cNvPr id="38" name="TextBox 37"/>
          <p:cNvSpPr txBox="1"/>
          <p:nvPr/>
        </p:nvSpPr>
        <p:spPr>
          <a:xfrm>
            <a:off x="5161062" y="4385608"/>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39" name="TextBox 38"/>
          <p:cNvSpPr txBox="1"/>
          <p:nvPr/>
        </p:nvSpPr>
        <p:spPr>
          <a:xfrm>
            <a:off x="5665887" y="4388465"/>
            <a:ext cx="742188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고용노동부 직업훈련교사 3급(마케팅, 정보기술전략·계획)</a:t>
            </a:r>
          </a:p>
        </p:txBody>
      </p:sp>
      <p:sp>
        <p:nvSpPr>
          <p:cNvPr id="40" name="TextBox 39"/>
          <p:cNvSpPr txBox="1"/>
          <p:nvPr/>
        </p:nvSpPr>
        <p:spPr>
          <a:xfrm>
            <a:off x="5161062" y="4710351"/>
            <a:ext cx="628650" cy="291465"/>
          </a:xfrm>
          <a:prstGeom prst="rect">
            <a:avLst/>
          </a:prstGeom>
          <a:noFill/>
        </p:spPr>
        <p:txBody>
          <a:bodyPr wrap="none" lIns="0" rIns="0" tIns="0" bIns="0" anchor="ctr">
            <a:noAutofit/>
          </a:bodyPr>
          <a:lstStyle/>
          <a:p>
            <a:pPr algn="ctr">
              <a:lnSpc>
                <a:spcPts val="1620"/>
              </a:lnSpc>
            </a:pPr>
            <a:r>
              <a:rPr sz="1350" b="1">
                <a:solidFill>
                  <a:srgbClr val="0A9EE0"/>
                </a:solidFill>
                <a:latin typeface="맑은 고딕"/>
                <a:ea typeface="맑은 고딕"/>
                <a:cs typeface="맑은 고딕"/>
              </a:rPr>
              <a:t>▸</a:t>
            </a:r>
          </a:p>
        </p:txBody>
      </p:sp>
      <p:sp>
        <p:nvSpPr>
          <p:cNvPr id="41" name="TextBox 40"/>
          <p:cNvSpPr txBox="1"/>
          <p:nvPr/>
        </p:nvSpPr>
        <p:spPr>
          <a:xfrm>
            <a:off x="5665887" y="4713208"/>
            <a:ext cx="8119110"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모금전문가, 평생교육사, 사회복지사, 국제공인 NLP Practitioner</a:t>
            </a:r>
          </a:p>
        </p:txBody>
      </p:sp>
      <p:sp>
        <p:nvSpPr>
          <p:cNvPr id="42" name="TextBox 41"/>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6" name="Oval 5"/>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03747" y="1196489"/>
            <a:ext cx="535305" cy="769620"/>
          </a:xfrm>
          <a:prstGeom prst="rect">
            <a:avLst/>
          </a:prstGeom>
          <a:noFill/>
        </p:spPr>
        <p:txBody>
          <a:bodyPr wrap="none" anchor="ctr" lIns="0" rIns="0" tIns="0" bIns="0">
            <a:noAutofit/>
          </a:bodyPr>
          <a:lstStyle/>
          <a:p>
            <a:pPr algn="l">
              <a:lnSpc>
                <a:spcPts val="4950"/>
              </a:lnSpc>
              <a:spcBef>
                <a:spcPts val="0"/>
              </a:spcBef>
              <a:spcAft>
                <a:spcPts val="0"/>
              </a:spcAft>
            </a:pPr>
            <a:r>
              <a:rPr sz="3300" b="0" spc="-99">
                <a:solidFill>
                  <a:srgbClr val="9DC3E6"/>
                </a:solidFill>
                <a:latin typeface="맑은 고딕"/>
                <a:ea typeface="맑은 고딕"/>
                <a:cs typeface="맑은 고딕"/>
              </a:rPr>
              <a:t>|</a:t>
            </a:r>
          </a:p>
        </p:txBody>
      </p:sp>
      <p:sp>
        <p:nvSpPr>
          <p:cNvPr id="8" name="TextBox 7"/>
          <p:cNvSpPr txBox="1"/>
          <p:nvPr/>
        </p:nvSpPr>
        <p:spPr>
          <a:xfrm>
            <a:off x="1652588" y="1396038"/>
            <a:ext cx="271010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6B7280"/>
                </a:solidFill>
                <a:latin typeface="Arial"/>
                <a:ea typeface="맑은 고딕"/>
                <a:cs typeface="맑은 고딕"/>
              </a:rPr>
              <a:t>CONTENTS</a:t>
            </a:r>
          </a:p>
        </p:txBody>
      </p:sp>
      <p:sp>
        <p:nvSpPr>
          <p:cNvPr id="9" name="Rectangle 8"/>
          <p:cNvSpPr/>
          <p:nvPr/>
        </p:nvSpPr>
        <p:spPr>
          <a:xfrm>
            <a:off x="1352550" y="2581573"/>
            <a:ext cx="10401300" cy="604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1352550" y="3186410"/>
            <a:ext cx="10401300" cy="0"/>
          </a:xfrm>
          <a:prstGeom prst="line">
            <a:avLst/>
          </a:prstGeom>
          <a:ln w="19050">
            <a:solidFill>
              <a:srgbClr val="16181D"/>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390650" y="2692063"/>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2550" y="2417743"/>
            <a:ext cx="821769" cy="899160"/>
          </a:xfrm>
          <a:prstGeom prst="rect">
            <a:avLst/>
          </a:prstGeom>
          <a:noFill/>
        </p:spPr>
        <p:txBody>
          <a:bodyPr wrap="none" anchor="ctr" lIns="0" rIns="0" tIns="0" bIns="0">
            <a:noAutofit/>
          </a:bodyPr>
          <a:lstStyle/>
          <a:p>
            <a:pPr algn="l">
              <a:lnSpc>
                <a:spcPts val="3900"/>
              </a:lnSpc>
              <a:spcBef>
                <a:spcPts val="0"/>
              </a:spcBef>
              <a:spcAft>
                <a:spcPts val="0"/>
              </a:spcAft>
            </a:pPr>
            <a:r>
              <a:rPr sz="3900" b="1">
                <a:solidFill>
                  <a:srgbClr val="41B6E6"/>
                </a:solidFill>
                <a:latin typeface="Arial"/>
                <a:ea typeface="맑은 고딕"/>
                <a:cs typeface="맑은 고딕"/>
              </a:rPr>
              <a:t>1</a:t>
            </a:r>
          </a:p>
        </p:txBody>
      </p:sp>
      <p:sp>
        <p:nvSpPr>
          <p:cNvPr id="13" name="TextBox 12"/>
          <p:cNvSpPr txBox="1"/>
          <p:nvPr/>
        </p:nvSpPr>
        <p:spPr>
          <a:xfrm>
            <a:off x="1905000" y="2677299"/>
            <a:ext cx="43741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4A5260"/>
                </a:solidFill>
                <a:latin typeface="맑은 고딕"/>
                <a:ea typeface="맑은 고딕"/>
                <a:cs typeface="맑은 고딕"/>
              </a:rPr>
              <a:t>강의 개요(강의계획서)</a:t>
            </a:r>
          </a:p>
        </p:txBody>
      </p:sp>
      <p:sp>
        <p:nvSpPr>
          <p:cNvPr id="14" name="Rectangle 13"/>
          <p:cNvSpPr/>
          <p:nvPr/>
        </p:nvSpPr>
        <p:spPr>
          <a:xfrm>
            <a:off x="1352550" y="3243560"/>
            <a:ext cx="10401300" cy="604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5" name="Connector 14"/>
          <p:cNvCxnSpPr/>
          <p:nvPr/>
        </p:nvCxnSpPr>
        <p:spPr>
          <a:xfrm>
            <a:off x="1352550" y="3848398"/>
            <a:ext cx="10401300" cy="0"/>
          </a:xfrm>
          <a:prstGeom prst="line">
            <a:avLst/>
          </a:prstGeom>
          <a:ln w="19050">
            <a:solidFill>
              <a:srgbClr val="16181D"/>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90650" y="3354050"/>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3079730"/>
            <a:ext cx="821769" cy="899160"/>
          </a:xfrm>
          <a:prstGeom prst="rect">
            <a:avLst/>
          </a:prstGeom>
          <a:noFill/>
        </p:spPr>
        <p:txBody>
          <a:bodyPr wrap="none" anchor="ctr" lIns="0" rIns="0" tIns="0" bIns="0">
            <a:noAutofit/>
          </a:bodyPr>
          <a:lstStyle/>
          <a:p>
            <a:pPr algn="l">
              <a:lnSpc>
                <a:spcPts val="3900"/>
              </a:lnSpc>
              <a:spcBef>
                <a:spcPts val="0"/>
              </a:spcBef>
              <a:spcAft>
                <a:spcPts val="0"/>
              </a:spcAft>
            </a:pPr>
            <a:r>
              <a:rPr sz="3900" b="1">
                <a:solidFill>
                  <a:srgbClr val="41B6E6"/>
                </a:solidFill>
                <a:latin typeface="Arial"/>
                <a:ea typeface="맑은 고딕"/>
                <a:cs typeface="맑은 고딕"/>
              </a:rPr>
              <a:t>2</a:t>
            </a:r>
          </a:p>
        </p:txBody>
      </p:sp>
      <p:sp>
        <p:nvSpPr>
          <p:cNvPr id="18" name="TextBox 17"/>
          <p:cNvSpPr txBox="1"/>
          <p:nvPr/>
        </p:nvSpPr>
        <p:spPr>
          <a:xfrm>
            <a:off x="1905000" y="3339286"/>
            <a:ext cx="2100262"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4A5260"/>
                </a:solidFill>
                <a:latin typeface="맑은 고딕"/>
                <a:ea typeface="맑은 고딕"/>
                <a:cs typeface="맑은 고딕"/>
              </a:rPr>
              <a:t>성적 평가</a:t>
            </a:r>
          </a:p>
        </p:txBody>
      </p:sp>
      <p:sp>
        <p:nvSpPr>
          <p:cNvPr id="19" name="Rectangle 18"/>
          <p:cNvSpPr/>
          <p:nvPr/>
        </p:nvSpPr>
        <p:spPr>
          <a:xfrm>
            <a:off x="1352550" y="3905548"/>
            <a:ext cx="10401300" cy="604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20" name="Connector 19"/>
          <p:cNvCxnSpPr/>
          <p:nvPr/>
        </p:nvCxnSpPr>
        <p:spPr>
          <a:xfrm>
            <a:off x="1352550" y="4510385"/>
            <a:ext cx="10401300" cy="0"/>
          </a:xfrm>
          <a:prstGeom prst="line">
            <a:avLst/>
          </a:prstGeom>
          <a:ln w="19050">
            <a:solidFill>
              <a:srgbClr val="16181D"/>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390650" y="4016038"/>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2550" y="3741718"/>
            <a:ext cx="821769" cy="899160"/>
          </a:xfrm>
          <a:prstGeom prst="rect">
            <a:avLst/>
          </a:prstGeom>
          <a:noFill/>
        </p:spPr>
        <p:txBody>
          <a:bodyPr wrap="none" anchor="ctr" lIns="0" rIns="0" tIns="0" bIns="0">
            <a:noAutofit/>
          </a:bodyPr>
          <a:lstStyle/>
          <a:p>
            <a:pPr algn="l">
              <a:lnSpc>
                <a:spcPts val="3900"/>
              </a:lnSpc>
              <a:spcBef>
                <a:spcPts val="0"/>
              </a:spcBef>
              <a:spcAft>
                <a:spcPts val="0"/>
              </a:spcAft>
            </a:pPr>
            <a:r>
              <a:rPr sz="3900" b="1">
                <a:solidFill>
                  <a:srgbClr val="41B6E6"/>
                </a:solidFill>
                <a:latin typeface="Arial"/>
                <a:ea typeface="맑은 고딕"/>
                <a:cs typeface="맑은 고딕"/>
              </a:rPr>
              <a:t>3</a:t>
            </a:r>
          </a:p>
        </p:txBody>
      </p:sp>
      <p:sp>
        <p:nvSpPr>
          <p:cNvPr id="23" name="TextBox 22"/>
          <p:cNvSpPr txBox="1"/>
          <p:nvPr/>
        </p:nvSpPr>
        <p:spPr>
          <a:xfrm>
            <a:off x="1905000" y="4001274"/>
            <a:ext cx="311896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4A5260"/>
                </a:solidFill>
                <a:latin typeface="맑은 고딕"/>
                <a:ea typeface="맑은 고딕"/>
                <a:cs typeface="맑은 고딕"/>
              </a:rPr>
              <a:t>주 별 강의 계획</a:t>
            </a:r>
          </a:p>
        </p:txBody>
      </p:sp>
      <p:sp>
        <p:nvSpPr>
          <p:cNvPr id="24" name="Rectangle 23"/>
          <p:cNvSpPr/>
          <p:nvPr/>
        </p:nvSpPr>
        <p:spPr>
          <a:xfrm>
            <a:off x="1352550" y="4567535"/>
            <a:ext cx="10401300" cy="604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25" name="Connector 24"/>
          <p:cNvCxnSpPr/>
          <p:nvPr/>
        </p:nvCxnSpPr>
        <p:spPr>
          <a:xfrm>
            <a:off x="1352550" y="5172373"/>
            <a:ext cx="10401300" cy="0"/>
          </a:xfrm>
          <a:prstGeom prst="line">
            <a:avLst/>
          </a:prstGeom>
          <a:ln w="19050">
            <a:solidFill>
              <a:srgbClr val="16181D"/>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390650" y="4678025"/>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52550" y="4403705"/>
            <a:ext cx="821769" cy="899160"/>
          </a:xfrm>
          <a:prstGeom prst="rect">
            <a:avLst/>
          </a:prstGeom>
          <a:noFill/>
        </p:spPr>
        <p:txBody>
          <a:bodyPr wrap="none" anchor="ctr" lIns="0" rIns="0" tIns="0" bIns="0">
            <a:noAutofit/>
          </a:bodyPr>
          <a:lstStyle/>
          <a:p>
            <a:pPr algn="l">
              <a:lnSpc>
                <a:spcPts val="3900"/>
              </a:lnSpc>
              <a:spcBef>
                <a:spcPts val="0"/>
              </a:spcBef>
              <a:spcAft>
                <a:spcPts val="0"/>
              </a:spcAft>
            </a:pPr>
            <a:r>
              <a:rPr sz="3900" b="1">
                <a:solidFill>
                  <a:srgbClr val="41B6E6"/>
                </a:solidFill>
                <a:latin typeface="Arial"/>
                <a:ea typeface="맑은 고딕"/>
                <a:cs typeface="맑은 고딕"/>
              </a:rPr>
              <a:t>4</a:t>
            </a:r>
          </a:p>
        </p:txBody>
      </p:sp>
      <p:sp>
        <p:nvSpPr>
          <p:cNvPr id="28" name="TextBox 27"/>
          <p:cNvSpPr txBox="1"/>
          <p:nvPr/>
        </p:nvSpPr>
        <p:spPr>
          <a:xfrm>
            <a:off x="1905000" y="4663261"/>
            <a:ext cx="3864769"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4A5260"/>
                </a:solidFill>
                <a:latin typeface="맑은 고딕"/>
                <a:ea typeface="맑은 고딕"/>
                <a:cs typeface="맑은 고딕"/>
              </a:rPr>
              <a:t>강의요구분석(설문)</a:t>
            </a:r>
          </a:p>
        </p:txBody>
      </p:sp>
      <p:sp>
        <p:nvSpPr>
          <p:cNvPr id="29" name="Rectangle 28"/>
          <p:cNvSpPr/>
          <p:nvPr/>
        </p:nvSpPr>
        <p:spPr>
          <a:xfrm>
            <a:off x="1352550" y="5229523"/>
            <a:ext cx="10401300" cy="604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0" name="Connector 29"/>
          <p:cNvCxnSpPr/>
          <p:nvPr/>
        </p:nvCxnSpPr>
        <p:spPr>
          <a:xfrm>
            <a:off x="1352550" y="5834360"/>
            <a:ext cx="10401300" cy="0"/>
          </a:xfrm>
          <a:prstGeom prst="line">
            <a:avLst/>
          </a:prstGeom>
          <a:ln w="19050">
            <a:solidFill>
              <a:srgbClr val="16181D"/>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390650" y="5340013"/>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2550" y="5065693"/>
            <a:ext cx="821769" cy="899160"/>
          </a:xfrm>
          <a:prstGeom prst="rect">
            <a:avLst/>
          </a:prstGeom>
          <a:noFill/>
        </p:spPr>
        <p:txBody>
          <a:bodyPr wrap="none" anchor="ctr" lIns="0" rIns="0" tIns="0" bIns="0">
            <a:noAutofit/>
          </a:bodyPr>
          <a:lstStyle/>
          <a:p>
            <a:pPr algn="l">
              <a:lnSpc>
                <a:spcPts val="3900"/>
              </a:lnSpc>
              <a:spcBef>
                <a:spcPts val="0"/>
              </a:spcBef>
              <a:spcAft>
                <a:spcPts val="0"/>
              </a:spcAft>
            </a:pPr>
            <a:r>
              <a:rPr sz="3900" b="1">
                <a:solidFill>
                  <a:srgbClr val="41B6E6"/>
                </a:solidFill>
                <a:latin typeface="Arial"/>
                <a:ea typeface="맑은 고딕"/>
                <a:cs typeface="맑은 고딕"/>
              </a:rPr>
              <a:t>5</a:t>
            </a:r>
          </a:p>
        </p:txBody>
      </p:sp>
      <p:sp>
        <p:nvSpPr>
          <p:cNvPr id="33" name="TextBox 32"/>
          <p:cNvSpPr txBox="1"/>
          <p:nvPr/>
        </p:nvSpPr>
        <p:spPr>
          <a:xfrm>
            <a:off x="1905000" y="5325249"/>
            <a:ext cx="4480084"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4A5260"/>
                </a:solidFill>
                <a:latin typeface="맑은 고딕"/>
                <a:ea typeface="맑은 고딕"/>
                <a:cs typeface="맑은 고딕"/>
              </a:rPr>
              <a:t>창업 인식도 조사(설문)</a:t>
            </a:r>
          </a:p>
        </p:txBody>
      </p:sp>
      <p:sp>
        <p:nvSpPr>
          <p:cNvPr id="34" name="TextBox 33"/>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1</a:t>
            </a:r>
          </a:p>
        </p:txBody>
      </p:sp>
      <p:sp>
        <p:nvSpPr>
          <p:cNvPr id="17" name="TextBox 16"/>
          <p:cNvSpPr txBox="1"/>
          <p:nvPr/>
        </p:nvSpPr>
        <p:spPr>
          <a:xfrm>
            <a:off x="1001598" y="1345228"/>
            <a:ext cx="10188654"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강의 개요(강의계획서)</a:t>
            </a:r>
          </a:p>
        </p:txBody>
      </p:sp>
      <p:sp>
        <p:nvSpPr>
          <p:cNvPr id="18" name="TextBox 17"/>
          <p:cNvSpPr txBox="1"/>
          <p:nvPr/>
        </p:nvSpPr>
        <p:spPr>
          <a:xfrm>
            <a:off x="3223067" y="4338548"/>
            <a:ext cx="5745718"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교과 목표 및 교재 등에 대한 소개</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1</a:t>
            </a:r>
          </a:p>
        </p:txBody>
      </p:sp>
      <p:sp>
        <p:nvSpPr>
          <p:cNvPr id="6" name="TextBox 5"/>
          <p:cNvSpPr txBox="1"/>
          <p:nvPr/>
        </p:nvSpPr>
        <p:spPr>
          <a:xfrm>
            <a:off x="728662" y="112395"/>
            <a:ext cx="21262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강의 소개</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175147"/>
            <a:ext cx="11315700" cy="5667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741884"/>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122283"/>
            <a:ext cx="15970806" cy="591502"/>
          </a:xfrm>
          <a:prstGeom prst="rect">
            <a:avLst/>
          </a:prstGeom>
          <a:noFill/>
        </p:spPr>
        <p:txBody>
          <a:bodyPr wrap="none" anchor="ctr" lIns="0" rIns="0" tIns="0" bIns="0">
            <a:noAutofit/>
          </a:bodyPr>
          <a:lstStyle/>
          <a:p>
            <a:pPr algn="l">
              <a:lnSpc>
                <a:spcPts val="3712"/>
              </a:lnSpc>
              <a:spcBef>
                <a:spcPts val="0"/>
              </a:spcBef>
              <a:spcAft>
                <a:spcPts val="0"/>
              </a:spcAft>
            </a:pPr>
            <a:r>
              <a:rPr sz="2475" b="1" spc="-50">
                <a:solidFill>
                  <a:srgbClr val="16181D"/>
                </a:solidFill>
                <a:latin typeface="맑은 고딕"/>
                <a:ea typeface="맑은 고딕"/>
                <a:cs typeface="맑은 고딕"/>
              </a:rPr>
              <a:t>본 수업은 여러분이 자신에게 맞는 진로를 찾을 수 있도록 도와드립니다.</a:t>
            </a:r>
          </a:p>
        </p:txBody>
      </p:sp>
      <p:sp>
        <p:nvSpPr>
          <p:cNvPr id="12" name="Rounded Rectangle 11"/>
          <p:cNvSpPr/>
          <p:nvPr/>
        </p:nvSpPr>
        <p:spPr>
          <a:xfrm>
            <a:off x="438150" y="2466975"/>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1025" y="2346008"/>
            <a:ext cx="31499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40">
                <a:solidFill>
                  <a:srgbClr val="0057A0"/>
                </a:solidFill>
                <a:latin typeface="맑은 고딕"/>
                <a:ea typeface="맑은 고딕"/>
                <a:cs typeface="맑은 고딕"/>
              </a:rPr>
              <a:t>행복한 삶이란?</a:t>
            </a:r>
          </a:p>
        </p:txBody>
      </p:sp>
      <p:sp>
        <p:nvSpPr>
          <p:cNvPr id="14" name="TextBox 13"/>
          <p:cNvSpPr txBox="1"/>
          <p:nvPr/>
        </p:nvSpPr>
        <p:spPr>
          <a:xfrm>
            <a:off x="438150" y="3351371"/>
            <a:ext cx="6944916" cy="445770"/>
          </a:xfrm>
          <a:prstGeom prst="rect">
            <a:avLst/>
          </a:prstGeom>
          <a:noFill/>
        </p:spPr>
        <p:txBody>
          <a:bodyPr wrap="none" anchor="ctr" lIns="0" rIns="0" tIns="0" bIns="0">
            <a:noAutofit/>
          </a:bodyPr>
          <a:lstStyle/>
          <a:p>
            <a:pPr algn="l">
              <a:lnSpc>
                <a:spcPts val="2700"/>
              </a:lnSpc>
              <a:spcBef>
                <a:spcPts val="0"/>
              </a:spcBef>
              <a:spcAft>
                <a:spcPts val="0"/>
              </a:spcAft>
            </a:pPr>
            <a:r>
              <a:rPr sz="1800" b="0">
                <a:solidFill>
                  <a:srgbClr val="3D4450"/>
                </a:solidFill>
                <a:latin typeface="맑은 고딕"/>
                <a:ea typeface="맑은 고딕"/>
                <a:cs typeface="맑은 고딕"/>
              </a:rPr>
              <a:t>여러분에게 </a:t>
            </a:r>
            <a:r>
              <a:rPr sz="1800" b="1">
                <a:solidFill>
                  <a:srgbClr val="16181D"/>
                </a:solidFill>
                <a:latin typeface="맑은 고딕"/>
                <a:ea typeface="맑은 고딕"/>
                <a:cs typeface="맑은 고딕"/>
              </a:rPr>
              <a:t>‘행복한 삶’</a:t>
            </a:r>
            <a:r>
              <a:rPr sz="1800" b="0">
                <a:solidFill>
                  <a:srgbClr val="3D4450"/>
                </a:solidFill>
                <a:latin typeface="맑은 고딕"/>
                <a:ea typeface="맑은 고딕"/>
                <a:cs typeface="맑은 고딕"/>
              </a:rPr>
              <a:t>이란 무엇인가요?</a:t>
            </a:r>
          </a:p>
        </p:txBody>
      </p:sp>
      <p:sp>
        <p:nvSpPr>
          <p:cNvPr id="15" name="Rounded Rectangle 14"/>
          <p:cNvSpPr/>
          <p:nvPr/>
        </p:nvSpPr>
        <p:spPr>
          <a:xfrm>
            <a:off x="438150" y="4312444"/>
            <a:ext cx="6364039" cy="600075"/>
          </a:xfrm>
          <a:prstGeom prst="roundRect">
            <a:avLst>
              <a:gd name="adj" fmla="val 12698"/>
            </a:avLst>
          </a:prstGeom>
          <a:solidFill>
            <a:srgbClr val="FFD78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2"/>
          <a:stretch>
            <a:fillRect/>
          </a:stretch>
        </p:blipFill>
        <p:spPr>
          <a:xfrm>
            <a:off x="638175" y="4493419"/>
            <a:ext cx="238125" cy="238125"/>
          </a:xfrm>
          <a:prstGeom prst="rect">
            <a:avLst/>
          </a:prstGeom>
        </p:spPr>
      </p:pic>
      <p:sp>
        <p:nvSpPr>
          <p:cNvPr id="17" name="TextBox 16"/>
          <p:cNvSpPr txBox="1"/>
          <p:nvPr/>
        </p:nvSpPr>
        <p:spPr>
          <a:xfrm>
            <a:off x="962025" y="4415314"/>
            <a:ext cx="8074104" cy="413385"/>
          </a:xfrm>
          <a:prstGeom prst="rect">
            <a:avLst/>
          </a:prstGeom>
          <a:noFill/>
        </p:spPr>
        <p:txBody>
          <a:bodyPr wrap="none" anchor="ctr" lIns="0" rIns="0" tIns="0" bIns="0">
            <a:noAutofit/>
          </a:bodyPr>
          <a:lstStyle/>
          <a:p>
            <a:pPr algn="l">
              <a:lnSpc>
                <a:spcPts val="2475"/>
              </a:lnSpc>
              <a:spcBef>
                <a:spcPts val="0"/>
              </a:spcBef>
              <a:spcAft>
                <a:spcPts val="0"/>
              </a:spcAft>
            </a:pPr>
            <a:r>
              <a:rPr sz="1650" b="1">
                <a:solidFill>
                  <a:srgbClr val="4A3208"/>
                </a:solidFill>
                <a:latin typeface="맑은 고딕"/>
                <a:ea typeface="맑은 고딕"/>
                <a:cs typeface="맑은 고딕"/>
              </a:rPr>
              <a:t>취업과 경력개발은 행복한 삶을 위한 첫 걸음입니다.</a:t>
            </a:r>
          </a:p>
        </p:txBody>
      </p:sp>
      <p:sp>
        <p:nvSpPr>
          <p:cNvPr id="18" name="TextBox 17"/>
          <p:cNvSpPr txBox="1"/>
          <p:nvPr/>
        </p:nvSpPr>
        <p:spPr>
          <a:xfrm>
            <a:off x="438150" y="5414010"/>
            <a:ext cx="9182576" cy="397192"/>
          </a:xfrm>
          <a:prstGeom prst="rect">
            <a:avLst/>
          </a:prstGeom>
          <a:noFill/>
        </p:spPr>
        <p:txBody>
          <a:bodyPr wrap="none" anchor="ctr" lIns="0" rIns="0" tIns="0" bIns="0">
            <a:noAutofit/>
          </a:bodyPr>
          <a:lstStyle/>
          <a:p>
            <a:pPr algn="l">
              <a:lnSpc>
                <a:spcPts val="2362"/>
              </a:lnSpc>
              <a:spcBef>
                <a:spcPts val="0"/>
              </a:spcBef>
              <a:spcAft>
                <a:spcPts val="0"/>
              </a:spcAft>
            </a:pPr>
            <a:r>
              <a:rPr sz="1575" b="0">
                <a:solidFill>
                  <a:srgbClr val="3D4450"/>
                </a:solidFill>
                <a:latin typeface="맑은 고딕"/>
                <a:ea typeface="맑은 고딕"/>
                <a:cs typeface="맑은 고딕"/>
              </a:rPr>
              <a:t>직업은 단순히 돈을 버는 수단이 아닌, </a:t>
            </a:r>
            <a:r>
              <a:rPr sz="1575" b="1">
                <a:solidFill>
                  <a:srgbClr val="C00000"/>
                </a:solidFill>
                <a:latin typeface="맑은 고딕"/>
                <a:ea typeface="맑은 고딕"/>
                <a:cs typeface="맑은 고딕"/>
              </a:rPr>
              <a:t>자아실현의 공간</a:t>
            </a:r>
            <a:r>
              <a:rPr sz="1575" b="0">
                <a:solidFill>
                  <a:srgbClr val="3D4450"/>
                </a:solidFill>
                <a:latin typeface="맑은 고딕"/>
                <a:ea typeface="맑은 고딕"/>
                <a:cs typeface="맑은 고딕"/>
              </a:rPr>
              <a:t>입니다.</a:t>
            </a:r>
          </a:p>
        </p:txBody>
      </p:sp>
      <p:sp>
        <p:nvSpPr>
          <p:cNvPr id="19" name="TextBox 18"/>
          <p:cNvSpPr txBox="1"/>
          <p:nvPr/>
        </p:nvSpPr>
        <p:spPr>
          <a:xfrm>
            <a:off x="438150" y="6247448"/>
            <a:ext cx="8951357" cy="397192"/>
          </a:xfrm>
          <a:prstGeom prst="rect">
            <a:avLst/>
          </a:prstGeom>
          <a:noFill/>
        </p:spPr>
        <p:txBody>
          <a:bodyPr wrap="none" anchor="ctr" lIns="0" rIns="0" tIns="0" bIns="0">
            <a:noAutofit/>
          </a:bodyPr>
          <a:lstStyle/>
          <a:p>
            <a:pPr algn="l">
              <a:lnSpc>
                <a:spcPts val="2362"/>
              </a:lnSpc>
              <a:spcBef>
                <a:spcPts val="0"/>
              </a:spcBef>
              <a:spcAft>
                <a:spcPts val="0"/>
              </a:spcAft>
            </a:pPr>
            <a:r>
              <a:rPr sz="1575" b="0">
                <a:solidFill>
                  <a:srgbClr val="3D4450"/>
                </a:solidFill>
                <a:latin typeface="맑은 고딕"/>
                <a:ea typeface="맑은 고딕"/>
                <a:cs typeface="맑은 고딕"/>
              </a:rPr>
              <a:t>나의 강점, 흥미, 가치관을 발견하고 취업 역량을 높여봅시다.</a:t>
            </a:r>
          </a:p>
        </p:txBody>
      </p:sp>
      <p:sp>
        <p:nvSpPr>
          <p:cNvPr id="20" name="Oval 19"/>
          <p:cNvSpPr/>
          <p:nvPr/>
        </p:nvSpPr>
        <p:spPr>
          <a:xfrm>
            <a:off x="8796988" y="3069476"/>
            <a:ext cx="1209564" cy="1209564"/>
          </a:xfrm>
          <a:prstGeom prst="ellipse">
            <a:avLst/>
          </a:prstGeom>
          <a:gradFill rotWithShape="1">
            <a:gsLst>
              <a:gs pos="0">
                <a:srgbClr val="0A9EE0"/>
              </a:gs>
              <a:gs pos="100000">
                <a:srgbClr val="0070C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9235083" y="3306761"/>
            <a:ext cx="342900" cy="342900"/>
          </a:xfrm>
          <a:prstGeom prst="rect">
            <a:avLst/>
          </a:prstGeom>
        </p:spPr>
      </p:pic>
      <p:sp>
        <p:nvSpPr>
          <p:cNvPr id="22" name="TextBox 21"/>
          <p:cNvSpPr txBox="1"/>
          <p:nvPr/>
        </p:nvSpPr>
        <p:spPr>
          <a:xfrm>
            <a:off x="8666163" y="3666660"/>
            <a:ext cx="1479131" cy="342710"/>
          </a:xfrm>
          <a:prstGeom prst="rect">
            <a:avLst/>
          </a:prstGeom>
          <a:noFill/>
        </p:spPr>
        <p:txBody>
          <a:bodyPr wrap="none" lIns="0" rIns="0" tIns="0" bIns="0" anchor="ctr">
            <a:noAutofit/>
          </a:bodyPr>
          <a:lstStyle/>
          <a:p>
            <a:pPr algn="ctr">
              <a:lnSpc>
                <a:spcPts val="1904"/>
              </a:lnSpc>
            </a:pPr>
            <a:r>
              <a:rPr sz="1587" b="1">
                <a:solidFill>
                  <a:srgbClr val="FFFFFF"/>
                </a:solidFill>
                <a:latin typeface="맑은 고딕"/>
                <a:ea typeface="맑은 고딕"/>
                <a:cs typeface="맑은 고딕"/>
              </a:rPr>
              <a:t>행복한 삶</a:t>
            </a:r>
          </a:p>
        </p:txBody>
      </p:sp>
      <p:sp>
        <p:nvSpPr>
          <p:cNvPr id="23" name="Freeform 22"/>
          <p:cNvSpPr/>
          <p:nvPr/>
        </p:nvSpPr>
        <p:spPr>
          <a:xfrm>
            <a:off x="9401770" y="4346239"/>
            <a:ext cx="0" cy="235193"/>
          </a:xfrm>
          <a:custGeom>
            <a:avLst/>
            <a:gdLst/>
            <a:ahLst/>
            <a:cxnLst/>
            <a:rect l="l" t="t" r="r" b="b"/>
            <a:pathLst>
              <a:path w="0" h="235193">
                <a:moveTo>
                  <a:pt x="0" y="0"/>
                </a:moveTo>
                <a:lnTo>
                  <a:pt x="0" y="235193"/>
                </a:lnTo>
                <a:close/>
              </a:path>
            </a:pathLst>
          </a:custGeom>
          <a:noFill/>
          <a:ln w="25199">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9351372" y="4547833"/>
            <a:ext cx="100797" cy="83998"/>
          </a:xfrm>
          <a:custGeom>
            <a:avLst/>
            <a:gdLst/>
            <a:ahLst/>
            <a:cxnLst/>
            <a:rect l="l" t="t" r="r" b="b"/>
            <a:pathLst>
              <a:path w="100797" h="83998">
                <a:moveTo>
                  <a:pt x="0" y="0"/>
                </a:moveTo>
                <a:lnTo>
                  <a:pt x="50398" y="83998"/>
                </a:lnTo>
                <a:lnTo>
                  <a:pt x="100797" y="0"/>
                </a:lnTo>
                <a:close/>
              </a:path>
            </a:pathLst>
          </a:cu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25805" y="4648630"/>
            <a:ext cx="2351931" cy="386389"/>
          </a:xfrm>
          <a:prstGeom prst="roundRect">
            <a:avLst>
              <a:gd name="adj" fmla="val 50000"/>
            </a:avLst>
          </a:prstGeom>
          <a:solidFill>
            <a:srgbClr val="DCE9F8"/>
          </a:solidFill>
          <a:ln w="84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913977" y="4709075"/>
            <a:ext cx="2979147" cy="285592"/>
          </a:xfrm>
          <a:prstGeom prst="rect">
            <a:avLst/>
          </a:prstGeom>
          <a:noFill/>
        </p:spPr>
        <p:txBody>
          <a:bodyPr wrap="none" lIns="0" rIns="0" tIns="0" bIns="0" anchor="ctr">
            <a:noAutofit/>
          </a:bodyPr>
          <a:lstStyle/>
          <a:p>
            <a:pPr algn="ctr">
              <a:lnSpc>
                <a:spcPts val="1587"/>
              </a:lnSpc>
            </a:pPr>
            <a:r>
              <a:rPr sz="1322" b="1">
                <a:solidFill>
                  <a:srgbClr val="0057A0"/>
                </a:solidFill>
                <a:latin typeface="맑은 고딕"/>
                <a:ea typeface="맑은 고딕"/>
                <a:cs typeface="맑은 고딕"/>
              </a:rPr>
              <a:t>직업 = 자아실현의 공간</a:t>
            </a:r>
          </a:p>
        </p:txBody>
      </p:sp>
      <p:sp>
        <p:nvSpPr>
          <p:cNvPr id="27" name="Rounded Rectangle 26"/>
          <p:cNvSpPr/>
          <p:nvPr/>
        </p:nvSpPr>
        <p:spPr>
          <a:xfrm>
            <a:off x="7167436" y="5236613"/>
            <a:ext cx="1377560" cy="369589"/>
          </a:xfrm>
          <a:prstGeom prst="roundRect">
            <a:avLst>
              <a:gd name="adj" fmla="val 22727"/>
            </a:avLst>
          </a:prstGeom>
          <a:solidFill>
            <a:srgbClr val="FFFFFF"/>
          </a:solidFill>
          <a:ln w="84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7276069" y="5313581"/>
            <a:ext cx="1160294" cy="228473"/>
          </a:xfrm>
          <a:prstGeom prst="rect">
            <a:avLst/>
          </a:prstGeom>
          <a:noFill/>
        </p:spPr>
        <p:txBody>
          <a:bodyPr wrap="none" lIns="0" rIns="0" tIns="0" bIns="0" anchor="ctr">
            <a:noAutofit/>
          </a:bodyPr>
          <a:lstStyle/>
          <a:p>
            <a:pPr algn="ctr">
              <a:lnSpc>
                <a:spcPts val="1269"/>
              </a:lnSpc>
            </a:pPr>
            <a:r>
              <a:rPr sz="1058" b="0">
                <a:solidFill>
                  <a:srgbClr val="16181D"/>
                </a:solidFill>
                <a:latin typeface="맑은 고딕"/>
                <a:ea typeface="맑은 고딕"/>
                <a:cs typeface="맑은 고딕"/>
              </a:rPr>
              <a:t>나의 강점</a:t>
            </a:r>
          </a:p>
        </p:txBody>
      </p:sp>
      <p:sp>
        <p:nvSpPr>
          <p:cNvPr id="29" name="Rounded Rectangle 28"/>
          <p:cNvSpPr/>
          <p:nvPr/>
        </p:nvSpPr>
        <p:spPr>
          <a:xfrm>
            <a:off x="8712991" y="5236613"/>
            <a:ext cx="1377560" cy="369589"/>
          </a:xfrm>
          <a:prstGeom prst="roundRect">
            <a:avLst>
              <a:gd name="adj" fmla="val 22727"/>
            </a:avLst>
          </a:prstGeom>
          <a:solidFill>
            <a:srgbClr val="FFFFFF"/>
          </a:solidFill>
          <a:ln w="84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9013627" y="5313581"/>
            <a:ext cx="776288" cy="228473"/>
          </a:xfrm>
          <a:prstGeom prst="rect">
            <a:avLst/>
          </a:prstGeom>
          <a:noFill/>
        </p:spPr>
        <p:txBody>
          <a:bodyPr wrap="none" lIns="0" rIns="0" tIns="0" bIns="0" anchor="ctr">
            <a:noAutofit/>
          </a:bodyPr>
          <a:lstStyle/>
          <a:p>
            <a:pPr algn="ctr">
              <a:lnSpc>
                <a:spcPts val="1269"/>
              </a:lnSpc>
            </a:pPr>
            <a:r>
              <a:rPr sz="1058" b="0">
                <a:solidFill>
                  <a:srgbClr val="16181D"/>
                </a:solidFill>
                <a:latin typeface="맑은 고딕"/>
                <a:ea typeface="맑은 고딕"/>
                <a:cs typeface="맑은 고딕"/>
              </a:rPr>
              <a:t>흥미</a:t>
            </a:r>
          </a:p>
        </p:txBody>
      </p:sp>
      <p:sp>
        <p:nvSpPr>
          <p:cNvPr id="31" name="Rounded Rectangle 30"/>
          <p:cNvSpPr/>
          <p:nvPr/>
        </p:nvSpPr>
        <p:spPr>
          <a:xfrm>
            <a:off x="10258545" y="5236613"/>
            <a:ext cx="1377560" cy="369589"/>
          </a:xfrm>
          <a:prstGeom prst="roundRect">
            <a:avLst>
              <a:gd name="adj" fmla="val 22727"/>
            </a:avLst>
          </a:prstGeom>
          <a:solidFill>
            <a:srgbClr val="FFFFFF"/>
          </a:solidFill>
          <a:ln w="840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10479409" y="5313581"/>
            <a:ext cx="938212" cy="228473"/>
          </a:xfrm>
          <a:prstGeom prst="rect">
            <a:avLst/>
          </a:prstGeom>
          <a:noFill/>
        </p:spPr>
        <p:txBody>
          <a:bodyPr wrap="none" lIns="0" rIns="0" tIns="0" bIns="0" anchor="ctr">
            <a:noAutofit/>
          </a:bodyPr>
          <a:lstStyle/>
          <a:p>
            <a:pPr algn="ctr">
              <a:lnSpc>
                <a:spcPts val="1269"/>
              </a:lnSpc>
            </a:pPr>
            <a:r>
              <a:rPr sz="1058" b="0">
                <a:solidFill>
                  <a:srgbClr val="16181D"/>
                </a:solidFill>
                <a:latin typeface="맑은 고딕"/>
                <a:ea typeface="맑은 고딕"/>
                <a:cs typeface="맑은 고딕"/>
              </a:rPr>
              <a:t>가치관</a:t>
            </a:r>
          </a:p>
        </p:txBody>
      </p:sp>
      <p:sp>
        <p:nvSpPr>
          <p:cNvPr id="33" name="Freeform 32"/>
          <p:cNvSpPr/>
          <p:nvPr/>
        </p:nvSpPr>
        <p:spPr>
          <a:xfrm>
            <a:off x="9401770" y="5035019"/>
            <a:ext cx="0" cy="151195"/>
          </a:xfrm>
          <a:custGeom>
            <a:avLst/>
            <a:gdLst/>
            <a:ahLst/>
            <a:cxnLst/>
            <a:rect l="l" t="t" r="r" b="b"/>
            <a:pathLst>
              <a:path w="0" h="151195">
                <a:moveTo>
                  <a:pt x="0" y="0"/>
                </a:moveTo>
                <a:lnTo>
                  <a:pt x="0" y="151195"/>
                </a:lnTo>
                <a:close/>
              </a:path>
            </a:pathLst>
          </a:custGeom>
          <a:noFill/>
          <a:ln w="25199">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1</a:t>
            </a:r>
          </a:p>
        </p:txBody>
      </p:sp>
      <p:sp>
        <p:nvSpPr>
          <p:cNvPr id="6" name="TextBox 5"/>
          <p:cNvSpPr txBox="1"/>
          <p:nvPr/>
        </p:nvSpPr>
        <p:spPr>
          <a:xfrm>
            <a:off x="728662" y="112395"/>
            <a:ext cx="21262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강의 개요</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175147"/>
            <a:ext cx="11315700" cy="5667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741884"/>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122283"/>
            <a:ext cx="2482215" cy="591502"/>
          </a:xfrm>
          <a:prstGeom prst="rect">
            <a:avLst/>
          </a:prstGeom>
          <a:noFill/>
        </p:spPr>
        <p:txBody>
          <a:bodyPr wrap="none" anchor="ctr" lIns="0" rIns="0" tIns="0" bIns="0">
            <a:noAutofit/>
          </a:bodyPr>
          <a:lstStyle/>
          <a:p>
            <a:pPr algn="l">
              <a:lnSpc>
                <a:spcPts val="3712"/>
              </a:lnSpc>
              <a:spcBef>
                <a:spcPts val="0"/>
              </a:spcBef>
              <a:spcAft>
                <a:spcPts val="0"/>
              </a:spcAft>
            </a:pPr>
            <a:r>
              <a:rPr sz="2475" b="1" spc="-50">
                <a:solidFill>
                  <a:srgbClr val="16181D"/>
                </a:solidFill>
                <a:latin typeface="맑은 고딕"/>
                <a:ea typeface="맑은 고딕"/>
                <a:cs typeface="맑은 고딕"/>
              </a:rPr>
              <a:t>교과 목표</a:t>
            </a:r>
          </a:p>
        </p:txBody>
      </p:sp>
      <p:sp>
        <p:nvSpPr>
          <p:cNvPr id="12" name="Rounded Rectangle 11"/>
          <p:cNvSpPr/>
          <p:nvPr/>
        </p:nvSpPr>
        <p:spPr>
          <a:xfrm>
            <a:off x="438150" y="2345531"/>
            <a:ext cx="11315700" cy="600075"/>
          </a:xfrm>
          <a:prstGeom prst="roundRect">
            <a:avLst>
              <a:gd name="adj" fmla="val 12698"/>
            </a:avLst>
          </a:prstGeom>
          <a:solidFill>
            <a:srgbClr val="FFFFF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38175" y="2526506"/>
            <a:ext cx="238125" cy="238125"/>
          </a:xfrm>
          <a:prstGeom prst="rect">
            <a:avLst/>
          </a:prstGeom>
        </p:spPr>
      </p:pic>
      <p:sp>
        <p:nvSpPr>
          <p:cNvPr id="14" name="TextBox 13"/>
          <p:cNvSpPr txBox="1"/>
          <p:nvPr/>
        </p:nvSpPr>
        <p:spPr>
          <a:xfrm>
            <a:off x="962025" y="2448401"/>
            <a:ext cx="7217092" cy="413385"/>
          </a:xfrm>
          <a:prstGeom prst="rect">
            <a:avLst/>
          </a:prstGeom>
          <a:noFill/>
        </p:spPr>
        <p:txBody>
          <a:bodyPr wrap="none" anchor="ctr" lIns="0" rIns="0" tIns="0" bIns="0">
            <a:noAutofit/>
          </a:bodyPr>
          <a:lstStyle/>
          <a:p>
            <a:pPr algn="l">
              <a:lnSpc>
                <a:spcPts val="2475"/>
              </a:lnSpc>
              <a:spcBef>
                <a:spcPts val="0"/>
              </a:spcBef>
              <a:spcAft>
                <a:spcPts val="0"/>
              </a:spcAft>
            </a:pPr>
            <a:r>
              <a:rPr sz="1650" b="1">
                <a:solidFill>
                  <a:srgbClr val="16181D"/>
                </a:solidFill>
                <a:latin typeface="맑은 고딕"/>
                <a:ea typeface="맑은 고딕"/>
                <a:cs typeface="맑은 고딕"/>
              </a:rPr>
              <a:t>『취업과 경력개발』 한 학기 수업을 마치면…</a:t>
            </a:r>
          </a:p>
        </p:txBody>
      </p:sp>
      <p:sp>
        <p:nvSpPr>
          <p:cNvPr id="15" name="Rounded Rectangle 14"/>
          <p:cNvSpPr/>
          <p:nvPr/>
        </p:nvSpPr>
        <p:spPr>
          <a:xfrm>
            <a:off x="1595438" y="3352800"/>
            <a:ext cx="9001125" cy="659011"/>
          </a:xfrm>
          <a:prstGeom prst="roundRect">
            <a:avLst>
              <a:gd name="adj" fmla="val 12195"/>
            </a:avLst>
          </a:prstGeom>
          <a:solidFill>
            <a:srgbClr val="FFFFFF"/>
          </a:solidFill>
          <a:ln w="8037">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ounded Rectangle 15"/>
          <p:cNvSpPr/>
          <p:nvPr/>
        </p:nvSpPr>
        <p:spPr>
          <a:xfrm>
            <a:off x="1595438" y="3352800"/>
            <a:ext cx="56257" cy="659011"/>
          </a:xfrm>
          <a:prstGeom prst="roundRect">
            <a:avLst>
              <a:gd name="adj" fmla="val 42857"/>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Oval 16"/>
          <p:cNvSpPr/>
          <p:nvPr/>
        </p:nvSpPr>
        <p:spPr>
          <a:xfrm>
            <a:off x="1812429" y="3481388"/>
            <a:ext cx="401836" cy="40183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32198" y="3559656"/>
            <a:ext cx="762298" cy="259586"/>
          </a:xfrm>
          <a:prstGeom prst="rect">
            <a:avLst/>
          </a:prstGeom>
          <a:noFill/>
        </p:spPr>
        <p:txBody>
          <a:bodyPr wrap="none" lIns="0" rIns="0" tIns="0" bIns="0" anchor="ctr">
            <a:noAutofit/>
          </a:bodyPr>
          <a:lstStyle/>
          <a:p>
            <a:pPr algn="ctr">
              <a:lnSpc>
                <a:spcPts val="1442"/>
              </a:lnSpc>
            </a:pPr>
            <a:r>
              <a:rPr sz="1202" b="1">
                <a:solidFill>
                  <a:srgbClr val="FFFFFF"/>
                </a:solidFill>
                <a:latin typeface="맑은 고딕"/>
                <a:ea typeface="맑은 고딕"/>
                <a:cs typeface="맑은 고딕"/>
              </a:rPr>
              <a:t>첫째</a:t>
            </a:r>
          </a:p>
        </p:txBody>
      </p:sp>
      <p:sp>
        <p:nvSpPr>
          <p:cNvPr id="19" name="TextBox 18"/>
          <p:cNvSpPr txBox="1"/>
          <p:nvPr/>
        </p:nvSpPr>
        <p:spPr>
          <a:xfrm>
            <a:off x="2350889" y="3421886"/>
            <a:ext cx="5055602" cy="300573"/>
          </a:xfrm>
          <a:prstGeom prst="rect">
            <a:avLst/>
          </a:prstGeom>
          <a:noFill/>
        </p:spPr>
        <p:txBody>
          <a:bodyPr wrap="none" lIns="0" rIns="0" tIns="0" bIns="0" anchor="ctr">
            <a:noAutofit/>
          </a:bodyPr>
          <a:lstStyle/>
          <a:p>
            <a:pPr algn="l">
              <a:lnSpc>
                <a:spcPts val="1670"/>
              </a:lnSpc>
            </a:pPr>
            <a:r>
              <a:rPr sz="1392" b="1">
                <a:solidFill>
                  <a:srgbClr val="3D4450"/>
                </a:solidFill>
                <a:latin typeface="맑은 고딕"/>
                <a:ea typeface="맑은 고딕"/>
                <a:cs typeface="맑은 고딕"/>
              </a:rPr>
              <a:t>자기이해와 직업세계의 이해를 토대로</a:t>
            </a:r>
          </a:p>
        </p:txBody>
      </p:sp>
      <p:sp>
        <p:nvSpPr>
          <p:cNvPr id="20" name="TextBox 19"/>
          <p:cNvSpPr txBox="1"/>
          <p:nvPr/>
        </p:nvSpPr>
        <p:spPr>
          <a:xfrm>
            <a:off x="2350889" y="3662988"/>
            <a:ext cx="5989960" cy="300573"/>
          </a:xfrm>
          <a:prstGeom prst="rect">
            <a:avLst/>
          </a:prstGeom>
          <a:noFill/>
        </p:spPr>
        <p:txBody>
          <a:bodyPr wrap="none" lIns="0" rIns="0" tIns="0" bIns="0" anchor="ctr">
            <a:noAutofit/>
          </a:bodyPr>
          <a:lstStyle/>
          <a:p>
            <a:pPr algn="l">
              <a:lnSpc>
                <a:spcPts val="1670"/>
              </a:lnSpc>
            </a:pPr>
            <a:r>
              <a:rPr sz="1392" b="1">
                <a:solidFill>
                  <a:srgbClr val="0B2A4A"/>
                </a:solidFill>
                <a:latin typeface="맑은 고딕"/>
                <a:ea typeface="맑은 고딕"/>
                <a:cs typeface="맑은 고딕"/>
              </a:rPr>
              <a:t>자신의 진로목표와 이유를 분명히 알 수 있다.</a:t>
            </a:r>
          </a:p>
        </p:txBody>
      </p:sp>
      <p:sp>
        <p:nvSpPr>
          <p:cNvPr id="21" name="Rounded Rectangle 20"/>
          <p:cNvSpPr/>
          <p:nvPr/>
        </p:nvSpPr>
        <p:spPr>
          <a:xfrm>
            <a:off x="1595438" y="4124325"/>
            <a:ext cx="9001125" cy="659011"/>
          </a:xfrm>
          <a:prstGeom prst="roundRect">
            <a:avLst>
              <a:gd name="adj" fmla="val 12195"/>
            </a:avLst>
          </a:prstGeom>
          <a:solidFill>
            <a:srgbClr val="EDF4FC"/>
          </a:solidFill>
          <a:ln w="8037">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ounded Rectangle 21"/>
          <p:cNvSpPr/>
          <p:nvPr/>
        </p:nvSpPr>
        <p:spPr>
          <a:xfrm>
            <a:off x="1595438" y="4124325"/>
            <a:ext cx="56257" cy="659011"/>
          </a:xfrm>
          <a:prstGeom prst="roundRect">
            <a:avLst>
              <a:gd name="adj" fmla="val 42857"/>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Oval 22"/>
          <p:cNvSpPr/>
          <p:nvPr/>
        </p:nvSpPr>
        <p:spPr>
          <a:xfrm>
            <a:off x="1812429" y="4252912"/>
            <a:ext cx="401836" cy="40183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32198" y="4331181"/>
            <a:ext cx="762298" cy="259586"/>
          </a:xfrm>
          <a:prstGeom prst="rect">
            <a:avLst/>
          </a:prstGeom>
          <a:noFill/>
        </p:spPr>
        <p:txBody>
          <a:bodyPr wrap="none" lIns="0" rIns="0" tIns="0" bIns="0" anchor="ctr">
            <a:noAutofit/>
          </a:bodyPr>
          <a:lstStyle/>
          <a:p>
            <a:pPr algn="ctr">
              <a:lnSpc>
                <a:spcPts val="1442"/>
              </a:lnSpc>
            </a:pPr>
            <a:r>
              <a:rPr sz="1202" b="1">
                <a:solidFill>
                  <a:srgbClr val="FFFFFF"/>
                </a:solidFill>
                <a:latin typeface="맑은 고딕"/>
                <a:ea typeface="맑은 고딕"/>
                <a:cs typeface="맑은 고딕"/>
              </a:rPr>
              <a:t>둘째</a:t>
            </a:r>
          </a:p>
        </p:txBody>
      </p:sp>
      <p:sp>
        <p:nvSpPr>
          <p:cNvPr id="25" name="TextBox 24"/>
          <p:cNvSpPr txBox="1"/>
          <p:nvPr/>
        </p:nvSpPr>
        <p:spPr>
          <a:xfrm>
            <a:off x="2350889" y="4193411"/>
            <a:ext cx="5222334" cy="300573"/>
          </a:xfrm>
          <a:prstGeom prst="rect">
            <a:avLst/>
          </a:prstGeom>
          <a:noFill/>
        </p:spPr>
        <p:txBody>
          <a:bodyPr wrap="none" lIns="0" rIns="0" tIns="0" bIns="0" anchor="ctr">
            <a:noAutofit/>
          </a:bodyPr>
          <a:lstStyle/>
          <a:p>
            <a:pPr algn="l">
              <a:lnSpc>
                <a:spcPts val="1670"/>
              </a:lnSpc>
            </a:pPr>
            <a:r>
              <a:rPr sz="1392" b="1">
                <a:solidFill>
                  <a:srgbClr val="3D4450"/>
                </a:solidFill>
                <a:latin typeface="맑은 고딕"/>
                <a:ea typeface="맑은 고딕"/>
                <a:cs typeface="맑은 고딕"/>
              </a:rPr>
              <a:t>희망기업 및 직업 분석을 통해 현장에서</a:t>
            </a:r>
          </a:p>
        </p:txBody>
      </p:sp>
      <p:sp>
        <p:nvSpPr>
          <p:cNvPr id="26" name="TextBox 25"/>
          <p:cNvSpPr txBox="1"/>
          <p:nvPr/>
        </p:nvSpPr>
        <p:spPr>
          <a:xfrm>
            <a:off x="2350889" y="4434513"/>
            <a:ext cx="6206788" cy="300573"/>
          </a:xfrm>
          <a:prstGeom prst="rect">
            <a:avLst/>
          </a:prstGeom>
          <a:noFill/>
        </p:spPr>
        <p:txBody>
          <a:bodyPr wrap="none" lIns="0" rIns="0" tIns="0" bIns="0" anchor="ctr">
            <a:noAutofit/>
          </a:bodyPr>
          <a:lstStyle/>
          <a:p>
            <a:pPr algn="l">
              <a:lnSpc>
                <a:spcPts val="1670"/>
              </a:lnSpc>
            </a:pPr>
            <a:r>
              <a:rPr sz="1392" b="1">
                <a:solidFill>
                  <a:srgbClr val="0B2A4A"/>
                </a:solidFill>
                <a:latin typeface="맑은 고딕"/>
                <a:ea typeface="맑은 고딕"/>
                <a:cs typeface="맑은 고딕"/>
              </a:rPr>
              <a:t>요구되는 전문지식을 배우려고 노력할 수 있다.</a:t>
            </a:r>
          </a:p>
        </p:txBody>
      </p:sp>
      <p:sp>
        <p:nvSpPr>
          <p:cNvPr id="27" name="Rounded Rectangle 26"/>
          <p:cNvSpPr/>
          <p:nvPr/>
        </p:nvSpPr>
        <p:spPr>
          <a:xfrm>
            <a:off x="1595438" y="4895850"/>
            <a:ext cx="9001125" cy="659011"/>
          </a:xfrm>
          <a:prstGeom prst="roundRect">
            <a:avLst>
              <a:gd name="adj" fmla="val 12195"/>
            </a:avLst>
          </a:prstGeom>
          <a:solidFill>
            <a:srgbClr val="FFFFFF"/>
          </a:solidFill>
          <a:ln w="8037">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Rounded Rectangle 27"/>
          <p:cNvSpPr/>
          <p:nvPr/>
        </p:nvSpPr>
        <p:spPr>
          <a:xfrm>
            <a:off x="1595438" y="4895850"/>
            <a:ext cx="56257" cy="659011"/>
          </a:xfrm>
          <a:prstGeom prst="roundRect">
            <a:avLst>
              <a:gd name="adj" fmla="val 42857"/>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Oval 28"/>
          <p:cNvSpPr/>
          <p:nvPr/>
        </p:nvSpPr>
        <p:spPr>
          <a:xfrm>
            <a:off x="1812429" y="5024438"/>
            <a:ext cx="401836" cy="40183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2673" y="5102706"/>
            <a:ext cx="771823" cy="259586"/>
          </a:xfrm>
          <a:prstGeom prst="rect">
            <a:avLst/>
          </a:prstGeom>
          <a:noFill/>
        </p:spPr>
        <p:txBody>
          <a:bodyPr wrap="none" lIns="0" rIns="0" tIns="0" bIns="0" anchor="ctr">
            <a:noAutofit/>
          </a:bodyPr>
          <a:lstStyle/>
          <a:p>
            <a:pPr algn="ctr">
              <a:lnSpc>
                <a:spcPts val="1442"/>
              </a:lnSpc>
            </a:pPr>
            <a:r>
              <a:rPr sz="1202" b="1">
                <a:solidFill>
                  <a:srgbClr val="FFFFFF"/>
                </a:solidFill>
                <a:latin typeface="맑은 고딕"/>
                <a:ea typeface="맑은 고딕"/>
                <a:cs typeface="맑은 고딕"/>
              </a:rPr>
              <a:t>셋째</a:t>
            </a:r>
          </a:p>
        </p:txBody>
      </p:sp>
      <p:sp>
        <p:nvSpPr>
          <p:cNvPr id="31" name="TextBox 30"/>
          <p:cNvSpPr txBox="1"/>
          <p:nvPr/>
        </p:nvSpPr>
        <p:spPr>
          <a:xfrm>
            <a:off x="2350889" y="4964936"/>
            <a:ext cx="6123295" cy="300573"/>
          </a:xfrm>
          <a:prstGeom prst="rect">
            <a:avLst/>
          </a:prstGeom>
          <a:noFill/>
        </p:spPr>
        <p:txBody>
          <a:bodyPr wrap="none" lIns="0" rIns="0" tIns="0" bIns="0" anchor="ctr">
            <a:noAutofit/>
          </a:bodyPr>
          <a:lstStyle/>
          <a:p>
            <a:pPr algn="l">
              <a:lnSpc>
                <a:spcPts val="1670"/>
              </a:lnSpc>
            </a:pPr>
            <a:r>
              <a:rPr sz="1392" b="1">
                <a:solidFill>
                  <a:srgbClr val="3D4450"/>
                </a:solidFill>
                <a:latin typeface="맑은 고딕"/>
                <a:ea typeface="맑은 고딕"/>
                <a:cs typeface="맑은 고딕"/>
              </a:rPr>
              <a:t>취업실무 준비를 위해서 고용환경 변화에 대해</a:t>
            </a:r>
          </a:p>
        </p:txBody>
      </p:sp>
      <p:sp>
        <p:nvSpPr>
          <p:cNvPr id="32" name="TextBox 31"/>
          <p:cNvSpPr txBox="1"/>
          <p:nvPr/>
        </p:nvSpPr>
        <p:spPr>
          <a:xfrm>
            <a:off x="2350889" y="5206038"/>
            <a:ext cx="6206788" cy="300573"/>
          </a:xfrm>
          <a:prstGeom prst="rect">
            <a:avLst/>
          </a:prstGeom>
          <a:noFill/>
        </p:spPr>
        <p:txBody>
          <a:bodyPr wrap="none" lIns="0" rIns="0" tIns="0" bIns="0" anchor="ctr">
            <a:noAutofit/>
          </a:bodyPr>
          <a:lstStyle/>
          <a:p>
            <a:pPr algn="l">
              <a:lnSpc>
                <a:spcPts val="1670"/>
              </a:lnSpc>
            </a:pPr>
            <a:r>
              <a:rPr sz="1392" b="1">
                <a:solidFill>
                  <a:srgbClr val="0B2A4A"/>
                </a:solidFill>
                <a:latin typeface="맑은 고딕"/>
                <a:ea typeface="맑은 고딕"/>
                <a:cs typeface="맑은 고딕"/>
              </a:rPr>
              <a:t>종합적인 시각으로 이해하려고 노력할 수 있다.</a:t>
            </a:r>
          </a:p>
        </p:txBody>
      </p:sp>
      <p:sp>
        <p:nvSpPr>
          <p:cNvPr id="33" name="Rounded Rectangle 32"/>
          <p:cNvSpPr/>
          <p:nvPr/>
        </p:nvSpPr>
        <p:spPr>
          <a:xfrm>
            <a:off x="1595438" y="5667375"/>
            <a:ext cx="9001125" cy="659011"/>
          </a:xfrm>
          <a:prstGeom prst="roundRect">
            <a:avLst>
              <a:gd name="adj" fmla="val 12195"/>
            </a:avLst>
          </a:prstGeom>
          <a:solidFill>
            <a:srgbClr val="EDF4FC"/>
          </a:solidFill>
          <a:ln w="8037">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Rounded Rectangle 33"/>
          <p:cNvSpPr/>
          <p:nvPr/>
        </p:nvSpPr>
        <p:spPr>
          <a:xfrm>
            <a:off x="1595438" y="5667375"/>
            <a:ext cx="56257" cy="659011"/>
          </a:xfrm>
          <a:prstGeom prst="roundRect">
            <a:avLst>
              <a:gd name="adj" fmla="val 42857"/>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Oval 34"/>
          <p:cNvSpPr/>
          <p:nvPr/>
        </p:nvSpPr>
        <p:spPr>
          <a:xfrm>
            <a:off x="1812429" y="5795962"/>
            <a:ext cx="401836" cy="40183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32198" y="5874231"/>
            <a:ext cx="762298" cy="259586"/>
          </a:xfrm>
          <a:prstGeom prst="rect">
            <a:avLst/>
          </a:prstGeom>
          <a:noFill/>
        </p:spPr>
        <p:txBody>
          <a:bodyPr wrap="none" lIns="0" rIns="0" tIns="0" bIns="0" anchor="ctr">
            <a:noAutofit/>
          </a:bodyPr>
          <a:lstStyle/>
          <a:p>
            <a:pPr algn="ctr">
              <a:lnSpc>
                <a:spcPts val="1442"/>
              </a:lnSpc>
            </a:pPr>
            <a:r>
              <a:rPr sz="1202" b="1">
                <a:solidFill>
                  <a:srgbClr val="FFFFFF"/>
                </a:solidFill>
                <a:latin typeface="맑은 고딕"/>
                <a:ea typeface="맑은 고딕"/>
                <a:cs typeface="맑은 고딕"/>
              </a:rPr>
              <a:t>넷째</a:t>
            </a:r>
          </a:p>
        </p:txBody>
      </p:sp>
      <p:sp>
        <p:nvSpPr>
          <p:cNvPr id="37" name="TextBox 36"/>
          <p:cNvSpPr txBox="1"/>
          <p:nvPr/>
        </p:nvSpPr>
        <p:spPr>
          <a:xfrm>
            <a:off x="2341364" y="5736461"/>
            <a:ext cx="5839167" cy="300573"/>
          </a:xfrm>
          <a:prstGeom prst="rect">
            <a:avLst/>
          </a:prstGeom>
          <a:noFill/>
        </p:spPr>
        <p:txBody>
          <a:bodyPr wrap="none" lIns="0" rIns="0" tIns="0" bIns="0" anchor="ctr">
            <a:noAutofit/>
          </a:bodyPr>
          <a:lstStyle/>
          <a:p>
            <a:pPr algn="l">
              <a:lnSpc>
                <a:spcPts val="1670"/>
              </a:lnSpc>
            </a:pPr>
            <a:r>
              <a:rPr sz="1392" b="1">
                <a:solidFill>
                  <a:srgbClr val="3D4450"/>
                </a:solidFill>
                <a:latin typeface="맑은 고딕"/>
                <a:ea typeface="맑은 고딕"/>
                <a:cs typeface="맑은 고딕"/>
              </a:rPr>
              <a:t>채용시장에서 일어날 수 있는 다양한 문제에</a:t>
            </a:r>
          </a:p>
        </p:txBody>
      </p:sp>
      <p:sp>
        <p:nvSpPr>
          <p:cNvPr id="38" name="TextBox 37"/>
          <p:cNvSpPr txBox="1"/>
          <p:nvPr/>
        </p:nvSpPr>
        <p:spPr>
          <a:xfrm>
            <a:off x="2350889" y="5977563"/>
            <a:ext cx="5689640" cy="300573"/>
          </a:xfrm>
          <a:prstGeom prst="rect">
            <a:avLst/>
          </a:prstGeom>
          <a:noFill/>
        </p:spPr>
        <p:txBody>
          <a:bodyPr wrap="none" lIns="0" rIns="0" tIns="0" bIns="0" anchor="ctr">
            <a:noAutofit/>
          </a:bodyPr>
          <a:lstStyle/>
          <a:p>
            <a:pPr algn="l">
              <a:lnSpc>
                <a:spcPts val="1670"/>
              </a:lnSpc>
            </a:pPr>
            <a:r>
              <a:rPr sz="1392" b="1">
                <a:solidFill>
                  <a:srgbClr val="0B2A4A"/>
                </a:solidFill>
                <a:latin typeface="맑은 고딕"/>
                <a:ea typeface="맑은 고딕"/>
                <a:cs typeface="맑은 고딕"/>
              </a:rPr>
              <a:t>대하여 해결방안을 찾는 방법을 알 수 있다.</a:t>
            </a:r>
          </a:p>
        </p:txBody>
      </p:sp>
      <p:sp>
        <p:nvSpPr>
          <p:cNvPr id="39" name="TextBox 38"/>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1</a:t>
            </a:r>
          </a:p>
        </p:txBody>
      </p:sp>
      <p:sp>
        <p:nvSpPr>
          <p:cNvPr id="6" name="TextBox 5"/>
          <p:cNvSpPr txBox="1"/>
          <p:nvPr/>
        </p:nvSpPr>
        <p:spPr>
          <a:xfrm>
            <a:off x="728662" y="112395"/>
            <a:ext cx="21262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강의 개요</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175147"/>
            <a:ext cx="11315700" cy="5667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741884"/>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122283"/>
            <a:ext cx="5569029" cy="591502"/>
          </a:xfrm>
          <a:prstGeom prst="rect">
            <a:avLst/>
          </a:prstGeom>
          <a:noFill/>
        </p:spPr>
        <p:txBody>
          <a:bodyPr wrap="none" anchor="ctr" lIns="0" rIns="0" tIns="0" bIns="0">
            <a:noAutofit/>
          </a:bodyPr>
          <a:lstStyle/>
          <a:p>
            <a:pPr algn="l">
              <a:lnSpc>
                <a:spcPts val="3712"/>
              </a:lnSpc>
              <a:spcBef>
                <a:spcPts val="0"/>
              </a:spcBef>
              <a:spcAft>
                <a:spcPts val="0"/>
              </a:spcAft>
            </a:pPr>
            <a:r>
              <a:rPr sz="2475" b="1" spc="-50">
                <a:solidFill>
                  <a:srgbClr val="16181D"/>
                </a:solidFill>
                <a:latin typeface="맑은 고딕"/>
                <a:ea typeface="맑은 고딕"/>
                <a:cs typeface="맑은 고딕"/>
              </a:rPr>
              <a:t>수업 목표를 달성하면…</a:t>
            </a:r>
          </a:p>
        </p:txBody>
      </p:sp>
      <p:sp>
        <p:nvSpPr>
          <p:cNvPr id="12" name="Rounded Rectangle 11"/>
          <p:cNvSpPr/>
          <p:nvPr/>
        </p:nvSpPr>
        <p:spPr>
          <a:xfrm>
            <a:off x="438150" y="2345531"/>
            <a:ext cx="11315700" cy="600075"/>
          </a:xfrm>
          <a:prstGeom prst="roundRect">
            <a:avLst>
              <a:gd name="adj" fmla="val 12698"/>
            </a:avLst>
          </a:prstGeom>
          <a:solidFill>
            <a:srgbClr val="FFFFF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38175" y="2526506"/>
            <a:ext cx="238125" cy="238125"/>
          </a:xfrm>
          <a:prstGeom prst="rect">
            <a:avLst/>
          </a:prstGeom>
        </p:spPr>
      </p:pic>
      <p:sp>
        <p:nvSpPr>
          <p:cNvPr id="14" name="TextBox 13"/>
          <p:cNvSpPr txBox="1"/>
          <p:nvPr/>
        </p:nvSpPr>
        <p:spPr>
          <a:xfrm>
            <a:off x="962025" y="2448401"/>
            <a:ext cx="7217092" cy="413385"/>
          </a:xfrm>
          <a:prstGeom prst="rect">
            <a:avLst/>
          </a:prstGeom>
          <a:noFill/>
        </p:spPr>
        <p:txBody>
          <a:bodyPr wrap="none" anchor="ctr" lIns="0" rIns="0" tIns="0" bIns="0">
            <a:noAutofit/>
          </a:bodyPr>
          <a:lstStyle/>
          <a:p>
            <a:pPr algn="l">
              <a:lnSpc>
                <a:spcPts val="2475"/>
              </a:lnSpc>
              <a:spcBef>
                <a:spcPts val="0"/>
              </a:spcBef>
              <a:spcAft>
                <a:spcPts val="0"/>
              </a:spcAft>
            </a:pPr>
            <a:r>
              <a:rPr sz="1650" b="1">
                <a:solidFill>
                  <a:srgbClr val="16181D"/>
                </a:solidFill>
                <a:latin typeface="맑은 고딕"/>
                <a:ea typeface="맑은 고딕"/>
                <a:cs typeface="맑은 고딕"/>
              </a:rPr>
              <a:t>『취업과 경력개발』 한 학기 수업을 마치면…</a:t>
            </a:r>
          </a:p>
        </p:txBody>
      </p:sp>
      <p:sp>
        <p:nvSpPr>
          <p:cNvPr id="15" name="Freeform 14"/>
          <p:cNvSpPr/>
          <p:nvPr/>
        </p:nvSpPr>
        <p:spPr>
          <a:xfrm>
            <a:off x="438150" y="6332759"/>
            <a:ext cx="11315700" cy="0"/>
          </a:xfrm>
          <a:custGeom>
            <a:avLst/>
            <a:gdLst/>
            <a:ahLst/>
            <a:cxnLst/>
            <a:rect l="l" t="t" r="r" b="b"/>
            <a:pathLst>
              <a:path w="11315700" h="0">
                <a:moveTo>
                  <a:pt x="0" y="0"/>
                </a:moveTo>
                <a:lnTo>
                  <a:pt x="11315700" y="0"/>
                </a:lnTo>
                <a:close/>
              </a:path>
            </a:pathLst>
          </a:custGeom>
          <a:noFill/>
          <a:ln w="1985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7411" y="4387253"/>
            <a:ext cx="2600626" cy="1885950"/>
          </a:xfrm>
          <a:prstGeom prst="roundRect">
            <a:avLst>
              <a:gd name="adj" fmla="val 6315"/>
            </a:avLst>
          </a:prstGeom>
          <a:solidFill>
            <a:srgbClr val="FFFFFF"/>
          </a:solidFill>
          <a:ln w="1985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ounded Rectangle 16"/>
          <p:cNvSpPr/>
          <p:nvPr/>
        </p:nvSpPr>
        <p:spPr>
          <a:xfrm>
            <a:off x="537411" y="4387253"/>
            <a:ext cx="2600626" cy="456598"/>
          </a:xfrm>
          <a:prstGeom prst="roundRect">
            <a:avLst>
              <a:gd name="adj" fmla="val 26086"/>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537411" y="4685034"/>
            <a:ext cx="2600626" cy="158817"/>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311541" y="4454780"/>
            <a:ext cx="1052364" cy="337486"/>
          </a:xfrm>
          <a:prstGeom prst="rect">
            <a:avLst/>
          </a:prstGeom>
          <a:noFill/>
        </p:spPr>
        <p:txBody>
          <a:bodyPr wrap="none" lIns="0" rIns="0" tIns="0" bIns="0" anchor="ctr">
            <a:noAutofit/>
          </a:bodyPr>
          <a:lstStyle/>
          <a:p>
            <a:pPr algn="ctr">
              <a:lnSpc>
                <a:spcPts val="1875"/>
              </a:lnSpc>
            </a:pPr>
            <a:r>
              <a:rPr sz="1563" b="1">
                <a:solidFill>
                  <a:srgbClr val="FFFFFF"/>
                </a:solidFill>
                <a:latin typeface="맑은 고딕"/>
                <a:ea typeface="맑은 고딕"/>
                <a:cs typeface="맑은 고딕"/>
              </a:rPr>
              <a:t>첫번째</a:t>
            </a:r>
          </a:p>
        </p:txBody>
      </p:sp>
      <p:pic>
        <p:nvPicPr>
          <p:cNvPr id="20" name="Picture 19" descr="image.png"/>
          <p:cNvPicPr>
            <a:picLocks noChangeAspect="1"/>
          </p:cNvPicPr>
          <p:nvPr/>
        </p:nvPicPr>
        <p:blipFill>
          <a:blip r:embed="rId3"/>
          <a:stretch>
            <a:fillRect/>
          </a:stretch>
        </p:blipFill>
        <p:spPr>
          <a:xfrm>
            <a:off x="1618648" y="5027433"/>
            <a:ext cx="447675" cy="447675"/>
          </a:xfrm>
          <a:prstGeom prst="rect">
            <a:avLst/>
          </a:prstGeom>
        </p:spPr>
      </p:pic>
      <p:sp>
        <p:nvSpPr>
          <p:cNvPr id="21" name="TextBox 20"/>
          <p:cNvSpPr txBox="1"/>
          <p:nvPr/>
        </p:nvSpPr>
        <p:spPr>
          <a:xfrm>
            <a:off x="218347" y="5549918"/>
            <a:ext cx="3238753" cy="320611"/>
          </a:xfrm>
          <a:prstGeom prst="rect">
            <a:avLst/>
          </a:prstGeom>
          <a:noFill/>
        </p:spPr>
        <p:txBody>
          <a:bodyPr wrap="none" lIns="0" rIns="0" tIns="0" bIns="0" anchor="ctr">
            <a:noAutofit/>
          </a:bodyPr>
          <a:lstStyle/>
          <a:p>
            <a:pPr algn="ctr">
              <a:lnSpc>
                <a:spcPts val="1781"/>
              </a:lnSpc>
            </a:pPr>
            <a:r>
              <a:rPr sz="1484" b="1">
                <a:solidFill>
                  <a:srgbClr val="3D4450"/>
                </a:solidFill>
                <a:latin typeface="맑은 고딕"/>
                <a:ea typeface="맑은 고딕"/>
                <a:cs typeface="맑은 고딕"/>
              </a:rPr>
              <a:t>자신의 직업흥미, 적성,</a:t>
            </a:r>
          </a:p>
        </p:txBody>
      </p:sp>
      <p:sp>
        <p:nvSpPr>
          <p:cNvPr id="22" name="TextBox 21"/>
          <p:cNvSpPr txBox="1"/>
          <p:nvPr/>
        </p:nvSpPr>
        <p:spPr>
          <a:xfrm>
            <a:off x="378501" y="5807995"/>
            <a:ext cx="2918445" cy="320611"/>
          </a:xfrm>
          <a:prstGeom prst="rect">
            <a:avLst/>
          </a:prstGeom>
          <a:noFill/>
        </p:spPr>
        <p:txBody>
          <a:bodyPr wrap="none" lIns="0" rIns="0" tIns="0" bIns="0" anchor="ctr">
            <a:noAutofit/>
          </a:bodyPr>
          <a:lstStyle/>
          <a:p>
            <a:pPr algn="ctr">
              <a:lnSpc>
                <a:spcPts val="1781"/>
              </a:lnSpc>
            </a:pPr>
            <a:r>
              <a:rPr sz="1484" b="1">
                <a:solidFill>
                  <a:srgbClr val="0B2A4A"/>
                </a:solidFill>
                <a:latin typeface="맑은 고딕"/>
                <a:ea typeface="맑은 고딕"/>
                <a:cs typeface="맑은 고딕"/>
              </a:rPr>
              <a:t>가치관을 알 수 있다.</a:t>
            </a:r>
          </a:p>
        </p:txBody>
      </p:sp>
      <p:sp>
        <p:nvSpPr>
          <p:cNvPr id="23" name="Rounded Rectangle 22"/>
          <p:cNvSpPr/>
          <p:nvPr/>
        </p:nvSpPr>
        <p:spPr>
          <a:xfrm>
            <a:off x="3366336" y="4049767"/>
            <a:ext cx="2600626" cy="2223436"/>
          </a:xfrm>
          <a:prstGeom prst="roundRect">
            <a:avLst>
              <a:gd name="adj" fmla="val 5357"/>
            </a:avLst>
          </a:prstGeom>
          <a:solidFill>
            <a:srgbClr val="FFFFFF"/>
          </a:solidFill>
          <a:ln w="1985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ounded Rectangle 23"/>
          <p:cNvSpPr/>
          <p:nvPr/>
        </p:nvSpPr>
        <p:spPr>
          <a:xfrm>
            <a:off x="3366336" y="4049767"/>
            <a:ext cx="2600626" cy="456598"/>
          </a:xfrm>
          <a:prstGeom prst="roundRect">
            <a:avLst>
              <a:gd name="adj" fmla="val 26086"/>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ectangle 24"/>
          <p:cNvSpPr/>
          <p:nvPr/>
        </p:nvSpPr>
        <p:spPr>
          <a:xfrm>
            <a:off x="3366336" y="4347548"/>
            <a:ext cx="2600626" cy="158817"/>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4140466" y="4117293"/>
            <a:ext cx="1052364" cy="337486"/>
          </a:xfrm>
          <a:prstGeom prst="rect">
            <a:avLst/>
          </a:prstGeom>
          <a:noFill/>
        </p:spPr>
        <p:txBody>
          <a:bodyPr wrap="none" lIns="0" rIns="0" tIns="0" bIns="0" anchor="ctr">
            <a:noAutofit/>
          </a:bodyPr>
          <a:lstStyle/>
          <a:p>
            <a:pPr algn="ctr">
              <a:lnSpc>
                <a:spcPts val="1875"/>
              </a:lnSpc>
            </a:pPr>
            <a:r>
              <a:rPr sz="1563" b="1">
                <a:solidFill>
                  <a:srgbClr val="FFFFFF"/>
                </a:solidFill>
                <a:latin typeface="맑은 고딕"/>
                <a:ea typeface="맑은 고딕"/>
                <a:cs typeface="맑은 고딕"/>
              </a:rPr>
              <a:t>두번째</a:t>
            </a:r>
          </a:p>
        </p:txBody>
      </p:sp>
      <p:pic>
        <p:nvPicPr>
          <p:cNvPr id="27" name="Picture 26" descr="image.png"/>
          <p:cNvPicPr>
            <a:picLocks noChangeAspect="1"/>
          </p:cNvPicPr>
          <p:nvPr/>
        </p:nvPicPr>
        <p:blipFill>
          <a:blip r:embed="rId4"/>
          <a:stretch>
            <a:fillRect/>
          </a:stretch>
        </p:blipFill>
        <p:spPr>
          <a:xfrm>
            <a:off x="4447573" y="4689946"/>
            <a:ext cx="447675" cy="447675"/>
          </a:xfrm>
          <a:prstGeom prst="rect">
            <a:avLst/>
          </a:prstGeom>
        </p:spPr>
      </p:pic>
      <p:sp>
        <p:nvSpPr>
          <p:cNvPr id="28" name="TextBox 27"/>
          <p:cNvSpPr txBox="1"/>
          <p:nvPr/>
        </p:nvSpPr>
        <p:spPr>
          <a:xfrm>
            <a:off x="3180733" y="5212431"/>
            <a:ext cx="2971830" cy="320611"/>
          </a:xfrm>
          <a:prstGeom prst="rect">
            <a:avLst/>
          </a:prstGeom>
          <a:noFill/>
        </p:spPr>
        <p:txBody>
          <a:bodyPr wrap="none" lIns="0" rIns="0" tIns="0" bIns="0" anchor="ctr">
            <a:noAutofit/>
          </a:bodyPr>
          <a:lstStyle/>
          <a:p>
            <a:pPr algn="ctr">
              <a:lnSpc>
                <a:spcPts val="1781"/>
              </a:lnSpc>
            </a:pPr>
            <a:r>
              <a:rPr sz="1484" b="1">
                <a:solidFill>
                  <a:srgbClr val="3D4450"/>
                </a:solidFill>
                <a:latin typeface="맑은 고딕"/>
                <a:ea typeface="맑은 고딕"/>
                <a:cs typeface="맑은 고딕"/>
              </a:rPr>
              <a:t>직업정보를 탐색하고</a:t>
            </a:r>
          </a:p>
        </p:txBody>
      </p:sp>
      <p:sp>
        <p:nvSpPr>
          <p:cNvPr id="29" name="TextBox 28"/>
          <p:cNvSpPr txBox="1"/>
          <p:nvPr/>
        </p:nvSpPr>
        <p:spPr>
          <a:xfrm>
            <a:off x="3572137" y="5470511"/>
            <a:ext cx="2189024" cy="320611"/>
          </a:xfrm>
          <a:prstGeom prst="rect">
            <a:avLst/>
          </a:prstGeom>
          <a:noFill/>
        </p:spPr>
        <p:txBody>
          <a:bodyPr wrap="none" lIns="0" rIns="0" tIns="0" bIns="0" anchor="ctr">
            <a:noAutofit/>
          </a:bodyPr>
          <a:lstStyle/>
          <a:p>
            <a:pPr algn="ctr">
              <a:lnSpc>
                <a:spcPts val="1781"/>
              </a:lnSpc>
            </a:pPr>
            <a:r>
              <a:rPr sz="1484" b="1">
                <a:solidFill>
                  <a:srgbClr val="0B2A4A"/>
                </a:solidFill>
                <a:latin typeface="맑은 고딕"/>
                <a:ea typeface="맑은 고딕"/>
                <a:cs typeface="맑은 고딕"/>
              </a:rPr>
              <a:t>분석할 수 있다.</a:t>
            </a:r>
          </a:p>
        </p:txBody>
      </p:sp>
      <p:sp>
        <p:nvSpPr>
          <p:cNvPr id="30" name="Rounded Rectangle 29"/>
          <p:cNvSpPr/>
          <p:nvPr/>
        </p:nvSpPr>
        <p:spPr>
          <a:xfrm>
            <a:off x="6195261" y="3712281"/>
            <a:ext cx="2600626" cy="2560922"/>
          </a:xfrm>
          <a:prstGeom prst="roundRect">
            <a:avLst>
              <a:gd name="adj" fmla="val 4651"/>
            </a:avLst>
          </a:prstGeom>
          <a:solidFill>
            <a:srgbClr val="FFFFFF"/>
          </a:solidFill>
          <a:ln w="1985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Rounded Rectangle 30"/>
          <p:cNvSpPr/>
          <p:nvPr/>
        </p:nvSpPr>
        <p:spPr>
          <a:xfrm>
            <a:off x="6195261" y="3712281"/>
            <a:ext cx="2600626" cy="456598"/>
          </a:xfrm>
          <a:prstGeom prst="roundRect">
            <a:avLst>
              <a:gd name="adj" fmla="val 26086"/>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6195261" y="4010063"/>
            <a:ext cx="2600626" cy="158817"/>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959867" y="3779807"/>
            <a:ext cx="1061888" cy="337486"/>
          </a:xfrm>
          <a:prstGeom prst="rect">
            <a:avLst/>
          </a:prstGeom>
          <a:noFill/>
        </p:spPr>
        <p:txBody>
          <a:bodyPr wrap="none" lIns="0" rIns="0" tIns="0" bIns="0" anchor="ctr">
            <a:noAutofit/>
          </a:bodyPr>
          <a:lstStyle/>
          <a:p>
            <a:pPr algn="ctr">
              <a:lnSpc>
                <a:spcPts val="1875"/>
              </a:lnSpc>
            </a:pPr>
            <a:r>
              <a:rPr sz="1563" b="1">
                <a:solidFill>
                  <a:srgbClr val="FFFFFF"/>
                </a:solidFill>
                <a:latin typeface="맑은 고딕"/>
                <a:ea typeface="맑은 고딕"/>
                <a:cs typeface="맑은 고딕"/>
              </a:rPr>
              <a:t>세번째</a:t>
            </a:r>
          </a:p>
        </p:txBody>
      </p:sp>
      <p:pic>
        <p:nvPicPr>
          <p:cNvPr id="34" name="Picture 33" descr="image.png"/>
          <p:cNvPicPr>
            <a:picLocks noChangeAspect="1"/>
          </p:cNvPicPr>
          <p:nvPr/>
        </p:nvPicPr>
        <p:blipFill>
          <a:blip r:embed="rId5"/>
          <a:stretch>
            <a:fillRect/>
          </a:stretch>
        </p:blipFill>
        <p:spPr>
          <a:xfrm>
            <a:off x="7276499" y="4352460"/>
            <a:ext cx="447675" cy="447675"/>
          </a:xfrm>
          <a:prstGeom prst="rect">
            <a:avLst/>
          </a:prstGeom>
        </p:spPr>
      </p:pic>
      <p:sp>
        <p:nvSpPr>
          <p:cNvPr id="35" name="TextBox 34"/>
          <p:cNvSpPr txBox="1"/>
          <p:nvPr/>
        </p:nvSpPr>
        <p:spPr>
          <a:xfrm>
            <a:off x="5394058" y="4874950"/>
            <a:ext cx="4207824" cy="320611"/>
          </a:xfrm>
          <a:prstGeom prst="rect">
            <a:avLst/>
          </a:prstGeom>
          <a:noFill/>
        </p:spPr>
        <p:txBody>
          <a:bodyPr wrap="none" lIns="0" rIns="0" tIns="0" bIns="0" anchor="ctr">
            <a:noAutofit/>
          </a:bodyPr>
          <a:lstStyle/>
          <a:p>
            <a:pPr algn="ctr">
              <a:lnSpc>
                <a:spcPts val="1781"/>
              </a:lnSpc>
            </a:pPr>
            <a:r>
              <a:rPr sz="1484" b="1">
                <a:solidFill>
                  <a:srgbClr val="3D4450"/>
                </a:solidFill>
                <a:latin typeface="맑은 고딕"/>
                <a:ea typeface="맑은 고딕"/>
                <a:cs typeface="맑은 고딕"/>
              </a:rPr>
              <a:t>자신의 직무에 적합한 이력서/</a:t>
            </a:r>
          </a:p>
        </p:txBody>
      </p:sp>
      <p:sp>
        <p:nvSpPr>
          <p:cNvPr id="36" name="TextBox 35"/>
          <p:cNvSpPr txBox="1"/>
          <p:nvPr/>
        </p:nvSpPr>
        <p:spPr>
          <a:xfrm>
            <a:off x="5395736" y="5133027"/>
            <a:ext cx="4199677" cy="320611"/>
          </a:xfrm>
          <a:prstGeom prst="rect">
            <a:avLst/>
          </a:prstGeom>
          <a:noFill/>
        </p:spPr>
        <p:txBody>
          <a:bodyPr wrap="none" lIns="0" rIns="0" tIns="0" bIns="0" anchor="ctr">
            <a:noAutofit/>
          </a:bodyPr>
          <a:lstStyle/>
          <a:p>
            <a:pPr algn="ctr">
              <a:lnSpc>
                <a:spcPts val="1781"/>
              </a:lnSpc>
            </a:pPr>
            <a:r>
              <a:rPr sz="1484" b="1">
                <a:solidFill>
                  <a:srgbClr val="0B2A4A"/>
                </a:solidFill>
                <a:latin typeface="맑은 고딕"/>
                <a:ea typeface="맑은 고딕"/>
                <a:cs typeface="맑은 고딕"/>
              </a:rPr>
              <a:t>자기소개서를 작성할 수 있다.</a:t>
            </a:r>
          </a:p>
        </p:txBody>
      </p:sp>
      <p:sp>
        <p:nvSpPr>
          <p:cNvPr id="37" name="Rounded Rectangle 36"/>
          <p:cNvSpPr/>
          <p:nvPr/>
        </p:nvSpPr>
        <p:spPr>
          <a:xfrm>
            <a:off x="9024186" y="3374795"/>
            <a:ext cx="2600626" cy="2898407"/>
          </a:xfrm>
          <a:prstGeom prst="roundRect">
            <a:avLst>
              <a:gd name="adj" fmla="val 4580"/>
            </a:avLst>
          </a:prstGeom>
          <a:solidFill>
            <a:srgbClr val="FFFFFF"/>
          </a:solidFill>
          <a:ln w="1985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Rounded Rectangle 37"/>
          <p:cNvSpPr/>
          <p:nvPr/>
        </p:nvSpPr>
        <p:spPr>
          <a:xfrm>
            <a:off x="9024186" y="3374795"/>
            <a:ext cx="2600626" cy="456598"/>
          </a:xfrm>
          <a:prstGeom prst="roundRect">
            <a:avLst>
              <a:gd name="adj" fmla="val 26086"/>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Rectangle 38"/>
          <p:cNvSpPr/>
          <p:nvPr/>
        </p:nvSpPr>
        <p:spPr>
          <a:xfrm>
            <a:off x="9024186" y="3672577"/>
            <a:ext cx="2600626" cy="158817"/>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9798317" y="3442320"/>
            <a:ext cx="1052363" cy="337486"/>
          </a:xfrm>
          <a:prstGeom prst="rect">
            <a:avLst/>
          </a:prstGeom>
          <a:noFill/>
        </p:spPr>
        <p:txBody>
          <a:bodyPr wrap="none" lIns="0" rIns="0" tIns="0" bIns="0" anchor="ctr">
            <a:noAutofit/>
          </a:bodyPr>
          <a:lstStyle/>
          <a:p>
            <a:pPr algn="ctr">
              <a:lnSpc>
                <a:spcPts val="1875"/>
              </a:lnSpc>
            </a:pPr>
            <a:r>
              <a:rPr sz="1563" b="1">
                <a:solidFill>
                  <a:srgbClr val="FFFFFF"/>
                </a:solidFill>
                <a:latin typeface="맑은 고딕"/>
                <a:ea typeface="맑은 고딕"/>
                <a:cs typeface="맑은 고딕"/>
              </a:rPr>
              <a:t>네번째</a:t>
            </a:r>
          </a:p>
        </p:txBody>
      </p:sp>
      <p:pic>
        <p:nvPicPr>
          <p:cNvPr id="41" name="Picture 40" descr="image.png"/>
          <p:cNvPicPr>
            <a:picLocks noChangeAspect="1"/>
          </p:cNvPicPr>
          <p:nvPr/>
        </p:nvPicPr>
        <p:blipFill>
          <a:blip r:embed="rId6"/>
          <a:stretch>
            <a:fillRect/>
          </a:stretch>
        </p:blipFill>
        <p:spPr>
          <a:xfrm>
            <a:off x="10105423" y="4014974"/>
            <a:ext cx="447675" cy="447675"/>
          </a:xfrm>
          <a:prstGeom prst="rect">
            <a:avLst/>
          </a:prstGeom>
        </p:spPr>
      </p:pic>
      <p:sp>
        <p:nvSpPr>
          <p:cNvPr id="42" name="TextBox 41"/>
          <p:cNvSpPr txBox="1"/>
          <p:nvPr/>
        </p:nvSpPr>
        <p:spPr>
          <a:xfrm>
            <a:off x="8269063" y="4537463"/>
            <a:ext cx="4110872" cy="320611"/>
          </a:xfrm>
          <a:prstGeom prst="rect">
            <a:avLst/>
          </a:prstGeom>
          <a:noFill/>
        </p:spPr>
        <p:txBody>
          <a:bodyPr wrap="none" lIns="0" rIns="0" tIns="0" bIns="0" anchor="ctr">
            <a:noAutofit/>
          </a:bodyPr>
          <a:lstStyle/>
          <a:p>
            <a:pPr algn="ctr">
              <a:lnSpc>
                <a:spcPts val="1781"/>
              </a:lnSpc>
            </a:pPr>
            <a:r>
              <a:rPr sz="1484" b="1">
                <a:solidFill>
                  <a:srgbClr val="3D4450"/>
                </a:solidFill>
                <a:latin typeface="맑은 고딕"/>
                <a:ea typeface="맑은 고딕"/>
                <a:cs typeface="맑은 고딕"/>
              </a:rPr>
              <a:t>적절한 면접 기법을 학습하여</a:t>
            </a:r>
          </a:p>
        </p:txBody>
      </p:sp>
      <p:sp>
        <p:nvSpPr>
          <p:cNvPr id="43" name="TextBox 42"/>
          <p:cNvSpPr txBox="1"/>
          <p:nvPr/>
        </p:nvSpPr>
        <p:spPr>
          <a:xfrm>
            <a:off x="9229987" y="4795541"/>
            <a:ext cx="2189022" cy="320611"/>
          </a:xfrm>
          <a:prstGeom prst="rect">
            <a:avLst/>
          </a:prstGeom>
          <a:noFill/>
        </p:spPr>
        <p:txBody>
          <a:bodyPr wrap="none" lIns="0" rIns="0" tIns="0" bIns="0" anchor="ctr">
            <a:noAutofit/>
          </a:bodyPr>
          <a:lstStyle/>
          <a:p>
            <a:pPr algn="ctr">
              <a:lnSpc>
                <a:spcPts val="1781"/>
              </a:lnSpc>
            </a:pPr>
            <a:r>
              <a:rPr sz="1484" b="1">
                <a:solidFill>
                  <a:srgbClr val="0B2A4A"/>
                </a:solidFill>
                <a:latin typeface="맑은 고딕"/>
                <a:ea typeface="맑은 고딕"/>
                <a:cs typeface="맑은 고딕"/>
              </a:rPr>
              <a:t>활용할 수 있다.</a:t>
            </a:r>
          </a:p>
        </p:txBody>
      </p:sp>
      <p:sp>
        <p:nvSpPr>
          <p:cNvPr id="44" name="TextBox 43"/>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2</a:t>
            </a:r>
          </a:p>
        </p:txBody>
      </p:sp>
      <p:sp>
        <p:nvSpPr>
          <p:cNvPr id="17" name="TextBox 16"/>
          <p:cNvSpPr txBox="1"/>
          <p:nvPr/>
        </p:nvSpPr>
        <p:spPr>
          <a:xfrm>
            <a:off x="3792423" y="1345228"/>
            <a:ext cx="4607004"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성적 평가</a:t>
            </a:r>
          </a:p>
        </p:txBody>
      </p:sp>
      <p:sp>
        <p:nvSpPr>
          <p:cNvPr id="18" name="TextBox 17"/>
          <p:cNvSpPr txBox="1"/>
          <p:nvPr/>
        </p:nvSpPr>
        <p:spPr>
          <a:xfrm>
            <a:off x="1323067" y="4338548"/>
            <a:ext cx="9545717"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출석, 중간고사, 기말고사, 과제물 등 성적 평가 방법 소개</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2</a:t>
            </a:r>
          </a:p>
        </p:txBody>
      </p:sp>
      <p:sp>
        <p:nvSpPr>
          <p:cNvPr id="6" name="TextBox 5"/>
          <p:cNvSpPr txBox="1"/>
          <p:nvPr/>
        </p:nvSpPr>
        <p:spPr>
          <a:xfrm>
            <a:off x="728662" y="112395"/>
            <a:ext cx="2014776"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성적평가</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5839539"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평가 기준에 따라 적용합니다.</a:t>
            </a:r>
          </a:p>
        </p:txBody>
      </p:sp>
      <p:sp>
        <p:nvSpPr>
          <p:cNvPr id="12" name="Rounded Rectangle 11"/>
          <p:cNvSpPr/>
          <p:nvPr/>
        </p:nvSpPr>
        <p:spPr>
          <a:xfrm>
            <a:off x="438150" y="2104727"/>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1025" y="2042815"/>
            <a:ext cx="1896428"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057A0"/>
                </a:solidFill>
                <a:latin typeface="맑은 고딕"/>
                <a:ea typeface="맑은 고딕"/>
                <a:cs typeface="맑은 고딕"/>
              </a:rPr>
              <a:t>1. 성적평가</a:t>
            </a:r>
          </a:p>
        </p:txBody>
      </p:sp>
      <p:graphicFrame>
        <p:nvGraphicFramePr>
          <p:cNvPr id="14" name="Table 13"/>
          <p:cNvGraphicFramePr>
            <a:graphicFrameLocks noGrp="1"/>
          </p:cNvGraphicFramePr>
          <p:nvPr/>
        </p:nvGraphicFramePr>
        <p:xfrm>
          <a:off x="438150" y="2633365"/>
          <a:ext cx="6354516" cy="838200"/>
        </p:xfrm>
        <a:graphic>
          <a:graphicData uri="http://schemas.openxmlformats.org/drawingml/2006/table">
            <a:tbl>
              <a:tblPr>
                <a:tableStyleId>{5C22544A-7EE6-4342-B048-85BDC9FD1C3A}</a:tableStyleId>
              </a:tblPr>
              <a:tblGrid>
                <a:gridCol w="743248"/>
                <a:gridCol w="1159818"/>
                <a:gridCol w="1159818"/>
                <a:gridCol w="3291632"/>
              </a:tblGrid>
              <a:tr h="390525">
                <a:tc>
                  <a:txBody>
                    <a:bodyPr wrap="square"/>
                    <a:lstStyle/>
                    <a:p>
                      <a:pPr algn="ctr">
                        <a:lnSpc>
                          <a:spcPts val="1560"/>
                        </a:lnSpc>
                      </a:pPr>
                      <a:r>
                        <a:rPr sz="1200" b="1">
                          <a:solidFill>
                            <a:srgbClr val="0B2A4A"/>
                          </a:solidFill>
                          <a:latin typeface="맑은 고딕"/>
                          <a:ea typeface="맑은 고딕"/>
                          <a:cs typeface="맑은 고딕"/>
                        </a:rPr>
                        <a:t>출석</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560"/>
                        </a:lnSpc>
                      </a:pPr>
                      <a:r>
                        <a:rPr sz="1200" b="1">
                          <a:solidFill>
                            <a:srgbClr val="0B2A4A"/>
                          </a:solidFill>
                          <a:latin typeface="맑은 고딕"/>
                          <a:ea typeface="맑은 고딕"/>
                          <a:cs typeface="맑은 고딕"/>
                        </a:rPr>
                        <a:t>중간시험</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560"/>
                        </a:lnSpc>
                      </a:pPr>
                      <a:r>
                        <a:rPr sz="1200" b="1">
                          <a:solidFill>
                            <a:srgbClr val="0B2A4A"/>
                          </a:solidFill>
                          <a:latin typeface="맑은 고딕"/>
                          <a:ea typeface="맑은 고딕"/>
                          <a:cs typeface="맑은 고딕"/>
                        </a:rPr>
                        <a:t>기말시험</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560"/>
                        </a:lnSpc>
                      </a:pPr>
                      <a:r>
                        <a:rPr sz="1200" b="1">
                          <a:solidFill>
                            <a:srgbClr val="0B2A4A"/>
                          </a:solidFill>
                          <a:latin typeface="맑은 고딕"/>
                          <a:ea typeface="맑은 고딕"/>
                          <a:cs typeface="맑은 고딕"/>
                        </a:rPr>
                        <a:t>과제물제출 및 참여도(수업태도)</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447675">
                <a:tc>
                  <a:txBody>
                    <a:bodyPr wrap="square"/>
                    <a:lstStyle/>
                    <a:p>
                      <a:pPr algn="ctr">
                        <a:lnSpc>
                          <a:spcPts val="1950"/>
                        </a:lnSpc>
                      </a:pPr>
                      <a:r>
                        <a:rPr sz="1500" b="1">
                          <a:solidFill>
                            <a:srgbClr val="16181D"/>
                          </a:solidFill>
                          <a:latin typeface="맑은 고딕"/>
                          <a:ea typeface="맑은 고딕"/>
                          <a:cs typeface="맑은 고딕"/>
                        </a:rPr>
                        <a:t>30%</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950"/>
                        </a:lnSpc>
                      </a:pPr>
                      <a:r>
                        <a:rPr sz="1500" b="1">
                          <a:solidFill>
                            <a:srgbClr val="16181D"/>
                          </a:solidFill>
                          <a:latin typeface="맑은 고딕"/>
                          <a:ea typeface="맑은 고딕"/>
                          <a:cs typeface="맑은 고딕"/>
                        </a:rPr>
                        <a:t>20%</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950"/>
                        </a:lnSpc>
                      </a:pPr>
                      <a:r>
                        <a:rPr sz="1500" b="1">
                          <a:solidFill>
                            <a:srgbClr val="16181D"/>
                          </a:solidFill>
                          <a:latin typeface="맑은 고딕"/>
                          <a:ea typeface="맑은 고딕"/>
                          <a:cs typeface="맑은 고딕"/>
                        </a:rPr>
                        <a:t>20%</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950"/>
                        </a:lnSpc>
                      </a:pPr>
                      <a:r>
                        <a:rPr sz="1500" b="1">
                          <a:solidFill>
                            <a:srgbClr val="16181D"/>
                          </a:solidFill>
                          <a:latin typeface="맑은 고딕"/>
                          <a:ea typeface="맑은 고딕"/>
                          <a:cs typeface="맑은 고딕"/>
                        </a:rPr>
                        <a:t>30%(활동워크북)</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bl>
          </a:graphicData>
        </a:graphic>
      </p:graphicFrame>
      <p:sp>
        <p:nvSpPr>
          <p:cNvPr id="15" name="Rounded Rectangle 14"/>
          <p:cNvSpPr/>
          <p:nvPr/>
        </p:nvSpPr>
        <p:spPr>
          <a:xfrm>
            <a:off x="438150" y="3771602"/>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1025" y="3709690"/>
            <a:ext cx="1975009"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057A0"/>
                </a:solidFill>
                <a:latin typeface="맑은 고딕"/>
                <a:ea typeface="맑은 고딕"/>
                <a:cs typeface="맑은 고딕"/>
              </a:rPr>
              <a:t>2. 시험 안내</a:t>
            </a:r>
          </a:p>
        </p:txBody>
      </p:sp>
      <p:sp>
        <p:nvSpPr>
          <p:cNvPr id="17" name="Rectangle 16"/>
          <p:cNvSpPr/>
          <p:nvPr/>
        </p:nvSpPr>
        <p:spPr>
          <a:xfrm>
            <a:off x="476250" y="4394156"/>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375" y="4253091"/>
            <a:ext cx="7880509" cy="332422"/>
          </a:xfrm>
          <a:prstGeom prst="rect">
            <a:avLst/>
          </a:prstGeom>
          <a:noFill/>
        </p:spPr>
        <p:txBody>
          <a:bodyPr wrap="none" anchor="ctr" lIns="0" rIns="0" tIns="0" bIns="0">
            <a:noAutofit/>
          </a:bodyPr>
          <a:lstStyle/>
          <a:p>
            <a:pPr algn="l">
              <a:lnSpc>
                <a:spcPts val="1810"/>
              </a:lnSpc>
              <a:spcBef>
                <a:spcPts val="0"/>
              </a:spcBef>
              <a:spcAft>
                <a:spcPts val="0"/>
              </a:spcAft>
            </a:pPr>
            <a:r>
              <a:rPr sz="1275" b="1">
                <a:solidFill>
                  <a:srgbClr val="16181D"/>
                </a:solidFill>
                <a:latin typeface="맑은 고딕"/>
                <a:ea typeface="맑은 고딕"/>
                <a:cs typeface="맑은 고딕"/>
              </a:rPr>
              <a:t>중간고사 : 8주차 시행</a:t>
            </a:r>
            <a:r>
              <a:rPr sz="1275" b="0">
                <a:solidFill>
                  <a:srgbClr val="3D4450"/>
                </a:solidFill>
                <a:latin typeface="맑은 고딕"/>
                <a:ea typeface="맑은 고딕"/>
                <a:cs typeface="맑은 고딕"/>
              </a:rPr>
              <a:t> — 이력서 및 자기소개서 제출 및 조별 공유</a:t>
            </a:r>
          </a:p>
        </p:txBody>
      </p:sp>
      <p:sp>
        <p:nvSpPr>
          <p:cNvPr id="19" name="Rectangle 18"/>
          <p:cNvSpPr/>
          <p:nvPr/>
        </p:nvSpPr>
        <p:spPr>
          <a:xfrm>
            <a:off x="476250" y="4681097"/>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4375" y="4540032"/>
            <a:ext cx="7434262" cy="332422"/>
          </a:xfrm>
          <a:prstGeom prst="rect">
            <a:avLst/>
          </a:prstGeom>
          <a:noFill/>
        </p:spPr>
        <p:txBody>
          <a:bodyPr wrap="none" anchor="ctr" lIns="0" rIns="0" tIns="0" bIns="0">
            <a:noAutofit/>
          </a:bodyPr>
          <a:lstStyle/>
          <a:p>
            <a:pPr algn="l">
              <a:lnSpc>
                <a:spcPts val="1810"/>
              </a:lnSpc>
              <a:spcBef>
                <a:spcPts val="0"/>
              </a:spcBef>
              <a:spcAft>
                <a:spcPts val="0"/>
              </a:spcAft>
            </a:pPr>
            <a:r>
              <a:rPr sz="1275" b="1">
                <a:solidFill>
                  <a:srgbClr val="16181D"/>
                </a:solidFill>
                <a:latin typeface="맑은 고딕"/>
                <a:ea typeface="맑은 고딕"/>
                <a:cs typeface="맑은 고딕"/>
              </a:rPr>
              <a:t>기말고사 : 15주차 시행</a:t>
            </a:r>
            <a:r>
              <a:rPr sz="1275" b="0">
                <a:solidFill>
                  <a:srgbClr val="3D4450"/>
                </a:solidFill>
                <a:latin typeface="맑은 고딕"/>
                <a:ea typeface="맑은 고딕"/>
                <a:cs typeface="맑은 고딕"/>
              </a:rPr>
              <a:t> — 진로 생애계획서 제출 및 조별 공유</a:t>
            </a:r>
          </a:p>
        </p:txBody>
      </p:sp>
      <p:sp>
        <p:nvSpPr>
          <p:cNvPr id="21" name="Rounded Rectangle 20"/>
          <p:cNvSpPr/>
          <p:nvPr/>
        </p:nvSpPr>
        <p:spPr>
          <a:xfrm>
            <a:off x="438150" y="5107484"/>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025" y="5045571"/>
            <a:ext cx="1896428"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057A0"/>
                </a:solidFill>
                <a:latin typeface="맑은 고딕"/>
                <a:ea typeface="맑은 고딕"/>
                <a:cs typeface="맑은 고딕"/>
              </a:rPr>
              <a:t>3. 평가기준</a:t>
            </a:r>
          </a:p>
        </p:txBody>
      </p:sp>
      <p:sp>
        <p:nvSpPr>
          <p:cNvPr id="23" name="Rectangle 22"/>
          <p:cNvSpPr/>
          <p:nvPr/>
        </p:nvSpPr>
        <p:spPr>
          <a:xfrm>
            <a:off x="476250" y="5730038"/>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4375" y="5636121"/>
            <a:ext cx="6087814" cy="497681"/>
          </a:xfrm>
          <a:prstGeom prst="rect">
            <a:avLst/>
          </a:prstGeom>
          <a:noFill/>
        </p:spPr>
        <p:txBody>
          <a:bodyPr wrap="square" anchor="t" lIns="0" rIns="0" tIns="0" bIns="0">
            <a:noAutofit/>
          </a:bodyPr>
          <a:lstStyle/>
          <a:p>
            <a:pPr algn="l">
              <a:lnSpc>
                <a:spcPts val="1810"/>
              </a:lnSpc>
              <a:spcBef>
                <a:spcPts val="0"/>
              </a:spcBef>
              <a:spcAft>
                <a:spcPts val="0"/>
              </a:spcAft>
            </a:pPr>
            <a:r>
              <a:rPr sz="1275" b="1">
                <a:solidFill>
                  <a:srgbClr val="16181D"/>
                </a:solidFill>
                <a:latin typeface="맑은 고딕"/>
                <a:ea typeface="맑은 고딕"/>
                <a:cs typeface="맑은 고딕"/>
              </a:rPr>
              <a:t>수업 참여 적극성</a:t>
            </a:r>
            <a:r>
              <a:rPr sz="1275" b="0">
                <a:solidFill>
                  <a:srgbClr val="3D4450"/>
                </a:solidFill>
                <a:latin typeface="맑은 고딕"/>
                <a:ea typeface="맑은 고딕"/>
                <a:cs typeface="맑은 고딕"/>
              </a:rPr>
              <a:t> — 소그룹 토론 참여 적극성, 개인의 생각과 의견 게시 적극성 등을 확인</a:t>
            </a:r>
          </a:p>
        </p:txBody>
      </p:sp>
      <p:sp>
        <p:nvSpPr>
          <p:cNvPr id="25" name="Rectangle 24"/>
          <p:cNvSpPr/>
          <p:nvPr/>
        </p:nvSpPr>
        <p:spPr>
          <a:xfrm>
            <a:off x="476250" y="6246769"/>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4375" y="6152852"/>
            <a:ext cx="6087814" cy="497681"/>
          </a:xfrm>
          <a:prstGeom prst="rect">
            <a:avLst/>
          </a:prstGeom>
          <a:noFill/>
        </p:spPr>
        <p:txBody>
          <a:bodyPr wrap="square" anchor="t" lIns="0" rIns="0" tIns="0" bIns="0">
            <a:noAutofit/>
          </a:bodyPr>
          <a:lstStyle/>
          <a:p>
            <a:pPr algn="l">
              <a:lnSpc>
                <a:spcPts val="1810"/>
              </a:lnSpc>
              <a:spcBef>
                <a:spcPts val="0"/>
              </a:spcBef>
              <a:spcAft>
                <a:spcPts val="0"/>
              </a:spcAft>
            </a:pPr>
            <a:r>
              <a:rPr sz="1275" b="1">
                <a:solidFill>
                  <a:srgbClr val="16181D"/>
                </a:solidFill>
                <a:latin typeface="맑은 고딕"/>
                <a:ea typeface="맑은 고딕"/>
                <a:cs typeface="맑은 고딕"/>
              </a:rPr>
              <a:t>활동워크북</a:t>
            </a:r>
            <a:r>
              <a:rPr sz="1275" b="0">
                <a:solidFill>
                  <a:srgbClr val="3D4450"/>
                </a:solidFill>
                <a:latin typeface="맑은 고딕"/>
                <a:ea typeface="맑은 고딕"/>
                <a:cs typeface="맑은 고딕"/>
              </a:rPr>
              <a:t> — 수업시간 내에 작성하는 활동지 제출 여부 및 구체적으로 작성하였는지를 확인</a:t>
            </a:r>
          </a:p>
        </p:txBody>
      </p:sp>
      <p:sp>
        <p:nvSpPr>
          <p:cNvPr id="27" name="Rounded Rectangle 26"/>
          <p:cNvSpPr/>
          <p:nvPr/>
        </p:nvSpPr>
        <p:spPr>
          <a:xfrm>
            <a:off x="7185594" y="1948481"/>
            <a:ext cx="4432354" cy="4432354"/>
          </a:xfrm>
          <a:prstGeom prst="roundRect">
            <a:avLst>
              <a:gd name="adj" fmla="val 2183"/>
            </a:avLst>
          </a:prstGeom>
          <a:solidFill>
            <a:srgbClr val="EEF4FC"/>
          </a:solidFill>
          <a:ln w="9678">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Freeform 27"/>
          <p:cNvSpPr/>
          <p:nvPr/>
        </p:nvSpPr>
        <p:spPr>
          <a:xfrm>
            <a:off x="9426061" y="2782111"/>
            <a:ext cx="1504773" cy="1938913"/>
          </a:xfrm>
          <a:custGeom>
            <a:avLst/>
            <a:gdLst/>
            <a:ahLst/>
            <a:cxnLst/>
            <a:rect l="l" t="t" r="r" b="b"/>
            <a:pathLst>
              <a:path w="1504773" h="1938913">
                <a:moveTo>
                  <a:pt x="39775" y="0"/>
                </a:moveTo>
                <a:lnTo>
                  <a:pt x="176913" y="11953"/>
                </a:lnTo>
                <a:lnTo>
                  <a:pt x="312420" y="36191"/>
                </a:lnTo>
                <a:lnTo>
                  <a:pt x="445198" y="72518"/>
                </a:lnTo>
                <a:lnTo>
                  <a:pt x="574170" y="120639"/>
                </a:lnTo>
                <a:lnTo>
                  <a:pt x="698293" y="180164"/>
                </a:lnTo>
                <a:lnTo>
                  <a:pt x="816559" y="250611"/>
                </a:lnTo>
                <a:lnTo>
                  <a:pt x="928009" y="331409"/>
                </a:lnTo>
                <a:lnTo>
                  <a:pt x="1031742" y="421903"/>
                </a:lnTo>
                <a:lnTo>
                  <a:pt x="1126916" y="521359"/>
                </a:lnTo>
                <a:lnTo>
                  <a:pt x="1212759" y="628972"/>
                </a:lnTo>
                <a:lnTo>
                  <a:pt x="1288576" y="743870"/>
                </a:lnTo>
                <a:lnTo>
                  <a:pt x="1353752" y="865120"/>
                </a:lnTo>
                <a:lnTo>
                  <a:pt x="1407759" y="991741"/>
                </a:lnTo>
                <a:lnTo>
                  <a:pt x="1450160" y="1122705"/>
                </a:lnTo>
                <a:lnTo>
                  <a:pt x="1480611" y="1256953"/>
                </a:lnTo>
                <a:lnTo>
                  <a:pt x="1498864" y="1393395"/>
                </a:lnTo>
                <a:lnTo>
                  <a:pt x="1504773" y="1530926"/>
                </a:lnTo>
                <a:lnTo>
                  <a:pt x="1498288" y="1668430"/>
                </a:lnTo>
                <a:lnTo>
                  <a:pt x="1479463" y="1804795"/>
                </a:lnTo>
                <a:lnTo>
                  <a:pt x="1448451" y="1938913"/>
                </a:lnTo>
                <a:lnTo>
                  <a:pt x="534979" y="1683908"/>
                </a:lnTo>
                <a:lnTo>
                  <a:pt x="546764" y="1632972"/>
                </a:lnTo>
                <a:lnTo>
                  <a:pt x="553920" y="1581182"/>
                </a:lnTo>
                <a:lnTo>
                  <a:pt x="556388" y="1528958"/>
                </a:lnTo>
                <a:lnTo>
                  <a:pt x="554148" y="1476725"/>
                </a:lnTo>
                <a:lnTo>
                  <a:pt x="547220" y="1424904"/>
                </a:lnTo>
                <a:lnTo>
                  <a:pt x="535658" y="1373917"/>
                </a:lnTo>
                <a:lnTo>
                  <a:pt x="519557" y="1324176"/>
                </a:lnTo>
                <a:lnTo>
                  <a:pt x="499047" y="1276085"/>
                </a:lnTo>
                <a:lnTo>
                  <a:pt x="474295" y="1230034"/>
                </a:lnTo>
                <a:lnTo>
                  <a:pt x="445501" y="1186396"/>
                </a:lnTo>
                <a:lnTo>
                  <a:pt x="412898" y="1145525"/>
                </a:lnTo>
                <a:lnTo>
                  <a:pt x="376752" y="1107752"/>
                </a:lnTo>
                <a:lnTo>
                  <a:pt x="337354" y="1073383"/>
                </a:lnTo>
                <a:lnTo>
                  <a:pt x="295025" y="1042698"/>
                </a:lnTo>
                <a:lnTo>
                  <a:pt x="250107" y="1015944"/>
                </a:lnTo>
                <a:lnTo>
                  <a:pt x="202964" y="993339"/>
                </a:lnTo>
                <a:lnTo>
                  <a:pt x="153980" y="975066"/>
                </a:lnTo>
                <a:lnTo>
                  <a:pt x="103551" y="961273"/>
                </a:lnTo>
                <a:lnTo>
                  <a:pt x="52085" y="952072"/>
                </a:lnTo>
                <a:lnTo>
                  <a:pt x="0" y="947537"/>
                </a:lnTo>
                <a:close/>
              </a:path>
            </a:pathLst>
          </a:custGeom>
          <a:solidFill>
            <a:srgbClr val="FFFFFF"/>
          </a:solidFill>
          <a:ln w="1935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9426061" y="4512181"/>
            <a:ext cx="1408869" cy="1325351"/>
          </a:xfrm>
          <a:custGeom>
            <a:avLst/>
            <a:gdLst/>
            <a:ahLst/>
            <a:cxnLst/>
            <a:rect l="l" t="t" r="r" b="b"/>
            <a:pathLst>
              <a:path w="1408869" h="1325351">
                <a:moveTo>
                  <a:pt x="1408869" y="330588"/>
                </a:moveTo>
                <a:lnTo>
                  <a:pt x="1355023" y="457545"/>
                </a:lnTo>
                <a:lnTo>
                  <a:pt x="1289957" y="579134"/>
                </a:lnTo>
                <a:lnTo>
                  <a:pt x="1214201" y="694367"/>
                </a:lnTo>
                <a:lnTo>
                  <a:pt x="1128370" y="802305"/>
                </a:lnTo>
                <a:lnTo>
                  <a:pt x="1033164" y="902072"/>
                </a:lnTo>
                <a:lnTo>
                  <a:pt x="929357" y="992855"/>
                </a:lnTo>
                <a:lnTo>
                  <a:pt x="817792" y="1073916"/>
                </a:lnTo>
                <a:lnTo>
                  <a:pt x="699378" y="1144596"/>
                </a:lnTo>
                <a:lnTo>
                  <a:pt x="575078" y="1204320"/>
                </a:lnTo>
                <a:lnTo>
                  <a:pt x="445902" y="1252602"/>
                </a:lnTo>
                <a:lnTo>
                  <a:pt x="312901" y="1289048"/>
                </a:lnTo>
                <a:lnTo>
                  <a:pt x="177157" y="1313364"/>
                </a:lnTo>
                <a:lnTo>
                  <a:pt x="39775" y="1325351"/>
                </a:lnTo>
                <a:lnTo>
                  <a:pt x="0" y="377815"/>
                </a:lnTo>
                <a:lnTo>
                  <a:pt x="52179" y="373266"/>
                </a:lnTo>
                <a:lnTo>
                  <a:pt x="103736" y="364034"/>
                </a:lnTo>
                <a:lnTo>
                  <a:pt x="154251" y="350194"/>
                </a:lnTo>
                <a:lnTo>
                  <a:pt x="203314" y="331858"/>
                </a:lnTo>
                <a:lnTo>
                  <a:pt x="250525" y="309175"/>
                </a:lnTo>
                <a:lnTo>
                  <a:pt x="295499" y="282331"/>
                </a:lnTo>
                <a:lnTo>
                  <a:pt x="337872" y="251543"/>
                </a:lnTo>
                <a:lnTo>
                  <a:pt x="377298" y="217062"/>
                </a:lnTo>
                <a:lnTo>
                  <a:pt x="413457" y="179169"/>
                </a:lnTo>
                <a:lnTo>
                  <a:pt x="446053" y="138171"/>
                </a:lnTo>
                <a:lnTo>
                  <a:pt x="474823" y="94404"/>
                </a:lnTo>
                <a:lnTo>
                  <a:pt x="499532" y="48221"/>
                </a:lnTo>
                <a:lnTo>
                  <a:pt x="519979" y="0"/>
                </a:lnTo>
                <a:close/>
              </a:path>
            </a:pathLst>
          </a:custGeom>
          <a:solidFill>
            <a:srgbClr val="EDF4FC"/>
          </a:solidFill>
          <a:ln w="1935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968610" y="4512181"/>
            <a:ext cx="1408869" cy="1325351"/>
          </a:xfrm>
          <a:custGeom>
            <a:avLst/>
            <a:gdLst/>
            <a:ahLst/>
            <a:cxnLst/>
            <a:rect l="l" t="t" r="r" b="b"/>
            <a:pathLst>
              <a:path w="1408869" h="1325351">
                <a:moveTo>
                  <a:pt x="1369094" y="1325351"/>
                </a:moveTo>
                <a:lnTo>
                  <a:pt x="1231712" y="1313364"/>
                </a:lnTo>
                <a:lnTo>
                  <a:pt x="1095969" y="1289048"/>
                </a:lnTo>
                <a:lnTo>
                  <a:pt x="962968" y="1252602"/>
                </a:lnTo>
                <a:lnTo>
                  <a:pt x="833792" y="1204320"/>
                </a:lnTo>
                <a:lnTo>
                  <a:pt x="709491" y="1144596"/>
                </a:lnTo>
                <a:lnTo>
                  <a:pt x="591077" y="1073916"/>
                </a:lnTo>
                <a:lnTo>
                  <a:pt x="479513" y="992855"/>
                </a:lnTo>
                <a:lnTo>
                  <a:pt x="375705" y="902072"/>
                </a:lnTo>
                <a:lnTo>
                  <a:pt x="280499" y="802305"/>
                </a:lnTo>
                <a:lnTo>
                  <a:pt x="194669" y="694367"/>
                </a:lnTo>
                <a:lnTo>
                  <a:pt x="118913" y="579134"/>
                </a:lnTo>
                <a:lnTo>
                  <a:pt x="53847" y="457545"/>
                </a:lnTo>
                <a:lnTo>
                  <a:pt x="0" y="330588"/>
                </a:lnTo>
                <a:lnTo>
                  <a:pt x="888891" y="0"/>
                </a:lnTo>
                <a:lnTo>
                  <a:pt x="909337" y="48221"/>
                </a:lnTo>
                <a:lnTo>
                  <a:pt x="934046" y="94404"/>
                </a:lnTo>
                <a:lnTo>
                  <a:pt x="962816" y="138171"/>
                </a:lnTo>
                <a:lnTo>
                  <a:pt x="995413" y="179169"/>
                </a:lnTo>
                <a:lnTo>
                  <a:pt x="1031572" y="217062"/>
                </a:lnTo>
                <a:lnTo>
                  <a:pt x="1070998" y="251543"/>
                </a:lnTo>
                <a:lnTo>
                  <a:pt x="1113370" y="282331"/>
                </a:lnTo>
                <a:lnTo>
                  <a:pt x="1158345" y="309175"/>
                </a:lnTo>
                <a:lnTo>
                  <a:pt x="1205556" y="331858"/>
                </a:lnTo>
                <a:lnTo>
                  <a:pt x="1254618" y="350194"/>
                </a:lnTo>
                <a:lnTo>
                  <a:pt x="1305134" y="364034"/>
                </a:lnTo>
                <a:lnTo>
                  <a:pt x="1356690" y="373266"/>
                </a:lnTo>
                <a:lnTo>
                  <a:pt x="1408869" y="377815"/>
                </a:lnTo>
                <a:close/>
              </a:path>
            </a:pathLst>
          </a:custGeom>
          <a:solidFill>
            <a:srgbClr val="FFFFFF"/>
          </a:solidFill>
          <a:ln w="1935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872707" y="2782111"/>
            <a:ext cx="1504772" cy="1938913"/>
          </a:xfrm>
          <a:custGeom>
            <a:avLst/>
            <a:gdLst/>
            <a:ahLst/>
            <a:cxnLst/>
            <a:rect l="l" t="t" r="r" b="b"/>
            <a:pathLst>
              <a:path w="1504772" h="1938913">
                <a:moveTo>
                  <a:pt x="56322" y="1938913"/>
                </a:moveTo>
                <a:lnTo>
                  <a:pt x="25309" y="1804795"/>
                </a:lnTo>
                <a:lnTo>
                  <a:pt x="6484" y="1668430"/>
                </a:lnTo>
                <a:lnTo>
                  <a:pt x="0" y="1530926"/>
                </a:lnTo>
                <a:lnTo>
                  <a:pt x="5908" y="1393395"/>
                </a:lnTo>
                <a:lnTo>
                  <a:pt x="24162" y="1256953"/>
                </a:lnTo>
                <a:lnTo>
                  <a:pt x="54612" y="1122705"/>
                </a:lnTo>
                <a:lnTo>
                  <a:pt x="97013" y="991741"/>
                </a:lnTo>
                <a:lnTo>
                  <a:pt x="151021" y="865120"/>
                </a:lnTo>
                <a:lnTo>
                  <a:pt x="216197" y="743870"/>
                </a:lnTo>
                <a:lnTo>
                  <a:pt x="292014" y="628972"/>
                </a:lnTo>
                <a:lnTo>
                  <a:pt x="377857" y="521359"/>
                </a:lnTo>
                <a:lnTo>
                  <a:pt x="473031" y="421903"/>
                </a:lnTo>
                <a:lnTo>
                  <a:pt x="576763" y="331409"/>
                </a:lnTo>
                <a:lnTo>
                  <a:pt x="688214" y="250611"/>
                </a:lnTo>
                <a:lnTo>
                  <a:pt x="806480" y="180164"/>
                </a:lnTo>
                <a:lnTo>
                  <a:pt x="930602" y="120639"/>
                </a:lnTo>
                <a:lnTo>
                  <a:pt x="1059575" y="72518"/>
                </a:lnTo>
                <a:lnTo>
                  <a:pt x="1192353" y="36191"/>
                </a:lnTo>
                <a:lnTo>
                  <a:pt x="1327860" y="11953"/>
                </a:lnTo>
                <a:lnTo>
                  <a:pt x="1464997" y="0"/>
                </a:lnTo>
                <a:lnTo>
                  <a:pt x="1504772" y="947537"/>
                </a:lnTo>
                <a:lnTo>
                  <a:pt x="1452688" y="952072"/>
                </a:lnTo>
                <a:lnTo>
                  <a:pt x="1401222" y="961273"/>
                </a:lnTo>
                <a:lnTo>
                  <a:pt x="1350793" y="975066"/>
                </a:lnTo>
                <a:lnTo>
                  <a:pt x="1301808" y="993339"/>
                </a:lnTo>
                <a:lnTo>
                  <a:pt x="1254666" y="1015944"/>
                </a:lnTo>
                <a:lnTo>
                  <a:pt x="1209748" y="1042698"/>
                </a:lnTo>
                <a:lnTo>
                  <a:pt x="1167419" y="1073383"/>
                </a:lnTo>
                <a:lnTo>
                  <a:pt x="1128021" y="1107752"/>
                </a:lnTo>
                <a:lnTo>
                  <a:pt x="1091874" y="1145525"/>
                </a:lnTo>
                <a:lnTo>
                  <a:pt x="1059272" y="1186396"/>
                </a:lnTo>
                <a:lnTo>
                  <a:pt x="1030478" y="1230034"/>
                </a:lnTo>
                <a:lnTo>
                  <a:pt x="1005725" y="1276085"/>
                </a:lnTo>
                <a:lnTo>
                  <a:pt x="985216" y="1324176"/>
                </a:lnTo>
                <a:lnTo>
                  <a:pt x="969115" y="1373917"/>
                </a:lnTo>
                <a:lnTo>
                  <a:pt x="957553" y="1424904"/>
                </a:lnTo>
                <a:lnTo>
                  <a:pt x="950624" y="1476725"/>
                </a:lnTo>
                <a:lnTo>
                  <a:pt x="948385" y="1528958"/>
                </a:lnTo>
                <a:lnTo>
                  <a:pt x="950853" y="1581182"/>
                </a:lnTo>
                <a:lnTo>
                  <a:pt x="958008" y="1632972"/>
                </a:lnTo>
                <a:lnTo>
                  <a:pt x="969793" y="1683908"/>
                </a:lnTo>
                <a:close/>
              </a:path>
            </a:pathLst>
          </a:custGeom>
          <a:solidFill>
            <a:srgbClr val="EDF4FC"/>
          </a:solidFill>
          <a:ln w="1935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8764" y="3204561"/>
            <a:ext cx="940891" cy="411299"/>
          </a:xfrm>
          <a:prstGeom prst="rect">
            <a:avLst/>
          </a:prstGeom>
          <a:noFill/>
        </p:spPr>
        <p:txBody>
          <a:bodyPr wrap="none" lIns="0" rIns="0" tIns="0" bIns="0" anchor="ctr">
            <a:noAutofit/>
          </a:bodyPr>
          <a:lstStyle/>
          <a:p>
            <a:pPr algn="ctr">
              <a:lnSpc>
                <a:spcPts val="2286"/>
              </a:lnSpc>
            </a:pPr>
            <a:r>
              <a:rPr sz="1905" b="1">
                <a:solidFill>
                  <a:srgbClr val="C00000"/>
                </a:solidFill>
                <a:latin typeface="맑은 고딕"/>
                <a:ea typeface="맑은 고딕"/>
                <a:cs typeface="맑은 고딕"/>
              </a:rPr>
              <a:t>출석</a:t>
            </a:r>
          </a:p>
        </p:txBody>
      </p:sp>
      <p:sp>
        <p:nvSpPr>
          <p:cNvPr id="33" name="TextBox 32"/>
          <p:cNvSpPr txBox="1"/>
          <p:nvPr/>
        </p:nvSpPr>
        <p:spPr>
          <a:xfrm>
            <a:off x="9878541" y="3465857"/>
            <a:ext cx="941338" cy="411299"/>
          </a:xfrm>
          <a:prstGeom prst="rect">
            <a:avLst/>
          </a:prstGeom>
          <a:noFill/>
        </p:spPr>
        <p:txBody>
          <a:bodyPr wrap="none" lIns="0" rIns="0" tIns="0" bIns="0" anchor="ctr">
            <a:noAutofit/>
          </a:bodyPr>
          <a:lstStyle/>
          <a:p>
            <a:pPr algn="ctr">
              <a:lnSpc>
                <a:spcPts val="2286"/>
              </a:lnSpc>
            </a:pPr>
            <a:r>
              <a:rPr sz="1905" b="1">
                <a:solidFill>
                  <a:srgbClr val="C00000"/>
                </a:solidFill>
                <a:latin typeface="Arial"/>
                <a:ea typeface="맑은 고딕"/>
                <a:cs typeface="맑은 고딕"/>
              </a:rPr>
              <a:t>30%</a:t>
            </a:r>
          </a:p>
        </p:txBody>
      </p:sp>
      <p:sp>
        <p:nvSpPr>
          <p:cNvPr id="34" name="TextBox 33"/>
          <p:cNvSpPr txBox="1"/>
          <p:nvPr/>
        </p:nvSpPr>
        <p:spPr>
          <a:xfrm>
            <a:off x="9351066" y="4766223"/>
            <a:ext cx="1477566" cy="345491"/>
          </a:xfrm>
          <a:prstGeom prst="rect">
            <a:avLst/>
          </a:prstGeom>
          <a:noFill/>
        </p:spPr>
        <p:txBody>
          <a:bodyPr wrap="none" lIns="0" rIns="0" tIns="0" bIns="0" anchor="ctr">
            <a:noAutofit/>
          </a:bodyPr>
          <a:lstStyle/>
          <a:p>
            <a:pPr algn="ctr">
              <a:lnSpc>
                <a:spcPts val="1920"/>
              </a:lnSpc>
            </a:pPr>
            <a:r>
              <a:rPr sz="1600" b="1">
                <a:solidFill>
                  <a:srgbClr val="0057A0"/>
                </a:solidFill>
                <a:latin typeface="맑은 고딕"/>
                <a:ea typeface="맑은 고딕"/>
                <a:cs typeface="맑은 고딕"/>
              </a:rPr>
              <a:t>중간 시험</a:t>
            </a:r>
          </a:p>
        </p:txBody>
      </p:sp>
      <p:sp>
        <p:nvSpPr>
          <p:cNvPr id="35" name="TextBox 34"/>
          <p:cNvSpPr txBox="1"/>
          <p:nvPr/>
        </p:nvSpPr>
        <p:spPr>
          <a:xfrm>
            <a:off x="9284019" y="5027518"/>
            <a:ext cx="1611660" cy="345491"/>
          </a:xfrm>
          <a:prstGeom prst="rect">
            <a:avLst/>
          </a:prstGeom>
          <a:noFill/>
        </p:spPr>
        <p:txBody>
          <a:bodyPr wrap="none" lIns="0" rIns="0" tIns="0" bIns="0" anchor="ctr">
            <a:noAutofit/>
          </a:bodyPr>
          <a:lstStyle/>
          <a:p>
            <a:pPr algn="ctr">
              <a:lnSpc>
                <a:spcPts val="1920"/>
              </a:lnSpc>
            </a:pPr>
            <a:r>
              <a:rPr sz="1600" b="1">
                <a:solidFill>
                  <a:srgbClr val="0057A0"/>
                </a:solidFill>
                <a:latin typeface="맑은 고딕"/>
                <a:ea typeface="맑은 고딕"/>
                <a:cs typeface="맑은 고딕"/>
              </a:rPr>
              <a:t>(조별발표)</a:t>
            </a:r>
          </a:p>
        </p:txBody>
      </p:sp>
      <p:sp>
        <p:nvSpPr>
          <p:cNvPr id="36" name="TextBox 35"/>
          <p:cNvSpPr txBox="1"/>
          <p:nvPr/>
        </p:nvSpPr>
        <p:spPr>
          <a:xfrm>
            <a:off x="9657876" y="5288814"/>
            <a:ext cx="864140" cy="345491"/>
          </a:xfrm>
          <a:prstGeom prst="rect">
            <a:avLst/>
          </a:prstGeom>
          <a:noFill/>
        </p:spPr>
        <p:txBody>
          <a:bodyPr wrap="none" lIns="0" rIns="0" tIns="0" bIns="0" anchor="ctr">
            <a:noAutofit/>
          </a:bodyPr>
          <a:lstStyle/>
          <a:p>
            <a:pPr algn="ctr">
              <a:lnSpc>
                <a:spcPts val="1920"/>
              </a:lnSpc>
            </a:pPr>
            <a:r>
              <a:rPr sz="1600" b="1">
                <a:solidFill>
                  <a:srgbClr val="0057A0"/>
                </a:solidFill>
                <a:latin typeface="Arial"/>
                <a:ea typeface="맑은 고딕"/>
                <a:cs typeface="맑은 고딕"/>
              </a:rPr>
              <a:t>20%</a:t>
            </a:r>
          </a:p>
        </p:txBody>
      </p:sp>
      <p:sp>
        <p:nvSpPr>
          <p:cNvPr id="37" name="TextBox 36"/>
          <p:cNvSpPr txBox="1"/>
          <p:nvPr/>
        </p:nvSpPr>
        <p:spPr>
          <a:xfrm>
            <a:off x="8022979" y="4892034"/>
            <a:ext cx="1381423" cy="345491"/>
          </a:xfrm>
          <a:prstGeom prst="rect">
            <a:avLst/>
          </a:prstGeom>
          <a:noFill/>
        </p:spPr>
        <p:txBody>
          <a:bodyPr wrap="none" lIns="0" rIns="0" tIns="0" bIns="0" anchor="ctr">
            <a:noAutofit/>
          </a:bodyPr>
          <a:lstStyle/>
          <a:p>
            <a:pPr algn="ctr">
              <a:lnSpc>
                <a:spcPts val="1920"/>
              </a:lnSpc>
            </a:pPr>
            <a:r>
              <a:rPr sz="1600" b="1">
                <a:solidFill>
                  <a:srgbClr val="0057A0"/>
                </a:solidFill>
                <a:latin typeface="맑은 고딕"/>
                <a:ea typeface="맑은 고딕"/>
                <a:cs typeface="맑은 고딕"/>
              </a:rPr>
              <a:t>기말시험</a:t>
            </a:r>
          </a:p>
        </p:txBody>
      </p:sp>
      <p:sp>
        <p:nvSpPr>
          <p:cNvPr id="38" name="TextBox 37"/>
          <p:cNvSpPr txBox="1"/>
          <p:nvPr/>
        </p:nvSpPr>
        <p:spPr>
          <a:xfrm>
            <a:off x="8281717" y="5153329"/>
            <a:ext cx="864140" cy="345491"/>
          </a:xfrm>
          <a:prstGeom prst="rect">
            <a:avLst/>
          </a:prstGeom>
          <a:noFill/>
        </p:spPr>
        <p:txBody>
          <a:bodyPr wrap="none" lIns="0" rIns="0" tIns="0" bIns="0" anchor="ctr">
            <a:noAutofit/>
          </a:bodyPr>
          <a:lstStyle/>
          <a:p>
            <a:pPr algn="ctr">
              <a:lnSpc>
                <a:spcPts val="1920"/>
              </a:lnSpc>
            </a:pPr>
            <a:r>
              <a:rPr sz="1600" b="1">
                <a:solidFill>
                  <a:srgbClr val="0057A0"/>
                </a:solidFill>
                <a:latin typeface="Arial"/>
                <a:ea typeface="맑은 고딕"/>
                <a:cs typeface="맑은 고딕"/>
              </a:rPr>
              <a:t>20%</a:t>
            </a:r>
          </a:p>
        </p:txBody>
      </p:sp>
      <p:sp>
        <p:nvSpPr>
          <p:cNvPr id="39" name="TextBox 38"/>
          <p:cNvSpPr txBox="1"/>
          <p:nvPr/>
        </p:nvSpPr>
        <p:spPr>
          <a:xfrm>
            <a:off x="7888225" y="3130704"/>
            <a:ext cx="1132210" cy="345491"/>
          </a:xfrm>
          <a:prstGeom prst="rect">
            <a:avLst/>
          </a:prstGeom>
          <a:noFill/>
        </p:spPr>
        <p:txBody>
          <a:bodyPr wrap="none" lIns="0" rIns="0" tIns="0" bIns="0" anchor="ctr">
            <a:noAutofit/>
          </a:bodyPr>
          <a:lstStyle/>
          <a:p>
            <a:pPr algn="ctr">
              <a:lnSpc>
                <a:spcPts val="1920"/>
              </a:lnSpc>
            </a:pPr>
            <a:r>
              <a:rPr sz="1600" b="1">
                <a:solidFill>
                  <a:srgbClr val="0057A0"/>
                </a:solidFill>
                <a:latin typeface="맑은 고딕"/>
                <a:ea typeface="맑은 고딕"/>
                <a:cs typeface="맑은 고딕"/>
              </a:rPr>
              <a:t>과제물,</a:t>
            </a:r>
          </a:p>
        </p:txBody>
      </p:sp>
      <p:sp>
        <p:nvSpPr>
          <p:cNvPr id="40" name="TextBox 39"/>
          <p:cNvSpPr txBox="1"/>
          <p:nvPr/>
        </p:nvSpPr>
        <p:spPr>
          <a:xfrm>
            <a:off x="7763619" y="3392000"/>
            <a:ext cx="1381423" cy="345491"/>
          </a:xfrm>
          <a:prstGeom prst="rect">
            <a:avLst/>
          </a:prstGeom>
          <a:noFill/>
        </p:spPr>
        <p:txBody>
          <a:bodyPr wrap="none" lIns="0" rIns="0" tIns="0" bIns="0" anchor="ctr">
            <a:noAutofit/>
          </a:bodyPr>
          <a:lstStyle/>
          <a:p>
            <a:pPr algn="ctr">
              <a:lnSpc>
                <a:spcPts val="1920"/>
              </a:lnSpc>
            </a:pPr>
            <a:r>
              <a:rPr sz="1600" b="1">
                <a:solidFill>
                  <a:srgbClr val="0057A0"/>
                </a:solidFill>
                <a:latin typeface="맑은 고딕"/>
                <a:ea typeface="맑은 고딕"/>
                <a:cs typeface="맑은 고딕"/>
              </a:rPr>
              <a:t>수업태도</a:t>
            </a:r>
          </a:p>
        </p:txBody>
      </p:sp>
      <p:sp>
        <p:nvSpPr>
          <p:cNvPr id="41" name="TextBox 40"/>
          <p:cNvSpPr txBox="1"/>
          <p:nvPr/>
        </p:nvSpPr>
        <p:spPr>
          <a:xfrm>
            <a:off x="8022357" y="3653295"/>
            <a:ext cx="864140" cy="345491"/>
          </a:xfrm>
          <a:prstGeom prst="rect">
            <a:avLst/>
          </a:prstGeom>
          <a:noFill/>
        </p:spPr>
        <p:txBody>
          <a:bodyPr wrap="none" lIns="0" rIns="0" tIns="0" bIns="0" anchor="ctr">
            <a:noAutofit/>
          </a:bodyPr>
          <a:lstStyle/>
          <a:p>
            <a:pPr algn="ctr">
              <a:lnSpc>
                <a:spcPts val="1920"/>
              </a:lnSpc>
            </a:pPr>
            <a:r>
              <a:rPr sz="1600" b="1">
                <a:solidFill>
                  <a:srgbClr val="0057A0"/>
                </a:solidFill>
                <a:latin typeface="Arial"/>
                <a:ea typeface="맑은 고딕"/>
                <a:cs typeface="맑은 고딕"/>
              </a:rPr>
              <a:t>30%</a:t>
            </a:r>
          </a:p>
        </p:txBody>
      </p:sp>
      <p:sp>
        <p:nvSpPr>
          <p:cNvPr id="42" name="Rounded Rectangle 41"/>
          <p:cNvSpPr/>
          <p:nvPr/>
        </p:nvSpPr>
        <p:spPr>
          <a:xfrm>
            <a:off x="9624356" y="2064612"/>
            <a:ext cx="1935526" cy="600013"/>
          </a:xfrm>
          <a:prstGeom prst="roundRect">
            <a:avLst>
              <a:gd name="adj" fmla="val 9677"/>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9798553" y="2100161"/>
            <a:ext cx="626715" cy="493559"/>
          </a:xfrm>
          <a:prstGeom prst="rect">
            <a:avLst/>
          </a:prstGeom>
          <a:noFill/>
        </p:spPr>
        <p:txBody>
          <a:bodyPr wrap="none" lIns="0" rIns="0" tIns="0" bIns="0" anchor="ctr">
            <a:noAutofit/>
          </a:bodyPr>
          <a:lstStyle/>
          <a:p>
            <a:pPr algn="l">
              <a:lnSpc>
                <a:spcPts val="2743"/>
              </a:lnSpc>
            </a:pPr>
            <a:r>
              <a:rPr sz="2286" b="1">
                <a:solidFill>
                  <a:srgbClr val="FFFFFF"/>
                </a:solidFill>
                <a:latin typeface="Arial"/>
                <a:ea typeface="맑은 고딕"/>
                <a:cs typeface="맑은 고딕"/>
              </a:rPr>
              <a:t>+</a:t>
            </a:r>
          </a:p>
        </p:txBody>
      </p:sp>
      <p:sp>
        <p:nvSpPr>
          <p:cNvPr id="44" name="TextBox 43"/>
          <p:cNvSpPr txBox="1"/>
          <p:nvPr/>
        </p:nvSpPr>
        <p:spPr>
          <a:xfrm>
            <a:off x="10108236" y="2243597"/>
            <a:ext cx="2339057" cy="263231"/>
          </a:xfrm>
          <a:prstGeom prst="rect">
            <a:avLst/>
          </a:prstGeom>
          <a:noFill/>
        </p:spPr>
        <p:txBody>
          <a:bodyPr wrap="none" lIns="0" rIns="0" tIns="0" bIns="0" anchor="ctr">
            <a:noAutofit/>
          </a:bodyPr>
          <a:lstStyle/>
          <a:p>
            <a:pPr algn="l">
              <a:lnSpc>
                <a:spcPts val="1463"/>
              </a:lnSpc>
            </a:pPr>
            <a:r>
              <a:rPr sz="1219" b="1">
                <a:solidFill>
                  <a:srgbClr val="FFFFFF"/>
                </a:solidFill>
                <a:latin typeface="맑은 고딕"/>
                <a:ea typeface="맑은 고딕"/>
                <a:cs typeface="맑은 고딕"/>
              </a:rPr>
              <a:t>취·창업 및 진로상담</a:t>
            </a:r>
          </a:p>
        </p:txBody>
      </p:sp>
      <p:sp>
        <p:nvSpPr>
          <p:cNvPr id="45" name="Freeform 44"/>
          <p:cNvSpPr/>
          <p:nvPr/>
        </p:nvSpPr>
        <p:spPr>
          <a:xfrm>
            <a:off x="10040494" y="2683980"/>
            <a:ext cx="638723" cy="619369"/>
          </a:xfrm>
          <a:custGeom>
            <a:avLst/>
            <a:gdLst/>
            <a:ahLst/>
            <a:cxnLst/>
            <a:rect l="l" t="t" r="r" b="b"/>
            <a:pathLst>
              <a:path w="638723" h="619369">
                <a:moveTo>
                  <a:pt x="319361" y="0"/>
                </a:moveTo>
                <a:lnTo>
                  <a:pt x="406460" y="212908"/>
                </a:lnTo>
                <a:lnTo>
                  <a:pt x="638723" y="232263"/>
                </a:lnTo>
                <a:lnTo>
                  <a:pt x="464526" y="387105"/>
                </a:lnTo>
                <a:lnTo>
                  <a:pt x="512914" y="619369"/>
                </a:lnTo>
                <a:lnTo>
                  <a:pt x="319361" y="493559"/>
                </a:lnTo>
                <a:lnTo>
                  <a:pt x="125809" y="619369"/>
                </a:lnTo>
                <a:lnTo>
                  <a:pt x="174197" y="387105"/>
                </a:lnTo>
                <a:lnTo>
                  <a:pt x="0" y="232263"/>
                </a:lnTo>
                <a:lnTo>
                  <a:pt x="232263" y="212908"/>
                </a:lnTo>
                <a:close/>
              </a:path>
            </a:pathLst>
          </a:custGeom>
          <a:solidFill>
            <a:srgbClr val="FFE14D"/>
          </a:solidFill>
          <a:ln w="1935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41921" y="6488906"/>
            <a:ext cx="508159"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2</a:t>
            </a:r>
          </a:p>
        </p:txBody>
      </p:sp>
      <p:sp>
        <p:nvSpPr>
          <p:cNvPr id="6" name="TextBox 5"/>
          <p:cNvSpPr txBox="1"/>
          <p:nvPr/>
        </p:nvSpPr>
        <p:spPr>
          <a:xfrm>
            <a:off x="728662" y="112395"/>
            <a:ext cx="2014776"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성적평가</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1217533"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출석</a:t>
            </a:r>
          </a:p>
        </p:txBody>
      </p:sp>
      <p:sp>
        <p:nvSpPr>
          <p:cNvPr id="12" name="Rounded Rectangle 11"/>
          <p:cNvSpPr/>
          <p:nvPr/>
        </p:nvSpPr>
        <p:spPr>
          <a:xfrm>
            <a:off x="438150" y="2138065"/>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1025" y="2059960"/>
            <a:ext cx="3243739" cy="413385"/>
          </a:xfrm>
          <a:prstGeom prst="rect">
            <a:avLst/>
          </a:prstGeom>
          <a:noFill/>
        </p:spPr>
        <p:txBody>
          <a:bodyPr wrap="none" anchor="ctr" lIns="0" rIns="0" tIns="0" bIns="0">
            <a:noAutofit/>
          </a:bodyPr>
          <a:lstStyle/>
          <a:p>
            <a:pPr algn="l">
              <a:lnSpc>
                <a:spcPts val="2475"/>
              </a:lnSpc>
              <a:spcBef>
                <a:spcPts val="0"/>
              </a:spcBef>
              <a:spcAft>
                <a:spcPts val="0"/>
              </a:spcAft>
            </a:pPr>
            <a:r>
              <a:rPr sz="1650" b="1" spc="-33">
                <a:solidFill>
                  <a:srgbClr val="0057A0"/>
                </a:solidFill>
                <a:latin typeface="맑은 고딕"/>
                <a:ea typeface="맑은 고딕"/>
                <a:cs typeface="맑은 고딕"/>
              </a:rPr>
              <a:t>1. 전자출결(헤이영)</a:t>
            </a:r>
          </a:p>
        </p:txBody>
      </p:sp>
      <p:sp>
        <p:nvSpPr>
          <p:cNvPr id="14" name="Rounded Rectangle 13"/>
          <p:cNvSpPr/>
          <p:nvPr/>
        </p:nvSpPr>
        <p:spPr>
          <a:xfrm>
            <a:off x="438150" y="2900065"/>
            <a:ext cx="5534025" cy="500062"/>
          </a:xfrm>
          <a:prstGeom prst="roundRect">
            <a:avLst>
              <a:gd name="adj" fmla="val 15238"/>
            </a:avLst>
          </a:prstGeom>
          <a:solidFill>
            <a:srgbClr val="FDECEC"/>
          </a:solidFill>
          <a:ln w="19050">
            <a:solidFill>
              <a:srgbClr val="E39C9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2"/>
          <a:stretch>
            <a:fillRect/>
          </a:stretch>
        </p:blipFill>
        <p:spPr>
          <a:xfrm>
            <a:off x="604838" y="3033415"/>
            <a:ext cx="219075" cy="219075"/>
          </a:xfrm>
          <a:prstGeom prst="rect">
            <a:avLst/>
          </a:prstGeom>
        </p:spPr>
      </p:pic>
      <p:sp>
        <p:nvSpPr>
          <p:cNvPr id="16" name="TextBox 15"/>
          <p:cNvSpPr txBox="1"/>
          <p:nvPr/>
        </p:nvSpPr>
        <p:spPr>
          <a:xfrm>
            <a:off x="904875" y="2970074"/>
            <a:ext cx="3228499" cy="364808"/>
          </a:xfrm>
          <a:prstGeom prst="rect">
            <a:avLst/>
          </a:prstGeom>
          <a:noFill/>
        </p:spPr>
        <p:txBody>
          <a:bodyPr wrap="none" anchor="ctr" lIns="0" rIns="0" tIns="0" bIns="0">
            <a:noAutofit/>
          </a:bodyPr>
          <a:lstStyle/>
          <a:p>
            <a:pPr algn="l">
              <a:lnSpc>
                <a:spcPts val="2137"/>
              </a:lnSpc>
              <a:spcBef>
                <a:spcPts val="0"/>
              </a:spcBef>
              <a:spcAft>
                <a:spcPts val="0"/>
              </a:spcAft>
            </a:pPr>
            <a:r>
              <a:rPr sz="1425" b="1">
                <a:solidFill>
                  <a:srgbClr val="7A1414"/>
                </a:solidFill>
                <a:latin typeface="맑은 고딕"/>
                <a:ea typeface="맑은 고딕"/>
                <a:cs typeface="맑은 고딕"/>
              </a:rPr>
              <a:t>유연한 출결 관리 불가</a:t>
            </a:r>
          </a:p>
        </p:txBody>
      </p:sp>
      <p:sp>
        <p:nvSpPr>
          <p:cNvPr id="17" name="Rounded Rectangle 16"/>
          <p:cNvSpPr/>
          <p:nvPr/>
        </p:nvSpPr>
        <p:spPr>
          <a:xfrm>
            <a:off x="438150" y="3857327"/>
            <a:ext cx="5534025" cy="771525"/>
          </a:xfrm>
          <a:prstGeom prst="roundRect">
            <a:avLst>
              <a:gd name="adj" fmla="val 9876"/>
            </a:avLst>
          </a:prstGeom>
          <a:solidFill>
            <a:srgbClr val="FFD78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3"/>
          <a:stretch>
            <a:fillRect/>
          </a:stretch>
        </p:blipFill>
        <p:spPr>
          <a:xfrm>
            <a:off x="604838" y="3990677"/>
            <a:ext cx="219075" cy="219075"/>
          </a:xfrm>
          <a:prstGeom prst="rect">
            <a:avLst/>
          </a:prstGeom>
        </p:spPr>
      </p:pic>
      <p:sp>
        <p:nvSpPr>
          <p:cNvPr id="19" name="TextBox 18"/>
          <p:cNvSpPr txBox="1"/>
          <p:nvPr/>
        </p:nvSpPr>
        <p:spPr>
          <a:xfrm>
            <a:off x="904875" y="3981152"/>
            <a:ext cx="4924425" cy="590550"/>
          </a:xfrm>
          <a:prstGeom prst="rect">
            <a:avLst/>
          </a:prstGeom>
          <a:noFill/>
        </p:spPr>
        <p:txBody>
          <a:bodyPr wrap="square" anchor="t" lIns="0" rIns="0" tIns="0" bIns="0">
            <a:noAutofit/>
          </a:bodyPr>
          <a:lstStyle/>
          <a:p>
            <a:pPr algn="l">
              <a:lnSpc>
                <a:spcPts val="2137"/>
              </a:lnSpc>
              <a:spcBef>
                <a:spcPts val="0"/>
              </a:spcBef>
              <a:spcAft>
                <a:spcPts val="0"/>
              </a:spcAft>
            </a:pPr>
            <a:r>
              <a:rPr sz="1425" b="1">
                <a:solidFill>
                  <a:srgbClr val="4A3208"/>
                </a:solidFill>
                <a:latin typeface="맑은 고딕"/>
                <a:ea typeface="맑은 고딕"/>
                <a:cs typeface="맑은 고딕"/>
              </a:rPr>
              <a:t>¼ 결석자 학점 미취득 (F, 1주차 포함) / 진단서 1주 이내 제출만 유효</a:t>
            </a:r>
          </a:p>
        </p:txBody>
      </p:sp>
      <p:sp>
        <p:nvSpPr>
          <p:cNvPr id="20" name="TextBox 19"/>
          <p:cNvSpPr txBox="1"/>
          <p:nvPr/>
        </p:nvSpPr>
        <p:spPr>
          <a:xfrm>
            <a:off x="438150" y="5007471"/>
            <a:ext cx="5422821" cy="300038"/>
          </a:xfrm>
          <a:prstGeom prst="rect">
            <a:avLst/>
          </a:prstGeom>
          <a:noFill/>
        </p:spPr>
        <p:txBody>
          <a:bodyPr wrap="none" anchor="ctr" lIns="0" rIns="0" tIns="0" bIns="0">
            <a:noAutofit/>
          </a:bodyPr>
          <a:lstStyle/>
          <a:p>
            <a:pPr algn="l">
              <a:lnSpc>
                <a:spcPts val="1687"/>
              </a:lnSpc>
              <a:spcBef>
                <a:spcPts val="0"/>
              </a:spcBef>
              <a:spcAft>
                <a:spcPts val="0"/>
              </a:spcAft>
            </a:pPr>
            <a:r>
              <a:rPr sz="1125" b="0">
                <a:solidFill>
                  <a:srgbClr val="55606F"/>
                </a:solidFill>
                <a:latin typeface="맑은 고딕"/>
                <a:ea typeface="맑은 고딕"/>
                <a:cs typeface="맑은 고딕"/>
              </a:rPr>
              <a:t>※ 취업관련 면접(면접확인서 필수)은 인정합니다.</a:t>
            </a:r>
          </a:p>
        </p:txBody>
      </p:sp>
      <p:sp>
        <p:nvSpPr>
          <p:cNvPr id="21" name="Rounded Rectangle 20"/>
          <p:cNvSpPr/>
          <p:nvPr/>
        </p:nvSpPr>
        <p:spPr>
          <a:xfrm>
            <a:off x="6219825" y="2138065"/>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2700" y="2059960"/>
            <a:ext cx="2134552" cy="413385"/>
          </a:xfrm>
          <a:prstGeom prst="rect">
            <a:avLst/>
          </a:prstGeom>
          <a:noFill/>
        </p:spPr>
        <p:txBody>
          <a:bodyPr wrap="none" anchor="ctr" lIns="0" rIns="0" tIns="0" bIns="0">
            <a:noAutofit/>
          </a:bodyPr>
          <a:lstStyle/>
          <a:p>
            <a:pPr algn="l">
              <a:lnSpc>
                <a:spcPts val="2475"/>
              </a:lnSpc>
              <a:spcBef>
                <a:spcPts val="0"/>
              </a:spcBef>
              <a:spcAft>
                <a:spcPts val="0"/>
              </a:spcAft>
            </a:pPr>
            <a:r>
              <a:rPr sz="1650" b="1" spc="-33">
                <a:solidFill>
                  <a:srgbClr val="0057A0"/>
                </a:solidFill>
                <a:latin typeface="맑은 고딕"/>
                <a:ea typeface="맑은 고딕"/>
                <a:cs typeface="맑은 고딕"/>
              </a:rPr>
              <a:t>2. 공결 기준</a:t>
            </a:r>
          </a:p>
        </p:txBody>
      </p:sp>
      <p:sp>
        <p:nvSpPr>
          <p:cNvPr id="23" name="TextBox 22"/>
          <p:cNvSpPr txBox="1"/>
          <p:nvPr/>
        </p:nvSpPr>
        <p:spPr>
          <a:xfrm>
            <a:off x="6219825" y="2821484"/>
            <a:ext cx="3988118" cy="300038"/>
          </a:xfrm>
          <a:prstGeom prst="rect">
            <a:avLst/>
          </a:prstGeom>
          <a:noFill/>
        </p:spPr>
        <p:txBody>
          <a:bodyPr wrap="none" anchor="ctr" lIns="0" rIns="0" tIns="0" bIns="0">
            <a:noAutofit/>
          </a:bodyPr>
          <a:lstStyle/>
          <a:p>
            <a:pPr algn="l">
              <a:lnSpc>
                <a:spcPts val="1687"/>
              </a:lnSpc>
              <a:spcBef>
                <a:spcPts val="0"/>
              </a:spcBef>
              <a:spcAft>
                <a:spcPts val="0"/>
              </a:spcAft>
            </a:pPr>
            <a:r>
              <a:rPr sz="1125" b="0">
                <a:solidFill>
                  <a:srgbClr val="55606F"/>
                </a:solidFill>
                <a:latin typeface="맑은 고딕"/>
                <a:ea typeface="맑은 고딕"/>
                <a:cs typeface="맑은 고딕"/>
              </a:rPr>
              <a:t>* 자세한 내용은 학교 홈페이지 참조</a:t>
            </a:r>
          </a:p>
        </p:txBody>
      </p:sp>
      <p:sp>
        <p:nvSpPr>
          <p:cNvPr id="24" name="TextBox 23"/>
          <p:cNvSpPr txBox="1"/>
          <p:nvPr/>
        </p:nvSpPr>
        <p:spPr>
          <a:xfrm>
            <a:off x="5991225" y="3280112"/>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25" name="TextBox 24"/>
          <p:cNvSpPr txBox="1"/>
          <p:nvPr/>
        </p:nvSpPr>
        <p:spPr>
          <a:xfrm>
            <a:off x="6496050" y="3323927"/>
            <a:ext cx="5257800" cy="525661"/>
          </a:xfrm>
          <a:prstGeom prst="rect">
            <a:avLst/>
          </a:prstGeom>
          <a:noFill/>
        </p:spPr>
        <p:txBody>
          <a:bodyPr wrap="square" anchor="t"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국가에서 부과한 의무를 이행한 경우 (예: 병무관련 신체검사, 예비군 훈련)</a:t>
            </a:r>
          </a:p>
        </p:txBody>
      </p:sp>
      <p:sp>
        <p:nvSpPr>
          <p:cNvPr id="26" name="TextBox 25"/>
          <p:cNvSpPr txBox="1"/>
          <p:nvPr/>
        </p:nvSpPr>
        <p:spPr>
          <a:xfrm>
            <a:off x="5991225" y="3853398"/>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27" name="TextBox 26"/>
          <p:cNvSpPr txBox="1"/>
          <p:nvPr/>
        </p:nvSpPr>
        <p:spPr>
          <a:xfrm>
            <a:off x="6496050" y="3846731"/>
            <a:ext cx="792503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총장이 인정한 국제 또는 국내 행사나 각종 대회에 참가한 경우</a:t>
            </a:r>
          </a:p>
        </p:txBody>
      </p:sp>
      <p:sp>
        <p:nvSpPr>
          <p:cNvPr id="28" name="TextBox 27"/>
          <p:cNvSpPr txBox="1"/>
          <p:nvPr/>
        </p:nvSpPr>
        <p:spPr>
          <a:xfrm>
            <a:off x="5991225" y="4178141"/>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29" name="TextBox 28"/>
          <p:cNvSpPr txBox="1"/>
          <p:nvPr/>
        </p:nvSpPr>
        <p:spPr>
          <a:xfrm>
            <a:off x="6496050" y="4171474"/>
            <a:ext cx="597431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정부기관의 요청에 의한 특별회합 참가의 경우</a:t>
            </a:r>
          </a:p>
        </p:txBody>
      </p:sp>
      <p:sp>
        <p:nvSpPr>
          <p:cNvPr id="30" name="TextBox 29"/>
          <p:cNvSpPr txBox="1"/>
          <p:nvPr/>
        </p:nvSpPr>
        <p:spPr>
          <a:xfrm>
            <a:off x="5991225" y="4502884"/>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31" name="TextBox 30"/>
          <p:cNvSpPr txBox="1"/>
          <p:nvPr/>
        </p:nvSpPr>
        <p:spPr>
          <a:xfrm>
            <a:off x="6496050" y="4496217"/>
            <a:ext cx="210335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경조사의 경우</a:t>
            </a:r>
          </a:p>
        </p:txBody>
      </p:sp>
      <p:sp>
        <p:nvSpPr>
          <p:cNvPr id="32" name="TextBox 31"/>
          <p:cNvSpPr txBox="1"/>
          <p:nvPr/>
        </p:nvSpPr>
        <p:spPr>
          <a:xfrm>
            <a:off x="5991225" y="4827627"/>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33" name="TextBox 32"/>
          <p:cNvSpPr txBox="1"/>
          <p:nvPr/>
        </p:nvSpPr>
        <p:spPr>
          <a:xfrm>
            <a:off x="6496050" y="4871442"/>
            <a:ext cx="5257800" cy="525661"/>
          </a:xfrm>
          <a:prstGeom prst="rect">
            <a:avLst/>
          </a:prstGeom>
          <a:noFill/>
        </p:spPr>
        <p:txBody>
          <a:bodyPr wrap="square" anchor="t"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본인 질병(입원) 및 감염병의 예방 및 관리에 관한 법률에 따라 격리 수용이 필요한 경우</a:t>
            </a:r>
          </a:p>
        </p:txBody>
      </p:sp>
      <p:sp>
        <p:nvSpPr>
          <p:cNvPr id="34" name="TextBox 33"/>
          <p:cNvSpPr txBox="1"/>
          <p:nvPr/>
        </p:nvSpPr>
        <p:spPr>
          <a:xfrm>
            <a:off x="5991225" y="5400913"/>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35" name="TextBox 34"/>
          <p:cNvSpPr txBox="1"/>
          <p:nvPr/>
        </p:nvSpPr>
        <p:spPr>
          <a:xfrm>
            <a:off x="6496050" y="5394246"/>
            <a:ext cx="368831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단순질병 (1회만 인정 가능)</a:t>
            </a:r>
          </a:p>
        </p:txBody>
      </p:sp>
      <p:sp>
        <p:nvSpPr>
          <p:cNvPr id="36" name="TextBox 35"/>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3</a:t>
            </a:r>
          </a:p>
        </p:txBody>
      </p:sp>
      <p:sp>
        <p:nvSpPr>
          <p:cNvPr id="17" name="TextBox 16"/>
          <p:cNvSpPr txBox="1"/>
          <p:nvPr/>
        </p:nvSpPr>
        <p:spPr>
          <a:xfrm>
            <a:off x="2053635" y="1345228"/>
            <a:ext cx="8084582"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주차 별 강의 계획</a:t>
            </a:r>
          </a:p>
        </p:txBody>
      </p:sp>
      <p:sp>
        <p:nvSpPr>
          <p:cNvPr id="18" name="TextBox 17"/>
          <p:cNvSpPr txBox="1"/>
          <p:nvPr/>
        </p:nvSpPr>
        <p:spPr>
          <a:xfrm>
            <a:off x="1363787" y="4338548"/>
            <a:ext cx="9464278"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주차 별 강의 계획을 통해 한 학기 교수-학습의 흐름 파악</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6720" y="6488906"/>
            <a:ext cx="618411"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3</a:t>
            </a:r>
          </a:p>
        </p:txBody>
      </p:sp>
      <p:sp>
        <p:nvSpPr>
          <p:cNvPr id="6" name="TextBox 5"/>
          <p:cNvSpPr txBox="1"/>
          <p:nvPr/>
        </p:nvSpPr>
        <p:spPr>
          <a:xfrm>
            <a:off x="728662" y="112395"/>
            <a:ext cx="35740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주차 별 강의 계획</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6147673"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강의계획서에 따라 진행합니다.</a:t>
            </a:r>
          </a:p>
        </p:txBody>
      </p:sp>
      <p:graphicFrame>
        <p:nvGraphicFramePr>
          <p:cNvPr id="12" name="Table 11"/>
          <p:cNvGraphicFramePr>
            <a:graphicFrameLocks noGrp="1"/>
          </p:cNvGraphicFramePr>
          <p:nvPr/>
        </p:nvGraphicFramePr>
        <p:xfrm>
          <a:off x="438150" y="1890415"/>
          <a:ext cx="11306175" cy="4108095"/>
        </p:xfrm>
        <a:graphic>
          <a:graphicData uri="http://schemas.openxmlformats.org/drawingml/2006/table">
            <a:tbl>
              <a:tblPr>
                <a:tableStyleId>{5C22544A-7EE6-4342-B048-85BDC9FD1C3A}</a:tableStyleId>
              </a:tblPr>
              <a:tblGrid>
                <a:gridCol w="7235875"/>
                <a:gridCol w="4070300"/>
              </a:tblGrid>
              <a:tr h="321915">
                <a:tc>
                  <a:txBody>
                    <a:bodyPr wrap="square"/>
                    <a:lstStyle/>
                    <a:p>
                      <a:pPr algn="ctr">
                        <a:lnSpc>
                          <a:spcPts val="1560"/>
                        </a:lnSpc>
                      </a:pPr>
                      <a:r>
                        <a:rPr sz="1200" b="1">
                          <a:solidFill>
                            <a:srgbClr val="0B2A4A"/>
                          </a:solidFill>
                          <a:latin typeface="맑은 고딕"/>
                          <a:ea typeface="맑은 고딕"/>
                          <a:cs typeface="맑은 고딕"/>
                        </a:rPr>
                        <a:t>주차 별 강의 주제</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560"/>
                        </a:lnSpc>
                      </a:pPr>
                      <a:r>
                        <a:rPr sz="1200" b="1">
                          <a:solidFill>
                            <a:srgbClr val="0B2A4A"/>
                          </a:solidFill>
                          <a:latin typeface="맑은 고딕"/>
                          <a:ea typeface="맑은 고딕"/>
                          <a:cs typeface="맑은 고딕"/>
                        </a:rPr>
                        <a:t>과제물</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 오리엔테이션 / 진로준비도검사</a:t>
                      </a:r>
                    </a:p>
                  </a:txBody>
                  <a:tcPr marL="95250" marR="95250" marT="28575" marB="28575" anchor="ctr">
                    <a:solidFill>
                      <a:srgbClr val="FFF4D6"/>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강좌요구분석, 창업교육영향조사, 진로준비도검사</a:t>
                      </a:r>
                    </a:p>
                  </a:txBody>
                  <a:tcPr marL="95250" marR="95250" marT="28575" marB="28575" anchor="ctr">
                    <a:solidFill>
                      <a:srgbClr val="FFF4D6"/>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2. 나의 삶, 나의 진로 / 나의 이해(강의)</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나의 개인적 특성의 이해, 내가 생각하는 나와 타인이 보는 나</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3. 미래 사회 및 직업세계와 진로(강의)</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미래사회와 직업세계의 변화가 나에게 미치는 영향</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4. 객관적 검사를 통한 나의 이해 : 직업선호도 검사 실시 및 해석 (강의 및 소그룹 토론)</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직업선호도 검사 L형(자기 이해 검사)</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5. 구직능력 향상 1. 이력서 작성하기(강의 및 소그룹 토론)</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나를 표현하는 한마디는?</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6. 구직능력 향상 2. 자기소개서 작성하기(강의 및 소그룹 토론)</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0">
                          <a:solidFill>
                            <a:srgbClr val="16181D"/>
                          </a:solidFill>
                          <a:latin typeface="맑은 고딕"/>
                          <a:ea typeface="맑은 고딕"/>
                          <a:cs typeface="맑은 고딕"/>
                        </a:rPr>
                        <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7. 진로실행계획의 수립 방법(강의 및 소그룹 토론)</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0">
                          <a:solidFill>
                            <a:srgbClr val="16181D"/>
                          </a:solidFill>
                          <a:latin typeface="맑은 고딕"/>
                          <a:ea typeface="맑은 고딕"/>
                          <a:cs typeface="맑은 고딕"/>
                        </a:rPr>
                        <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8. 중간고사 – 이력서 및 자기소개서 발표(공유)</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이력서 및 자기소개서 제출</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9. 노동관련 법률과 제도 / 창업의 이해</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0">
                          <a:solidFill>
                            <a:srgbClr val="16181D"/>
                          </a:solidFill>
                          <a:latin typeface="맑은 고딕"/>
                          <a:ea typeface="맑은 고딕"/>
                          <a:cs typeface="맑은 고딕"/>
                        </a:rPr>
                        <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10. 사업기획서 작성법 / 진로대안 선정, 탐색 및 결정 – 다양한 취업과 경력경로에 대한 탐색</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나의 잠정적 진로대안 찾기</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11. 진로정보 탐색방법, 희망직업 분석</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희망직업 분석지</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12. 진로실행계획 수립의 실제 / 경력개발이란</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희망 경력개발 프로그램 탐색하기</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13. 나의 진로의사결정</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1">
                          <a:solidFill>
                            <a:srgbClr val="C00000"/>
                          </a:solidFill>
                          <a:latin typeface="맑은 고딕"/>
                          <a:ea typeface="맑은 고딕"/>
                          <a:cs typeface="맑은 고딕"/>
                        </a:rPr>
                        <a:t>과거 의사 결정 회고</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14. 구직능력 향상 3. 면접 준비하기</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0">
                          <a:solidFill>
                            <a:srgbClr val="16181D"/>
                          </a:solidFill>
                          <a:latin typeface="맑은 고딕"/>
                          <a:ea typeface="맑은 고딕"/>
                          <a:cs typeface="맑은 고딕"/>
                        </a:rPr>
                        <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252412">
                <a:tc>
                  <a:txBody>
                    <a:bodyPr wrap="square"/>
                    <a:lstStyle/>
                    <a:p>
                      <a:pPr algn="l">
                        <a:lnSpc>
                          <a:spcPts val="1462"/>
                        </a:lnSpc>
                      </a:pPr>
                      <a:r>
                        <a:rPr sz="1125" b="0">
                          <a:solidFill>
                            <a:srgbClr val="16181D"/>
                          </a:solidFill>
                          <a:latin typeface="맑은 고딕"/>
                          <a:ea typeface="맑은 고딕"/>
                          <a:cs typeface="맑은 고딕"/>
                        </a:rPr>
                        <a:t>15. 기말고사</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462"/>
                        </a:lnSpc>
                      </a:pPr>
                      <a:r>
                        <a:rPr sz="1125" b="0">
                          <a:solidFill>
                            <a:srgbClr val="16181D"/>
                          </a:solidFill>
                          <a:latin typeface="맑은 고딕"/>
                          <a:ea typeface="맑은 고딕"/>
                          <a:cs typeface="맑은 고딕"/>
                        </a:rPr>
                        <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bl>
          </a:graphicData>
        </a:graphic>
      </p:graphicFrame>
      <p:sp>
        <p:nvSpPr>
          <p:cNvPr id="13" name="Rectangle 12"/>
          <p:cNvSpPr/>
          <p:nvPr/>
        </p:nvSpPr>
        <p:spPr>
          <a:xfrm>
            <a:off x="442912" y="2217093"/>
            <a:ext cx="11306175" cy="252412"/>
          </a:xfrm>
          <a:prstGeom prst="rect">
            <a:avLst/>
          </a:prstGeom>
          <a:noFill/>
          <a:ln w="19050">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3</a:t>
            </a:r>
          </a:p>
        </p:txBody>
      </p:sp>
      <p:sp>
        <p:nvSpPr>
          <p:cNvPr id="6" name="TextBox 5"/>
          <p:cNvSpPr txBox="1"/>
          <p:nvPr/>
        </p:nvSpPr>
        <p:spPr>
          <a:xfrm>
            <a:off x="728662" y="112395"/>
            <a:ext cx="3574018"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주차 별 강의 계획</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175147"/>
            <a:ext cx="11315700" cy="5667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741884"/>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122283"/>
            <a:ext cx="4090511" cy="591502"/>
          </a:xfrm>
          <a:prstGeom prst="rect">
            <a:avLst/>
          </a:prstGeom>
          <a:noFill/>
        </p:spPr>
        <p:txBody>
          <a:bodyPr wrap="none" anchor="ctr" lIns="0" rIns="0" tIns="0" bIns="0">
            <a:noAutofit/>
          </a:bodyPr>
          <a:lstStyle/>
          <a:p>
            <a:pPr algn="l">
              <a:lnSpc>
                <a:spcPts val="3712"/>
              </a:lnSpc>
              <a:spcBef>
                <a:spcPts val="0"/>
              </a:spcBef>
              <a:spcAft>
                <a:spcPts val="0"/>
              </a:spcAft>
            </a:pPr>
            <a:r>
              <a:rPr sz="2475" b="1" spc="-50">
                <a:solidFill>
                  <a:srgbClr val="16181D"/>
                </a:solidFill>
                <a:latin typeface="맑은 고딕"/>
                <a:ea typeface="맑은 고딕"/>
                <a:cs typeface="맑은 고딕"/>
              </a:rPr>
              <a:t>과제물 제출 안내</a:t>
            </a:r>
          </a:p>
        </p:txBody>
      </p:sp>
      <p:sp>
        <p:nvSpPr>
          <p:cNvPr id="12" name="Rounded Rectangle 11"/>
          <p:cNvSpPr/>
          <p:nvPr/>
        </p:nvSpPr>
        <p:spPr>
          <a:xfrm>
            <a:off x="438150" y="2345531"/>
            <a:ext cx="11315700" cy="914400"/>
          </a:xfrm>
          <a:prstGeom prst="roundRect">
            <a:avLst>
              <a:gd name="adj" fmla="val 8333"/>
            </a:avLst>
          </a:prstGeom>
          <a:solidFill>
            <a:srgbClr val="FFFFF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38175" y="2526506"/>
            <a:ext cx="238125" cy="238125"/>
          </a:xfrm>
          <a:prstGeom prst="rect">
            <a:avLst/>
          </a:prstGeom>
        </p:spPr>
      </p:pic>
      <p:sp>
        <p:nvSpPr>
          <p:cNvPr id="14" name="TextBox 13"/>
          <p:cNvSpPr txBox="1"/>
          <p:nvPr/>
        </p:nvSpPr>
        <p:spPr>
          <a:xfrm>
            <a:off x="962025" y="2507456"/>
            <a:ext cx="10620375" cy="666750"/>
          </a:xfrm>
          <a:prstGeom prst="rect">
            <a:avLst/>
          </a:prstGeom>
          <a:noFill/>
        </p:spPr>
        <p:txBody>
          <a:bodyPr wrap="square" anchor="t" lIns="0" rIns="0" tIns="0" bIns="0">
            <a:noAutofit/>
          </a:bodyPr>
          <a:lstStyle/>
          <a:p>
            <a:pPr algn="l">
              <a:lnSpc>
                <a:spcPts val="2475"/>
              </a:lnSpc>
              <a:spcBef>
                <a:spcPts val="0"/>
              </a:spcBef>
              <a:spcAft>
                <a:spcPts val="0"/>
              </a:spcAft>
            </a:pPr>
            <a:r>
              <a:rPr sz="1650" b="1">
                <a:solidFill>
                  <a:srgbClr val="16181D"/>
                </a:solidFill>
                <a:latin typeface="맑은 고딕"/>
                <a:ea typeface="맑은 고딕"/>
                <a:cs typeface="맑은 고딕"/>
              </a:rPr>
              <a:t>과제물은 </a:t>
            </a:r>
            <a:r>
              <a:rPr sz="1650" b="1">
                <a:solidFill>
                  <a:srgbClr val="16181D"/>
                </a:solidFill>
                <a:latin typeface="맑은 고딕"/>
                <a:ea typeface="맑은 고딕"/>
                <a:cs typeface="맑은 고딕"/>
              </a:rPr>
              <a:t>‘LMS 과제방’</a:t>
            </a:r>
            <a:r>
              <a:rPr sz="1650" b="1">
                <a:solidFill>
                  <a:srgbClr val="16181D"/>
                </a:solidFill>
                <a:latin typeface="맑은 고딕"/>
                <a:ea typeface="맑은 고딕"/>
                <a:cs typeface="맑은 고딕"/>
              </a:rPr>
              <a:t> 혹은 저의 메일로 해당 주차 강의일 </a:t>
            </a:r>
            <a:r>
              <a:rPr sz="1650" b="1">
                <a:solidFill>
                  <a:srgbClr val="C00000"/>
                </a:solidFill>
                <a:latin typeface="맑은 고딕"/>
                <a:ea typeface="맑은 고딕"/>
                <a:cs typeface="맑은 고딕"/>
              </a:rPr>
              <a:t>하루 전 23:59:59</a:t>
            </a:r>
            <a:r>
              <a:rPr sz="1650" b="1">
                <a:solidFill>
                  <a:srgbClr val="16181D"/>
                </a:solidFill>
                <a:latin typeface="맑은 고딕"/>
                <a:ea typeface="맑은 고딕"/>
                <a:cs typeface="맑은 고딕"/>
              </a:rPr>
              <a:t>까지 이 메일 주소로 dimajob4u@gmail.com 으로 제출하시면 됩니다.</a:t>
            </a:r>
          </a:p>
        </p:txBody>
      </p:sp>
      <p:cxnSp>
        <p:nvCxnSpPr>
          <p:cNvPr id="15" name="Connector 14"/>
          <p:cNvCxnSpPr/>
          <p:nvPr/>
        </p:nvCxnSpPr>
        <p:spPr>
          <a:xfrm>
            <a:off x="1185794" y="5172415"/>
            <a:ext cx="9961858" cy="0"/>
          </a:xfrm>
          <a:prstGeom prst="line">
            <a:avLst/>
          </a:prstGeom>
          <a:ln w="6062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10925379" y="5061279"/>
            <a:ext cx="222273" cy="222273"/>
          </a:xfrm>
          <a:custGeom>
            <a:avLst/>
            <a:gdLst/>
            <a:ahLst/>
            <a:cxnLst/>
            <a:rect l="l" t="t" r="r" b="b"/>
            <a:pathLst>
              <a:path w="222273" h="222273">
                <a:moveTo>
                  <a:pt x="222273" y="111136"/>
                </a:moveTo>
                <a:lnTo>
                  <a:pt x="0" y="0"/>
                </a:lnTo>
                <a:lnTo>
                  <a:pt x="0" y="222273"/>
                </a:lnTo>
                <a:close/>
              </a:path>
            </a:pathLst>
          </a:cu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56745" y="4121672"/>
            <a:ext cx="3334090" cy="767851"/>
          </a:xfrm>
          <a:prstGeom prst="roundRect">
            <a:avLst>
              <a:gd name="adj" fmla="val 13157"/>
            </a:avLst>
          </a:prstGeom>
          <a:solidFill>
            <a:srgbClr val="FFD78F"/>
          </a:solidFill>
          <a:ln w="20207">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2691642" y="4194928"/>
            <a:ext cx="2464296" cy="326337"/>
          </a:xfrm>
          <a:prstGeom prst="rect">
            <a:avLst/>
          </a:prstGeom>
          <a:noFill/>
        </p:spPr>
        <p:txBody>
          <a:bodyPr wrap="none" lIns="0" rIns="0" tIns="0" bIns="0" anchor="ctr">
            <a:noAutofit/>
          </a:bodyPr>
          <a:lstStyle/>
          <a:p>
            <a:pPr algn="ctr">
              <a:lnSpc>
                <a:spcPts val="1813"/>
              </a:lnSpc>
            </a:pPr>
            <a:r>
              <a:rPr sz="1511" b="1">
                <a:solidFill>
                  <a:srgbClr val="4A3208"/>
                </a:solidFill>
                <a:latin typeface="맑은 고딕"/>
                <a:ea typeface="맑은 고딕"/>
                <a:cs typeface="맑은 고딕"/>
              </a:rPr>
              <a:t>과제물 제출 마감</a:t>
            </a:r>
          </a:p>
        </p:txBody>
      </p:sp>
      <p:sp>
        <p:nvSpPr>
          <p:cNvPr id="19" name="TextBox 18"/>
          <p:cNvSpPr txBox="1"/>
          <p:nvPr/>
        </p:nvSpPr>
        <p:spPr>
          <a:xfrm>
            <a:off x="2526807" y="4436037"/>
            <a:ext cx="2793965" cy="412215"/>
          </a:xfrm>
          <a:prstGeom prst="rect">
            <a:avLst/>
          </a:prstGeom>
          <a:noFill/>
        </p:spPr>
        <p:txBody>
          <a:bodyPr wrap="none" lIns="0" rIns="0" tIns="0" bIns="0" anchor="ctr">
            <a:noAutofit/>
          </a:bodyPr>
          <a:lstStyle/>
          <a:p>
            <a:pPr algn="ctr">
              <a:lnSpc>
                <a:spcPts val="2291"/>
              </a:lnSpc>
            </a:pPr>
            <a:r>
              <a:rPr sz="1909" b="1">
                <a:solidFill>
                  <a:srgbClr val="4A3208"/>
                </a:solidFill>
                <a:latin typeface="Arial"/>
                <a:ea typeface="맑은 고딕"/>
                <a:cs typeface="맑은 고딕"/>
              </a:rPr>
              <a:t>3. 10.  23:59:59</a:t>
            </a:r>
          </a:p>
        </p:txBody>
      </p:sp>
      <p:sp>
        <p:nvSpPr>
          <p:cNvPr id="20" name="Oval 19"/>
          <p:cNvSpPr/>
          <p:nvPr/>
        </p:nvSpPr>
        <p:spPr>
          <a:xfrm>
            <a:off x="3782343" y="5030969"/>
            <a:ext cx="282892" cy="282892"/>
          </a:xfrm>
          <a:prstGeom prst="ellipse">
            <a:avLst/>
          </a:prstGeom>
          <a:solidFill>
            <a:srgbClr val="E8A33D"/>
          </a:solidFill>
          <a:ln w="4041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5587" y="5420670"/>
            <a:ext cx="1716405" cy="309161"/>
          </a:xfrm>
          <a:prstGeom prst="rect">
            <a:avLst/>
          </a:prstGeom>
          <a:noFill/>
        </p:spPr>
        <p:txBody>
          <a:bodyPr wrap="none" lIns="0" rIns="0" tIns="0" bIns="0" anchor="ctr">
            <a:noAutofit/>
          </a:bodyPr>
          <a:lstStyle/>
          <a:p>
            <a:pPr algn="ctr">
              <a:lnSpc>
                <a:spcPts val="1718"/>
              </a:lnSpc>
            </a:pPr>
            <a:r>
              <a:rPr sz="1431" b="1">
                <a:solidFill>
                  <a:srgbClr val="6B7280"/>
                </a:solidFill>
                <a:latin typeface="맑은 고딕"/>
                <a:ea typeface="맑은 고딕"/>
                <a:cs typeface="맑은 고딕"/>
              </a:rPr>
              <a:t>강의 하루 전</a:t>
            </a:r>
          </a:p>
        </p:txBody>
      </p:sp>
      <p:sp>
        <p:nvSpPr>
          <p:cNvPr id="22" name="Rounded Rectangle 21"/>
          <p:cNvSpPr/>
          <p:nvPr/>
        </p:nvSpPr>
        <p:spPr>
          <a:xfrm>
            <a:off x="7005297" y="4121672"/>
            <a:ext cx="3334090" cy="767851"/>
          </a:xfrm>
          <a:prstGeom prst="roundRect">
            <a:avLst>
              <a:gd name="adj" fmla="val 13157"/>
            </a:avLst>
          </a:prstGeom>
          <a:solidFill>
            <a:srgbClr val="DCE9F8"/>
          </a:solidFill>
          <a:ln w="20207">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8129268" y="4194928"/>
            <a:ext cx="1086148" cy="326337"/>
          </a:xfrm>
          <a:prstGeom prst="rect">
            <a:avLst/>
          </a:prstGeom>
          <a:noFill/>
        </p:spPr>
        <p:txBody>
          <a:bodyPr wrap="none" lIns="0" rIns="0" tIns="0" bIns="0" anchor="ctr">
            <a:noAutofit/>
          </a:bodyPr>
          <a:lstStyle/>
          <a:p>
            <a:pPr algn="ctr">
              <a:lnSpc>
                <a:spcPts val="1813"/>
              </a:lnSpc>
            </a:pPr>
            <a:r>
              <a:rPr sz="1511" b="1">
                <a:solidFill>
                  <a:srgbClr val="0057A0"/>
                </a:solidFill>
                <a:latin typeface="맑은 고딕"/>
                <a:ea typeface="맑은 고딕"/>
                <a:cs typeface="맑은 고딕"/>
              </a:rPr>
              <a:t>본 강의</a:t>
            </a:r>
          </a:p>
        </p:txBody>
      </p:sp>
      <p:sp>
        <p:nvSpPr>
          <p:cNvPr id="24" name="TextBox 23"/>
          <p:cNvSpPr txBox="1"/>
          <p:nvPr/>
        </p:nvSpPr>
        <p:spPr>
          <a:xfrm>
            <a:off x="7595794" y="4436037"/>
            <a:ext cx="2153097" cy="412215"/>
          </a:xfrm>
          <a:prstGeom prst="rect">
            <a:avLst/>
          </a:prstGeom>
          <a:noFill/>
        </p:spPr>
        <p:txBody>
          <a:bodyPr wrap="none" lIns="0" rIns="0" tIns="0" bIns="0" anchor="ctr">
            <a:noAutofit/>
          </a:bodyPr>
          <a:lstStyle/>
          <a:p>
            <a:pPr algn="ctr">
              <a:lnSpc>
                <a:spcPts val="2291"/>
              </a:lnSpc>
            </a:pPr>
            <a:r>
              <a:rPr sz="1909" b="1">
                <a:solidFill>
                  <a:srgbClr val="0057A0"/>
                </a:solidFill>
                <a:latin typeface="Arial"/>
                <a:ea typeface="맑은 고딕"/>
                <a:cs typeface="맑은 고딕"/>
              </a:rPr>
              <a:t>3. 11.  11:00</a:t>
            </a:r>
          </a:p>
        </p:txBody>
      </p:sp>
      <p:sp>
        <p:nvSpPr>
          <p:cNvPr id="25" name="Oval 24"/>
          <p:cNvSpPr/>
          <p:nvPr/>
        </p:nvSpPr>
        <p:spPr>
          <a:xfrm>
            <a:off x="8530896" y="5030969"/>
            <a:ext cx="282892" cy="282892"/>
          </a:xfrm>
          <a:prstGeom prst="ellipse">
            <a:avLst/>
          </a:prstGeom>
          <a:solidFill>
            <a:srgbClr val="0070C0"/>
          </a:solidFill>
          <a:ln w="4041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11486" y="5420670"/>
            <a:ext cx="1321714" cy="309161"/>
          </a:xfrm>
          <a:prstGeom prst="rect">
            <a:avLst/>
          </a:prstGeom>
          <a:noFill/>
        </p:spPr>
        <p:txBody>
          <a:bodyPr wrap="none" lIns="0" rIns="0" tIns="0" bIns="0" anchor="ctr">
            <a:noAutofit/>
          </a:bodyPr>
          <a:lstStyle/>
          <a:p>
            <a:pPr algn="ctr">
              <a:lnSpc>
                <a:spcPts val="1718"/>
              </a:lnSpc>
            </a:pPr>
            <a:r>
              <a:rPr sz="1431" b="1">
                <a:solidFill>
                  <a:srgbClr val="6B7280"/>
                </a:solidFill>
                <a:latin typeface="맑은 고딕"/>
                <a:ea typeface="맑은 고딕"/>
                <a:cs typeface="맑은 고딕"/>
              </a:rPr>
              <a:t>수업 시작</a:t>
            </a:r>
          </a:p>
        </p:txBody>
      </p:sp>
      <p:sp>
        <p:nvSpPr>
          <p:cNvPr id="27" name="TextBox 26"/>
          <p:cNvSpPr txBox="1"/>
          <p:nvPr/>
        </p:nvSpPr>
        <p:spPr>
          <a:xfrm>
            <a:off x="620009" y="4767205"/>
            <a:ext cx="800398" cy="291985"/>
          </a:xfrm>
          <a:prstGeom prst="rect">
            <a:avLst/>
          </a:prstGeom>
          <a:noFill/>
        </p:spPr>
        <p:txBody>
          <a:bodyPr wrap="none" lIns="0" rIns="0" tIns="0" bIns="0" anchor="ctr">
            <a:noAutofit/>
          </a:bodyPr>
          <a:lstStyle/>
          <a:p>
            <a:pPr algn="l">
              <a:lnSpc>
                <a:spcPts val="1622"/>
              </a:lnSpc>
            </a:pPr>
            <a:r>
              <a:rPr sz="1352" b="1">
                <a:solidFill>
                  <a:srgbClr val="6B7280"/>
                </a:solidFill>
                <a:latin typeface="맑은 고딕"/>
                <a:ea typeface="맑은 고딕"/>
                <a:cs typeface="맑은 고딕"/>
              </a:rPr>
              <a:t>예시</a:t>
            </a:r>
          </a:p>
        </p:txBody>
      </p:sp>
      <p:sp>
        <p:nvSpPr>
          <p:cNvPr id="28" name="TextBox 27"/>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485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4</a:t>
            </a:r>
          </a:p>
        </p:txBody>
      </p:sp>
      <p:sp>
        <p:nvSpPr>
          <p:cNvPr id="17" name="TextBox 16"/>
          <p:cNvSpPr txBox="1"/>
          <p:nvPr/>
        </p:nvSpPr>
        <p:spPr>
          <a:xfrm>
            <a:off x="2674382" y="1345228"/>
            <a:ext cx="6843236"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강의 요구 분석</a:t>
            </a:r>
          </a:p>
        </p:txBody>
      </p:sp>
      <p:sp>
        <p:nvSpPr>
          <p:cNvPr id="18" name="TextBox 17"/>
          <p:cNvSpPr txBox="1"/>
          <p:nvPr/>
        </p:nvSpPr>
        <p:spPr>
          <a:xfrm>
            <a:off x="1394267" y="4338548"/>
            <a:ext cx="9403318"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강의를 통해 무엇을 얻고자 하는지 설문조사로 알아보기</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4</a:t>
            </a:r>
          </a:p>
        </p:txBody>
      </p:sp>
      <p:sp>
        <p:nvSpPr>
          <p:cNvPr id="6" name="TextBox 5"/>
          <p:cNvSpPr txBox="1"/>
          <p:nvPr/>
        </p:nvSpPr>
        <p:spPr>
          <a:xfrm>
            <a:off x="728662" y="112395"/>
            <a:ext cx="305419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강의 요구 분석</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7874318"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이번 강의를 통해 무엇을 얻고 싶은가요?</a:t>
            </a:r>
          </a:p>
        </p:txBody>
      </p:sp>
      <p:sp>
        <p:nvSpPr>
          <p:cNvPr id="12" name="Rounded Rectangle 11"/>
          <p:cNvSpPr/>
          <p:nvPr/>
        </p:nvSpPr>
        <p:spPr>
          <a:xfrm>
            <a:off x="438150" y="1890415"/>
            <a:ext cx="5605462" cy="800100"/>
          </a:xfrm>
          <a:prstGeom prst="roundRect">
            <a:avLst>
              <a:gd name="adj" fmla="val 14285"/>
            </a:avLst>
          </a:prstGeom>
          <a:solidFill>
            <a:srgbClr val="DCE9F8"/>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581025" y="1934230"/>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14" name="TextBox 13"/>
          <p:cNvSpPr txBox="1"/>
          <p:nvPr/>
        </p:nvSpPr>
        <p:spPr>
          <a:xfrm>
            <a:off x="581025" y="2242840"/>
            <a:ext cx="4538662"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나의 진로 및 취업 준비 정도는?</a:t>
            </a:r>
          </a:p>
        </p:txBody>
      </p:sp>
      <p:sp>
        <p:nvSpPr>
          <p:cNvPr id="15" name="Rounded Rectangle 14"/>
          <p:cNvSpPr/>
          <p:nvPr/>
        </p:nvSpPr>
        <p:spPr>
          <a:xfrm>
            <a:off x="6148388" y="1890415"/>
            <a:ext cx="5605462" cy="800100"/>
          </a:xfrm>
          <a:prstGeom prst="roundRect">
            <a:avLst>
              <a:gd name="adj" fmla="val 14285"/>
            </a:avLst>
          </a:prstGeom>
          <a:solidFill>
            <a:srgbClr val="DCE9F8"/>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6291262" y="1934230"/>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17" name="TextBox 16"/>
          <p:cNvSpPr txBox="1"/>
          <p:nvPr/>
        </p:nvSpPr>
        <p:spPr>
          <a:xfrm>
            <a:off x="6291262" y="2242840"/>
            <a:ext cx="6769894"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‘취업과 경력개발’ 교과목을 수강하게 된 이유는?</a:t>
            </a:r>
          </a:p>
        </p:txBody>
      </p:sp>
      <p:sp>
        <p:nvSpPr>
          <p:cNvPr id="18" name="Rounded Rectangle 17"/>
          <p:cNvSpPr/>
          <p:nvPr/>
        </p:nvSpPr>
        <p:spPr>
          <a:xfrm>
            <a:off x="438150" y="2795290"/>
            <a:ext cx="5605462" cy="1085850"/>
          </a:xfrm>
          <a:prstGeom prst="roundRect">
            <a:avLst>
              <a:gd name="adj" fmla="val 10526"/>
            </a:avLst>
          </a:prstGeom>
          <a:solidFill>
            <a:srgbClr val="DCE9F8"/>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581025" y="2839105"/>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20" name="TextBox 19"/>
          <p:cNvSpPr txBox="1"/>
          <p:nvPr/>
        </p:nvSpPr>
        <p:spPr>
          <a:xfrm>
            <a:off x="581025" y="3204865"/>
            <a:ext cx="5319712" cy="590550"/>
          </a:xfrm>
          <a:prstGeom prst="rect">
            <a:avLst/>
          </a:prstGeom>
          <a:noFill/>
        </p:spPr>
        <p:txBody>
          <a:bodyPr wrap="square" anchor="t"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‘취업과 경력개발’ 교과목을 통해 배웠으면 하는 내용은 무엇인가요?</a:t>
            </a:r>
          </a:p>
        </p:txBody>
      </p:sp>
      <p:sp>
        <p:nvSpPr>
          <p:cNvPr id="21" name="Rounded Rectangle 20"/>
          <p:cNvSpPr/>
          <p:nvPr/>
        </p:nvSpPr>
        <p:spPr>
          <a:xfrm>
            <a:off x="6148388" y="2795290"/>
            <a:ext cx="5605462" cy="1085850"/>
          </a:xfrm>
          <a:prstGeom prst="roundRect">
            <a:avLst>
              <a:gd name="adj" fmla="val 10526"/>
            </a:avLst>
          </a:prstGeom>
          <a:solidFill>
            <a:srgbClr val="DCE9F8"/>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291262" y="2839105"/>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23" name="TextBox 22"/>
          <p:cNvSpPr txBox="1"/>
          <p:nvPr/>
        </p:nvSpPr>
        <p:spPr>
          <a:xfrm>
            <a:off x="6291262" y="3147715"/>
            <a:ext cx="8420576"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‘취업과 경력개발’ 교과목 담당 교수에게 바라는 점이 있다면?</a:t>
            </a:r>
          </a:p>
        </p:txBody>
      </p:sp>
      <p:sp>
        <p:nvSpPr>
          <p:cNvPr id="24" name="Rounded Rectangle 23"/>
          <p:cNvSpPr/>
          <p:nvPr/>
        </p:nvSpPr>
        <p:spPr>
          <a:xfrm>
            <a:off x="438150" y="4224040"/>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1025" y="4145935"/>
            <a:ext cx="2525554" cy="413385"/>
          </a:xfrm>
          <a:prstGeom prst="rect">
            <a:avLst/>
          </a:prstGeom>
          <a:noFill/>
        </p:spPr>
        <p:txBody>
          <a:bodyPr wrap="none" anchor="ctr" lIns="0" rIns="0" tIns="0" bIns="0">
            <a:noAutofit/>
          </a:bodyPr>
          <a:lstStyle/>
          <a:p>
            <a:pPr algn="l">
              <a:lnSpc>
                <a:spcPts val="2475"/>
              </a:lnSpc>
              <a:spcBef>
                <a:spcPts val="0"/>
              </a:spcBef>
              <a:spcAft>
                <a:spcPts val="0"/>
              </a:spcAft>
            </a:pPr>
            <a:r>
              <a:rPr sz="1650" b="1" spc="-33">
                <a:solidFill>
                  <a:srgbClr val="0057A0"/>
                </a:solidFill>
                <a:latin typeface="맑은 고딕"/>
                <a:ea typeface="맑은 고딕"/>
                <a:cs typeface="맑은 고딕"/>
              </a:rPr>
              <a:t>설문 방법 안내</a:t>
            </a:r>
          </a:p>
        </p:txBody>
      </p:sp>
      <p:sp>
        <p:nvSpPr>
          <p:cNvPr id="26" name="TextBox 25"/>
          <p:cNvSpPr txBox="1"/>
          <p:nvPr/>
        </p:nvSpPr>
        <p:spPr>
          <a:xfrm>
            <a:off x="209550" y="4770775"/>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27" name="TextBox 26"/>
          <p:cNvSpPr txBox="1"/>
          <p:nvPr/>
        </p:nvSpPr>
        <p:spPr>
          <a:xfrm>
            <a:off x="714375" y="4764107"/>
            <a:ext cx="10968752"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구글 설문지 링크 주소는 </a:t>
            </a:r>
            <a:r>
              <a:rPr sz="1350" b="1">
                <a:solidFill>
                  <a:srgbClr val="16181D"/>
                </a:solidFill>
                <a:latin typeface="맑은 고딕"/>
                <a:ea typeface="맑은 고딕"/>
                <a:cs typeface="맑은 고딕"/>
              </a:rPr>
              <a:t>‘전자 출결 / 강의 공지’</a:t>
            </a:r>
            <a:r>
              <a:rPr sz="1350" b="0">
                <a:solidFill>
                  <a:srgbClr val="3D4450"/>
                </a:solidFill>
                <a:latin typeface="맑은 고딕"/>
                <a:ea typeface="맑은 고딕"/>
                <a:cs typeface="맑은 고딕"/>
              </a:rPr>
              <a:t> 혹은 </a:t>
            </a:r>
            <a:r>
              <a:rPr sz="1350" b="1">
                <a:solidFill>
                  <a:srgbClr val="16181D"/>
                </a:solidFill>
                <a:latin typeface="맑은 고딕"/>
                <a:ea typeface="맑은 고딕"/>
                <a:cs typeface="맑은 고딕"/>
              </a:rPr>
              <a:t>‘과제’</a:t>
            </a:r>
            <a:r>
              <a:rPr sz="1350" b="0">
                <a:solidFill>
                  <a:srgbClr val="3D4450"/>
                </a:solidFill>
                <a:latin typeface="맑은 고딕"/>
                <a:ea typeface="맑은 고딕"/>
                <a:cs typeface="맑은 고딕"/>
              </a:rPr>
              <a:t>에 게시 (OT 종결 후 업로드)</a:t>
            </a:r>
          </a:p>
        </p:txBody>
      </p:sp>
      <p:sp>
        <p:nvSpPr>
          <p:cNvPr id="28" name="Rounded Rectangle 27"/>
          <p:cNvSpPr/>
          <p:nvPr/>
        </p:nvSpPr>
        <p:spPr>
          <a:xfrm>
            <a:off x="438150" y="5148858"/>
            <a:ext cx="11315700" cy="795338"/>
          </a:xfrm>
          <a:prstGeom prst="roundRect">
            <a:avLst>
              <a:gd name="adj" fmla="val 11976"/>
            </a:avLst>
          </a:prstGeom>
          <a:solidFill>
            <a:srgbClr val="EDF4FC"/>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619125" y="5333167"/>
            <a:ext cx="838200" cy="445770"/>
          </a:xfrm>
          <a:prstGeom prst="rect">
            <a:avLst/>
          </a:prstGeom>
          <a:noFill/>
        </p:spPr>
        <p:txBody>
          <a:bodyPr wrap="none" anchor="ctr" lIns="0" rIns="0" tIns="0" bIns="0">
            <a:noAutofit/>
          </a:bodyPr>
          <a:lstStyle/>
          <a:p>
            <a:pPr algn="l">
              <a:lnSpc>
                <a:spcPts val="2700"/>
              </a:lnSpc>
              <a:spcBef>
                <a:spcPts val="0"/>
              </a:spcBef>
              <a:spcAft>
                <a:spcPts val="0"/>
              </a:spcAft>
            </a:pPr>
            <a:r>
              <a:rPr sz="1800" b="0">
                <a:solidFill>
                  <a:srgbClr val="0000EE"/>
                </a:solidFill>
                <a:latin typeface="맑은 고딕"/>
                <a:ea typeface="맑은 고딕"/>
                <a:cs typeface="맑은 고딕"/>
              </a:rPr>
              <a:t>🔗</a:t>
            </a:r>
          </a:p>
        </p:txBody>
      </p:sp>
      <p:sp>
        <p:nvSpPr>
          <p:cNvPr id="30" name="TextBox 29"/>
          <p:cNvSpPr txBox="1"/>
          <p:nvPr/>
        </p:nvSpPr>
        <p:spPr>
          <a:xfrm>
            <a:off x="1019175" y="5234583"/>
            <a:ext cx="4834890" cy="381000"/>
          </a:xfrm>
          <a:prstGeom prst="rect">
            <a:avLst/>
          </a:prstGeom>
          <a:noFill/>
        </p:spPr>
        <p:txBody>
          <a:bodyPr wrap="none" anchor="ctr" lIns="0" rIns="0" tIns="0" bIns="0">
            <a:noAutofit/>
          </a:bodyPr>
          <a:lstStyle/>
          <a:p>
            <a:pPr algn="l">
              <a:lnSpc>
                <a:spcPts val="2250"/>
              </a:lnSpc>
              <a:spcBef>
                <a:spcPts val="0"/>
              </a:spcBef>
              <a:spcAft>
                <a:spcPts val="0"/>
              </a:spcAft>
            </a:pPr>
            <a:r>
              <a:rPr sz="1500" b="1">
                <a:solidFill>
                  <a:srgbClr val="0B2A4A"/>
                </a:solidFill>
                <a:latin typeface="맑은 고딕"/>
                <a:ea typeface="맑은 고딕"/>
                <a:cs typeface="맑은 고딕"/>
              </a:rPr>
              <a:t>Y3반 강의 요구 분석 구글 설문지</a:t>
            </a:r>
          </a:p>
        </p:txBody>
      </p:sp>
      <p:sp>
        <p:nvSpPr>
          <p:cNvPr id="31" name="TextBox 30"/>
          <p:cNvSpPr txBox="1"/>
          <p:nvPr/>
        </p:nvSpPr>
        <p:spPr>
          <a:xfrm>
            <a:off x="1019175" y="5539859"/>
            <a:ext cx="4858941" cy="332422"/>
          </a:xfrm>
          <a:prstGeom prst="rect">
            <a:avLst/>
          </a:prstGeom>
          <a:noFill/>
        </p:spPr>
        <p:txBody>
          <a:bodyPr wrap="none" anchor="ctr" lIns="0" rIns="0" tIns="0" bIns="0">
            <a:noAutofit/>
          </a:bodyPr>
          <a:lstStyle/>
          <a:p>
            <a:pPr algn="l">
              <a:lnSpc>
                <a:spcPts val="1912"/>
              </a:lnSpc>
              <a:spcBef>
                <a:spcPts val="0"/>
              </a:spcBef>
              <a:spcAft>
                <a:spcPts val="0"/>
              </a:spcAft>
            </a:pPr>
            <a:r>
              <a:rPr sz="1275" b="1">
                <a:solidFill>
                  <a:srgbClr val="0057A0"/>
                </a:solidFill>
                <a:latin typeface="Arial"/>
                <a:ea typeface="맑은 고딕"/>
                <a:cs typeface="맑은 고딕"/>
              </a:rPr>
              <a:t>https://forms.gle/7r7zeoC7zy6xZ19i8</a:t>
            </a:r>
          </a:p>
        </p:txBody>
      </p:sp>
      <p:sp>
        <p:nvSpPr>
          <p:cNvPr id="32" name="TextBox 31"/>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5</a:t>
            </a:r>
          </a:p>
        </p:txBody>
      </p:sp>
      <p:sp>
        <p:nvSpPr>
          <p:cNvPr id="17" name="TextBox 16"/>
          <p:cNvSpPr txBox="1"/>
          <p:nvPr/>
        </p:nvSpPr>
        <p:spPr>
          <a:xfrm>
            <a:off x="2176939" y="1345228"/>
            <a:ext cx="7838123"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창업 인식도 조사</a:t>
            </a:r>
          </a:p>
        </p:txBody>
      </p:sp>
      <p:sp>
        <p:nvSpPr>
          <p:cNvPr id="18" name="TextBox 17"/>
          <p:cNvSpPr txBox="1"/>
          <p:nvPr/>
        </p:nvSpPr>
        <p:spPr>
          <a:xfrm>
            <a:off x="1160621" y="4338548"/>
            <a:ext cx="9870758"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창업에 대한 학습자들의 인식 정도를 파악하여 수업에 반영</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5</a:t>
            </a:r>
          </a:p>
        </p:txBody>
      </p:sp>
      <p:sp>
        <p:nvSpPr>
          <p:cNvPr id="6" name="TextBox 5"/>
          <p:cNvSpPr txBox="1"/>
          <p:nvPr/>
        </p:nvSpPr>
        <p:spPr>
          <a:xfrm>
            <a:off x="728662" y="112395"/>
            <a:ext cx="3462576"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창업 인식도 조사</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7093982"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창업교육 정책에 반영하고자 합니다.</a:t>
            </a:r>
          </a:p>
        </p:txBody>
      </p:sp>
      <p:sp>
        <p:nvSpPr>
          <p:cNvPr id="12" name="Rounded Rectangle 11"/>
          <p:cNvSpPr/>
          <p:nvPr/>
        </p:nvSpPr>
        <p:spPr>
          <a:xfrm>
            <a:off x="438150" y="2071390"/>
            <a:ext cx="11315700" cy="500062"/>
          </a:xfrm>
          <a:prstGeom prst="roundRect">
            <a:avLst>
              <a:gd name="adj" fmla="val 15238"/>
            </a:avLst>
          </a:prstGeom>
          <a:solidFill>
            <a:srgbClr val="FFD78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04838" y="2204740"/>
            <a:ext cx="219075" cy="219075"/>
          </a:xfrm>
          <a:prstGeom prst="rect">
            <a:avLst/>
          </a:prstGeom>
        </p:spPr>
      </p:pic>
      <p:sp>
        <p:nvSpPr>
          <p:cNvPr id="14" name="TextBox 13"/>
          <p:cNvSpPr txBox="1"/>
          <p:nvPr/>
        </p:nvSpPr>
        <p:spPr>
          <a:xfrm>
            <a:off x="904875" y="2141399"/>
            <a:ext cx="10081498" cy="364808"/>
          </a:xfrm>
          <a:prstGeom prst="rect">
            <a:avLst/>
          </a:prstGeom>
          <a:noFill/>
        </p:spPr>
        <p:txBody>
          <a:bodyPr wrap="none" anchor="ctr" lIns="0" rIns="0" tIns="0" bIns="0">
            <a:noAutofit/>
          </a:bodyPr>
          <a:lstStyle/>
          <a:p>
            <a:pPr algn="l">
              <a:lnSpc>
                <a:spcPts val="2137"/>
              </a:lnSpc>
              <a:spcBef>
                <a:spcPts val="0"/>
              </a:spcBef>
              <a:spcAft>
                <a:spcPts val="0"/>
              </a:spcAft>
            </a:pPr>
            <a:r>
              <a:rPr sz="1425" b="1">
                <a:solidFill>
                  <a:srgbClr val="4A3208"/>
                </a:solidFill>
                <a:latin typeface="맑은 고딕"/>
                <a:ea typeface="맑은 고딕"/>
                <a:cs typeface="맑은 고딕"/>
              </a:rPr>
              <a:t>대학생 창업교육이 창업가 정신 및 진로준비행동에 미치는 영향에 대한 조사</a:t>
            </a:r>
          </a:p>
        </p:txBody>
      </p:sp>
      <p:sp>
        <p:nvSpPr>
          <p:cNvPr id="15" name="TextBox 14"/>
          <p:cNvSpPr txBox="1"/>
          <p:nvPr/>
        </p:nvSpPr>
        <p:spPr>
          <a:xfrm>
            <a:off x="438150" y="2950785"/>
            <a:ext cx="5577840" cy="308134"/>
          </a:xfrm>
          <a:prstGeom prst="rect">
            <a:avLst/>
          </a:prstGeom>
          <a:noFill/>
        </p:spPr>
        <p:txBody>
          <a:bodyPr wrap="none" anchor="ctr" lIns="0" rIns="0" tIns="0" bIns="0">
            <a:noAutofit/>
          </a:bodyPr>
          <a:lstStyle/>
          <a:p>
            <a:pPr algn="l">
              <a:lnSpc>
                <a:spcPts val="1685"/>
              </a:lnSpc>
              <a:spcBef>
                <a:spcPts val="0"/>
              </a:spcBef>
              <a:spcAft>
                <a:spcPts val="0"/>
              </a:spcAft>
            </a:pPr>
            <a:r>
              <a:rPr sz="1162" b="1">
                <a:solidFill>
                  <a:srgbClr val="16181D"/>
                </a:solidFill>
                <a:latin typeface="맑은 고딕"/>
                <a:ea typeface="맑은 고딕"/>
                <a:cs typeface="맑은 고딕"/>
              </a:rPr>
              <a:t>안녕하십니까? 귀하의 행복과 발전을 기원합니다.</a:t>
            </a:r>
          </a:p>
        </p:txBody>
      </p:sp>
      <p:sp>
        <p:nvSpPr>
          <p:cNvPr id="16" name="TextBox 15"/>
          <p:cNvSpPr txBox="1"/>
          <p:nvPr/>
        </p:nvSpPr>
        <p:spPr>
          <a:xfrm>
            <a:off x="438150" y="3580805"/>
            <a:ext cx="5534025" cy="680145"/>
          </a:xfrm>
          <a:prstGeom prst="rect">
            <a:avLst/>
          </a:prstGeom>
          <a:noFill/>
        </p:spPr>
        <p:txBody>
          <a:bodyPr wrap="square" anchor="t" lIns="0" rIns="0" tIns="0" bIns="0">
            <a:noAutofit/>
          </a:bodyPr>
          <a:lstStyle/>
          <a:p>
            <a:pPr algn="l">
              <a:lnSpc>
                <a:spcPts val="1685"/>
              </a:lnSpc>
              <a:spcBef>
                <a:spcPts val="0"/>
              </a:spcBef>
              <a:spcAft>
                <a:spcPts val="0"/>
              </a:spcAft>
            </a:pPr>
            <a:r>
              <a:rPr sz="1162" b="0">
                <a:solidFill>
                  <a:srgbClr val="3D4450"/>
                </a:solidFill>
                <a:latin typeface="맑은 고딕"/>
                <a:ea typeface="맑은 고딕"/>
                <a:cs typeface="맑은 고딕"/>
              </a:rPr>
              <a:t>4차 산업혁명 시대의 도래와 함께 방송·예술 분야에 대한 사회적 관심이 날로 확대되고 있습니다. 특히 4차 산업혁명은 방송(미디어) 기술과 예술 콘텐츠의 결합을 통한 신산업 창출을 가속화할 것으로 예상됩니다.</a:t>
            </a:r>
          </a:p>
        </p:txBody>
      </p:sp>
      <p:sp>
        <p:nvSpPr>
          <p:cNvPr id="17" name="TextBox 16"/>
          <p:cNvSpPr txBox="1"/>
          <p:nvPr/>
        </p:nvSpPr>
        <p:spPr>
          <a:xfrm>
            <a:off x="438150" y="4594324"/>
            <a:ext cx="5534025" cy="1536204"/>
          </a:xfrm>
          <a:prstGeom prst="rect">
            <a:avLst/>
          </a:prstGeom>
          <a:noFill/>
        </p:spPr>
        <p:txBody>
          <a:bodyPr wrap="square" anchor="t" lIns="0" rIns="0" tIns="0" bIns="0">
            <a:noAutofit/>
          </a:bodyPr>
          <a:lstStyle/>
          <a:p>
            <a:pPr algn="l">
              <a:lnSpc>
                <a:spcPts val="1685"/>
              </a:lnSpc>
              <a:spcBef>
                <a:spcPts val="0"/>
              </a:spcBef>
              <a:spcAft>
                <a:spcPts val="0"/>
              </a:spcAft>
            </a:pPr>
            <a:r>
              <a:rPr sz="1162" b="0">
                <a:solidFill>
                  <a:srgbClr val="3D4450"/>
                </a:solidFill>
                <a:latin typeface="맑은 고딕"/>
                <a:ea typeface="맑은 고딕"/>
                <a:cs typeface="맑은 고딕"/>
              </a:rPr>
              <a:t>이에 본교에서는 학생들의 취업 및 창업역량 강화를 위해 LINC+ 사업의 일환으로 다양한 창업교육지원사업(방송예술 창업가 양성특강, 방송예술 창업가 양성 캠프, 지적재산권반 운영, 1인 예술가 양성 강좌 운영 등)과 창업보육지원사업(문화콘텐츠 창업가 육성, 창업교육센터 구축, 창업경진대회 등), 창업사업화지원사업(창업가 양성 정부사업 참여지원, 1인 예술가 벤치마킹 지원, 창업교육센터 활성화 등), 취업교육 및 취업지원사업(문화예술인 양성 강좌 운영, 1인 예술가 채용오디션 등)을 전개하고 있습니다.</a:t>
            </a:r>
          </a:p>
        </p:txBody>
      </p:sp>
      <p:sp>
        <p:nvSpPr>
          <p:cNvPr id="18" name="TextBox 17"/>
          <p:cNvSpPr txBox="1"/>
          <p:nvPr/>
        </p:nvSpPr>
        <p:spPr>
          <a:xfrm>
            <a:off x="6219825" y="2995315"/>
            <a:ext cx="5534025" cy="680145"/>
          </a:xfrm>
          <a:prstGeom prst="rect">
            <a:avLst/>
          </a:prstGeom>
          <a:noFill/>
        </p:spPr>
        <p:txBody>
          <a:bodyPr wrap="square" anchor="t" lIns="0" rIns="0" tIns="0" bIns="0">
            <a:noAutofit/>
          </a:bodyPr>
          <a:lstStyle/>
          <a:p>
            <a:pPr algn="l">
              <a:lnSpc>
                <a:spcPts val="1685"/>
              </a:lnSpc>
              <a:spcBef>
                <a:spcPts val="0"/>
              </a:spcBef>
              <a:spcAft>
                <a:spcPts val="0"/>
              </a:spcAft>
            </a:pPr>
            <a:r>
              <a:rPr sz="1162" b="0">
                <a:solidFill>
                  <a:srgbClr val="3D4450"/>
                </a:solidFill>
                <a:latin typeface="맑은 고딕"/>
                <a:ea typeface="맑은 고딕"/>
                <a:cs typeface="맑은 고딕"/>
              </a:rPr>
              <a:t>이에 본 설문은 창업 교과목이 창업가 정신 및 진로역량 강화에 미치는 효과를 측정하기 위해 작성되었습니다. 본 연구를 통해 도출된 결과물은 학생들의 창업교육 정책 결정에 의미 있게 활용될 것입니다. 여러분의 소중한 의견 주시면 감사하겠습니다.</a:t>
            </a:r>
          </a:p>
        </p:txBody>
      </p:sp>
      <p:sp>
        <p:nvSpPr>
          <p:cNvPr id="19" name="Rounded Rectangle 18"/>
          <p:cNvSpPr/>
          <p:nvPr/>
        </p:nvSpPr>
        <p:spPr>
          <a:xfrm>
            <a:off x="6219825" y="4042172"/>
            <a:ext cx="5534025" cy="771525"/>
          </a:xfrm>
          <a:prstGeom prst="roundRect">
            <a:avLst>
              <a:gd name="adj" fmla="val 9876"/>
            </a:avLst>
          </a:prstGeom>
          <a:solidFill>
            <a:srgbClr val="EDF4FC"/>
          </a:solidFill>
          <a:ln w="1905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png"/>
          <p:cNvPicPr>
            <a:picLocks noChangeAspect="1"/>
          </p:cNvPicPr>
          <p:nvPr/>
        </p:nvPicPr>
        <p:blipFill>
          <a:blip r:embed="rId3"/>
          <a:stretch>
            <a:fillRect/>
          </a:stretch>
        </p:blipFill>
        <p:spPr>
          <a:xfrm>
            <a:off x="6386512" y="4175522"/>
            <a:ext cx="219075" cy="219075"/>
          </a:xfrm>
          <a:prstGeom prst="rect">
            <a:avLst/>
          </a:prstGeom>
        </p:spPr>
      </p:pic>
      <p:sp>
        <p:nvSpPr>
          <p:cNvPr id="21" name="TextBox 20"/>
          <p:cNvSpPr txBox="1"/>
          <p:nvPr/>
        </p:nvSpPr>
        <p:spPr>
          <a:xfrm>
            <a:off x="6686550" y="4165997"/>
            <a:ext cx="4924425" cy="590550"/>
          </a:xfrm>
          <a:prstGeom prst="rect">
            <a:avLst/>
          </a:prstGeom>
          <a:noFill/>
        </p:spPr>
        <p:txBody>
          <a:bodyPr wrap="square" anchor="t" lIns="0" rIns="0" tIns="0" bIns="0">
            <a:noAutofit/>
          </a:bodyPr>
          <a:lstStyle/>
          <a:p>
            <a:pPr algn="l">
              <a:lnSpc>
                <a:spcPts val="2137"/>
              </a:lnSpc>
              <a:spcBef>
                <a:spcPts val="0"/>
              </a:spcBef>
              <a:spcAft>
                <a:spcPts val="0"/>
              </a:spcAft>
            </a:pPr>
            <a:r>
              <a:rPr sz="1425" b="1">
                <a:solidFill>
                  <a:srgbClr val="0B2A4A"/>
                </a:solidFill>
                <a:latin typeface="맑은 고딕"/>
                <a:ea typeface="맑은 고딕"/>
                <a:cs typeface="맑은 고딕"/>
              </a:rPr>
              <a:t>본 설문은 </a:t>
            </a:r>
            <a:r>
              <a:rPr sz="1425" b="1">
                <a:solidFill>
                  <a:srgbClr val="16181D"/>
                </a:solidFill>
                <a:latin typeface="맑은 고딕"/>
                <a:ea typeface="맑은 고딕"/>
                <a:cs typeface="맑은 고딕"/>
              </a:rPr>
              <a:t>통계법 33조(비밀의 보호)</a:t>
            </a:r>
            <a:r>
              <a:rPr sz="1425" b="1">
                <a:solidFill>
                  <a:srgbClr val="0B2A4A"/>
                </a:solidFill>
                <a:latin typeface="맑은 고딕"/>
                <a:ea typeface="맑은 고딕"/>
                <a:cs typeface="맑은 고딕"/>
              </a:rPr>
              <a:t>에 따라 개인정보는 통계 목적으로만 사용·보호됩니다.</a:t>
            </a:r>
          </a:p>
        </p:txBody>
      </p:sp>
      <p:sp>
        <p:nvSpPr>
          <p:cNvPr id="22" name="Rounded Rectangle 21"/>
          <p:cNvSpPr/>
          <p:nvPr/>
        </p:nvSpPr>
        <p:spPr>
          <a:xfrm>
            <a:off x="6219825" y="5070872"/>
            <a:ext cx="5534025" cy="1496913"/>
          </a:xfrm>
          <a:prstGeom prst="roundRect">
            <a:avLst>
              <a:gd name="adj" fmla="val 7635"/>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362700" y="5114687"/>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24" name="TextBox 23"/>
          <p:cNvSpPr txBox="1"/>
          <p:nvPr/>
        </p:nvSpPr>
        <p:spPr>
          <a:xfrm>
            <a:off x="6362700" y="5424249"/>
            <a:ext cx="2130981" cy="283845"/>
          </a:xfrm>
          <a:prstGeom prst="rect">
            <a:avLst/>
          </a:prstGeom>
          <a:noFill/>
        </p:spPr>
        <p:txBody>
          <a:bodyPr wrap="none" anchor="ctr" lIns="0" rIns="0" tIns="0" bIns="0">
            <a:noAutofit/>
          </a:bodyPr>
          <a:lstStyle/>
          <a:p>
            <a:pPr algn="l">
              <a:lnSpc>
                <a:spcPts val="1575"/>
              </a:lnSpc>
              <a:spcBef>
                <a:spcPts val="0"/>
              </a:spcBef>
              <a:spcAft>
                <a:spcPts val="0"/>
              </a:spcAft>
            </a:pPr>
            <a:r>
              <a:rPr sz="1050" b="1" spc="126">
                <a:solidFill>
                  <a:srgbClr val="0A9EE0"/>
                </a:solidFill>
                <a:latin typeface="Arial"/>
                <a:ea typeface="맑은 고딕"/>
                <a:cs typeface="맑은 고딕"/>
              </a:rPr>
              <a:t>RESEARCHER</a:t>
            </a:r>
          </a:p>
        </p:txBody>
      </p:sp>
      <p:sp>
        <p:nvSpPr>
          <p:cNvPr id="25" name="TextBox 24"/>
          <p:cNvSpPr txBox="1"/>
          <p:nvPr/>
        </p:nvSpPr>
        <p:spPr>
          <a:xfrm>
            <a:off x="6362700" y="5661422"/>
            <a:ext cx="1874758"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연구책임자</a:t>
            </a:r>
          </a:p>
        </p:txBody>
      </p:sp>
      <p:sp>
        <p:nvSpPr>
          <p:cNvPr id="26" name="TextBox 25"/>
          <p:cNvSpPr txBox="1"/>
          <p:nvPr/>
        </p:nvSpPr>
        <p:spPr>
          <a:xfrm>
            <a:off x="6362700" y="6023372"/>
            <a:ext cx="5248275" cy="458688"/>
          </a:xfrm>
          <a:prstGeom prst="rect">
            <a:avLst/>
          </a:prstGeom>
          <a:noFill/>
        </p:spPr>
        <p:txBody>
          <a:bodyPr wrap="square" anchor="t" lIns="0" rIns="0" tIns="0" bIns="0">
            <a:noAutofit/>
          </a:bodyPr>
          <a:lstStyle/>
          <a:p>
            <a:pPr algn="l">
              <a:lnSpc>
                <a:spcPts val="1655"/>
              </a:lnSpc>
              <a:spcBef>
                <a:spcPts val="0"/>
              </a:spcBef>
              <a:spcAft>
                <a:spcPts val="0"/>
              </a:spcAft>
            </a:pPr>
            <a:r>
              <a:rPr sz="1200" b="0">
                <a:solidFill>
                  <a:srgbClr val="3D4450"/>
                </a:solidFill>
                <a:latin typeface="맑은 고딕"/>
                <a:ea typeface="맑은 고딕"/>
                <a:cs typeface="맑은 고딕"/>
              </a:rPr>
              <a:t>동아방송예술대학교 김성길 교수</a:t>
            </a:r>
            <a:r>
              <a:rPr sz="1200" b="0">
                <a:solidFill>
                  <a:srgbClr val="3D4450"/>
                </a:solidFill>
                <a:latin typeface="맑은 고딕"/>
                <a:ea typeface="맑은 고딕"/>
                <a:cs typeface="맑은 고딕"/>
              </a:rPr>
              <a:t/>
            </a:r>
          </a:p>
          <a:p>
            <a:pPr algn="l">
              <a:lnSpc>
                <a:spcPts val="1655"/>
              </a:lnSpc>
              <a:spcBef>
                <a:spcPts val="0"/>
              </a:spcBef>
              <a:spcAft>
                <a:spcPts val="0"/>
              </a:spcAft>
            </a:pPr>
            <a:r>
              <a:rPr sz="1200" b="0">
                <a:solidFill>
                  <a:srgbClr val="3D4450"/>
                </a:solidFill>
                <a:latin typeface="맑은 고딕"/>
                <a:ea typeface="맑은 고딕"/>
                <a:cs typeface="맑은 고딕"/>
              </a:rPr>
              <a:t/>
            </a:r>
            <a:r>
              <a:rPr sz="1200" b="0">
                <a:solidFill>
                  <a:srgbClr val="3D4450"/>
                </a:solidFill>
                <a:latin typeface="맑은 고딕"/>
                <a:ea typeface="맑은 고딕"/>
                <a:cs typeface="맑은 고딕"/>
              </a:rPr>
              <a:t>careerdima@gmail.com</a:t>
            </a:r>
          </a:p>
        </p:txBody>
      </p:sp>
      <p:sp>
        <p:nvSpPr>
          <p:cNvPr id="27" name="TextBox 26"/>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5</a:t>
            </a:r>
          </a:p>
        </p:txBody>
      </p:sp>
      <p:sp>
        <p:nvSpPr>
          <p:cNvPr id="6" name="TextBox 5"/>
          <p:cNvSpPr txBox="1"/>
          <p:nvPr/>
        </p:nvSpPr>
        <p:spPr>
          <a:xfrm>
            <a:off x="728662" y="112395"/>
            <a:ext cx="3462576"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창업 인식도 조사</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175147"/>
            <a:ext cx="11315700" cy="5667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741884"/>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122283"/>
            <a:ext cx="3597593" cy="591502"/>
          </a:xfrm>
          <a:prstGeom prst="rect">
            <a:avLst/>
          </a:prstGeom>
          <a:noFill/>
        </p:spPr>
        <p:txBody>
          <a:bodyPr wrap="none" anchor="ctr" lIns="0" rIns="0" tIns="0" bIns="0">
            <a:noAutofit/>
          </a:bodyPr>
          <a:lstStyle/>
          <a:p>
            <a:pPr algn="l">
              <a:lnSpc>
                <a:spcPts val="3712"/>
              </a:lnSpc>
              <a:spcBef>
                <a:spcPts val="0"/>
              </a:spcBef>
              <a:spcAft>
                <a:spcPts val="0"/>
              </a:spcAft>
            </a:pPr>
            <a:r>
              <a:rPr sz="2475" b="1" spc="-50">
                <a:solidFill>
                  <a:srgbClr val="16181D"/>
                </a:solidFill>
                <a:latin typeface="맑은 고딕"/>
                <a:ea typeface="맑은 고딕"/>
                <a:cs typeface="맑은 고딕"/>
              </a:rPr>
              <a:t>설문 방법 안내</a:t>
            </a:r>
          </a:p>
        </p:txBody>
      </p:sp>
      <p:sp>
        <p:nvSpPr>
          <p:cNvPr id="12" name="TextBox 11"/>
          <p:cNvSpPr txBox="1"/>
          <p:nvPr/>
        </p:nvSpPr>
        <p:spPr>
          <a:xfrm>
            <a:off x="209550" y="2101691"/>
            <a:ext cx="628650" cy="291465"/>
          </a:xfrm>
          <a:prstGeom prst="rect">
            <a:avLst/>
          </a:prstGeom>
          <a:noFill/>
        </p:spPr>
        <p:txBody>
          <a:bodyPr wrap="none" lIns="0" rIns="0" tIns="0" bIns="0" anchor="ctr">
            <a:noAutofit/>
          </a:bodyPr>
          <a:lstStyle/>
          <a:p>
            <a:pPr algn="ctr">
              <a:lnSpc>
                <a:spcPts val="1620"/>
              </a:lnSpc>
            </a:pPr>
            <a:r>
              <a:rPr sz="1350" b="1">
                <a:solidFill>
                  <a:srgbClr val="0070C0"/>
                </a:solidFill>
                <a:latin typeface="맑은 고딕"/>
                <a:ea typeface="맑은 고딕"/>
                <a:cs typeface="맑은 고딕"/>
              </a:rPr>
              <a:t>✓</a:t>
            </a:r>
          </a:p>
        </p:txBody>
      </p:sp>
      <p:sp>
        <p:nvSpPr>
          <p:cNvPr id="13" name="TextBox 12"/>
          <p:cNvSpPr txBox="1"/>
          <p:nvPr/>
        </p:nvSpPr>
        <p:spPr>
          <a:xfrm>
            <a:off x="714375" y="2085022"/>
            <a:ext cx="13088303" cy="397192"/>
          </a:xfrm>
          <a:prstGeom prst="rect">
            <a:avLst/>
          </a:prstGeom>
          <a:noFill/>
        </p:spPr>
        <p:txBody>
          <a:bodyPr wrap="none" anchor="ctr" lIns="0" rIns="0" tIns="0" bIns="0">
            <a:noAutofit/>
          </a:bodyPr>
          <a:lstStyle/>
          <a:p>
            <a:pPr algn="l">
              <a:lnSpc>
                <a:spcPts val="2283"/>
              </a:lnSpc>
              <a:spcBef>
                <a:spcPts val="0"/>
              </a:spcBef>
              <a:spcAft>
                <a:spcPts val="0"/>
              </a:spcAft>
            </a:pPr>
            <a:r>
              <a:rPr sz="1575" b="0">
                <a:solidFill>
                  <a:srgbClr val="3D4450"/>
                </a:solidFill>
                <a:latin typeface="맑은 고딕"/>
                <a:ea typeface="맑은 고딕"/>
                <a:cs typeface="맑은 고딕"/>
              </a:rPr>
              <a:t>구글 설문지 링크 주소는 </a:t>
            </a:r>
            <a:r>
              <a:rPr sz="1575" b="1">
                <a:solidFill>
                  <a:srgbClr val="16181D"/>
                </a:solidFill>
                <a:latin typeface="맑은 고딕"/>
                <a:ea typeface="맑은 고딕"/>
                <a:cs typeface="맑은 고딕"/>
              </a:rPr>
              <a:t>‘LMS 과제방 / 강의 공지’</a:t>
            </a:r>
            <a:r>
              <a:rPr sz="1575" b="0">
                <a:solidFill>
                  <a:srgbClr val="3D4450"/>
                </a:solidFill>
                <a:latin typeface="맑은 고딕"/>
                <a:ea typeface="맑은 고딕"/>
                <a:cs typeface="맑은 고딕"/>
              </a:rPr>
              <a:t> 혹은 </a:t>
            </a:r>
            <a:r>
              <a:rPr sz="1575" b="1">
                <a:solidFill>
                  <a:srgbClr val="16181D"/>
                </a:solidFill>
                <a:latin typeface="맑은 고딕"/>
                <a:ea typeface="맑은 고딕"/>
                <a:cs typeface="맑은 고딕"/>
              </a:rPr>
              <a:t>‘과제’</a:t>
            </a:r>
            <a:r>
              <a:rPr sz="1575" b="0">
                <a:solidFill>
                  <a:srgbClr val="3D4450"/>
                </a:solidFill>
                <a:latin typeface="맑은 고딕"/>
                <a:ea typeface="맑은 고딕"/>
                <a:cs typeface="맑은 고딕"/>
              </a:rPr>
              <a:t>에 게시 (OT 종결 후 업로드)</a:t>
            </a:r>
          </a:p>
        </p:txBody>
      </p:sp>
      <p:sp>
        <p:nvSpPr>
          <p:cNvPr id="14" name="Rounded Rectangle 13"/>
          <p:cNvSpPr/>
          <p:nvPr/>
        </p:nvSpPr>
        <p:spPr>
          <a:xfrm>
            <a:off x="438150" y="2559248"/>
            <a:ext cx="11315700" cy="795338"/>
          </a:xfrm>
          <a:prstGeom prst="roundRect">
            <a:avLst>
              <a:gd name="adj" fmla="val 11976"/>
            </a:avLst>
          </a:prstGeom>
          <a:solidFill>
            <a:srgbClr val="EDF4FC"/>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19125" y="2743557"/>
            <a:ext cx="838200" cy="445770"/>
          </a:xfrm>
          <a:prstGeom prst="rect">
            <a:avLst/>
          </a:prstGeom>
          <a:noFill/>
        </p:spPr>
        <p:txBody>
          <a:bodyPr wrap="none" anchor="ctr" lIns="0" rIns="0" tIns="0" bIns="0">
            <a:noAutofit/>
          </a:bodyPr>
          <a:lstStyle/>
          <a:p>
            <a:pPr algn="l">
              <a:lnSpc>
                <a:spcPts val="2700"/>
              </a:lnSpc>
              <a:spcBef>
                <a:spcPts val="0"/>
              </a:spcBef>
              <a:spcAft>
                <a:spcPts val="0"/>
              </a:spcAft>
            </a:pPr>
            <a:r>
              <a:rPr sz="1800" b="0">
                <a:solidFill>
                  <a:srgbClr val="0000EE"/>
                </a:solidFill>
                <a:latin typeface="맑은 고딕"/>
                <a:ea typeface="맑은 고딕"/>
                <a:cs typeface="맑은 고딕"/>
              </a:rPr>
              <a:t>🔗</a:t>
            </a:r>
          </a:p>
        </p:txBody>
      </p:sp>
      <p:sp>
        <p:nvSpPr>
          <p:cNvPr id="16" name="TextBox 15"/>
          <p:cNvSpPr txBox="1"/>
          <p:nvPr/>
        </p:nvSpPr>
        <p:spPr>
          <a:xfrm>
            <a:off x="1019175" y="2644973"/>
            <a:ext cx="5359956" cy="381000"/>
          </a:xfrm>
          <a:prstGeom prst="rect">
            <a:avLst/>
          </a:prstGeom>
          <a:noFill/>
        </p:spPr>
        <p:txBody>
          <a:bodyPr wrap="none" anchor="ctr" lIns="0" rIns="0" tIns="0" bIns="0">
            <a:noAutofit/>
          </a:bodyPr>
          <a:lstStyle/>
          <a:p>
            <a:pPr algn="l">
              <a:lnSpc>
                <a:spcPts val="2250"/>
              </a:lnSpc>
              <a:spcBef>
                <a:spcPts val="0"/>
              </a:spcBef>
              <a:spcAft>
                <a:spcPts val="0"/>
              </a:spcAft>
            </a:pPr>
            <a:r>
              <a:rPr sz="1500" b="1">
                <a:solidFill>
                  <a:srgbClr val="0B2A4A"/>
                </a:solidFill>
                <a:latin typeface="맑은 고딕"/>
                <a:ea typeface="맑은 고딕"/>
                <a:cs typeface="맑은 고딕"/>
              </a:rPr>
              <a:t>Y3반 창업교육 영향조사 구글 설문지</a:t>
            </a:r>
          </a:p>
        </p:txBody>
      </p:sp>
      <p:sp>
        <p:nvSpPr>
          <p:cNvPr id="17" name="TextBox 16"/>
          <p:cNvSpPr txBox="1"/>
          <p:nvPr/>
        </p:nvSpPr>
        <p:spPr>
          <a:xfrm>
            <a:off x="1019175" y="2950250"/>
            <a:ext cx="5241846" cy="332422"/>
          </a:xfrm>
          <a:prstGeom prst="rect">
            <a:avLst/>
          </a:prstGeom>
          <a:noFill/>
        </p:spPr>
        <p:txBody>
          <a:bodyPr wrap="none" anchor="ctr" lIns="0" rIns="0" tIns="0" bIns="0">
            <a:noAutofit/>
          </a:bodyPr>
          <a:lstStyle/>
          <a:p>
            <a:pPr algn="l">
              <a:lnSpc>
                <a:spcPts val="1912"/>
              </a:lnSpc>
              <a:spcBef>
                <a:spcPts val="0"/>
              </a:spcBef>
              <a:spcAft>
                <a:spcPts val="0"/>
              </a:spcAft>
            </a:pPr>
            <a:r>
              <a:rPr sz="1275" b="1">
                <a:solidFill>
                  <a:srgbClr val="0057A0"/>
                </a:solidFill>
                <a:latin typeface="Arial"/>
                <a:ea typeface="맑은 고딕"/>
                <a:cs typeface="맑은 고딕"/>
              </a:rPr>
              <a:t>https://forms.gle/XAnbLVxeTSdJBVdK7</a:t>
            </a:r>
          </a:p>
        </p:txBody>
      </p:sp>
      <p:sp>
        <p:nvSpPr>
          <p:cNvPr id="18" name="TextBox 17"/>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6</a:t>
            </a:r>
          </a:p>
        </p:txBody>
      </p:sp>
      <p:sp>
        <p:nvSpPr>
          <p:cNvPr id="17" name="TextBox 16"/>
          <p:cNvSpPr txBox="1"/>
          <p:nvPr/>
        </p:nvSpPr>
        <p:spPr>
          <a:xfrm>
            <a:off x="2176939" y="1345228"/>
            <a:ext cx="7838123" cy="1158240"/>
          </a:xfrm>
          <a:prstGeom prst="rect">
            <a:avLst/>
          </a:prstGeom>
          <a:noFill/>
        </p:spPr>
        <p:txBody>
          <a:bodyPr wrap="none" anchor="ctr" lIns="0" rIns="0" tIns="0" bIns="0">
            <a:noAutofit/>
          </a:bodyPr>
          <a:lstStyle/>
          <a:p>
            <a:pPr algn="ctr">
              <a:lnSpc>
                <a:spcPts val="7650"/>
              </a:lnSpc>
              <a:spcBef>
                <a:spcPts val="0"/>
              </a:spcBef>
              <a:spcAft>
                <a:spcPts val="0"/>
              </a:spcAft>
            </a:pPr>
            <a:r>
              <a:rPr sz="5100" b="1" spc="-204">
                <a:solidFill>
                  <a:srgbClr val="FFFFFF"/>
                </a:solidFill>
                <a:latin typeface="맑은 고딕"/>
                <a:ea typeface="맑은 고딕"/>
                <a:cs typeface="맑은 고딕"/>
              </a:rPr>
              <a:t>진로 준비도 검사</a:t>
            </a:r>
          </a:p>
        </p:txBody>
      </p:sp>
      <p:sp>
        <p:nvSpPr>
          <p:cNvPr id="18" name="TextBox 17"/>
          <p:cNvSpPr txBox="1"/>
          <p:nvPr/>
        </p:nvSpPr>
        <p:spPr>
          <a:xfrm>
            <a:off x="1577147" y="4338548"/>
            <a:ext cx="9037558" cy="445770"/>
          </a:xfrm>
          <a:prstGeom prst="rect">
            <a:avLst/>
          </a:prstGeom>
          <a:noFill/>
        </p:spPr>
        <p:txBody>
          <a:bodyPr wrap="none" anchor="ctr" lIns="0" rIns="0" tIns="0" bIns="0">
            <a:noAutofit/>
          </a:bodyPr>
          <a:lstStyle/>
          <a:p>
            <a:pPr algn="ctr">
              <a:lnSpc>
                <a:spcPts val="2700"/>
              </a:lnSpc>
              <a:spcBef>
                <a:spcPts val="0"/>
              </a:spcBef>
              <a:spcAft>
                <a:spcPts val="0"/>
              </a:spcAft>
            </a:pPr>
            <a:r>
              <a:rPr sz="1800" b="1">
                <a:solidFill>
                  <a:srgbClr val="3D4450"/>
                </a:solidFill>
                <a:latin typeface="맑은 고딕"/>
                <a:ea typeface="맑은 고딕"/>
                <a:cs typeface="맑은 고딕"/>
              </a:rPr>
              <a:t>효과적인 진로 및 취업선택을 지원하고자 개발된 검사</a:t>
            </a:r>
          </a:p>
        </p:txBody>
      </p:sp>
      <p:sp>
        <p:nvSpPr>
          <p:cNvPr id="19" name="TextBox 18"/>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0" name="Oval 19"/>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6</a:t>
            </a:r>
          </a:p>
        </p:txBody>
      </p:sp>
      <p:sp>
        <p:nvSpPr>
          <p:cNvPr id="6" name="TextBox 5"/>
          <p:cNvSpPr txBox="1"/>
          <p:nvPr/>
        </p:nvSpPr>
        <p:spPr>
          <a:xfrm>
            <a:off x="728662" y="112395"/>
            <a:ext cx="335137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진로준비도 검사</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4088844"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진로준비도 검사란?</a:t>
            </a:r>
          </a:p>
        </p:txBody>
      </p:sp>
      <p:sp>
        <p:nvSpPr>
          <p:cNvPr id="12" name="Rounded Rectangle 11"/>
          <p:cNvSpPr/>
          <p:nvPr/>
        </p:nvSpPr>
        <p:spPr>
          <a:xfrm>
            <a:off x="438150" y="2071390"/>
            <a:ext cx="11315700" cy="771525"/>
          </a:xfrm>
          <a:prstGeom prst="roundRect">
            <a:avLst>
              <a:gd name="adj" fmla="val 9876"/>
            </a:avLst>
          </a:prstGeom>
          <a:solidFill>
            <a:srgbClr val="FFFFF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04838" y="2204740"/>
            <a:ext cx="219075" cy="219075"/>
          </a:xfrm>
          <a:prstGeom prst="rect">
            <a:avLst/>
          </a:prstGeom>
        </p:spPr>
      </p:pic>
      <p:sp>
        <p:nvSpPr>
          <p:cNvPr id="14" name="TextBox 13"/>
          <p:cNvSpPr txBox="1"/>
          <p:nvPr/>
        </p:nvSpPr>
        <p:spPr>
          <a:xfrm>
            <a:off x="904875" y="2195215"/>
            <a:ext cx="10706100" cy="590550"/>
          </a:xfrm>
          <a:prstGeom prst="rect">
            <a:avLst/>
          </a:prstGeom>
          <a:noFill/>
        </p:spPr>
        <p:txBody>
          <a:bodyPr wrap="square" anchor="t" lIns="0" rIns="0" tIns="0" bIns="0">
            <a:noAutofit/>
          </a:bodyPr>
          <a:lstStyle/>
          <a:p>
            <a:pPr algn="l">
              <a:lnSpc>
                <a:spcPts val="2137"/>
              </a:lnSpc>
              <a:spcBef>
                <a:spcPts val="0"/>
              </a:spcBef>
              <a:spcAft>
                <a:spcPts val="0"/>
              </a:spcAft>
            </a:pPr>
            <a:r>
              <a:rPr sz="1425" b="1">
                <a:solidFill>
                  <a:srgbClr val="16181D"/>
                </a:solidFill>
                <a:latin typeface="맑은 고딕"/>
                <a:ea typeface="맑은 고딕"/>
                <a:cs typeface="맑은 고딕"/>
              </a:rPr>
              <a:t>대학생 및 취업을 준비하는 대졸 청년층 구직자들을 대상으로 하며, 진로발달수준과 취업준비 행동 수준에 대한 객관적인 정보를 바탕으로 효과적인 진로 및 취업선택을 지원하고자 개발된 검사입니다.</a:t>
            </a:r>
          </a:p>
        </p:txBody>
      </p:sp>
      <p:graphicFrame>
        <p:nvGraphicFramePr>
          <p:cNvPr id="15" name="Table 14"/>
          <p:cNvGraphicFramePr>
            <a:graphicFrameLocks noGrp="1"/>
          </p:cNvGraphicFramePr>
          <p:nvPr/>
        </p:nvGraphicFramePr>
        <p:xfrm>
          <a:off x="438150" y="3119140"/>
          <a:ext cx="11306175" cy="2343150"/>
        </p:xfrm>
        <a:graphic>
          <a:graphicData uri="http://schemas.openxmlformats.org/drawingml/2006/table">
            <a:tbl>
              <a:tblPr>
                <a:tableStyleId>{5C22544A-7EE6-4342-B048-85BDC9FD1C3A}</a:tableStyleId>
              </a:tblPr>
              <a:tblGrid>
                <a:gridCol w="1697385"/>
                <a:gridCol w="9608790"/>
              </a:tblGrid>
              <a:tr h="390525">
                <a:tc>
                  <a:txBody>
                    <a:bodyPr wrap="square"/>
                    <a:lstStyle/>
                    <a:p>
                      <a:pPr algn="ctr">
                        <a:lnSpc>
                          <a:spcPts val="1560"/>
                        </a:lnSpc>
                      </a:pPr>
                      <a:r>
                        <a:rPr sz="1200" b="1">
                          <a:solidFill>
                            <a:srgbClr val="0B2A4A"/>
                          </a:solidFill>
                          <a:latin typeface="맑은 고딕"/>
                          <a:ea typeface="맑은 고딕"/>
                          <a:cs typeface="맑은 고딕"/>
                        </a:rPr>
                        <a:t>구분</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ctr">
                        <a:lnSpc>
                          <a:spcPts val="1560"/>
                        </a:lnSpc>
                      </a:pPr>
                      <a:r>
                        <a:rPr sz="1200" b="1">
                          <a:solidFill>
                            <a:srgbClr val="0B2A4A"/>
                          </a:solidFill>
                          <a:latin typeface="맑은 고딕"/>
                          <a:ea typeface="맑은 고딕"/>
                          <a:cs typeface="맑은 고딕"/>
                        </a:rPr>
                        <a:t>내용</a:t>
                      </a:r>
                    </a:p>
                  </a:txBody>
                  <a:tcPr marL="95250" marR="95250" marT="28575" marB="28575" anchor="ctr">
                    <a:solidFill>
                      <a:srgbClr val="DCE9F8"/>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390525">
                <a:tc>
                  <a:txBody>
                    <a:bodyPr wrap="square"/>
                    <a:lstStyle/>
                    <a:p>
                      <a:pPr algn="ctr">
                        <a:lnSpc>
                          <a:spcPts val="1560"/>
                        </a:lnSpc>
                      </a:pPr>
                      <a:r>
                        <a:rPr sz="1200" b="0">
                          <a:solidFill>
                            <a:srgbClr val="16181D"/>
                          </a:solidFill>
                          <a:latin typeface="맑은 고딕"/>
                          <a:ea typeface="맑은 고딕"/>
                          <a:cs typeface="맑은 고딕"/>
                        </a:rPr>
                        <a:t>검사 시간</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560"/>
                        </a:lnSpc>
                      </a:pPr>
                      <a:r>
                        <a:rPr sz="1200" b="0">
                          <a:solidFill>
                            <a:srgbClr val="16181D"/>
                          </a:solidFill>
                          <a:latin typeface="맑은 고딕"/>
                          <a:ea typeface="맑은 고딕"/>
                          <a:cs typeface="맑은 고딕"/>
                        </a:rPr>
                        <a:t>약 20분 소요 (시간제한 없음)</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390525">
                <a:tc>
                  <a:txBody>
                    <a:bodyPr wrap="square"/>
                    <a:lstStyle/>
                    <a:p>
                      <a:pPr algn="ctr">
                        <a:lnSpc>
                          <a:spcPts val="1560"/>
                        </a:lnSpc>
                      </a:pPr>
                      <a:r>
                        <a:rPr sz="1200" b="0">
                          <a:solidFill>
                            <a:srgbClr val="16181D"/>
                          </a:solidFill>
                          <a:latin typeface="맑은 고딕"/>
                          <a:ea typeface="맑은 고딕"/>
                          <a:cs typeface="맑은 고딕"/>
                        </a:rPr>
                        <a:t>주요 내용</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560"/>
                        </a:lnSpc>
                      </a:pPr>
                      <a:r>
                        <a:rPr sz="1200" b="0">
                          <a:solidFill>
                            <a:srgbClr val="16181D"/>
                          </a:solidFill>
                          <a:latin typeface="맑은 고딕"/>
                          <a:ea typeface="맑은 고딕"/>
                          <a:cs typeface="맑은 고딕"/>
                        </a:rPr>
                        <a:t>진로 및 취업선택 지원을 위한 진로발달수준 및 취업준비행동 수준 측정</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390525">
                <a:tc>
                  <a:txBody>
                    <a:bodyPr wrap="square"/>
                    <a:lstStyle/>
                    <a:p>
                      <a:pPr algn="ctr">
                        <a:lnSpc>
                          <a:spcPts val="1560"/>
                        </a:lnSpc>
                      </a:pPr>
                      <a:r>
                        <a:rPr sz="1200" b="0">
                          <a:solidFill>
                            <a:srgbClr val="16181D"/>
                          </a:solidFill>
                          <a:latin typeface="맑은 고딕"/>
                          <a:ea typeface="맑은 고딕"/>
                          <a:cs typeface="맑은 고딕"/>
                        </a:rPr>
                        <a:t>검사 구성</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560"/>
                        </a:lnSpc>
                      </a:pPr>
                      <a:r>
                        <a:rPr sz="1200" b="0">
                          <a:solidFill>
                            <a:srgbClr val="16181D"/>
                          </a:solidFill>
                          <a:latin typeface="맑은 고딕"/>
                          <a:ea typeface="맑은 고딕"/>
                          <a:cs typeface="맑은 고딕"/>
                        </a:rPr>
                        <a:t>1부와 2부로 구성</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390525">
                <a:tc>
                  <a:txBody>
                    <a:bodyPr wrap="square"/>
                    <a:lstStyle/>
                    <a:p>
                      <a:pPr algn="ctr">
                        <a:lnSpc>
                          <a:spcPts val="1560"/>
                        </a:lnSpc>
                      </a:pPr>
                      <a:r>
                        <a:rPr sz="1200" b="0">
                          <a:solidFill>
                            <a:srgbClr val="16181D"/>
                          </a:solidFill>
                          <a:latin typeface="맑은 고딕"/>
                          <a:ea typeface="맑은 고딕"/>
                          <a:cs typeface="맑은 고딕"/>
                        </a:rPr>
                        <a:t>응답 요령</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560"/>
                        </a:lnSpc>
                      </a:pPr>
                      <a:r>
                        <a:rPr sz="1200" b="0">
                          <a:solidFill>
                            <a:srgbClr val="16181D"/>
                          </a:solidFill>
                          <a:latin typeface="맑은 고딕"/>
                          <a:ea typeface="맑은 고딕"/>
                          <a:cs typeface="맑은 고딕"/>
                        </a:rPr>
                        <a:t>문항을 읽고 평소의 생각이나 행동대로 솔직하고 성실하게 응답</a:t>
                      </a:r>
                    </a:p>
                  </a:txBody>
                  <a:tcPr marL="95250" marR="95250" marT="28575" marB="28575" anchor="ctr">
                    <a:solidFill>
                      <a:srgbClr val="F6F9FD"/>
                    </a:solid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r h="390525">
                <a:tc>
                  <a:txBody>
                    <a:bodyPr wrap="square"/>
                    <a:lstStyle/>
                    <a:p>
                      <a:pPr algn="ctr">
                        <a:lnSpc>
                          <a:spcPts val="1560"/>
                        </a:lnSpc>
                      </a:pPr>
                      <a:r>
                        <a:rPr sz="1200" b="0">
                          <a:solidFill>
                            <a:srgbClr val="16181D"/>
                          </a:solidFill>
                          <a:latin typeface="맑은 고딕"/>
                          <a:ea typeface="맑은 고딕"/>
                          <a:cs typeface="맑은 고딕"/>
                        </a:rPr>
                        <a:t>제출 방법</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c>
                  <a:txBody>
                    <a:bodyPr wrap="square"/>
                    <a:lstStyle/>
                    <a:p>
                      <a:pPr algn="l">
                        <a:lnSpc>
                          <a:spcPts val="1560"/>
                        </a:lnSpc>
                      </a:pPr>
                      <a:r>
                        <a:rPr sz="1200" b="0">
                          <a:solidFill>
                            <a:srgbClr val="16181D"/>
                          </a:solidFill>
                          <a:latin typeface="맑은 고딕"/>
                          <a:ea typeface="맑은 고딕"/>
                          <a:cs typeface="맑은 고딕"/>
                        </a:rPr>
                        <a:t>검사 완료 후 결과 캡처하여 </a:t>
                      </a:r>
                      <a:r>
                        <a:rPr sz="1200" b="1">
                          <a:solidFill>
                            <a:srgbClr val="16181D"/>
                          </a:solidFill>
                          <a:latin typeface="맑은 고딕"/>
                          <a:ea typeface="맑은 고딕"/>
                          <a:cs typeface="맑은 고딕"/>
                        </a:rPr>
                        <a:t>LMS 과제방에 제출</a:t>
                      </a:r>
                    </a:p>
                  </a:txBody>
                  <a:tcPr marL="95250" marR="95250" marT="28575" marB="28575" anchor="ctr">
                    <a:noFill/>
                    <a:lnL w="9525" cap="flat" cmpd="sng" algn="ctr">
                      <a:solidFill>
                        <a:srgbClr val="9DC3E6"/>
                      </a:solidFill>
                    </a:lnL>
                    <a:lnR w="9525" cap="flat" cmpd="sng" algn="ctr">
                      <a:solidFill>
                        <a:srgbClr val="9DC3E6"/>
                      </a:solidFill>
                    </a:lnR>
                    <a:lnT w="9525" cap="flat" cmpd="sng" algn="ctr">
                      <a:solidFill>
                        <a:srgbClr val="9DC3E6"/>
                      </a:solidFill>
                    </a:lnT>
                    <a:lnB w="9525" cap="flat" cmpd="sng" algn="ctr">
                      <a:solidFill>
                        <a:srgbClr val="9DC3E6"/>
                      </a:solidFill>
                    </a:lnB>
                  </a:tcPr>
                </a:tc>
              </a:tr>
            </a:tbl>
          </a:graphicData>
        </a:graphic>
      </p:graphicFrame>
      <p:sp>
        <p:nvSpPr>
          <p:cNvPr id="16" name="TextBox 15"/>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6</a:t>
            </a:r>
          </a:p>
        </p:txBody>
      </p:sp>
      <p:sp>
        <p:nvSpPr>
          <p:cNvPr id="6" name="TextBox 5"/>
          <p:cNvSpPr txBox="1"/>
          <p:nvPr/>
        </p:nvSpPr>
        <p:spPr>
          <a:xfrm>
            <a:off x="728662" y="112395"/>
            <a:ext cx="335137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진로준비도 검사</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4617006"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검사는 어디서 하나요?</a:t>
            </a:r>
          </a:p>
        </p:txBody>
      </p:sp>
      <p:sp>
        <p:nvSpPr>
          <p:cNvPr id="12" name="Rounded Rectangle 11"/>
          <p:cNvSpPr/>
          <p:nvPr/>
        </p:nvSpPr>
        <p:spPr>
          <a:xfrm>
            <a:off x="438150" y="2608213"/>
            <a:ext cx="5534025" cy="518815"/>
          </a:xfrm>
          <a:prstGeom prst="roundRect">
            <a:avLst>
              <a:gd name="adj" fmla="val 16666"/>
            </a:avLst>
          </a:prstGeom>
          <a:solidFill>
            <a:srgbClr val="FFFFFF"/>
          </a:solidFill>
          <a:ln w="1729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Oval 12"/>
          <p:cNvSpPr/>
          <p:nvPr/>
        </p:nvSpPr>
        <p:spPr>
          <a:xfrm>
            <a:off x="576501" y="2711976"/>
            <a:ext cx="311289" cy="311289"/>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855" y="2740000"/>
            <a:ext cx="552450" cy="279295"/>
          </a:xfrm>
          <a:prstGeom prst="rect">
            <a:avLst/>
          </a:prstGeom>
          <a:noFill/>
        </p:spPr>
        <p:txBody>
          <a:bodyPr wrap="none" lIns="0" rIns="0" tIns="0" bIns="0" anchor="ctr">
            <a:noAutofit/>
          </a:bodyPr>
          <a:lstStyle/>
          <a:p>
            <a:pPr algn="ctr">
              <a:lnSpc>
                <a:spcPts val="1552"/>
              </a:lnSpc>
            </a:pPr>
            <a:r>
              <a:rPr sz="1293" b="1">
                <a:solidFill>
                  <a:srgbClr val="FFFFFF"/>
                </a:solidFill>
                <a:latin typeface="Arial"/>
                <a:ea typeface="맑은 고딕"/>
                <a:cs typeface="맑은 고딕"/>
              </a:rPr>
              <a:t>1</a:t>
            </a:r>
          </a:p>
        </p:txBody>
      </p:sp>
      <p:sp>
        <p:nvSpPr>
          <p:cNvPr id="15" name="TextBox 14"/>
          <p:cNvSpPr txBox="1"/>
          <p:nvPr/>
        </p:nvSpPr>
        <p:spPr>
          <a:xfrm>
            <a:off x="1008846" y="2625418"/>
            <a:ext cx="1662514" cy="308695"/>
          </a:xfrm>
          <a:prstGeom prst="rect">
            <a:avLst/>
          </a:prstGeom>
          <a:noFill/>
        </p:spPr>
        <p:txBody>
          <a:bodyPr wrap="none" lIns="0" rIns="0" tIns="0" bIns="0" anchor="ctr">
            <a:noAutofit/>
          </a:bodyPr>
          <a:lstStyle/>
          <a:p>
            <a:pPr algn="l">
              <a:lnSpc>
                <a:spcPts val="1715"/>
              </a:lnSpc>
            </a:pPr>
            <a:r>
              <a:rPr sz="1429" b="1">
                <a:solidFill>
                  <a:srgbClr val="0B2A4A"/>
                </a:solidFill>
                <a:latin typeface="맑은 고딕"/>
                <a:ea typeface="맑은 고딕"/>
                <a:cs typeface="맑은 고딕"/>
              </a:rPr>
              <a:t>고용24 접속</a:t>
            </a:r>
          </a:p>
        </p:txBody>
      </p:sp>
      <p:sp>
        <p:nvSpPr>
          <p:cNvPr id="16" name="TextBox 15"/>
          <p:cNvSpPr txBox="1"/>
          <p:nvPr/>
        </p:nvSpPr>
        <p:spPr>
          <a:xfrm>
            <a:off x="999321" y="2866685"/>
            <a:ext cx="1471854" cy="235196"/>
          </a:xfrm>
          <a:prstGeom prst="rect">
            <a:avLst/>
          </a:prstGeom>
          <a:noFill/>
        </p:spPr>
        <p:txBody>
          <a:bodyPr wrap="none" lIns="0" rIns="0" tIns="0" bIns="0" anchor="ctr">
            <a:noAutofit/>
          </a:bodyPr>
          <a:lstStyle/>
          <a:p>
            <a:pPr algn="l">
              <a:lnSpc>
                <a:spcPts val="1307"/>
              </a:lnSpc>
            </a:pPr>
            <a:r>
              <a:rPr sz="1089" b="1">
                <a:solidFill>
                  <a:srgbClr val="6B7280"/>
                </a:solidFill>
                <a:latin typeface="Arial"/>
                <a:ea typeface="맑은 고딕"/>
                <a:cs typeface="맑은 고딕"/>
              </a:rPr>
              <a:t>work24.go.kr</a:t>
            </a:r>
          </a:p>
        </p:txBody>
      </p:sp>
      <p:sp>
        <p:nvSpPr>
          <p:cNvPr id="17" name="Freeform 16"/>
          <p:cNvSpPr/>
          <p:nvPr/>
        </p:nvSpPr>
        <p:spPr>
          <a:xfrm>
            <a:off x="3135987" y="3144322"/>
            <a:ext cx="138351" cy="86469"/>
          </a:xfrm>
          <a:custGeom>
            <a:avLst/>
            <a:gdLst/>
            <a:ahLst/>
            <a:cxnLst/>
            <a:rect l="l" t="t" r="r" b="b"/>
            <a:pathLst>
              <a:path w="138351" h="86469">
                <a:moveTo>
                  <a:pt x="69175" y="0"/>
                </a:moveTo>
                <a:lnTo>
                  <a:pt x="0" y="0"/>
                </a:lnTo>
                <a:lnTo>
                  <a:pt x="69175" y="86469"/>
                </a:lnTo>
                <a:lnTo>
                  <a:pt x="138351" y="0"/>
                </a:lnTo>
                <a:close/>
              </a:path>
            </a:pathLst>
          </a:cu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8150" y="3248085"/>
            <a:ext cx="5534025" cy="518815"/>
          </a:xfrm>
          <a:prstGeom prst="roundRect">
            <a:avLst>
              <a:gd name="adj" fmla="val 16666"/>
            </a:avLst>
          </a:prstGeom>
          <a:solidFill>
            <a:srgbClr val="FFFFFF"/>
          </a:solidFill>
          <a:ln w="1729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Oval 18"/>
          <p:cNvSpPr/>
          <p:nvPr/>
        </p:nvSpPr>
        <p:spPr>
          <a:xfrm>
            <a:off x="576501" y="3351848"/>
            <a:ext cx="311289" cy="311289"/>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855" y="3379868"/>
            <a:ext cx="548580" cy="279295"/>
          </a:xfrm>
          <a:prstGeom prst="rect">
            <a:avLst/>
          </a:prstGeom>
          <a:noFill/>
        </p:spPr>
        <p:txBody>
          <a:bodyPr wrap="none" lIns="0" rIns="0" tIns="0" bIns="0" anchor="ctr">
            <a:noAutofit/>
          </a:bodyPr>
          <a:lstStyle/>
          <a:p>
            <a:pPr algn="ctr">
              <a:lnSpc>
                <a:spcPts val="1552"/>
              </a:lnSpc>
            </a:pPr>
            <a:r>
              <a:rPr sz="1293" b="1">
                <a:solidFill>
                  <a:srgbClr val="FFFFFF"/>
                </a:solidFill>
                <a:latin typeface="Arial"/>
                <a:ea typeface="맑은 고딕"/>
                <a:cs typeface="맑은 고딕"/>
              </a:rPr>
              <a:t>2</a:t>
            </a:r>
          </a:p>
        </p:txBody>
      </p:sp>
      <p:sp>
        <p:nvSpPr>
          <p:cNvPr id="21" name="TextBox 20"/>
          <p:cNvSpPr txBox="1"/>
          <p:nvPr/>
        </p:nvSpPr>
        <p:spPr>
          <a:xfrm>
            <a:off x="1008846" y="3265295"/>
            <a:ext cx="1233666" cy="308695"/>
          </a:xfrm>
          <a:prstGeom prst="rect">
            <a:avLst/>
          </a:prstGeom>
          <a:noFill/>
        </p:spPr>
        <p:txBody>
          <a:bodyPr wrap="none" lIns="0" rIns="0" tIns="0" bIns="0" anchor="ctr">
            <a:noAutofit/>
          </a:bodyPr>
          <a:lstStyle/>
          <a:p>
            <a:pPr algn="l">
              <a:lnSpc>
                <a:spcPts val="1715"/>
              </a:lnSpc>
            </a:pPr>
            <a:r>
              <a:rPr sz="1429" b="1">
                <a:solidFill>
                  <a:srgbClr val="0B2A4A"/>
                </a:solidFill>
                <a:latin typeface="맑은 고딕"/>
                <a:ea typeface="맑은 고딕"/>
                <a:cs typeface="맑은 고딕"/>
              </a:rPr>
              <a:t>취업지원</a:t>
            </a:r>
          </a:p>
        </p:txBody>
      </p:sp>
      <p:sp>
        <p:nvSpPr>
          <p:cNvPr id="22" name="TextBox 21"/>
          <p:cNvSpPr txBox="1"/>
          <p:nvPr/>
        </p:nvSpPr>
        <p:spPr>
          <a:xfrm>
            <a:off x="1008846" y="3506562"/>
            <a:ext cx="1048792" cy="235196"/>
          </a:xfrm>
          <a:prstGeom prst="rect">
            <a:avLst/>
          </a:prstGeom>
          <a:noFill/>
        </p:spPr>
        <p:txBody>
          <a:bodyPr wrap="none" lIns="0" rIns="0" tIns="0" bIns="0" anchor="ctr">
            <a:noAutofit/>
          </a:bodyPr>
          <a:lstStyle/>
          <a:p>
            <a:pPr algn="l">
              <a:lnSpc>
                <a:spcPts val="1307"/>
              </a:lnSpc>
            </a:pPr>
            <a:r>
              <a:rPr sz="1089" b="1">
                <a:solidFill>
                  <a:srgbClr val="6B7280"/>
                </a:solidFill>
                <a:latin typeface="맑은 고딕"/>
                <a:ea typeface="맑은 고딕"/>
                <a:cs typeface="맑은 고딕"/>
              </a:rPr>
              <a:t>상단 메뉴</a:t>
            </a:r>
          </a:p>
        </p:txBody>
      </p:sp>
      <p:sp>
        <p:nvSpPr>
          <p:cNvPr id="23" name="Freeform 22"/>
          <p:cNvSpPr/>
          <p:nvPr/>
        </p:nvSpPr>
        <p:spPr>
          <a:xfrm>
            <a:off x="3135987" y="3784193"/>
            <a:ext cx="138351" cy="86469"/>
          </a:xfrm>
          <a:custGeom>
            <a:avLst/>
            <a:gdLst/>
            <a:ahLst/>
            <a:cxnLst/>
            <a:rect l="l" t="t" r="r" b="b"/>
            <a:pathLst>
              <a:path w="138351" h="86469">
                <a:moveTo>
                  <a:pt x="69175" y="0"/>
                </a:moveTo>
                <a:lnTo>
                  <a:pt x="0" y="0"/>
                </a:lnTo>
                <a:lnTo>
                  <a:pt x="69175" y="86469"/>
                </a:lnTo>
                <a:lnTo>
                  <a:pt x="138351" y="0"/>
                </a:lnTo>
                <a:close/>
              </a:path>
            </a:pathLst>
          </a:cu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8150" y="3887956"/>
            <a:ext cx="5534025" cy="518815"/>
          </a:xfrm>
          <a:prstGeom prst="roundRect">
            <a:avLst>
              <a:gd name="adj" fmla="val 16666"/>
            </a:avLst>
          </a:prstGeom>
          <a:solidFill>
            <a:srgbClr val="FFFFFF"/>
          </a:solidFill>
          <a:ln w="1729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Oval 24"/>
          <p:cNvSpPr/>
          <p:nvPr/>
        </p:nvSpPr>
        <p:spPr>
          <a:xfrm>
            <a:off x="576501" y="3991719"/>
            <a:ext cx="311289" cy="311289"/>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855" y="4019745"/>
            <a:ext cx="548580" cy="279295"/>
          </a:xfrm>
          <a:prstGeom prst="rect">
            <a:avLst/>
          </a:prstGeom>
          <a:noFill/>
        </p:spPr>
        <p:txBody>
          <a:bodyPr wrap="none" lIns="0" rIns="0" tIns="0" bIns="0" anchor="ctr">
            <a:noAutofit/>
          </a:bodyPr>
          <a:lstStyle/>
          <a:p>
            <a:pPr algn="ctr">
              <a:lnSpc>
                <a:spcPts val="1552"/>
              </a:lnSpc>
            </a:pPr>
            <a:r>
              <a:rPr sz="1293" b="1">
                <a:solidFill>
                  <a:srgbClr val="FFFFFF"/>
                </a:solidFill>
                <a:latin typeface="Arial"/>
                <a:ea typeface="맑은 고딕"/>
                <a:cs typeface="맑은 고딕"/>
              </a:rPr>
              <a:t>3</a:t>
            </a:r>
          </a:p>
        </p:txBody>
      </p:sp>
      <p:sp>
        <p:nvSpPr>
          <p:cNvPr id="27" name="TextBox 26"/>
          <p:cNvSpPr txBox="1"/>
          <p:nvPr/>
        </p:nvSpPr>
        <p:spPr>
          <a:xfrm>
            <a:off x="1008846" y="3905163"/>
            <a:ext cx="1850499" cy="308695"/>
          </a:xfrm>
          <a:prstGeom prst="rect">
            <a:avLst/>
          </a:prstGeom>
          <a:noFill/>
        </p:spPr>
        <p:txBody>
          <a:bodyPr wrap="none" lIns="0" rIns="0" tIns="0" bIns="0" anchor="ctr">
            <a:noAutofit/>
          </a:bodyPr>
          <a:lstStyle/>
          <a:p>
            <a:pPr algn="l">
              <a:lnSpc>
                <a:spcPts val="1715"/>
              </a:lnSpc>
            </a:pPr>
            <a:r>
              <a:rPr sz="1429" b="1">
                <a:solidFill>
                  <a:srgbClr val="0B2A4A"/>
                </a:solidFill>
                <a:latin typeface="맑은 고딕"/>
                <a:ea typeface="맑은 고딕"/>
                <a:cs typeface="맑은 고딕"/>
              </a:rPr>
              <a:t>직업심리검사</a:t>
            </a:r>
          </a:p>
        </p:txBody>
      </p:sp>
      <p:sp>
        <p:nvSpPr>
          <p:cNvPr id="28" name="TextBox 27"/>
          <p:cNvSpPr txBox="1"/>
          <p:nvPr/>
        </p:nvSpPr>
        <p:spPr>
          <a:xfrm>
            <a:off x="1008846" y="4146430"/>
            <a:ext cx="1483411" cy="235196"/>
          </a:xfrm>
          <a:prstGeom prst="rect">
            <a:avLst/>
          </a:prstGeom>
          <a:noFill/>
        </p:spPr>
        <p:txBody>
          <a:bodyPr wrap="none" lIns="0" rIns="0" tIns="0" bIns="0" anchor="ctr">
            <a:noAutofit/>
          </a:bodyPr>
          <a:lstStyle/>
          <a:p>
            <a:pPr algn="l">
              <a:lnSpc>
                <a:spcPts val="1307"/>
              </a:lnSpc>
            </a:pPr>
            <a:r>
              <a:rPr sz="1089" b="1">
                <a:solidFill>
                  <a:srgbClr val="6B7280"/>
                </a:solidFill>
                <a:latin typeface="맑은 고딕"/>
                <a:ea typeface="맑은 고딕"/>
                <a:cs typeface="맑은 고딕"/>
              </a:rPr>
              <a:t>취업가이드 안</a:t>
            </a:r>
          </a:p>
        </p:txBody>
      </p:sp>
      <p:sp>
        <p:nvSpPr>
          <p:cNvPr id="29" name="Freeform 28"/>
          <p:cNvSpPr/>
          <p:nvPr/>
        </p:nvSpPr>
        <p:spPr>
          <a:xfrm>
            <a:off x="3135987" y="4424065"/>
            <a:ext cx="138351" cy="86469"/>
          </a:xfrm>
          <a:custGeom>
            <a:avLst/>
            <a:gdLst/>
            <a:ahLst/>
            <a:cxnLst/>
            <a:rect l="l" t="t" r="r" b="b"/>
            <a:pathLst>
              <a:path w="138351" h="86469">
                <a:moveTo>
                  <a:pt x="69175" y="0"/>
                </a:moveTo>
                <a:lnTo>
                  <a:pt x="0" y="0"/>
                </a:lnTo>
                <a:lnTo>
                  <a:pt x="69175" y="86469"/>
                </a:lnTo>
                <a:lnTo>
                  <a:pt x="138351" y="0"/>
                </a:lnTo>
                <a:close/>
              </a:path>
            </a:pathLst>
          </a:cu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8150" y="4527828"/>
            <a:ext cx="5534025" cy="518815"/>
          </a:xfrm>
          <a:prstGeom prst="roundRect">
            <a:avLst>
              <a:gd name="adj" fmla="val 16666"/>
            </a:avLst>
          </a:prstGeom>
          <a:solidFill>
            <a:srgbClr val="FFFFFF"/>
          </a:solidFill>
          <a:ln w="1729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Oval 30"/>
          <p:cNvSpPr/>
          <p:nvPr/>
        </p:nvSpPr>
        <p:spPr>
          <a:xfrm>
            <a:off x="576501" y="4631591"/>
            <a:ext cx="311289" cy="311289"/>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855" y="4659613"/>
            <a:ext cx="552450" cy="279295"/>
          </a:xfrm>
          <a:prstGeom prst="rect">
            <a:avLst/>
          </a:prstGeom>
          <a:noFill/>
        </p:spPr>
        <p:txBody>
          <a:bodyPr wrap="none" lIns="0" rIns="0" tIns="0" bIns="0" anchor="ctr">
            <a:noAutofit/>
          </a:bodyPr>
          <a:lstStyle/>
          <a:p>
            <a:pPr algn="ctr">
              <a:lnSpc>
                <a:spcPts val="1552"/>
              </a:lnSpc>
            </a:pPr>
            <a:r>
              <a:rPr sz="1293" b="1">
                <a:solidFill>
                  <a:srgbClr val="FFFFFF"/>
                </a:solidFill>
                <a:latin typeface="Arial"/>
                <a:ea typeface="맑은 고딕"/>
                <a:cs typeface="맑은 고딕"/>
              </a:rPr>
              <a:t>4</a:t>
            </a:r>
          </a:p>
        </p:txBody>
      </p:sp>
      <p:sp>
        <p:nvSpPr>
          <p:cNvPr id="33" name="TextBox 32"/>
          <p:cNvSpPr txBox="1"/>
          <p:nvPr/>
        </p:nvSpPr>
        <p:spPr>
          <a:xfrm>
            <a:off x="1008846" y="4545031"/>
            <a:ext cx="3169934" cy="308695"/>
          </a:xfrm>
          <a:prstGeom prst="rect">
            <a:avLst/>
          </a:prstGeom>
          <a:noFill/>
        </p:spPr>
        <p:txBody>
          <a:bodyPr wrap="none" lIns="0" rIns="0" tIns="0" bIns="0" anchor="ctr">
            <a:noAutofit/>
          </a:bodyPr>
          <a:lstStyle/>
          <a:p>
            <a:pPr algn="l">
              <a:lnSpc>
                <a:spcPts val="1715"/>
              </a:lnSpc>
            </a:pPr>
            <a:r>
              <a:rPr sz="1429" b="1">
                <a:solidFill>
                  <a:srgbClr val="0B2A4A"/>
                </a:solidFill>
                <a:latin typeface="맑은 고딕"/>
                <a:ea typeface="맑은 고딕"/>
                <a:cs typeface="맑은 고딕"/>
              </a:rPr>
              <a:t>대학생 진로준비도검사</a:t>
            </a:r>
          </a:p>
        </p:txBody>
      </p:sp>
      <p:sp>
        <p:nvSpPr>
          <p:cNvPr id="34" name="TextBox 33"/>
          <p:cNvSpPr txBox="1"/>
          <p:nvPr/>
        </p:nvSpPr>
        <p:spPr>
          <a:xfrm>
            <a:off x="1008846" y="4786307"/>
            <a:ext cx="1854294" cy="235196"/>
          </a:xfrm>
          <a:prstGeom prst="rect">
            <a:avLst/>
          </a:prstGeom>
          <a:noFill/>
        </p:spPr>
        <p:txBody>
          <a:bodyPr wrap="none" lIns="0" rIns="0" tIns="0" bIns="0" anchor="ctr">
            <a:noAutofit/>
          </a:bodyPr>
          <a:lstStyle/>
          <a:p>
            <a:pPr algn="l">
              <a:lnSpc>
                <a:spcPts val="1307"/>
              </a:lnSpc>
            </a:pPr>
            <a:r>
              <a:rPr sz="1089" b="1">
                <a:solidFill>
                  <a:srgbClr val="6B7280"/>
                </a:solidFill>
                <a:latin typeface="맑은 고딕"/>
                <a:ea typeface="맑은 고딕"/>
                <a:cs typeface="맑은 고딕"/>
              </a:rPr>
              <a:t>검사 대상: 대학생</a:t>
            </a:r>
          </a:p>
        </p:txBody>
      </p:sp>
      <p:sp>
        <p:nvSpPr>
          <p:cNvPr id="35" name="Freeform 34"/>
          <p:cNvSpPr/>
          <p:nvPr/>
        </p:nvSpPr>
        <p:spPr>
          <a:xfrm>
            <a:off x="3135987" y="5063936"/>
            <a:ext cx="138351" cy="86470"/>
          </a:xfrm>
          <a:custGeom>
            <a:avLst/>
            <a:gdLst/>
            <a:ahLst/>
            <a:cxnLst/>
            <a:rect l="l" t="t" r="r" b="b"/>
            <a:pathLst>
              <a:path w="138351" h="86470">
                <a:moveTo>
                  <a:pt x="69175" y="0"/>
                </a:moveTo>
                <a:lnTo>
                  <a:pt x="0" y="0"/>
                </a:lnTo>
                <a:lnTo>
                  <a:pt x="69175" y="86470"/>
                </a:lnTo>
                <a:lnTo>
                  <a:pt x="138351" y="0"/>
                </a:lnTo>
                <a:close/>
              </a:path>
            </a:pathLst>
          </a:cu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38150" y="5167699"/>
            <a:ext cx="5534025" cy="518815"/>
          </a:xfrm>
          <a:prstGeom prst="roundRect">
            <a:avLst>
              <a:gd name="adj" fmla="val 16666"/>
            </a:avLst>
          </a:prstGeom>
          <a:solidFill>
            <a:srgbClr val="FFD78F"/>
          </a:solidFill>
          <a:ln w="17294">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Oval 36"/>
          <p:cNvSpPr/>
          <p:nvPr/>
        </p:nvSpPr>
        <p:spPr>
          <a:xfrm>
            <a:off x="576501" y="5271462"/>
            <a:ext cx="311289" cy="311289"/>
          </a:xfrm>
          <a:prstGeom prst="ellipse">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855" y="5299481"/>
            <a:ext cx="552450" cy="279295"/>
          </a:xfrm>
          <a:prstGeom prst="rect">
            <a:avLst/>
          </a:prstGeom>
          <a:noFill/>
        </p:spPr>
        <p:txBody>
          <a:bodyPr wrap="none" lIns="0" rIns="0" tIns="0" bIns="0" anchor="ctr">
            <a:noAutofit/>
          </a:bodyPr>
          <a:lstStyle/>
          <a:p>
            <a:pPr algn="ctr">
              <a:lnSpc>
                <a:spcPts val="1552"/>
              </a:lnSpc>
            </a:pPr>
            <a:r>
              <a:rPr sz="1293" b="1">
                <a:solidFill>
                  <a:srgbClr val="FFFFFF"/>
                </a:solidFill>
                <a:latin typeface="Arial"/>
                <a:ea typeface="맑은 고딕"/>
                <a:cs typeface="맑은 고딕"/>
              </a:rPr>
              <a:t>5</a:t>
            </a:r>
          </a:p>
        </p:txBody>
      </p:sp>
      <p:sp>
        <p:nvSpPr>
          <p:cNvPr id="39" name="TextBox 38"/>
          <p:cNvSpPr txBox="1"/>
          <p:nvPr/>
        </p:nvSpPr>
        <p:spPr>
          <a:xfrm>
            <a:off x="1008846" y="5184908"/>
            <a:ext cx="2262143" cy="308695"/>
          </a:xfrm>
          <a:prstGeom prst="rect">
            <a:avLst/>
          </a:prstGeom>
          <a:noFill/>
        </p:spPr>
        <p:txBody>
          <a:bodyPr wrap="none" lIns="0" rIns="0" tIns="0" bIns="0" anchor="ctr">
            <a:noAutofit/>
          </a:bodyPr>
          <a:lstStyle/>
          <a:p>
            <a:pPr algn="l">
              <a:lnSpc>
                <a:spcPts val="1715"/>
              </a:lnSpc>
            </a:pPr>
            <a:r>
              <a:rPr sz="1429" b="1">
                <a:solidFill>
                  <a:srgbClr val="4A3208"/>
                </a:solidFill>
                <a:latin typeface="맑은 고딕"/>
                <a:ea typeface="맑은 고딕"/>
                <a:cs typeface="맑은 고딕"/>
              </a:rPr>
              <a:t>검사 실시 (20분)</a:t>
            </a:r>
          </a:p>
        </p:txBody>
      </p:sp>
      <p:sp>
        <p:nvSpPr>
          <p:cNvPr id="40" name="TextBox 39"/>
          <p:cNvSpPr txBox="1"/>
          <p:nvPr/>
        </p:nvSpPr>
        <p:spPr>
          <a:xfrm>
            <a:off x="1008846" y="5426175"/>
            <a:ext cx="2402815" cy="235196"/>
          </a:xfrm>
          <a:prstGeom prst="rect">
            <a:avLst/>
          </a:prstGeom>
          <a:noFill/>
        </p:spPr>
        <p:txBody>
          <a:bodyPr wrap="none" lIns="0" rIns="0" tIns="0" bIns="0" anchor="ctr">
            <a:noAutofit/>
          </a:bodyPr>
          <a:lstStyle/>
          <a:p>
            <a:pPr algn="l">
              <a:lnSpc>
                <a:spcPts val="1307"/>
              </a:lnSpc>
            </a:pPr>
            <a:r>
              <a:rPr sz="1089" b="1">
                <a:solidFill>
                  <a:srgbClr val="6B4A10"/>
                </a:solidFill>
                <a:latin typeface="맑은 고딕"/>
                <a:ea typeface="맑은 고딕"/>
                <a:cs typeface="맑은 고딕"/>
              </a:rPr>
              <a:t>결과 캡처 → LMS 제출</a:t>
            </a:r>
          </a:p>
        </p:txBody>
      </p:sp>
      <p:sp>
        <p:nvSpPr>
          <p:cNvPr id="41" name="Rounded Rectangle 40"/>
          <p:cNvSpPr/>
          <p:nvPr/>
        </p:nvSpPr>
        <p:spPr>
          <a:xfrm>
            <a:off x="6219825" y="2138065"/>
            <a:ext cx="47625" cy="238125"/>
          </a:xfrm>
          <a:prstGeom prst="roundRect">
            <a:avLst/>
          </a:prstGeom>
          <a:gradFill rotWithShape="1">
            <a:gsLst>
              <a:gs pos="0">
                <a:srgbClr val="0A9EE0"/>
              </a:gs>
              <a:gs pos="100000">
                <a:srgbClr val="0070C0"/>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62700" y="2059960"/>
            <a:ext cx="3455670" cy="413385"/>
          </a:xfrm>
          <a:prstGeom prst="rect">
            <a:avLst/>
          </a:prstGeom>
          <a:noFill/>
        </p:spPr>
        <p:txBody>
          <a:bodyPr wrap="none" anchor="ctr" lIns="0" rIns="0" tIns="0" bIns="0">
            <a:noAutofit/>
          </a:bodyPr>
          <a:lstStyle/>
          <a:p>
            <a:pPr algn="l">
              <a:lnSpc>
                <a:spcPts val="2475"/>
              </a:lnSpc>
              <a:spcBef>
                <a:spcPts val="0"/>
              </a:spcBef>
              <a:spcAft>
                <a:spcPts val="0"/>
              </a:spcAft>
            </a:pPr>
            <a:r>
              <a:rPr sz="1650" b="1" spc="-33">
                <a:solidFill>
                  <a:srgbClr val="0057A0"/>
                </a:solidFill>
                <a:latin typeface="맑은 고딕"/>
                <a:ea typeface="맑은 고딕"/>
                <a:cs typeface="맑은 고딕"/>
              </a:rPr>
              <a:t>고용24 직업심리검사</a:t>
            </a:r>
          </a:p>
        </p:txBody>
      </p:sp>
      <p:sp>
        <p:nvSpPr>
          <p:cNvPr id="43" name="Rounded Rectangle 42"/>
          <p:cNvSpPr/>
          <p:nvPr/>
        </p:nvSpPr>
        <p:spPr>
          <a:xfrm>
            <a:off x="6219825" y="2719090"/>
            <a:ext cx="5534025" cy="795338"/>
          </a:xfrm>
          <a:prstGeom prst="roundRect">
            <a:avLst>
              <a:gd name="adj" fmla="val 11976"/>
            </a:avLst>
          </a:prstGeom>
          <a:solidFill>
            <a:srgbClr val="EDF4FC"/>
          </a:solidFill>
          <a:ln w="9525">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6400800" y="2903399"/>
            <a:ext cx="838200" cy="445770"/>
          </a:xfrm>
          <a:prstGeom prst="rect">
            <a:avLst/>
          </a:prstGeom>
          <a:noFill/>
        </p:spPr>
        <p:txBody>
          <a:bodyPr wrap="none" anchor="ctr" lIns="0" rIns="0" tIns="0" bIns="0">
            <a:noAutofit/>
          </a:bodyPr>
          <a:lstStyle/>
          <a:p>
            <a:pPr algn="l">
              <a:lnSpc>
                <a:spcPts val="2700"/>
              </a:lnSpc>
              <a:spcBef>
                <a:spcPts val="0"/>
              </a:spcBef>
              <a:spcAft>
                <a:spcPts val="0"/>
              </a:spcAft>
            </a:pPr>
            <a:r>
              <a:rPr sz="1800" b="0">
                <a:solidFill>
                  <a:srgbClr val="0000EE"/>
                </a:solidFill>
                <a:latin typeface="맑은 고딕"/>
                <a:ea typeface="맑은 고딕"/>
                <a:cs typeface="맑은 고딕"/>
              </a:rPr>
              <a:t>🔗</a:t>
            </a:r>
          </a:p>
        </p:txBody>
      </p:sp>
      <p:sp>
        <p:nvSpPr>
          <p:cNvPr id="45" name="TextBox 44"/>
          <p:cNvSpPr txBox="1"/>
          <p:nvPr/>
        </p:nvSpPr>
        <p:spPr>
          <a:xfrm>
            <a:off x="6800850" y="2804815"/>
            <a:ext cx="3937397" cy="381000"/>
          </a:xfrm>
          <a:prstGeom prst="rect">
            <a:avLst/>
          </a:prstGeom>
          <a:noFill/>
        </p:spPr>
        <p:txBody>
          <a:bodyPr wrap="none" anchor="ctr" lIns="0" rIns="0" tIns="0" bIns="0">
            <a:noAutofit/>
          </a:bodyPr>
          <a:lstStyle/>
          <a:p>
            <a:pPr algn="l">
              <a:lnSpc>
                <a:spcPts val="2250"/>
              </a:lnSpc>
              <a:spcBef>
                <a:spcPts val="0"/>
              </a:spcBef>
              <a:spcAft>
                <a:spcPts val="0"/>
              </a:spcAft>
            </a:pPr>
            <a:r>
              <a:rPr sz="1500" b="1">
                <a:solidFill>
                  <a:srgbClr val="0B2A4A"/>
                </a:solidFill>
                <a:latin typeface="맑은 고딕"/>
                <a:ea typeface="맑은 고딕"/>
                <a:cs typeface="맑은 고딕"/>
              </a:rPr>
              <a:t>고용24 직업심리검사 목록</a:t>
            </a:r>
          </a:p>
        </p:txBody>
      </p:sp>
      <p:sp>
        <p:nvSpPr>
          <p:cNvPr id="46" name="TextBox 45"/>
          <p:cNvSpPr txBox="1"/>
          <p:nvPr/>
        </p:nvSpPr>
        <p:spPr>
          <a:xfrm>
            <a:off x="6800850" y="3110091"/>
            <a:ext cx="7426404" cy="332422"/>
          </a:xfrm>
          <a:prstGeom prst="rect">
            <a:avLst/>
          </a:prstGeom>
          <a:noFill/>
        </p:spPr>
        <p:txBody>
          <a:bodyPr wrap="none" anchor="ctr" lIns="0" rIns="0" tIns="0" bIns="0">
            <a:noAutofit/>
          </a:bodyPr>
          <a:lstStyle/>
          <a:p>
            <a:pPr algn="l">
              <a:lnSpc>
                <a:spcPts val="1912"/>
              </a:lnSpc>
              <a:spcBef>
                <a:spcPts val="0"/>
              </a:spcBef>
              <a:spcAft>
                <a:spcPts val="0"/>
              </a:spcAft>
            </a:pPr>
            <a:r>
              <a:rPr sz="1275" b="1">
                <a:solidFill>
                  <a:srgbClr val="0057A0"/>
                </a:solidFill>
                <a:latin typeface="Arial"/>
                <a:ea typeface="맑은 고딕"/>
                <a:cs typeface="맑은 고딕"/>
              </a:rPr>
              <a:t>https://www.work24.go.kr/wk/r/c/1000/jobPsyExamList.do</a:t>
            </a:r>
          </a:p>
        </p:txBody>
      </p:sp>
      <p:sp>
        <p:nvSpPr>
          <p:cNvPr id="47" name="Rounded Rectangle 46"/>
          <p:cNvSpPr/>
          <p:nvPr/>
        </p:nvSpPr>
        <p:spPr>
          <a:xfrm>
            <a:off x="6219825" y="3790652"/>
            <a:ext cx="5534025" cy="771525"/>
          </a:xfrm>
          <a:prstGeom prst="roundRect">
            <a:avLst>
              <a:gd name="adj" fmla="val 9876"/>
            </a:avLst>
          </a:prstGeom>
          <a:solidFill>
            <a:srgbClr val="EDF4FC"/>
          </a:solidFill>
          <a:ln w="19050">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8" name="Picture 47" descr="image.png"/>
          <p:cNvPicPr>
            <a:picLocks noChangeAspect="1"/>
          </p:cNvPicPr>
          <p:nvPr/>
        </p:nvPicPr>
        <p:blipFill>
          <a:blip r:embed="rId2"/>
          <a:stretch>
            <a:fillRect/>
          </a:stretch>
        </p:blipFill>
        <p:spPr>
          <a:xfrm>
            <a:off x="6386512" y="3924002"/>
            <a:ext cx="219075" cy="219075"/>
          </a:xfrm>
          <a:prstGeom prst="rect">
            <a:avLst/>
          </a:prstGeom>
        </p:spPr>
      </p:pic>
      <p:sp>
        <p:nvSpPr>
          <p:cNvPr id="49" name="TextBox 48"/>
          <p:cNvSpPr txBox="1"/>
          <p:nvPr/>
        </p:nvSpPr>
        <p:spPr>
          <a:xfrm>
            <a:off x="6686550" y="3914477"/>
            <a:ext cx="4924425" cy="590550"/>
          </a:xfrm>
          <a:prstGeom prst="rect">
            <a:avLst/>
          </a:prstGeom>
          <a:noFill/>
        </p:spPr>
        <p:txBody>
          <a:bodyPr wrap="square" anchor="t" lIns="0" rIns="0" tIns="0" bIns="0">
            <a:noAutofit/>
          </a:bodyPr>
          <a:lstStyle/>
          <a:p>
            <a:pPr algn="l">
              <a:lnSpc>
                <a:spcPts val="2137"/>
              </a:lnSpc>
              <a:spcBef>
                <a:spcPts val="0"/>
              </a:spcBef>
              <a:spcAft>
                <a:spcPts val="0"/>
              </a:spcAft>
            </a:pPr>
            <a:r>
              <a:rPr sz="1425" b="1">
                <a:solidFill>
                  <a:srgbClr val="0B2A4A"/>
                </a:solidFill>
                <a:latin typeface="맑은 고딕"/>
                <a:ea typeface="맑은 고딕"/>
                <a:cs typeface="맑은 고딕"/>
              </a:rPr>
              <a:t>검사 대상을 </a:t>
            </a:r>
            <a:r>
              <a:rPr sz="1425" b="1">
                <a:solidFill>
                  <a:srgbClr val="16181D"/>
                </a:solidFill>
                <a:latin typeface="맑은 고딕"/>
                <a:ea typeface="맑은 고딕"/>
                <a:cs typeface="맑은 고딕"/>
              </a:rPr>
              <a:t>대학생</a:t>
            </a:r>
            <a:r>
              <a:rPr sz="1425" b="1">
                <a:solidFill>
                  <a:srgbClr val="0B2A4A"/>
                </a:solidFill>
                <a:latin typeface="맑은 고딕"/>
                <a:ea typeface="맑은 고딕"/>
                <a:cs typeface="맑은 고딕"/>
              </a:rPr>
              <a:t>으로 걸러 놓고 이름으로 찾으면 빠릅니다.</a:t>
            </a:r>
          </a:p>
        </p:txBody>
      </p:sp>
      <p:sp>
        <p:nvSpPr>
          <p:cNvPr id="50" name="Rounded Rectangle 49"/>
          <p:cNvSpPr/>
          <p:nvPr/>
        </p:nvSpPr>
        <p:spPr>
          <a:xfrm>
            <a:off x="6219825" y="5019377"/>
            <a:ext cx="5534025" cy="500062"/>
          </a:xfrm>
          <a:prstGeom prst="roundRect">
            <a:avLst>
              <a:gd name="adj" fmla="val 15238"/>
            </a:avLst>
          </a:prstGeom>
          <a:solidFill>
            <a:srgbClr val="FFD78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1" name="Picture 50" descr="image.png"/>
          <p:cNvPicPr>
            <a:picLocks noChangeAspect="1"/>
          </p:cNvPicPr>
          <p:nvPr/>
        </p:nvPicPr>
        <p:blipFill>
          <a:blip r:embed="rId3"/>
          <a:stretch>
            <a:fillRect/>
          </a:stretch>
        </p:blipFill>
        <p:spPr>
          <a:xfrm>
            <a:off x="6386512" y="5152727"/>
            <a:ext cx="219075" cy="219075"/>
          </a:xfrm>
          <a:prstGeom prst="rect">
            <a:avLst/>
          </a:prstGeom>
        </p:spPr>
      </p:pic>
      <p:sp>
        <p:nvSpPr>
          <p:cNvPr id="52" name="TextBox 51"/>
          <p:cNvSpPr txBox="1"/>
          <p:nvPr/>
        </p:nvSpPr>
        <p:spPr>
          <a:xfrm>
            <a:off x="6686550" y="5089386"/>
            <a:ext cx="8006477" cy="364808"/>
          </a:xfrm>
          <a:prstGeom prst="rect">
            <a:avLst/>
          </a:prstGeom>
          <a:noFill/>
        </p:spPr>
        <p:txBody>
          <a:bodyPr wrap="none" anchor="ctr" lIns="0" rIns="0" tIns="0" bIns="0">
            <a:noAutofit/>
          </a:bodyPr>
          <a:lstStyle/>
          <a:p>
            <a:pPr algn="l">
              <a:lnSpc>
                <a:spcPts val="2137"/>
              </a:lnSpc>
              <a:spcBef>
                <a:spcPts val="0"/>
              </a:spcBef>
              <a:spcAft>
                <a:spcPts val="0"/>
              </a:spcAft>
            </a:pPr>
            <a:r>
              <a:rPr sz="1425" b="1">
                <a:solidFill>
                  <a:srgbClr val="4A3208"/>
                </a:solidFill>
                <a:latin typeface="맑은 고딕"/>
                <a:ea typeface="맑은 고딕"/>
                <a:cs typeface="맑은 고딕"/>
              </a:rPr>
              <a:t>검사가 끝나면 결과 화면을 캡처해 </a:t>
            </a:r>
            <a:r>
              <a:rPr sz="1425" b="1">
                <a:solidFill>
                  <a:srgbClr val="C00000"/>
                </a:solidFill>
                <a:latin typeface="맑은 고딕"/>
                <a:ea typeface="맑은 고딕"/>
                <a:cs typeface="맑은 고딕"/>
              </a:rPr>
              <a:t>LMS 과제방</a:t>
            </a:r>
            <a:r>
              <a:rPr sz="1425" b="1">
                <a:solidFill>
                  <a:srgbClr val="4A3208"/>
                </a:solidFill>
                <a:latin typeface="맑은 고딕"/>
                <a:ea typeface="맑은 고딕"/>
                <a:cs typeface="맑은 고딕"/>
              </a:rPr>
              <a:t>에 올립니다.</a:t>
            </a:r>
          </a:p>
        </p:txBody>
      </p:sp>
      <p:sp>
        <p:nvSpPr>
          <p:cNvPr id="53" name="TextBox 52"/>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92869"/>
            <a:ext cx="632460" cy="542925"/>
          </a:xfrm>
          <a:prstGeom prst="rect">
            <a:avLst/>
          </a:prstGeom>
          <a:noFill/>
        </p:spPr>
        <p:txBody>
          <a:bodyPr wrap="none" anchor="ctr" lIns="0" rIns="0" tIns="0" bIns="0">
            <a:noAutofit/>
          </a:bodyPr>
          <a:lstStyle/>
          <a:p>
            <a:pPr algn="l">
              <a:lnSpc>
                <a:spcPts val="2250"/>
              </a:lnSpc>
              <a:spcBef>
                <a:spcPts val="0"/>
              </a:spcBef>
              <a:spcAft>
                <a:spcPts val="0"/>
              </a:spcAft>
            </a:pPr>
            <a:r>
              <a:rPr sz="2250" b="1" spc="-15">
                <a:solidFill>
                  <a:srgbClr val="FFFFFF"/>
                </a:solidFill>
                <a:latin typeface="Arial"/>
                <a:ea typeface="맑은 고딕"/>
                <a:cs typeface="맑은 고딕"/>
              </a:rPr>
              <a:t>6</a:t>
            </a:r>
          </a:p>
        </p:txBody>
      </p:sp>
      <p:sp>
        <p:nvSpPr>
          <p:cNvPr id="6" name="TextBox 5"/>
          <p:cNvSpPr txBox="1"/>
          <p:nvPr/>
        </p:nvSpPr>
        <p:spPr>
          <a:xfrm>
            <a:off x="728662" y="112395"/>
            <a:ext cx="3351371"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진로준비도 검사</a:t>
            </a:r>
          </a:p>
        </p:txBody>
      </p:sp>
      <p:sp>
        <p:nvSpPr>
          <p:cNvPr id="7" name="TextBox 6"/>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8" name="Oval 7"/>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8150" y="1028075"/>
            <a:ext cx="7093982"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‘대학생진로준비도검사’를 고릅니다.</a:t>
            </a:r>
          </a:p>
        </p:txBody>
      </p:sp>
      <p:sp>
        <p:nvSpPr>
          <p:cNvPr id="12" name="Rounded Rectangle 11"/>
          <p:cNvSpPr/>
          <p:nvPr/>
        </p:nvSpPr>
        <p:spPr>
          <a:xfrm>
            <a:off x="490855" y="2899737"/>
            <a:ext cx="2617682" cy="1177078"/>
          </a:xfrm>
          <a:prstGeom prst="roundRect">
            <a:avLst>
              <a:gd name="adj" fmla="val 7462"/>
            </a:avLst>
          </a:prstGeom>
          <a:solidFill>
            <a:srgbClr val="FFFFFF"/>
          </a:solidFill>
          <a:ln w="13176">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ounded Rectangle 12"/>
          <p:cNvSpPr/>
          <p:nvPr/>
        </p:nvSpPr>
        <p:spPr>
          <a:xfrm>
            <a:off x="631402" y="3040284"/>
            <a:ext cx="1379114" cy="228388"/>
          </a:xfrm>
          <a:prstGeom prst="roundRect">
            <a:avLst>
              <a:gd name="adj" fmla="val 50000"/>
            </a:avLst>
          </a:prstGeom>
          <a:solidFill>
            <a:srgbClr val="EDF4FC"/>
          </a:solidFill>
          <a:ln w="878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728028" y="3051006"/>
            <a:ext cx="1603596" cy="209063"/>
          </a:xfrm>
          <a:prstGeom prst="rect">
            <a:avLst/>
          </a:prstGeom>
          <a:noFill/>
        </p:spPr>
        <p:txBody>
          <a:bodyPr wrap="none" lIns="0" rIns="0" tIns="0" bIns="0" anchor="ctr">
            <a:noAutofit/>
          </a:bodyPr>
          <a:lstStyle/>
          <a:p>
            <a:pPr algn="l">
              <a:lnSpc>
                <a:spcPts val="1162"/>
              </a:lnSpc>
            </a:pPr>
            <a:r>
              <a:rPr sz="968" b="1">
                <a:solidFill>
                  <a:srgbClr val="0057A0"/>
                </a:solidFill>
                <a:latin typeface="맑은 고딕"/>
                <a:ea typeface="맑은 고딕"/>
                <a:cs typeface="맑은 고딕"/>
              </a:rPr>
              <a:t>진로(취업)준비도</a:t>
            </a:r>
          </a:p>
        </p:txBody>
      </p:sp>
      <p:sp>
        <p:nvSpPr>
          <p:cNvPr id="15" name="TextBox 14"/>
          <p:cNvSpPr txBox="1"/>
          <p:nvPr/>
        </p:nvSpPr>
        <p:spPr>
          <a:xfrm>
            <a:off x="631402" y="3315618"/>
            <a:ext cx="3908212" cy="283729"/>
          </a:xfrm>
          <a:prstGeom prst="rect">
            <a:avLst/>
          </a:prstGeom>
          <a:noFill/>
        </p:spPr>
        <p:txBody>
          <a:bodyPr wrap="none" lIns="0" rIns="0" tIns="0" bIns="0" anchor="ctr">
            <a:noAutofit/>
          </a:bodyPr>
          <a:lstStyle/>
          <a:p>
            <a:pPr algn="l">
              <a:lnSpc>
                <a:spcPts val="1577"/>
              </a:lnSpc>
            </a:pPr>
            <a:r>
              <a:rPr sz="1314" b="1">
                <a:solidFill>
                  <a:srgbClr val="0B2A4A"/>
                </a:solidFill>
                <a:latin typeface="맑은 고딕"/>
                <a:ea typeface="맑은 고딕"/>
                <a:cs typeface="맑은 고딕"/>
              </a:rPr>
              <a:t>진로준비진단검사(찾아Dream)</a:t>
            </a:r>
          </a:p>
        </p:txBody>
      </p:sp>
      <p:sp>
        <p:nvSpPr>
          <p:cNvPr id="16" name="Rounded Rectangle 15"/>
          <p:cNvSpPr/>
          <p:nvPr/>
        </p:nvSpPr>
        <p:spPr>
          <a:xfrm>
            <a:off x="1755775" y="3707881"/>
            <a:ext cx="1229783" cy="263525"/>
          </a:xfrm>
          <a:prstGeom prst="roundRect">
            <a:avLst>
              <a:gd name="adj" fmla="val 20000"/>
            </a:avLst>
          </a:prstGeom>
          <a:solidFill>
            <a:srgbClr val="4A5DB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611770" y="3723944"/>
            <a:ext cx="1517794" cy="223996"/>
          </a:xfrm>
          <a:prstGeom prst="rect">
            <a:avLst/>
          </a:prstGeom>
          <a:noFill/>
        </p:spPr>
        <p:txBody>
          <a:bodyPr wrap="none" lIns="0" rIns="0" tIns="0" bIns="0" anchor="ctr">
            <a:noAutofit/>
          </a:bodyPr>
          <a:lstStyle/>
          <a:p>
            <a:pPr algn="ctr">
              <a:lnSpc>
                <a:spcPts val="1245"/>
              </a:lnSpc>
            </a:pPr>
            <a:r>
              <a:rPr sz="1037" b="1">
                <a:solidFill>
                  <a:srgbClr val="FFFFFF"/>
                </a:solidFill>
                <a:latin typeface="맑은 고딕"/>
                <a:ea typeface="맑은 고딕"/>
                <a:cs typeface="맑은 고딕"/>
              </a:rPr>
              <a:t>검사 실시 (2분)</a:t>
            </a:r>
          </a:p>
        </p:txBody>
      </p:sp>
      <p:sp>
        <p:nvSpPr>
          <p:cNvPr id="18" name="Rounded Rectangle 17"/>
          <p:cNvSpPr/>
          <p:nvPr/>
        </p:nvSpPr>
        <p:spPr>
          <a:xfrm>
            <a:off x="3301788" y="2899737"/>
            <a:ext cx="2617682" cy="1177078"/>
          </a:xfrm>
          <a:prstGeom prst="roundRect">
            <a:avLst>
              <a:gd name="adj" fmla="val 7462"/>
            </a:avLst>
          </a:prstGeom>
          <a:solidFill>
            <a:srgbClr val="FFFFFF"/>
          </a:solidFill>
          <a:ln w="26352">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ounded Rectangle 18"/>
          <p:cNvSpPr/>
          <p:nvPr/>
        </p:nvSpPr>
        <p:spPr>
          <a:xfrm>
            <a:off x="3442335" y="3040284"/>
            <a:ext cx="852064" cy="228388"/>
          </a:xfrm>
          <a:prstGeom prst="roundRect">
            <a:avLst>
              <a:gd name="adj" fmla="val 50000"/>
            </a:avLst>
          </a:prstGeom>
          <a:solidFill>
            <a:srgbClr val="EDF4FC"/>
          </a:solidFill>
          <a:ln w="878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3538961" y="3051006"/>
            <a:ext cx="1072753" cy="209063"/>
          </a:xfrm>
          <a:prstGeom prst="rect">
            <a:avLst/>
          </a:prstGeom>
          <a:noFill/>
        </p:spPr>
        <p:txBody>
          <a:bodyPr wrap="none" lIns="0" rIns="0" tIns="0" bIns="0" anchor="ctr">
            <a:noAutofit/>
          </a:bodyPr>
          <a:lstStyle/>
          <a:p>
            <a:pPr algn="l">
              <a:lnSpc>
                <a:spcPts val="1162"/>
              </a:lnSpc>
            </a:pPr>
            <a:r>
              <a:rPr sz="968" b="1">
                <a:solidFill>
                  <a:srgbClr val="0057A0"/>
                </a:solidFill>
                <a:latin typeface="맑은 고딕"/>
                <a:ea typeface="맑은 고딕"/>
                <a:cs typeface="맑은 고딕"/>
              </a:rPr>
              <a:t>진로준비도</a:t>
            </a:r>
          </a:p>
        </p:txBody>
      </p:sp>
      <p:sp>
        <p:nvSpPr>
          <p:cNvPr id="21" name="TextBox 20"/>
          <p:cNvSpPr txBox="1"/>
          <p:nvPr/>
        </p:nvSpPr>
        <p:spPr>
          <a:xfrm>
            <a:off x="3442335" y="3315618"/>
            <a:ext cx="2844061" cy="283729"/>
          </a:xfrm>
          <a:prstGeom prst="rect">
            <a:avLst/>
          </a:prstGeom>
          <a:noFill/>
        </p:spPr>
        <p:txBody>
          <a:bodyPr wrap="none" lIns="0" rIns="0" tIns="0" bIns="0" anchor="ctr">
            <a:noAutofit/>
          </a:bodyPr>
          <a:lstStyle/>
          <a:p>
            <a:pPr algn="l">
              <a:lnSpc>
                <a:spcPts val="1577"/>
              </a:lnSpc>
            </a:pPr>
            <a:r>
              <a:rPr sz="1314" b="1">
                <a:solidFill>
                  <a:srgbClr val="0B2A4A"/>
                </a:solidFill>
                <a:latin typeface="맑은 고딕"/>
                <a:ea typeface="맑은 고딕"/>
                <a:cs typeface="맑은 고딕"/>
              </a:rPr>
              <a:t>대학생진로준비도검사</a:t>
            </a:r>
          </a:p>
        </p:txBody>
      </p:sp>
      <p:sp>
        <p:nvSpPr>
          <p:cNvPr id="22" name="Rounded Rectangle 21"/>
          <p:cNvSpPr/>
          <p:nvPr/>
        </p:nvSpPr>
        <p:spPr>
          <a:xfrm>
            <a:off x="4566708" y="3707881"/>
            <a:ext cx="1229783" cy="263525"/>
          </a:xfrm>
          <a:prstGeom prst="roundRect">
            <a:avLst>
              <a:gd name="adj" fmla="val 2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4360463" y="3723944"/>
            <a:ext cx="1642274" cy="223996"/>
          </a:xfrm>
          <a:prstGeom prst="rect">
            <a:avLst/>
          </a:prstGeom>
          <a:noFill/>
        </p:spPr>
        <p:txBody>
          <a:bodyPr wrap="none" lIns="0" rIns="0" tIns="0" bIns="0" anchor="ctr">
            <a:noAutofit/>
          </a:bodyPr>
          <a:lstStyle/>
          <a:p>
            <a:pPr algn="ctr">
              <a:lnSpc>
                <a:spcPts val="1245"/>
              </a:lnSpc>
            </a:pPr>
            <a:r>
              <a:rPr sz="1037" b="1">
                <a:solidFill>
                  <a:srgbClr val="FFFFFF"/>
                </a:solidFill>
                <a:latin typeface="맑은 고딕"/>
                <a:ea typeface="맑은 고딕"/>
                <a:cs typeface="맑은 고딕"/>
              </a:rPr>
              <a:t>검사 실시 (20분)</a:t>
            </a:r>
          </a:p>
        </p:txBody>
      </p:sp>
      <p:sp>
        <p:nvSpPr>
          <p:cNvPr id="24" name="Rounded Rectangle 23"/>
          <p:cNvSpPr/>
          <p:nvPr/>
        </p:nvSpPr>
        <p:spPr>
          <a:xfrm>
            <a:off x="490855" y="4234931"/>
            <a:ext cx="2617682" cy="1177078"/>
          </a:xfrm>
          <a:prstGeom prst="roundRect">
            <a:avLst>
              <a:gd name="adj" fmla="val 7462"/>
            </a:avLst>
          </a:prstGeom>
          <a:solidFill>
            <a:srgbClr val="FFFFFF"/>
          </a:solidFill>
          <a:ln w="13176">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ounded Rectangle 24"/>
          <p:cNvSpPr/>
          <p:nvPr/>
        </p:nvSpPr>
        <p:spPr>
          <a:xfrm>
            <a:off x="631402" y="4375477"/>
            <a:ext cx="456777" cy="228388"/>
          </a:xfrm>
          <a:prstGeom prst="roundRect">
            <a:avLst>
              <a:gd name="adj" fmla="val 50000"/>
            </a:avLst>
          </a:prstGeom>
          <a:solidFill>
            <a:srgbClr val="EDF4FC"/>
          </a:solidFill>
          <a:ln w="878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28028" y="4386199"/>
            <a:ext cx="703957" cy="209063"/>
          </a:xfrm>
          <a:prstGeom prst="rect">
            <a:avLst/>
          </a:prstGeom>
          <a:noFill/>
        </p:spPr>
        <p:txBody>
          <a:bodyPr wrap="none" lIns="0" rIns="0" tIns="0" bIns="0" anchor="ctr">
            <a:noAutofit/>
          </a:bodyPr>
          <a:lstStyle/>
          <a:p>
            <a:pPr algn="l">
              <a:lnSpc>
                <a:spcPts val="1162"/>
              </a:lnSpc>
            </a:pPr>
            <a:r>
              <a:rPr sz="968" b="1">
                <a:solidFill>
                  <a:srgbClr val="0057A0"/>
                </a:solidFill>
                <a:latin typeface="맑은 고딕"/>
                <a:ea typeface="맑은 고딕"/>
                <a:cs typeface="맑은 고딕"/>
              </a:rPr>
              <a:t>역량</a:t>
            </a:r>
          </a:p>
        </p:txBody>
      </p:sp>
      <p:sp>
        <p:nvSpPr>
          <p:cNvPr id="27" name="TextBox 26"/>
          <p:cNvSpPr txBox="1"/>
          <p:nvPr/>
        </p:nvSpPr>
        <p:spPr>
          <a:xfrm>
            <a:off x="631402" y="4650811"/>
            <a:ext cx="1709574" cy="283729"/>
          </a:xfrm>
          <a:prstGeom prst="rect">
            <a:avLst/>
          </a:prstGeom>
          <a:noFill/>
        </p:spPr>
        <p:txBody>
          <a:bodyPr wrap="none" lIns="0" rIns="0" tIns="0" bIns="0" anchor="ctr">
            <a:noAutofit/>
          </a:bodyPr>
          <a:lstStyle/>
          <a:p>
            <a:pPr algn="l">
              <a:lnSpc>
                <a:spcPts val="1577"/>
              </a:lnSpc>
            </a:pPr>
            <a:r>
              <a:rPr sz="1314" b="1">
                <a:solidFill>
                  <a:srgbClr val="0B2A4A"/>
                </a:solidFill>
                <a:latin typeface="맑은 고딕"/>
                <a:ea typeface="맑은 고딕"/>
                <a:cs typeface="맑은 고딕"/>
              </a:rPr>
              <a:t>창업적성검사</a:t>
            </a:r>
          </a:p>
        </p:txBody>
      </p:sp>
      <p:sp>
        <p:nvSpPr>
          <p:cNvPr id="28" name="Rounded Rectangle 27"/>
          <p:cNvSpPr/>
          <p:nvPr/>
        </p:nvSpPr>
        <p:spPr>
          <a:xfrm>
            <a:off x="1755775" y="5043074"/>
            <a:ext cx="1229783" cy="263525"/>
          </a:xfrm>
          <a:prstGeom prst="roundRect">
            <a:avLst>
              <a:gd name="adj" fmla="val 20000"/>
            </a:avLst>
          </a:prstGeom>
          <a:solidFill>
            <a:srgbClr val="4A5DB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549530" y="5059133"/>
            <a:ext cx="1642274" cy="223996"/>
          </a:xfrm>
          <a:prstGeom prst="rect">
            <a:avLst/>
          </a:prstGeom>
          <a:noFill/>
        </p:spPr>
        <p:txBody>
          <a:bodyPr wrap="none" lIns="0" rIns="0" tIns="0" bIns="0" anchor="ctr">
            <a:noAutofit/>
          </a:bodyPr>
          <a:lstStyle/>
          <a:p>
            <a:pPr algn="ctr">
              <a:lnSpc>
                <a:spcPts val="1245"/>
              </a:lnSpc>
            </a:pPr>
            <a:r>
              <a:rPr sz="1037" b="1">
                <a:solidFill>
                  <a:srgbClr val="FFFFFF"/>
                </a:solidFill>
                <a:latin typeface="맑은 고딕"/>
                <a:ea typeface="맑은 고딕"/>
                <a:cs typeface="맑은 고딕"/>
              </a:rPr>
              <a:t>검사 실시 (20분)</a:t>
            </a:r>
          </a:p>
        </p:txBody>
      </p:sp>
      <p:sp>
        <p:nvSpPr>
          <p:cNvPr id="30" name="Rounded Rectangle 29"/>
          <p:cNvSpPr/>
          <p:nvPr/>
        </p:nvSpPr>
        <p:spPr>
          <a:xfrm>
            <a:off x="3301788" y="4234931"/>
            <a:ext cx="2617682" cy="1177078"/>
          </a:xfrm>
          <a:prstGeom prst="roundRect">
            <a:avLst>
              <a:gd name="adj" fmla="val 7462"/>
            </a:avLst>
          </a:prstGeom>
          <a:solidFill>
            <a:srgbClr val="FFFFFF"/>
          </a:solidFill>
          <a:ln w="13176">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Rounded Rectangle 30"/>
          <p:cNvSpPr/>
          <p:nvPr/>
        </p:nvSpPr>
        <p:spPr>
          <a:xfrm>
            <a:off x="3442335" y="4375477"/>
            <a:ext cx="456777" cy="228388"/>
          </a:xfrm>
          <a:prstGeom prst="roundRect">
            <a:avLst>
              <a:gd name="adj" fmla="val 50000"/>
            </a:avLst>
          </a:prstGeom>
          <a:solidFill>
            <a:srgbClr val="EDF4FC"/>
          </a:solidFill>
          <a:ln w="8784">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3538961" y="4386199"/>
            <a:ext cx="703064" cy="209063"/>
          </a:xfrm>
          <a:prstGeom prst="rect">
            <a:avLst/>
          </a:prstGeom>
          <a:noFill/>
        </p:spPr>
        <p:txBody>
          <a:bodyPr wrap="none" lIns="0" rIns="0" tIns="0" bIns="0" anchor="ctr">
            <a:noAutofit/>
          </a:bodyPr>
          <a:lstStyle/>
          <a:p>
            <a:pPr algn="l">
              <a:lnSpc>
                <a:spcPts val="1162"/>
              </a:lnSpc>
            </a:pPr>
            <a:r>
              <a:rPr sz="968" b="1">
                <a:solidFill>
                  <a:srgbClr val="0057A0"/>
                </a:solidFill>
                <a:latin typeface="맑은 고딕"/>
                <a:ea typeface="맑은 고딕"/>
                <a:cs typeface="맑은 고딕"/>
              </a:rPr>
              <a:t>흥미</a:t>
            </a:r>
          </a:p>
        </p:txBody>
      </p:sp>
      <p:sp>
        <p:nvSpPr>
          <p:cNvPr id="33" name="TextBox 32"/>
          <p:cNvSpPr txBox="1"/>
          <p:nvPr/>
        </p:nvSpPr>
        <p:spPr>
          <a:xfrm>
            <a:off x="3442335" y="4650811"/>
            <a:ext cx="3308837" cy="283729"/>
          </a:xfrm>
          <a:prstGeom prst="rect">
            <a:avLst/>
          </a:prstGeom>
          <a:noFill/>
        </p:spPr>
        <p:txBody>
          <a:bodyPr wrap="none" lIns="0" rIns="0" tIns="0" bIns="0" anchor="ctr">
            <a:noAutofit/>
          </a:bodyPr>
          <a:lstStyle/>
          <a:p>
            <a:pPr algn="l">
              <a:lnSpc>
                <a:spcPts val="1577"/>
              </a:lnSpc>
            </a:pPr>
            <a:r>
              <a:rPr sz="1314" b="1">
                <a:solidFill>
                  <a:srgbClr val="0B2A4A"/>
                </a:solidFill>
                <a:latin typeface="맑은 고딕"/>
                <a:ea typeface="맑은 고딕"/>
                <a:cs typeface="맑은 고딕"/>
              </a:rPr>
              <a:t>직업흥미탐색검사(간편형)</a:t>
            </a:r>
          </a:p>
        </p:txBody>
      </p:sp>
      <p:sp>
        <p:nvSpPr>
          <p:cNvPr id="34" name="Rounded Rectangle 33"/>
          <p:cNvSpPr/>
          <p:nvPr/>
        </p:nvSpPr>
        <p:spPr>
          <a:xfrm>
            <a:off x="4566708" y="5043074"/>
            <a:ext cx="1229783" cy="263525"/>
          </a:xfrm>
          <a:prstGeom prst="roundRect">
            <a:avLst>
              <a:gd name="adj" fmla="val 20000"/>
            </a:avLst>
          </a:prstGeom>
          <a:solidFill>
            <a:srgbClr val="4A5DB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4422703" y="5059133"/>
            <a:ext cx="1517794" cy="223996"/>
          </a:xfrm>
          <a:prstGeom prst="rect">
            <a:avLst/>
          </a:prstGeom>
          <a:noFill/>
        </p:spPr>
        <p:txBody>
          <a:bodyPr wrap="none" lIns="0" rIns="0" tIns="0" bIns="0" anchor="ctr">
            <a:noAutofit/>
          </a:bodyPr>
          <a:lstStyle/>
          <a:p>
            <a:pPr algn="ctr">
              <a:lnSpc>
                <a:spcPts val="1245"/>
              </a:lnSpc>
            </a:pPr>
            <a:r>
              <a:rPr sz="1037" b="1">
                <a:solidFill>
                  <a:srgbClr val="FFFFFF"/>
                </a:solidFill>
                <a:latin typeface="맑은 고딕"/>
                <a:ea typeface="맑은 고딕"/>
                <a:cs typeface="맑은 고딕"/>
              </a:rPr>
              <a:t>검사 실시 (5분)</a:t>
            </a:r>
          </a:p>
        </p:txBody>
      </p:sp>
      <p:sp>
        <p:nvSpPr>
          <p:cNvPr id="36" name="Rounded Rectangle 35"/>
          <p:cNvSpPr/>
          <p:nvPr/>
        </p:nvSpPr>
        <p:spPr>
          <a:xfrm>
            <a:off x="6219825" y="2071390"/>
            <a:ext cx="5534025" cy="771525"/>
          </a:xfrm>
          <a:prstGeom prst="roundRect">
            <a:avLst>
              <a:gd name="adj" fmla="val 9876"/>
            </a:avLst>
          </a:prstGeom>
          <a:solidFill>
            <a:srgbClr val="FDECEC"/>
          </a:solidFill>
          <a:ln w="19050">
            <a:solidFill>
              <a:srgbClr val="E39C9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7" name="Picture 36" descr="image.png"/>
          <p:cNvPicPr>
            <a:picLocks noChangeAspect="1"/>
          </p:cNvPicPr>
          <p:nvPr/>
        </p:nvPicPr>
        <p:blipFill>
          <a:blip r:embed="rId2"/>
          <a:stretch>
            <a:fillRect/>
          </a:stretch>
        </p:blipFill>
        <p:spPr>
          <a:xfrm>
            <a:off x="6386512" y="2204740"/>
            <a:ext cx="219075" cy="219075"/>
          </a:xfrm>
          <a:prstGeom prst="rect">
            <a:avLst/>
          </a:prstGeom>
        </p:spPr>
      </p:pic>
      <p:sp>
        <p:nvSpPr>
          <p:cNvPr id="38" name="TextBox 37"/>
          <p:cNvSpPr txBox="1"/>
          <p:nvPr/>
        </p:nvSpPr>
        <p:spPr>
          <a:xfrm>
            <a:off x="6686550" y="2195215"/>
            <a:ext cx="4924425" cy="590550"/>
          </a:xfrm>
          <a:prstGeom prst="rect">
            <a:avLst/>
          </a:prstGeom>
          <a:noFill/>
        </p:spPr>
        <p:txBody>
          <a:bodyPr wrap="square" anchor="t" lIns="0" rIns="0" tIns="0" bIns="0">
            <a:noAutofit/>
          </a:bodyPr>
          <a:lstStyle/>
          <a:p>
            <a:pPr algn="l">
              <a:lnSpc>
                <a:spcPts val="2137"/>
              </a:lnSpc>
              <a:spcBef>
                <a:spcPts val="0"/>
              </a:spcBef>
              <a:spcAft>
                <a:spcPts val="0"/>
              </a:spcAft>
            </a:pPr>
            <a:r>
              <a:rPr sz="1425" b="1">
                <a:solidFill>
                  <a:srgbClr val="7A1414"/>
                </a:solidFill>
                <a:latin typeface="맑은 고딕"/>
                <a:ea typeface="맑은 고딕"/>
                <a:cs typeface="맑은 고딕"/>
              </a:rPr>
              <a:t>우리가 볼 검사는 </a:t>
            </a:r>
            <a:r>
              <a:rPr sz="1425" b="1">
                <a:solidFill>
                  <a:srgbClr val="16181D"/>
                </a:solidFill>
                <a:latin typeface="맑은 고딕"/>
                <a:ea typeface="맑은 고딕"/>
                <a:cs typeface="맑은 고딕"/>
              </a:rPr>
              <a:t>대학생진로준비도검사</a:t>
            </a:r>
            <a:r>
              <a:rPr sz="1425" b="1">
                <a:solidFill>
                  <a:srgbClr val="7A1414"/>
                </a:solidFill>
                <a:latin typeface="맑은 고딕"/>
                <a:ea typeface="맑은 고딕"/>
                <a:cs typeface="맑은 고딕"/>
              </a:rPr>
              <a:t> (검사 실시 20분) 입니다.</a:t>
            </a:r>
          </a:p>
        </p:txBody>
      </p:sp>
      <p:sp>
        <p:nvSpPr>
          <p:cNvPr id="39" name="Rectangle 38"/>
          <p:cNvSpPr/>
          <p:nvPr/>
        </p:nvSpPr>
        <p:spPr>
          <a:xfrm>
            <a:off x="6257925" y="3218581"/>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6050" y="3078182"/>
            <a:ext cx="824507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진로발달수준과 취업준비 행동수준에 대한 객관적인 정보를 확인</a:t>
            </a:r>
          </a:p>
        </p:txBody>
      </p:sp>
      <p:sp>
        <p:nvSpPr>
          <p:cNvPr id="41" name="Rectangle 40"/>
          <p:cNvSpPr/>
          <p:nvPr/>
        </p:nvSpPr>
        <p:spPr>
          <a:xfrm>
            <a:off x="6257925" y="3543324"/>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6050" y="3453408"/>
            <a:ext cx="5257800" cy="525661"/>
          </a:xfrm>
          <a:prstGeom prst="rect">
            <a:avLst/>
          </a:prstGeom>
          <a:noFill/>
        </p:spPr>
        <p:txBody>
          <a:bodyPr wrap="square" anchor="t"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진로탐색과 취업준비를 위해 좀 더 노력해야 할 점이 무엇인지 알아볼 수 있음</a:t>
            </a:r>
          </a:p>
        </p:txBody>
      </p:sp>
      <p:sp>
        <p:nvSpPr>
          <p:cNvPr id="43" name="Rectangle 42"/>
          <p:cNvSpPr/>
          <p:nvPr/>
        </p:nvSpPr>
        <p:spPr>
          <a:xfrm>
            <a:off x="6257925" y="4116610"/>
            <a:ext cx="85725" cy="85725"/>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6050" y="3976211"/>
            <a:ext cx="2530078" cy="348615"/>
          </a:xfrm>
          <a:prstGeom prst="rect">
            <a:avLst/>
          </a:prstGeom>
          <a:noFill/>
        </p:spPr>
        <p:txBody>
          <a:bodyPr wrap="none" anchor="ctr" lIns="0" rIns="0" tIns="0" bIns="0">
            <a:noAutofit/>
          </a:bodyPr>
          <a:lstStyle/>
          <a:p>
            <a:pPr algn="l">
              <a:lnSpc>
                <a:spcPts val="1957"/>
              </a:lnSpc>
              <a:spcBef>
                <a:spcPts val="0"/>
              </a:spcBef>
              <a:spcAft>
                <a:spcPts val="0"/>
              </a:spcAft>
            </a:pPr>
            <a:r>
              <a:rPr sz="1350" b="0">
                <a:solidFill>
                  <a:srgbClr val="3D4450"/>
                </a:solidFill>
                <a:latin typeface="맑은 고딕"/>
                <a:ea typeface="맑은 고딕"/>
                <a:cs typeface="맑은 고딕"/>
              </a:rPr>
              <a:t>검사 대상: 대학생</a:t>
            </a:r>
          </a:p>
        </p:txBody>
      </p:sp>
      <p:sp>
        <p:nvSpPr>
          <p:cNvPr id="45" name="TextBox 44"/>
          <p:cNvSpPr txBox="1"/>
          <p:nvPr/>
        </p:nvSpPr>
        <p:spPr>
          <a:xfrm>
            <a:off x="6219825" y="4463355"/>
            <a:ext cx="6959918" cy="300038"/>
          </a:xfrm>
          <a:prstGeom prst="rect">
            <a:avLst/>
          </a:prstGeom>
          <a:noFill/>
        </p:spPr>
        <p:txBody>
          <a:bodyPr wrap="none" anchor="ctr" lIns="0" rIns="0" tIns="0" bIns="0">
            <a:noAutofit/>
          </a:bodyPr>
          <a:lstStyle/>
          <a:p>
            <a:pPr algn="l">
              <a:lnSpc>
                <a:spcPts val="1687"/>
              </a:lnSpc>
              <a:spcBef>
                <a:spcPts val="0"/>
              </a:spcBef>
              <a:spcAft>
                <a:spcPts val="0"/>
              </a:spcAft>
            </a:pPr>
            <a:r>
              <a:rPr sz="1125" b="0">
                <a:solidFill>
                  <a:srgbClr val="55606F"/>
                </a:solidFill>
                <a:latin typeface="맑은 고딕"/>
                <a:ea typeface="맑은 고딕"/>
                <a:cs typeface="맑은 고딕"/>
              </a:rPr>
              <a:t>※ 화면에는 다른 검사들도 함께 보입니다. 이름을 꼭 확인하세요.</a:t>
            </a:r>
          </a:p>
        </p:txBody>
      </p:sp>
      <p:sp>
        <p:nvSpPr>
          <p:cNvPr id="46" name="TextBox 45"/>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6858000"/>
          </a:xfrm>
          <a:prstGeom prst="rect">
            <a:avLst/>
          </a:prstGeom>
          <a:ln>
            <a:noFill/>
          </a:ln>
          <a:effectLst/>
          <a:gradFill rotWithShape="1">
            <a:gsLst>
              <a:gs pos="0">
                <a:srgbClr val="0A9EE0"/>
              </a:gs>
              <a:gs pos="42000">
                <a:srgbClr val="0086CE"/>
              </a:gs>
              <a:gs pos="100000">
                <a:srgbClr val="0070C0"/>
              </a:gs>
            </a:gsLst>
            <a:lin ang="18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706094" y="2789872"/>
            <a:ext cx="4828699" cy="1287780"/>
          </a:xfrm>
          <a:prstGeom prst="rect">
            <a:avLst/>
          </a:prstGeom>
          <a:noFill/>
        </p:spPr>
        <p:txBody>
          <a:bodyPr wrap="none" anchor="ctr" lIns="0" rIns="0" tIns="0" bIns="0">
            <a:noAutofit/>
          </a:bodyPr>
          <a:lstStyle/>
          <a:p>
            <a:pPr algn="l">
              <a:lnSpc>
                <a:spcPts val="8550"/>
              </a:lnSpc>
              <a:spcBef>
                <a:spcPts val="0"/>
              </a:spcBef>
              <a:spcAft>
                <a:spcPts val="0"/>
              </a:spcAft>
            </a:pPr>
            <a:r>
              <a:rPr sz="5700" b="1" spc="-228">
                <a:solidFill>
                  <a:srgbClr val="FFFFFF"/>
                </a:solidFill>
                <a:latin typeface="맑은 고딕"/>
                <a:ea typeface="맑은 고딕"/>
                <a:cs typeface="맑은 고딕"/>
              </a:rPr>
              <a:t>질의응답</a:t>
            </a:r>
          </a:p>
        </p:txBody>
      </p:sp>
      <p:sp>
        <p:nvSpPr>
          <p:cNvPr id="6" name="TextBox 5"/>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704850"/>
          </a:xfrm>
          <a:prstGeom prst="rect">
            <a:avLst/>
          </a:prstGeom>
          <a:ln>
            <a:noFill/>
          </a:ln>
          <a:effectLst/>
          <a:gradFill rotWithShape="1">
            <a:gsLst>
              <a:gs pos="0">
                <a:srgbClr val="0A9EE0"/>
              </a:gs>
              <a:gs pos="46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438150" y="112395"/>
            <a:ext cx="3979307" cy="494348"/>
          </a:xfrm>
          <a:prstGeom prst="rect">
            <a:avLst/>
          </a:prstGeom>
          <a:noFill/>
        </p:spPr>
        <p:txBody>
          <a:bodyPr wrap="none" anchor="ctr" lIns="0" rIns="0" tIns="0" bIns="0">
            <a:noAutofit/>
          </a:bodyPr>
          <a:lstStyle/>
          <a:p>
            <a:pPr algn="l">
              <a:lnSpc>
                <a:spcPts val="3037"/>
              </a:lnSpc>
              <a:spcBef>
                <a:spcPts val="0"/>
              </a:spcBef>
              <a:spcAft>
                <a:spcPts val="0"/>
              </a:spcAft>
            </a:pPr>
            <a:r>
              <a:rPr sz="2025" b="1" spc="-15">
                <a:solidFill>
                  <a:srgbClr val="FFF200"/>
                </a:solidFill>
                <a:latin typeface="맑은 고딕"/>
                <a:ea typeface="맑은 고딕"/>
                <a:cs typeface="맑은 고딕"/>
              </a:rPr>
              <a:t>생성형 AI 사용 지침</a:t>
            </a:r>
          </a:p>
        </p:txBody>
      </p:sp>
      <p:sp>
        <p:nvSpPr>
          <p:cNvPr id="6" name="TextBox 5"/>
          <p:cNvSpPr txBox="1"/>
          <p:nvPr/>
        </p:nvSpPr>
        <p:spPr>
          <a:xfrm>
            <a:off x="11063436" y="79058"/>
            <a:ext cx="1759982" cy="737235"/>
          </a:xfrm>
          <a:prstGeom prst="rect">
            <a:avLst/>
          </a:prstGeom>
          <a:noFill/>
        </p:spPr>
        <p:txBody>
          <a:bodyPr wrap="none" anchor="ctr" lIns="0" rIns="0" tIns="0" bIns="0">
            <a:noAutofit/>
          </a:bodyPr>
          <a:lstStyle/>
          <a:p>
            <a:pPr algn="l">
              <a:lnSpc>
                <a:spcPts val="3150"/>
              </a:lnSpc>
              <a:spcBef>
                <a:spcPts val="0"/>
              </a:spcBef>
              <a:spcAft>
                <a:spcPts val="0"/>
              </a:spcAft>
            </a:pPr>
            <a:r>
              <a:rPr sz="3150" b="1" spc="-142">
                <a:solidFill>
                  <a:srgbClr val="FFFFFF"/>
                </a:solidFill>
                <a:latin typeface="Arial"/>
                <a:ea typeface="맑은 고딕"/>
                <a:cs typeface="맑은 고딕"/>
              </a:rPr>
              <a:t>dima</a:t>
            </a:r>
          </a:p>
        </p:txBody>
      </p:sp>
      <p:sp>
        <p:nvSpPr>
          <p:cNvPr id="7" name="Oval 6"/>
          <p:cNvSpPr/>
          <p:nvPr/>
        </p:nvSpPr>
        <p:spPr>
          <a:xfrm>
            <a:off x="11298382" y="81724"/>
            <a:ext cx="76010" cy="76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150" y="1078557"/>
            <a:ext cx="11315700"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9" name="Connector 8"/>
          <p:cNvCxnSpPr/>
          <p:nvPr/>
        </p:nvCxnSpPr>
        <p:spPr>
          <a:xfrm>
            <a:off x="438150" y="1573857"/>
            <a:ext cx="11315700" cy="0"/>
          </a:xfrm>
          <a:prstGeom prst="line">
            <a:avLst/>
          </a:prstGeom>
          <a:ln w="19050">
            <a:solidFill>
              <a:srgbClr val="9DC3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8150" y="1028075"/>
            <a:ext cx="4994434" cy="510540"/>
          </a:xfrm>
          <a:prstGeom prst="rect">
            <a:avLst/>
          </a:prstGeom>
          <a:noFill/>
        </p:spPr>
        <p:txBody>
          <a:bodyPr wrap="none" anchor="ctr" lIns="0" rIns="0" tIns="0" bIns="0">
            <a:noAutofit/>
          </a:bodyPr>
          <a:lstStyle/>
          <a:p>
            <a:pPr algn="l">
              <a:lnSpc>
                <a:spcPts val="3150"/>
              </a:lnSpc>
              <a:spcBef>
                <a:spcPts val="0"/>
              </a:spcBef>
              <a:spcAft>
                <a:spcPts val="0"/>
              </a:spcAft>
            </a:pPr>
            <a:r>
              <a:rPr sz="2100" b="1" spc="-42">
                <a:solidFill>
                  <a:srgbClr val="16181D"/>
                </a:solidFill>
                <a:latin typeface="맑은 고딕"/>
                <a:ea typeface="맑은 고딕"/>
                <a:cs typeface="맑은 고딕"/>
              </a:rPr>
              <a:t>학생 생성형 AI 사용 지침</a:t>
            </a:r>
          </a:p>
        </p:txBody>
      </p:sp>
      <p:sp>
        <p:nvSpPr>
          <p:cNvPr id="11" name="Rounded Rectangle 10"/>
          <p:cNvSpPr/>
          <p:nvPr/>
        </p:nvSpPr>
        <p:spPr>
          <a:xfrm>
            <a:off x="438150" y="2071390"/>
            <a:ext cx="11315700" cy="500062"/>
          </a:xfrm>
          <a:prstGeom prst="roundRect">
            <a:avLst>
              <a:gd name="adj" fmla="val 15238"/>
            </a:avLst>
          </a:prstGeom>
          <a:solidFill>
            <a:srgbClr val="FFD78F"/>
          </a:solid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2"/>
          <a:stretch>
            <a:fillRect/>
          </a:stretch>
        </p:blipFill>
        <p:spPr>
          <a:xfrm>
            <a:off x="604838" y="2204740"/>
            <a:ext cx="219075" cy="219075"/>
          </a:xfrm>
          <a:prstGeom prst="rect">
            <a:avLst/>
          </a:prstGeom>
        </p:spPr>
      </p:pic>
      <p:sp>
        <p:nvSpPr>
          <p:cNvPr id="13" name="TextBox 12"/>
          <p:cNvSpPr txBox="1"/>
          <p:nvPr/>
        </p:nvSpPr>
        <p:spPr>
          <a:xfrm>
            <a:off x="904875" y="2141399"/>
            <a:ext cx="6783705" cy="364808"/>
          </a:xfrm>
          <a:prstGeom prst="rect">
            <a:avLst/>
          </a:prstGeom>
          <a:noFill/>
        </p:spPr>
        <p:txBody>
          <a:bodyPr wrap="none" anchor="ctr" lIns="0" rIns="0" tIns="0" bIns="0">
            <a:noAutofit/>
          </a:bodyPr>
          <a:lstStyle/>
          <a:p>
            <a:pPr algn="l">
              <a:lnSpc>
                <a:spcPts val="2137"/>
              </a:lnSpc>
              <a:spcBef>
                <a:spcPts val="0"/>
              </a:spcBef>
              <a:spcAft>
                <a:spcPts val="0"/>
              </a:spcAft>
            </a:pPr>
            <a:r>
              <a:rPr sz="1425" b="1">
                <a:solidFill>
                  <a:srgbClr val="16181D"/>
                </a:solidFill>
                <a:latin typeface="맑은 고딕"/>
                <a:ea typeface="맑은 고딕"/>
                <a:cs typeface="맑은 고딕"/>
              </a:rPr>
              <a:t>0) 모든 과제 및 발표자료, 팀프로젝트에 적용한다.</a:t>
            </a:r>
          </a:p>
        </p:txBody>
      </p:sp>
      <p:sp>
        <p:nvSpPr>
          <p:cNvPr id="14" name="Rounded Rectangle 13"/>
          <p:cNvSpPr/>
          <p:nvPr/>
        </p:nvSpPr>
        <p:spPr>
          <a:xfrm>
            <a:off x="1620892" y="2929789"/>
            <a:ext cx="2036379" cy="1231681"/>
          </a:xfrm>
          <a:prstGeom prst="roundRect">
            <a:avLst>
              <a:gd name="adj" fmla="val 9333"/>
            </a:avLst>
          </a:prstGeom>
          <a:solidFill>
            <a:srgbClr val="EDF4FC"/>
          </a:solidFill>
          <a:ln w="1642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3"/>
          <a:stretch>
            <a:fillRect/>
          </a:stretch>
        </p:blipFill>
        <p:spPr>
          <a:xfrm>
            <a:off x="2448582" y="3077914"/>
            <a:ext cx="381000" cy="381000"/>
          </a:xfrm>
          <a:prstGeom prst="rect">
            <a:avLst/>
          </a:prstGeom>
        </p:spPr>
      </p:pic>
      <p:sp>
        <p:nvSpPr>
          <p:cNvPr id="16" name="TextBox 15"/>
          <p:cNvSpPr txBox="1"/>
          <p:nvPr/>
        </p:nvSpPr>
        <p:spPr>
          <a:xfrm>
            <a:off x="2221768" y="3474430"/>
            <a:ext cx="836414" cy="321058"/>
          </a:xfrm>
          <a:prstGeom prst="rect">
            <a:avLst/>
          </a:prstGeom>
          <a:noFill/>
        </p:spPr>
        <p:txBody>
          <a:bodyPr wrap="none" lIns="0" rIns="0" tIns="0" bIns="0" anchor="ctr">
            <a:noAutofit/>
          </a:bodyPr>
          <a:lstStyle/>
          <a:p>
            <a:pPr algn="ctr">
              <a:lnSpc>
                <a:spcPts val="1784"/>
              </a:lnSpc>
            </a:pPr>
            <a:r>
              <a:rPr sz="1487" b="1">
                <a:solidFill>
                  <a:srgbClr val="0057A0"/>
                </a:solidFill>
                <a:latin typeface="맑은 고딕"/>
                <a:ea typeface="맑은 고딕"/>
                <a:cs typeface="맑은 고딕"/>
              </a:rPr>
              <a:t>초안</a:t>
            </a:r>
          </a:p>
        </p:txBody>
      </p:sp>
      <p:sp>
        <p:nvSpPr>
          <p:cNvPr id="17" name="TextBox 16"/>
          <p:cNvSpPr txBox="1"/>
          <p:nvPr/>
        </p:nvSpPr>
        <p:spPr>
          <a:xfrm>
            <a:off x="1980503" y="3773483"/>
            <a:ext cx="1317159" cy="237304"/>
          </a:xfrm>
          <a:prstGeom prst="rect">
            <a:avLst/>
          </a:prstGeom>
          <a:noFill/>
        </p:spPr>
        <p:txBody>
          <a:bodyPr wrap="none" lIns="0" rIns="0" tIns="0" bIns="0" anchor="ctr">
            <a:noAutofit/>
          </a:bodyPr>
          <a:lstStyle/>
          <a:p>
            <a:pPr algn="ctr">
              <a:lnSpc>
                <a:spcPts val="1318"/>
              </a:lnSpc>
            </a:pPr>
            <a:r>
              <a:rPr sz="1099" b="1">
                <a:solidFill>
                  <a:srgbClr val="3D4450"/>
                </a:solidFill>
                <a:latin typeface="맑은 고딕"/>
                <a:ea typeface="맑은 고딕"/>
                <a:cs typeface="맑은 고딕"/>
              </a:rPr>
              <a:t>AI 사용 허용</a:t>
            </a:r>
          </a:p>
        </p:txBody>
      </p:sp>
      <p:sp>
        <p:nvSpPr>
          <p:cNvPr id="18" name="Freeform 17"/>
          <p:cNvSpPr/>
          <p:nvPr/>
        </p:nvSpPr>
        <p:spPr>
          <a:xfrm>
            <a:off x="3690116" y="3488151"/>
            <a:ext cx="114957" cy="114957"/>
          </a:xfrm>
          <a:custGeom>
            <a:avLst/>
            <a:gdLst/>
            <a:ahLst/>
            <a:cxnLst/>
            <a:rect l="l" t="t" r="r" b="b"/>
            <a:pathLst>
              <a:path w="114957" h="114957">
                <a:moveTo>
                  <a:pt x="0" y="0"/>
                </a:moveTo>
                <a:lnTo>
                  <a:pt x="114957" y="57479"/>
                </a:lnTo>
                <a:lnTo>
                  <a:pt x="0" y="114957"/>
                </a:lnTo>
                <a:close/>
              </a:path>
            </a:pathLst>
          </a:cu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57272" y="3545630"/>
            <a:ext cx="65689" cy="0"/>
          </a:xfrm>
          <a:custGeom>
            <a:avLst/>
            <a:gdLst/>
            <a:ahLst/>
            <a:cxnLst/>
            <a:rect l="l" t="t" r="r" b="b"/>
            <a:pathLst>
              <a:path w="65689" h="0">
                <a:moveTo>
                  <a:pt x="0" y="0"/>
                </a:moveTo>
                <a:lnTo>
                  <a:pt x="65689" y="0"/>
                </a:lnTo>
                <a:close/>
              </a:path>
            </a:pathLst>
          </a:custGeom>
          <a:noFill/>
          <a:ln w="24634">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54341" y="2929789"/>
            <a:ext cx="2036379" cy="1231681"/>
          </a:xfrm>
          <a:prstGeom prst="roundRect">
            <a:avLst>
              <a:gd name="adj" fmla="val 9333"/>
            </a:avLst>
          </a:prstGeom>
          <a:solidFill>
            <a:srgbClr val="DCE9F8"/>
          </a:solidFill>
          <a:ln w="16422">
            <a:solidFill>
              <a:srgbClr val="9DC3E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1" name="Picture 20" descr="image.png"/>
          <p:cNvPicPr>
            <a:picLocks noChangeAspect="1"/>
          </p:cNvPicPr>
          <p:nvPr/>
        </p:nvPicPr>
        <p:blipFill>
          <a:blip r:embed="rId4"/>
          <a:stretch>
            <a:fillRect/>
          </a:stretch>
        </p:blipFill>
        <p:spPr>
          <a:xfrm>
            <a:off x="4682030" y="3077914"/>
            <a:ext cx="381000" cy="381000"/>
          </a:xfrm>
          <a:prstGeom prst="rect">
            <a:avLst/>
          </a:prstGeom>
        </p:spPr>
      </p:pic>
      <p:sp>
        <p:nvSpPr>
          <p:cNvPr id="22" name="TextBox 21"/>
          <p:cNvSpPr txBox="1"/>
          <p:nvPr/>
        </p:nvSpPr>
        <p:spPr>
          <a:xfrm>
            <a:off x="3915067" y="3474430"/>
            <a:ext cx="1905401" cy="321058"/>
          </a:xfrm>
          <a:prstGeom prst="rect">
            <a:avLst/>
          </a:prstGeom>
          <a:noFill/>
        </p:spPr>
        <p:txBody>
          <a:bodyPr wrap="none" lIns="0" rIns="0" tIns="0" bIns="0" anchor="ctr">
            <a:noAutofit/>
          </a:bodyPr>
          <a:lstStyle/>
          <a:p>
            <a:pPr algn="ctr">
              <a:lnSpc>
                <a:spcPts val="1784"/>
              </a:lnSpc>
            </a:pPr>
            <a:r>
              <a:rPr sz="1487" b="1">
                <a:solidFill>
                  <a:srgbClr val="0057A0"/>
                </a:solidFill>
                <a:latin typeface="맑은 고딕"/>
                <a:ea typeface="맑은 고딕"/>
                <a:cs typeface="맑은 고딕"/>
              </a:rPr>
              <a:t>재해석 · 발전</a:t>
            </a:r>
          </a:p>
        </p:txBody>
      </p:sp>
      <p:sp>
        <p:nvSpPr>
          <p:cNvPr id="23" name="TextBox 22"/>
          <p:cNvSpPr txBox="1"/>
          <p:nvPr/>
        </p:nvSpPr>
        <p:spPr>
          <a:xfrm>
            <a:off x="4008611" y="3773483"/>
            <a:ext cx="1731162" cy="237304"/>
          </a:xfrm>
          <a:prstGeom prst="rect">
            <a:avLst/>
          </a:prstGeom>
          <a:noFill/>
        </p:spPr>
        <p:txBody>
          <a:bodyPr wrap="none" lIns="0" rIns="0" tIns="0" bIns="0" anchor="ctr">
            <a:noAutofit/>
          </a:bodyPr>
          <a:lstStyle/>
          <a:p>
            <a:pPr algn="ctr">
              <a:lnSpc>
                <a:spcPts val="1318"/>
              </a:lnSpc>
            </a:pPr>
            <a:r>
              <a:rPr sz="1099" b="1">
                <a:solidFill>
                  <a:srgbClr val="3D4450"/>
                </a:solidFill>
                <a:latin typeface="맑은 고딕"/>
                <a:ea typeface="맑은 고딕"/>
                <a:cs typeface="맑은 고딕"/>
              </a:rPr>
              <a:t>사람이 변형한다</a:t>
            </a:r>
          </a:p>
        </p:txBody>
      </p:sp>
      <p:sp>
        <p:nvSpPr>
          <p:cNvPr id="24" name="Freeform 23"/>
          <p:cNvSpPr/>
          <p:nvPr/>
        </p:nvSpPr>
        <p:spPr>
          <a:xfrm>
            <a:off x="5923565" y="3488151"/>
            <a:ext cx="114957" cy="114957"/>
          </a:xfrm>
          <a:custGeom>
            <a:avLst/>
            <a:gdLst/>
            <a:ahLst/>
            <a:cxnLst/>
            <a:rect l="l" t="t" r="r" b="b"/>
            <a:pathLst>
              <a:path w="114957" h="114957">
                <a:moveTo>
                  <a:pt x="0" y="0"/>
                </a:moveTo>
                <a:lnTo>
                  <a:pt x="114957" y="57479"/>
                </a:lnTo>
                <a:lnTo>
                  <a:pt x="0" y="114957"/>
                </a:lnTo>
                <a:close/>
              </a:path>
            </a:pathLst>
          </a:cu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5890720" y="3545630"/>
            <a:ext cx="65689" cy="0"/>
          </a:xfrm>
          <a:custGeom>
            <a:avLst/>
            <a:gdLst/>
            <a:ahLst/>
            <a:cxnLst/>
            <a:rect l="l" t="t" r="r" b="b"/>
            <a:pathLst>
              <a:path w="65689" h="0">
                <a:moveTo>
                  <a:pt x="0" y="0"/>
                </a:moveTo>
                <a:lnTo>
                  <a:pt x="65689" y="0"/>
                </a:lnTo>
                <a:close/>
              </a:path>
            </a:pathLst>
          </a:custGeom>
          <a:noFill/>
          <a:ln w="24634">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7789" y="2929789"/>
            <a:ext cx="2036379" cy="1231681"/>
          </a:xfrm>
          <a:prstGeom prst="roundRect">
            <a:avLst>
              <a:gd name="adj" fmla="val 9333"/>
            </a:avLst>
          </a:prstGeom>
          <a:solidFill>
            <a:srgbClr val="FFD78F"/>
          </a:solidFill>
          <a:ln w="16422">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7" name="Picture 26" descr="image.png"/>
          <p:cNvPicPr>
            <a:picLocks noChangeAspect="1"/>
          </p:cNvPicPr>
          <p:nvPr/>
        </p:nvPicPr>
        <p:blipFill>
          <a:blip r:embed="rId5"/>
          <a:stretch>
            <a:fillRect/>
          </a:stretch>
        </p:blipFill>
        <p:spPr>
          <a:xfrm>
            <a:off x="6915478" y="3077914"/>
            <a:ext cx="381000" cy="381000"/>
          </a:xfrm>
          <a:prstGeom prst="rect">
            <a:avLst/>
          </a:prstGeom>
        </p:spPr>
      </p:pic>
      <p:sp>
        <p:nvSpPr>
          <p:cNvPr id="28" name="TextBox 27"/>
          <p:cNvSpPr txBox="1"/>
          <p:nvPr/>
        </p:nvSpPr>
        <p:spPr>
          <a:xfrm>
            <a:off x="6321781" y="3474430"/>
            <a:ext cx="1568395" cy="321058"/>
          </a:xfrm>
          <a:prstGeom prst="rect">
            <a:avLst/>
          </a:prstGeom>
          <a:noFill/>
        </p:spPr>
        <p:txBody>
          <a:bodyPr wrap="none" lIns="0" rIns="0" tIns="0" bIns="0" anchor="ctr">
            <a:noAutofit/>
          </a:bodyPr>
          <a:lstStyle/>
          <a:p>
            <a:pPr algn="ctr">
              <a:lnSpc>
                <a:spcPts val="1784"/>
              </a:lnSpc>
            </a:pPr>
            <a:r>
              <a:rPr sz="1487" b="1">
                <a:solidFill>
                  <a:srgbClr val="4A3208"/>
                </a:solidFill>
                <a:latin typeface="맑은 고딕"/>
                <a:ea typeface="맑은 고딕"/>
                <a:cs typeface="맑은 고딕"/>
              </a:rPr>
              <a:t>핵심 · 결론</a:t>
            </a:r>
          </a:p>
        </p:txBody>
      </p:sp>
      <p:sp>
        <p:nvSpPr>
          <p:cNvPr id="29" name="TextBox 28"/>
          <p:cNvSpPr txBox="1"/>
          <p:nvPr/>
        </p:nvSpPr>
        <p:spPr>
          <a:xfrm>
            <a:off x="6091797" y="3773483"/>
            <a:ext cx="2028364" cy="237304"/>
          </a:xfrm>
          <a:prstGeom prst="rect">
            <a:avLst/>
          </a:prstGeom>
          <a:noFill/>
        </p:spPr>
        <p:txBody>
          <a:bodyPr wrap="none" lIns="0" rIns="0" tIns="0" bIns="0" anchor="ctr">
            <a:noAutofit/>
          </a:bodyPr>
          <a:lstStyle/>
          <a:p>
            <a:pPr algn="ctr">
              <a:lnSpc>
                <a:spcPts val="1318"/>
              </a:lnSpc>
            </a:pPr>
            <a:r>
              <a:rPr sz="1099" b="1">
                <a:solidFill>
                  <a:srgbClr val="3D4450"/>
                </a:solidFill>
                <a:latin typeface="맑은 고딕"/>
                <a:ea typeface="맑은 고딕"/>
                <a:cs typeface="맑은 고딕"/>
              </a:rPr>
              <a:t>반드시 사람이 직접</a:t>
            </a:r>
          </a:p>
        </p:txBody>
      </p:sp>
      <p:sp>
        <p:nvSpPr>
          <p:cNvPr id="30" name="Freeform 29"/>
          <p:cNvSpPr/>
          <p:nvPr/>
        </p:nvSpPr>
        <p:spPr>
          <a:xfrm>
            <a:off x="8157013" y="3488151"/>
            <a:ext cx="114957" cy="114957"/>
          </a:xfrm>
          <a:custGeom>
            <a:avLst/>
            <a:gdLst/>
            <a:ahLst/>
            <a:cxnLst/>
            <a:rect l="l" t="t" r="r" b="b"/>
            <a:pathLst>
              <a:path w="114957" h="114957">
                <a:moveTo>
                  <a:pt x="0" y="0"/>
                </a:moveTo>
                <a:lnTo>
                  <a:pt x="114957" y="57479"/>
                </a:lnTo>
                <a:lnTo>
                  <a:pt x="0" y="114957"/>
                </a:lnTo>
                <a:close/>
              </a:path>
            </a:pathLst>
          </a:cu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124168" y="3545630"/>
            <a:ext cx="65690" cy="0"/>
          </a:xfrm>
          <a:custGeom>
            <a:avLst/>
            <a:gdLst/>
            <a:ahLst/>
            <a:cxnLst/>
            <a:rect l="l" t="t" r="r" b="b"/>
            <a:pathLst>
              <a:path w="65690" h="0">
                <a:moveTo>
                  <a:pt x="0" y="0"/>
                </a:moveTo>
                <a:lnTo>
                  <a:pt x="65690" y="0"/>
                </a:lnTo>
                <a:close/>
              </a:path>
            </a:pathLst>
          </a:custGeom>
          <a:noFill/>
          <a:ln w="24634">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21237" y="2929789"/>
            <a:ext cx="2036379" cy="1231681"/>
          </a:xfrm>
          <a:prstGeom prst="roundRect">
            <a:avLst>
              <a:gd name="adj" fmla="val 9333"/>
            </a:avLst>
          </a:prstGeom>
          <a:solidFill>
            <a:srgbClr val="FFFFFF"/>
          </a:solidFill>
          <a:ln w="16422">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6"/>
          <a:stretch>
            <a:fillRect/>
          </a:stretch>
        </p:blipFill>
        <p:spPr>
          <a:xfrm>
            <a:off x="9148927" y="3077914"/>
            <a:ext cx="381000" cy="381000"/>
          </a:xfrm>
          <a:prstGeom prst="rect">
            <a:avLst/>
          </a:prstGeom>
        </p:spPr>
      </p:pic>
      <p:sp>
        <p:nvSpPr>
          <p:cNvPr id="34" name="TextBox 33"/>
          <p:cNvSpPr txBox="1"/>
          <p:nvPr/>
        </p:nvSpPr>
        <p:spPr>
          <a:xfrm>
            <a:off x="8234414" y="3474430"/>
            <a:ext cx="2210025" cy="321058"/>
          </a:xfrm>
          <a:prstGeom prst="rect">
            <a:avLst/>
          </a:prstGeom>
          <a:noFill/>
        </p:spPr>
        <p:txBody>
          <a:bodyPr wrap="none" lIns="0" rIns="0" tIns="0" bIns="0" anchor="ctr">
            <a:noAutofit/>
          </a:bodyPr>
          <a:lstStyle/>
          <a:p>
            <a:pPr algn="ctr">
              <a:lnSpc>
                <a:spcPts val="1784"/>
              </a:lnSpc>
            </a:pPr>
            <a:r>
              <a:rPr sz="1487" b="1">
                <a:solidFill>
                  <a:srgbClr val="C00000"/>
                </a:solidFill>
                <a:latin typeface="맑은 고딕"/>
                <a:ea typeface="맑은 고딕"/>
                <a:cs typeface="맑은 고딕"/>
              </a:rPr>
              <a:t>출처 · 프롬프트</a:t>
            </a:r>
          </a:p>
        </p:txBody>
      </p:sp>
      <p:sp>
        <p:nvSpPr>
          <p:cNvPr id="35" name="TextBox 34"/>
          <p:cNvSpPr txBox="1"/>
          <p:nvPr/>
        </p:nvSpPr>
        <p:spPr>
          <a:xfrm>
            <a:off x="8475508" y="3773483"/>
            <a:ext cx="1731161" cy="237304"/>
          </a:xfrm>
          <a:prstGeom prst="rect">
            <a:avLst/>
          </a:prstGeom>
          <a:noFill/>
        </p:spPr>
        <p:txBody>
          <a:bodyPr wrap="none" lIns="0" rIns="0" tIns="0" bIns="0" anchor="ctr">
            <a:noAutofit/>
          </a:bodyPr>
          <a:lstStyle/>
          <a:p>
            <a:pPr algn="ctr">
              <a:lnSpc>
                <a:spcPts val="1318"/>
              </a:lnSpc>
            </a:pPr>
            <a:r>
              <a:rPr sz="1099" b="1">
                <a:solidFill>
                  <a:srgbClr val="3D4450"/>
                </a:solidFill>
                <a:latin typeface="맑은 고딕"/>
                <a:ea typeface="맑은 고딕"/>
                <a:cs typeface="맑은 고딕"/>
              </a:rPr>
              <a:t>반드시 명시한다</a:t>
            </a:r>
          </a:p>
        </p:txBody>
      </p:sp>
      <p:sp>
        <p:nvSpPr>
          <p:cNvPr id="36" name="Oval 35"/>
          <p:cNvSpPr/>
          <p:nvPr/>
        </p:nvSpPr>
        <p:spPr>
          <a:xfrm>
            <a:off x="438150" y="4381202"/>
            <a:ext cx="266700" cy="2667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9550" y="4381202"/>
            <a:ext cx="723900" cy="266700"/>
          </a:xfrm>
          <a:prstGeom prst="rect">
            <a:avLst/>
          </a:prstGeom>
          <a:noFill/>
        </p:spPr>
        <p:txBody>
          <a:bodyPr wrap="none" lIns="0" rIns="0" tIns="0" bIns="0" anchor="ctr">
            <a:noAutofit/>
          </a:bodyPr>
          <a:lstStyle/>
          <a:p>
            <a:pPr algn="ctr">
              <a:lnSpc>
                <a:spcPts val="1439"/>
              </a:lnSpc>
            </a:pPr>
            <a:r>
              <a:rPr sz="1200" b="1">
                <a:solidFill>
                  <a:srgbClr val="FFFFFF"/>
                </a:solidFill>
                <a:latin typeface="Arial"/>
                <a:ea typeface="맑은 고딕"/>
                <a:cs typeface="맑은 고딕"/>
              </a:rPr>
              <a:t>1</a:t>
            </a:r>
          </a:p>
        </p:txBody>
      </p:sp>
      <p:sp>
        <p:nvSpPr>
          <p:cNvPr id="38" name="TextBox 37"/>
          <p:cNvSpPr txBox="1"/>
          <p:nvPr/>
        </p:nvSpPr>
        <p:spPr>
          <a:xfrm>
            <a:off x="866775" y="4324529"/>
            <a:ext cx="5476637" cy="332422"/>
          </a:xfrm>
          <a:prstGeom prst="rect">
            <a:avLst/>
          </a:prstGeom>
          <a:noFill/>
        </p:spPr>
        <p:txBody>
          <a:bodyPr wrap="none" anchor="ctr" lIns="0" rIns="0" tIns="0" bIns="0">
            <a:noAutofit/>
          </a:bodyPr>
          <a:lstStyle/>
          <a:p>
            <a:pPr algn="l">
              <a:lnSpc>
                <a:spcPts val="1810"/>
              </a:lnSpc>
              <a:spcBef>
                <a:spcPts val="0"/>
              </a:spcBef>
              <a:spcAft>
                <a:spcPts val="0"/>
              </a:spcAft>
            </a:pPr>
            <a:r>
              <a:rPr sz="1275" b="0">
                <a:solidFill>
                  <a:srgbClr val="3D4450"/>
                </a:solidFill>
                <a:latin typeface="맑은 고딕"/>
                <a:ea typeface="맑은 고딕"/>
                <a:cs typeface="맑은 고딕"/>
              </a:rPr>
              <a:t>초안본 작성에는 </a:t>
            </a:r>
            <a:r>
              <a:rPr sz="1275" b="1">
                <a:solidFill>
                  <a:srgbClr val="16181D"/>
                </a:solidFill>
                <a:latin typeface="맑은 고딕"/>
                <a:ea typeface="맑은 고딕"/>
                <a:cs typeface="맑은 고딕"/>
              </a:rPr>
              <a:t>생성형 AI 사용을 허용</a:t>
            </a:r>
            <a:r>
              <a:rPr sz="1275" b="0">
                <a:solidFill>
                  <a:srgbClr val="3D4450"/>
                </a:solidFill>
                <a:latin typeface="맑은 고딕"/>
                <a:ea typeface="맑은 고딕"/>
                <a:cs typeface="맑은 고딕"/>
              </a:rPr>
              <a:t>한다.</a:t>
            </a:r>
          </a:p>
        </p:txBody>
      </p:sp>
      <p:sp>
        <p:nvSpPr>
          <p:cNvPr id="39" name="Oval 38"/>
          <p:cNvSpPr/>
          <p:nvPr/>
        </p:nvSpPr>
        <p:spPr>
          <a:xfrm>
            <a:off x="438150" y="4668143"/>
            <a:ext cx="266700" cy="2667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9550" y="4668143"/>
            <a:ext cx="723900" cy="266700"/>
          </a:xfrm>
          <a:prstGeom prst="rect">
            <a:avLst/>
          </a:prstGeom>
          <a:noFill/>
        </p:spPr>
        <p:txBody>
          <a:bodyPr wrap="none" lIns="0" rIns="0" tIns="0" bIns="0" anchor="ctr">
            <a:noAutofit/>
          </a:bodyPr>
          <a:lstStyle/>
          <a:p>
            <a:pPr algn="ctr">
              <a:lnSpc>
                <a:spcPts val="1439"/>
              </a:lnSpc>
            </a:pPr>
            <a:r>
              <a:rPr sz="1200" b="1">
                <a:solidFill>
                  <a:srgbClr val="FFFFFF"/>
                </a:solidFill>
                <a:latin typeface="Arial"/>
                <a:ea typeface="맑은 고딕"/>
                <a:cs typeface="맑은 고딕"/>
              </a:rPr>
              <a:t>2</a:t>
            </a:r>
          </a:p>
        </p:txBody>
      </p:sp>
      <p:sp>
        <p:nvSpPr>
          <p:cNvPr id="41" name="TextBox 40"/>
          <p:cNvSpPr txBox="1"/>
          <p:nvPr/>
        </p:nvSpPr>
        <p:spPr>
          <a:xfrm>
            <a:off x="866775" y="4611469"/>
            <a:ext cx="8427244" cy="332422"/>
          </a:xfrm>
          <a:prstGeom prst="rect">
            <a:avLst/>
          </a:prstGeom>
          <a:noFill/>
        </p:spPr>
        <p:txBody>
          <a:bodyPr wrap="none" anchor="ctr" lIns="0" rIns="0" tIns="0" bIns="0">
            <a:noAutofit/>
          </a:bodyPr>
          <a:lstStyle/>
          <a:p>
            <a:pPr algn="l">
              <a:lnSpc>
                <a:spcPts val="1810"/>
              </a:lnSpc>
              <a:spcBef>
                <a:spcPts val="0"/>
              </a:spcBef>
              <a:spcAft>
                <a:spcPts val="0"/>
              </a:spcAft>
            </a:pPr>
            <a:r>
              <a:rPr sz="1275" b="0">
                <a:solidFill>
                  <a:srgbClr val="3D4450"/>
                </a:solidFill>
                <a:latin typeface="맑은 고딕"/>
                <a:ea typeface="맑은 고딕"/>
                <a:cs typeface="맑은 고딕"/>
              </a:rPr>
              <a:t>핵심 아이디어, 최종 분석과 결론은 </a:t>
            </a:r>
            <a:r>
              <a:rPr sz="1275" b="1">
                <a:solidFill>
                  <a:srgbClr val="C00000"/>
                </a:solidFill>
                <a:latin typeface="맑은 고딕"/>
                <a:ea typeface="맑은 고딕"/>
                <a:cs typeface="맑은 고딕"/>
              </a:rPr>
              <a:t>반드시 사람이 직접</a:t>
            </a:r>
            <a:r>
              <a:rPr sz="1275" b="0">
                <a:solidFill>
                  <a:srgbClr val="3D4450"/>
                </a:solidFill>
                <a:latin typeface="맑은 고딕"/>
                <a:ea typeface="맑은 고딕"/>
                <a:cs typeface="맑은 고딕"/>
              </a:rPr>
              <a:t> 작성해야 한다.</a:t>
            </a:r>
          </a:p>
        </p:txBody>
      </p:sp>
      <p:sp>
        <p:nvSpPr>
          <p:cNvPr id="42" name="Oval 41"/>
          <p:cNvSpPr/>
          <p:nvPr/>
        </p:nvSpPr>
        <p:spPr>
          <a:xfrm>
            <a:off x="438150" y="4955084"/>
            <a:ext cx="266700" cy="2667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9550" y="4955084"/>
            <a:ext cx="723900" cy="266700"/>
          </a:xfrm>
          <a:prstGeom prst="rect">
            <a:avLst/>
          </a:prstGeom>
          <a:noFill/>
        </p:spPr>
        <p:txBody>
          <a:bodyPr wrap="none" lIns="0" rIns="0" tIns="0" bIns="0" anchor="ctr">
            <a:noAutofit/>
          </a:bodyPr>
          <a:lstStyle/>
          <a:p>
            <a:pPr algn="ctr">
              <a:lnSpc>
                <a:spcPts val="1439"/>
              </a:lnSpc>
            </a:pPr>
            <a:r>
              <a:rPr sz="1200" b="1">
                <a:solidFill>
                  <a:srgbClr val="FFFFFF"/>
                </a:solidFill>
                <a:latin typeface="Arial"/>
                <a:ea typeface="맑은 고딕"/>
                <a:cs typeface="맑은 고딕"/>
              </a:rPr>
              <a:t>3</a:t>
            </a:r>
          </a:p>
        </p:txBody>
      </p:sp>
      <p:sp>
        <p:nvSpPr>
          <p:cNvPr id="44" name="TextBox 43"/>
          <p:cNvSpPr txBox="1"/>
          <p:nvPr/>
        </p:nvSpPr>
        <p:spPr>
          <a:xfrm>
            <a:off x="866775" y="4945559"/>
            <a:ext cx="5935414" cy="497681"/>
          </a:xfrm>
          <a:prstGeom prst="rect">
            <a:avLst/>
          </a:prstGeom>
          <a:noFill/>
        </p:spPr>
        <p:txBody>
          <a:bodyPr wrap="square" anchor="t" lIns="0" rIns="0" tIns="0" bIns="0">
            <a:noAutofit/>
          </a:bodyPr>
          <a:lstStyle/>
          <a:p>
            <a:pPr algn="l">
              <a:lnSpc>
                <a:spcPts val="1810"/>
              </a:lnSpc>
              <a:spcBef>
                <a:spcPts val="0"/>
              </a:spcBef>
              <a:spcAft>
                <a:spcPts val="0"/>
              </a:spcAft>
            </a:pPr>
            <a:r>
              <a:rPr sz="1275" b="0">
                <a:solidFill>
                  <a:srgbClr val="3D4450"/>
                </a:solidFill>
                <a:latin typeface="맑은 고딕"/>
                <a:ea typeface="맑은 고딕"/>
                <a:cs typeface="맑은 고딕"/>
              </a:rPr>
              <a:t>생성형 AI 사용 시 </a:t>
            </a:r>
            <a:r>
              <a:rPr sz="1275" b="1">
                <a:solidFill>
                  <a:srgbClr val="16181D"/>
                </a:solidFill>
                <a:latin typeface="맑은 고딕"/>
                <a:ea typeface="맑은 고딕"/>
                <a:cs typeface="맑은 고딕"/>
              </a:rPr>
              <a:t>서비스 종류·활용 목적·활용 범위</a:t>
            </a:r>
            <a:r>
              <a:rPr sz="1275" b="0">
                <a:solidFill>
                  <a:srgbClr val="3D4450"/>
                </a:solidFill>
                <a:latin typeface="맑은 고딕"/>
                <a:ea typeface="맑은 고딕"/>
                <a:cs typeface="맑은 고딕"/>
              </a:rPr>
              <a:t>를 명시하고 출처를 표기한다. — 사용한 프롬프트를 </a:t>
            </a:r>
            <a:r>
              <a:rPr sz="1275" b="1">
                <a:solidFill>
                  <a:srgbClr val="C00000"/>
                </a:solidFill>
                <a:latin typeface="맑은 고딕"/>
                <a:ea typeface="맑은 고딕"/>
                <a:cs typeface="맑은 고딕"/>
              </a:rPr>
              <a:t>반드시 제시</a:t>
            </a:r>
            <a:r>
              <a:rPr sz="1275" b="0">
                <a:solidFill>
                  <a:srgbClr val="3D4450"/>
                </a:solidFill>
                <a:latin typeface="맑은 고딕"/>
                <a:ea typeface="맑은 고딕"/>
                <a:cs typeface="맑은 고딕"/>
              </a:rPr>
              <a:t>해야 한다 (메타 프롬프트 포함).</a:t>
            </a:r>
          </a:p>
        </p:txBody>
      </p:sp>
      <p:sp>
        <p:nvSpPr>
          <p:cNvPr id="45" name="Oval 44"/>
          <p:cNvSpPr/>
          <p:nvPr/>
        </p:nvSpPr>
        <p:spPr>
          <a:xfrm>
            <a:off x="438150" y="5471815"/>
            <a:ext cx="266700" cy="2667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9550" y="5471815"/>
            <a:ext cx="723900" cy="266700"/>
          </a:xfrm>
          <a:prstGeom prst="rect">
            <a:avLst/>
          </a:prstGeom>
          <a:noFill/>
        </p:spPr>
        <p:txBody>
          <a:bodyPr wrap="none" lIns="0" rIns="0" tIns="0" bIns="0" anchor="ctr">
            <a:noAutofit/>
          </a:bodyPr>
          <a:lstStyle/>
          <a:p>
            <a:pPr algn="ctr">
              <a:lnSpc>
                <a:spcPts val="1439"/>
              </a:lnSpc>
            </a:pPr>
            <a:r>
              <a:rPr sz="1200" b="1">
                <a:solidFill>
                  <a:srgbClr val="FFFFFF"/>
                </a:solidFill>
                <a:latin typeface="Arial"/>
                <a:ea typeface="맑은 고딕"/>
                <a:cs typeface="맑은 고딕"/>
              </a:rPr>
              <a:t>4</a:t>
            </a:r>
          </a:p>
        </p:txBody>
      </p:sp>
      <p:sp>
        <p:nvSpPr>
          <p:cNvPr id="47" name="TextBox 46"/>
          <p:cNvSpPr txBox="1"/>
          <p:nvPr/>
        </p:nvSpPr>
        <p:spPr>
          <a:xfrm>
            <a:off x="866775" y="5415141"/>
            <a:ext cx="6916102" cy="332422"/>
          </a:xfrm>
          <a:prstGeom prst="rect">
            <a:avLst/>
          </a:prstGeom>
          <a:noFill/>
        </p:spPr>
        <p:txBody>
          <a:bodyPr wrap="none" anchor="ctr" lIns="0" rIns="0" tIns="0" bIns="0">
            <a:noAutofit/>
          </a:bodyPr>
          <a:lstStyle/>
          <a:p>
            <a:pPr algn="l">
              <a:lnSpc>
                <a:spcPts val="1810"/>
              </a:lnSpc>
              <a:spcBef>
                <a:spcPts val="0"/>
              </a:spcBef>
              <a:spcAft>
                <a:spcPts val="0"/>
              </a:spcAft>
            </a:pPr>
            <a:r>
              <a:rPr sz="1275" b="0">
                <a:solidFill>
                  <a:srgbClr val="3D4450"/>
                </a:solidFill>
                <a:latin typeface="맑은 고딕"/>
                <a:ea typeface="맑은 고딕"/>
                <a:cs typeface="맑은 고딕"/>
              </a:rPr>
              <a:t>AI 답변을 그대로 쓰지 않고 </a:t>
            </a:r>
            <a:r>
              <a:rPr sz="1275" b="1">
                <a:solidFill>
                  <a:srgbClr val="16181D"/>
                </a:solidFill>
                <a:latin typeface="맑은 고딕"/>
                <a:ea typeface="맑은 고딕"/>
                <a:cs typeface="맑은 고딕"/>
              </a:rPr>
              <a:t>재해석·변형</a:t>
            </a:r>
            <a:r>
              <a:rPr sz="1275" b="0">
                <a:solidFill>
                  <a:srgbClr val="3D4450"/>
                </a:solidFill>
                <a:latin typeface="맑은 고딕"/>
                <a:ea typeface="맑은 고딕"/>
                <a:cs typeface="맑은 고딕"/>
              </a:rPr>
              <a:t>하여 발전시킨다.</a:t>
            </a:r>
          </a:p>
        </p:txBody>
      </p:sp>
      <p:sp>
        <p:nvSpPr>
          <p:cNvPr id="48" name="Oval 47"/>
          <p:cNvSpPr/>
          <p:nvPr/>
        </p:nvSpPr>
        <p:spPr>
          <a:xfrm>
            <a:off x="438150" y="5758755"/>
            <a:ext cx="266700" cy="2667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9550" y="5758755"/>
            <a:ext cx="723900" cy="266700"/>
          </a:xfrm>
          <a:prstGeom prst="rect">
            <a:avLst/>
          </a:prstGeom>
          <a:noFill/>
        </p:spPr>
        <p:txBody>
          <a:bodyPr wrap="none" lIns="0" rIns="0" tIns="0" bIns="0" anchor="ctr">
            <a:noAutofit/>
          </a:bodyPr>
          <a:lstStyle/>
          <a:p>
            <a:pPr algn="ctr">
              <a:lnSpc>
                <a:spcPts val="1439"/>
              </a:lnSpc>
            </a:pPr>
            <a:r>
              <a:rPr sz="1200" b="1">
                <a:solidFill>
                  <a:srgbClr val="FFFFFF"/>
                </a:solidFill>
                <a:latin typeface="Arial"/>
                <a:ea typeface="맑은 고딕"/>
                <a:cs typeface="맑은 고딕"/>
              </a:rPr>
              <a:t>5</a:t>
            </a:r>
          </a:p>
        </p:txBody>
      </p:sp>
      <p:sp>
        <p:nvSpPr>
          <p:cNvPr id="50" name="TextBox 49"/>
          <p:cNvSpPr txBox="1"/>
          <p:nvPr/>
        </p:nvSpPr>
        <p:spPr>
          <a:xfrm>
            <a:off x="866775" y="5702082"/>
            <a:ext cx="8024098" cy="332422"/>
          </a:xfrm>
          <a:prstGeom prst="rect">
            <a:avLst/>
          </a:prstGeom>
          <a:noFill/>
        </p:spPr>
        <p:txBody>
          <a:bodyPr wrap="none" anchor="ctr" lIns="0" rIns="0" tIns="0" bIns="0">
            <a:noAutofit/>
          </a:bodyPr>
          <a:lstStyle/>
          <a:p>
            <a:pPr algn="l">
              <a:lnSpc>
                <a:spcPts val="1810"/>
              </a:lnSpc>
              <a:spcBef>
                <a:spcPts val="0"/>
              </a:spcBef>
              <a:spcAft>
                <a:spcPts val="0"/>
              </a:spcAft>
            </a:pPr>
            <a:r>
              <a:rPr sz="1275" b="0">
                <a:solidFill>
                  <a:srgbClr val="3D4450"/>
                </a:solidFill>
                <a:latin typeface="맑은 고딕"/>
                <a:ea typeface="맑은 고딕"/>
                <a:cs typeface="맑은 고딕"/>
              </a:rPr>
              <a:t>지침 위반 시 </a:t>
            </a:r>
            <a:r>
              <a:rPr sz="1275" b="1">
                <a:solidFill>
                  <a:srgbClr val="C00000"/>
                </a:solidFill>
                <a:latin typeface="맑은 고딕"/>
                <a:ea typeface="맑은 고딕"/>
                <a:cs typeface="맑은 고딕"/>
              </a:rPr>
              <a:t>모든 불이익은 작성자인 담당자</a:t>
            </a:r>
            <a:r>
              <a:rPr sz="1275" b="0">
                <a:solidFill>
                  <a:srgbClr val="3D4450"/>
                </a:solidFill>
                <a:latin typeface="맑은 고딕"/>
                <a:ea typeface="맑은 고딕"/>
                <a:cs typeface="맑은 고딕"/>
              </a:rPr>
              <a:t>에게 있음을 고지한다.</a:t>
            </a:r>
          </a:p>
        </p:txBody>
      </p:sp>
      <p:sp>
        <p:nvSpPr>
          <p:cNvPr id="51" name="Rounded Rectangle 50"/>
          <p:cNvSpPr/>
          <p:nvPr/>
        </p:nvSpPr>
        <p:spPr>
          <a:xfrm>
            <a:off x="7049839" y="4371677"/>
            <a:ext cx="4703862" cy="1917502"/>
          </a:xfrm>
          <a:prstGeom prst="roundRect">
            <a:avLst>
              <a:gd name="adj" fmla="val 5960"/>
            </a:avLst>
          </a:prstGeom>
          <a:solidFill>
            <a:srgbClr val="FFFFFF"/>
          </a:solidFill>
          <a:ln w="952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7192714" y="4415492"/>
            <a:ext cx="838200" cy="445770"/>
          </a:xfrm>
          <a:prstGeom prst="rect">
            <a:avLst/>
          </a:prstGeom>
          <a:noFill/>
        </p:spPr>
        <p:txBody>
          <a:bodyPr wrap="none" anchor="ctr" lIns="0" rIns="0" tIns="0" bIns="0">
            <a:noAutofit/>
          </a:bodyPr>
          <a:lstStyle/>
          <a:p>
            <a:pPr algn="l">
              <a:lnSpc>
                <a:spcPts val="1800"/>
              </a:lnSpc>
              <a:spcBef>
                <a:spcPts val="0"/>
              </a:spcBef>
              <a:spcAft>
                <a:spcPts val="0"/>
              </a:spcAft>
            </a:pPr>
            <a:r>
              <a:rPr sz="1800" b="0">
                <a:solidFill>
                  <a:srgbClr val="16181D"/>
                </a:solidFill>
                <a:latin typeface="맑은 고딕"/>
                <a:ea typeface="맑은 고딕"/>
                <a:cs typeface="맑은 고딕"/>
              </a:rPr>
              <a:t>🧾</a:t>
            </a:r>
          </a:p>
        </p:txBody>
      </p:sp>
      <p:sp>
        <p:nvSpPr>
          <p:cNvPr id="53" name="TextBox 52"/>
          <p:cNvSpPr txBox="1"/>
          <p:nvPr/>
        </p:nvSpPr>
        <p:spPr>
          <a:xfrm>
            <a:off x="7192714" y="4725055"/>
            <a:ext cx="1111568" cy="283845"/>
          </a:xfrm>
          <a:prstGeom prst="rect">
            <a:avLst/>
          </a:prstGeom>
          <a:noFill/>
        </p:spPr>
        <p:txBody>
          <a:bodyPr wrap="none" anchor="ctr" lIns="0" rIns="0" tIns="0" bIns="0">
            <a:noAutofit/>
          </a:bodyPr>
          <a:lstStyle/>
          <a:p>
            <a:pPr algn="l">
              <a:lnSpc>
                <a:spcPts val="1575"/>
              </a:lnSpc>
              <a:spcBef>
                <a:spcPts val="0"/>
              </a:spcBef>
              <a:spcAft>
                <a:spcPts val="0"/>
              </a:spcAft>
            </a:pPr>
            <a:r>
              <a:rPr sz="1050" b="1" spc="126">
                <a:solidFill>
                  <a:srgbClr val="0A9EE0"/>
                </a:solidFill>
                <a:latin typeface="Arial"/>
                <a:ea typeface="맑은 고딕"/>
                <a:cs typeface="맑은 고딕"/>
              </a:rPr>
              <a:t>FORM</a:t>
            </a:r>
          </a:p>
        </p:txBody>
      </p:sp>
      <p:sp>
        <p:nvSpPr>
          <p:cNvPr id="54" name="TextBox 53"/>
          <p:cNvSpPr txBox="1"/>
          <p:nvPr/>
        </p:nvSpPr>
        <p:spPr>
          <a:xfrm>
            <a:off x="7192714" y="4962227"/>
            <a:ext cx="2330529" cy="381000"/>
          </a:xfrm>
          <a:prstGeom prst="rect">
            <a:avLst/>
          </a:prstGeom>
          <a:noFill/>
        </p:spPr>
        <p:txBody>
          <a:bodyPr wrap="none" anchor="ctr" lIns="0" rIns="0" tIns="0" bIns="0">
            <a:noAutofit/>
          </a:bodyPr>
          <a:lstStyle/>
          <a:p>
            <a:pPr algn="l">
              <a:lnSpc>
                <a:spcPts val="2250"/>
              </a:lnSpc>
              <a:spcBef>
                <a:spcPts val="0"/>
              </a:spcBef>
              <a:spcAft>
                <a:spcPts val="0"/>
              </a:spcAft>
            </a:pPr>
            <a:r>
              <a:rPr sz="1500" b="1" spc="-30">
                <a:solidFill>
                  <a:srgbClr val="0B2A4A"/>
                </a:solidFill>
                <a:latin typeface="맑은 고딕"/>
                <a:ea typeface="맑은 고딕"/>
                <a:cs typeface="맑은 고딕"/>
              </a:rPr>
              <a:t>출처 표기 예시</a:t>
            </a:r>
          </a:p>
        </p:txBody>
      </p:sp>
      <p:sp>
        <p:nvSpPr>
          <p:cNvPr id="55" name="TextBox 54"/>
          <p:cNvSpPr txBox="1"/>
          <p:nvPr/>
        </p:nvSpPr>
        <p:spPr>
          <a:xfrm>
            <a:off x="7192714" y="5324177"/>
            <a:ext cx="4418112" cy="879277"/>
          </a:xfrm>
          <a:prstGeom prst="rect">
            <a:avLst/>
          </a:prstGeom>
          <a:noFill/>
        </p:spPr>
        <p:txBody>
          <a:bodyPr wrap="square" anchor="t" lIns="0" rIns="0" tIns="0" bIns="0">
            <a:noAutofit/>
          </a:bodyPr>
          <a:lstStyle/>
          <a:p>
            <a:pPr algn="l">
              <a:lnSpc>
                <a:spcPts val="1655"/>
              </a:lnSpc>
              <a:spcBef>
                <a:spcPts val="0"/>
              </a:spcBef>
              <a:spcAft>
                <a:spcPts val="0"/>
              </a:spcAft>
            </a:pPr>
            <a:r>
              <a:rPr sz="1200" b="0">
                <a:solidFill>
                  <a:srgbClr val="3D4450"/>
                </a:solidFill>
                <a:latin typeface="맑은 고딕"/>
                <a:ea typeface="맑은 고딕"/>
                <a:cs typeface="맑은 고딕"/>
              </a:rPr>
              <a:t>· 서비스: (예) ChatGPT, Claude</a:t>
            </a:r>
            <a:r>
              <a:rPr sz="1200" b="0">
                <a:solidFill>
                  <a:srgbClr val="3D4450"/>
                </a:solidFill>
                <a:latin typeface="맑은 고딕"/>
                <a:ea typeface="맑은 고딕"/>
                <a:cs typeface="맑은 고딕"/>
              </a:rPr>
              <a:t/>
            </a:r>
          </a:p>
          <a:p>
            <a:pPr algn="l">
              <a:lnSpc>
                <a:spcPts val="1655"/>
              </a:lnSpc>
              <a:spcBef>
                <a:spcPts val="0"/>
              </a:spcBef>
              <a:spcAft>
                <a:spcPts val="0"/>
              </a:spcAft>
            </a:pPr>
            <a:r>
              <a:rPr sz="1200" b="0">
                <a:solidFill>
                  <a:srgbClr val="3D4450"/>
                </a:solidFill>
                <a:latin typeface="맑은 고딕"/>
                <a:ea typeface="맑은 고딕"/>
                <a:cs typeface="맑은 고딕"/>
              </a:rPr>
              <a:t/>
            </a:r>
            <a:r>
              <a:rPr sz="1200" b="0">
                <a:solidFill>
                  <a:srgbClr val="3D4450"/>
                </a:solidFill>
                <a:latin typeface="맑은 고딕"/>
                <a:ea typeface="맑은 고딕"/>
                <a:cs typeface="맑은 고딕"/>
              </a:rPr>
              <a:t>· 활용 목적: 1차 개요 초안 작성</a:t>
            </a:r>
            <a:r>
              <a:rPr sz="1200" b="0">
                <a:solidFill>
                  <a:srgbClr val="3D4450"/>
                </a:solidFill>
                <a:latin typeface="맑은 고딕"/>
                <a:ea typeface="맑은 고딕"/>
                <a:cs typeface="맑은 고딕"/>
              </a:rPr>
              <a:t/>
            </a:r>
          </a:p>
          <a:p>
            <a:pPr algn="l">
              <a:lnSpc>
                <a:spcPts val="1655"/>
              </a:lnSpc>
              <a:spcBef>
                <a:spcPts val="0"/>
              </a:spcBef>
              <a:spcAft>
                <a:spcPts val="0"/>
              </a:spcAft>
            </a:pPr>
            <a:r>
              <a:rPr sz="1200" b="0">
                <a:solidFill>
                  <a:srgbClr val="3D4450"/>
                </a:solidFill>
                <a:latin typeface="맑은 고딕"/>
                <a:ea typeface="맑은 고딕"/>
                <a:cs typeface="맑은 고딕"/>
              </a:rPr>
              <a:t/>
            </a:r>
            <a:r>
              <a:rPr sz="1200" b="0">
                <a:solidFill>
                  <a:srgbClr val="3D4450"/>
                </a:solidFill>
                <a:latin typeface="맑은 고딕"/>
                <a:ea typeface="맑은 고딕"/>
                <a:cs typeface="맑은 고딕"/>
              </a:rPr>
              <a:t>· 활용 범위: 목차 구성에 한함</a:t>
            </a:r>
            <a:r>
              <a:rPr sz="1200" b="0">
                <a:solidFill>
                  <a:srgbClr val="3D4450"/>
                </a:solidFill>
                <a:latin typeface="맑은 고딕"/>
                <a:ea typeface="맑은 고딕"/>
                <a:cs typeface="맑은 고딕"/>
              </a:rPr>
              <a:t/>
            </a:r>
          </a:p>
          <a:p>
            <a:pPr algn="l">
              <a:lnSpc>
                <a:spcPts val="1655"/>
              </a:lnSpc>
              <a:spcBef>
                <a:spcPts val="0"/>
              </a:spcBef>
              <a:spcAft>
                <a:spcPts val="0"/>
              </a:spcAft>
            </a:pPr>
            <a:r>
              <a:rPr sz="1200" b="0">
                <a:solidFill>
                  <a:srgbClr val="3D4450"/>
                </a:solidFill>
                <a:latin typeface="맑은 고딕"/>
                <a:ea typeface="맑은 고딕"/>
                <a:cs typeface="맑은 고딕"/>
              </a:rPr>
              <a:t/>
            </a:r>
            <a:r>
              <a:rPr sz="1200" b="0">
                <a:solidFill>
                  <a:srgbClr val="3D4450"/>
                </a:solidFill>
                <a:latin typeface="맑은 고딕"/>
                <a:ea typeface="맑은 고딕"/>
                <a:cs typeface="맑은 고딕"/>
              </a:rPr>
              <a:t>· 사용 프롬프트: 전문 첨부(메타 프롬프트 포함)</a:t>
            </a:r>
          </a:p>
        </p:txBody>
      </p:sp>
      <p:sp>
        <p:nvSpPr>
          <p:cNvPr id="56" name="TextBox 55"/>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0" y="0"/>
            <a:ext cx="12192000" cy="6858000"/>
          </a:xfrm>
          <a:prstGeom prst="rect">
            <a:avLst/>
          </a:prstGeom>
          <a:ln>
            <a:noFill/>
          </a:ln>
          <a:effectLst/>
          <a:gradFill rotWithShape="1">
            <a:gsLst>
              <a:gs pos="0">
                <a:srgbClr val="FFFFFF">
                  <a:alpha val="85000"/>
                </a:srgbClr>
              </a:gs>
              <a:gs pos="42000">
                <a:srgbClr val="FFFFFF">
                  <a:alpha val="35000"/>
                </a:srgbClr>
              </a:gs>
              <a:gs pos="100000">
                <a:srgbClr val="E2E8F0">
                  <a:alpha val="55000"/>
                </a:srgbClr>
              </a:gs>
            </a:gsLst>
            <a:lin ang="54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0" y="0"/>
            <a:ext cx="12192000" cy="3566071"/>
          </a:xfrm>
          <a:prstGeom prst="rect">
            <a:avLst/>
          </a:prstGeom>
          <a:ln>
            <a:noFill/>
          </a:ln>
          <a:effectLst/>
          <a:gradFill rotWithShape="1">
            <a:gsLst>
              <a:gs pos="0">
                <a:srgbClr val="0A9EE0"/>
              </a:gs>
              <a:gs pos="44000">
                <a:srgbClr val="0086CE"/>
              </a:gs>
              <a:gs pos="100000">
                <a:srgbClr val="0070C0"/>
              </a:gs>
            </a:gsLst>
            <a:lin ang="60000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0" y="3585121"/>
            <a:ext cx="7559040" cy="38100"/>
          </a:xfrm>
          <a:prstGeom prst="rect">
            <a:avLst/>
          </a:prstGeom>
          <a:ln>
            <a:noFill/>
          </a:ln>
          <a:effectLst/>
          <a:gradFill rotWithShape="1">
            <a:gsLst>
              <a:gs pos="0">
                <a:srgbClr val="0A9EE0"/>
              </a:gs>
              <a:gs pos="100000">
                <a:srgbClr val="0A9EE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0" y="3670846"/>
            <a:ext cx="5120640" cy="47625"/>
          </a:xfrm>
          <a:prstGeom prst="rect">
            <a:avLst/>
          </a:prstGeom>
          <a:ln>
            <a:noFill/>
          </a:ln>
          <a:effectLst/>
          <a:gradFill rotWithShape="1">
            <a:gsLst>
              <a:gs pos="0">
                <a:srgbClr val="0070C0"/>
              </a:gs>
              <a:gs pos="100000">
                <a:srgbClr val="0070C0">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0" y="3766096"/>
            <a:ext cx="3779520" cy="47625"/>
          </a:xfrm>
          <a:prstGeom prst="rect">
            <a:avLst/>
          </a:prstGeom>
          <a:ln>
            <a:noFill/>
          </a:ln>
          <a:effectLst/>
          <a:gradFill rotWithShape="1">
            <a:gsLst>
              <a:gs pos="0">
                <a:srgbClr val="41B6E6"/>
              </a:gs>
              <a:gs pos="100000">
                <a:srgbClr val="41B6E6">
                  <a:alpha val="0"/>
                </a:srgbClr>
              </a:gs>
            </a:gsLst>
            <a:lin ang="0" scaled="0"/>
          </a:gradFill>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Freeform 7"/>
          <p:cNvSpPr/>
          <p:nvPr/>
        </p:nvSpPr>
        <p:spPr>
          <a:xfrm>
            <a:off x="0" y="2746921"/>
            <a:ext cx="819150" cy="1638300"/>
          </a:xfrm>
          <a:custGeom>
            <a:avLst/>
            <a:gdLst/>
            <a:ahLst/>
            <a:cxnLst/>
            <a:rect l="l" t="t" r="r" b="b"/>
            <a:pathLst>
              <a:path w="819150" h="1638300">
                <a:moveTo>
                  <a:pt x="0" y="0"/>
                </a:moveTo>
                <a:lnTo>
                  <a:pt x="71394" y="3117"/>
                </a:lnTo>
                <a:lnTo>
                  <a:pt x="142244" y="12444"/>
                </a:lnTo>
                <a:lnTo>
                  <a:pt x="212012" y="27912"/>
                </a:lnTo>
                <a:lnTo>
                  <a:pt x="280166" y="49400"/>
                </a:lnTo>
                <a:lnTo>
                  <a:pt x="346188" y="76748"/>
                </a:lnTo>
                <a:lnTo>
                  <a:pt x="409575" y="109745"/>
                </a:lnTo>
                <a:lnTo>
                  <a:pt x="469845" y="148141"/>
                </a:lnTo>
                <a:lnTo>
                  <a:pt x="526539" y="191644"/>
                </a:lnTo>
                <a:lnTo>
                  <a:pt x="579227" y="239923"/>
                </a:lnTo>
                <a:lnTo>
                  <a:pt x="627505" y="292610"/>
                </a:lnTo>
                <a:lnTo>
                  <a:pt x="671008" y="349305"/>
                </a:lnTo>
                <a:lnTo>
                  <a:pt x="709405" y="409575"/>
                </a:lnTo>
                <a:lnTo>
                  <a:pt x="742402" y="472962"/>
                </a:lnTo>
                <a:lnTo>
                  <a:pt x="769749" y="538984"/>
                </a:lnTo>
                <a:lnTo>
                  <a:pt x="791238" y="607138"/>
                </a:lnTo>
                <a:lnTo>
                  <a:pt x="806705" y="676906"/>
                </a:lnTo>
                <a:lnTo>
                  <a:pt x="816033" y="747756"/>
                </a:lnTo>
                <a:lnTo>
                  <a:pt x="819150" y="819150"/>
                </a:lnTo>
                <a:lnTo>
                  <a:pt x="816033" y="890543"/>
                </a:lnTo>
                <a:lnTo>
                  <a:pt x="806705" y="961394"/>
                </a:lnTo>
                <a:lnTo>
                  <a:pt x="791238" y="1031161"/>
                </a:lnTo>
                <a:lnTo>
                  <a:pt x="769749" y="1099316"/>
                </a:lnTo>
                <a:lnTo>
                  <a:pt x="742402" y="1165337"/>
                </a:lnTo>
                <a:lnTo>
                  <a:pt x="709405" y="1228725"/>
                </a:lnTo>
                <a:lnTo>
                  <a:pt x="671008" y="1288995"/>
                </a:lnTo>
                <a:lnTo>
                  <a:pt x="627505" y="1345689"/>
                </a:lnTo>
                <a:lnTo>
                  <a:pt x="579227" y="1398376"/>
                </a:lnTo>
                <a:lnTo>
                  <a:pt x="526539" y="1446655"/>
                </a:lnTo>
                <a:lnTo>
                  <a:pt x="469845" y="1490158"/>
                </a:lnTo>
                <a:lnTo>
                  <a:pt x="409575" y="1528554"/>
                </a:lnTo>
                <a:lnTo>
                  <a:pt x="346188" y="1561552"/>
                </a:lnTo>
                <a:lnTo>
                  <a:pt x="280166" y="1588899"/>
                </a:lnTo>
                <a:lnTo>
                  <a:pt x="212012" y="1610388"/>
                </a:lnTo>
                <a:lnTo>
                  <a:pt x="142244" y="1625855"/>
                </a:lnTo>
                <a:lnTo>
                  <a:pt x="71394" y="1635183"/>
                </a:lnTo>
                <a:lnTo>
                  <a:pt x="0" y="1638300"/>
                </a:lnTo>
                <a:close/>
              </a:path>
            </a:pathLst>
          </a:cu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1639131">
            <a:off x="91697" y="257729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C</a:t>
            </a:r>
          </a:p>
        </p:txBody>
      </p:sp>
      <p:sp>
        <p:nvSpPr>
          <p:cNvPr id="10" name="TextBox 9"/>
          <p:cNvSpPr txBox="1"/>
          <p:nvPr/>
        </p:nvSpPr>
        <p:spPr>
          <a:xfrm rot="2117479">
            <a:off x="207109" y="2647485"/>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H</a:t>
            </a:r>
          </a:p>
        </p:txBody>
      </p:sp>
      <p:sp>
        <p:nvSpPr>
          <p:cNvPr id="11" name="TextBox 10"/>
          <p:cNvSpPr txBox="1"/>
          <p:nvPr/>
        </p:nvSpPr>
        <p:spPr>
          <a:xfrm rot="2572833">
            <a:off x="306925" y="2728562"/>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A</a:t>
            </a:r>
          </a:p>
        </p:txBody>
      </p:sp>
      <p:sp>
        <p:nvSpPr>
          <p:cNvPr id="12" name="TextBox 11"/>
          <p:cNvSpPr txBox="1"/>
          <p:nvPr/>
        </p:nvSpPr>
        <p:spPr>
          <a:xfrm rot="3027872">
            <a:off x="395101" y="2822043"/>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P</a:t>
            </a:r>
          </a:p>
        </p:txBody>
      </p:sp>
      <p:sp>
        <p:nvSpPr>
          <p:cNvPr id="13" name="TextBox 12"/>
          <p:cNvSpPr txBox="1"/>
          <p:nvPr/>
        </p:nvSpPr>
        <p:spPr>
          <a:xfrm rot="3467149">
            <a:off x="467803" y="292256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T</a:t>
            </a:r>
          </a:p>
        </p:txBody>
      </p:sp>
      <p:sp>
        <p:nvSpPr>
          <p:cNvPr id="14" name="TextBox 13"/>
          <p:cNvSpPr txBox="1"/>
          <p:nvPr/>
        </p:nvSpPr>
        <p:spPr>
          <a:xfrm rot="3910712">
            <a:off x="527610" y="3032639"/>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E</a:t>
            </a:r>
          </a:p>
        </p:txBody>
      </p:sp>
      <p:sp>
        <p:nvSpPr>
          <p:cNvPr id="15" name="TextBox 14"/>
          <p:cNvSpPr txBox="1"/>
          <p:nvPr/>
        </p:nvSpPr>
        <p:spPr>
          <a:xfrm rot="4377592">
            <a:off x="574710" y="3155784"/>
            <a:ext cx="708660" cy="251460"/>
          </a:xfrm>
          <a:prstGeom prst="rect">
            <a:avLst/>
          </a:prstGeom>
          <a:noFill/>
        </p:spPr>
        <p:txBody>
          <a:bodyPr wrap="none" lIns="0" rIns="0" tIns="0" bIns="0" anchor="ctr">
            <a:noAutofit/>
          </a:bodyPr>
          <a:lstStyle/>
          <a:p>
            <a:pPr algn="ctr">
              <a:lnSpc>
                <a:spcPts val="1080"/>
              </a:lnSpc>
            </a:pPr>
            <a:r>
              <a:rPr sz="900" b="1">
                <a:solidFill>
                  <a:srgbClr val="FFFFFF"/>
                </a:solidFill>
                <a:latin typeface="Arial"/>
                <a:ea typeface="맑은 고딕"/>
                <a:cs typeface="맑은 고딕"/>
              </a:rPr>
              <a:t>R</a:t>
            </a:r>
          </a:p>
        </p:txBody>
      </p:sp>
      <p:sp>
        <p:nvSpPr>
          <p:cNvPr id="16" name="TextBox 15"/>
          <p:cNvSpPr txBox="1"/>
          <p:nvPr/>
        </p:nvSpPr>
        <p:spPr>
          <a:xfrm>
            <a:off x="30510" y="3231743"/>
            <a:ext cx="700980" cy="744855"/>
          </a:xfrm>
          <a:prstGeom prst="rect">
            <a:avLst/>
          </a:prstGeom>
          <a:noFill/>
        </p:spPr>
        <p:txBody>
          <a:bodyPr wrap="none" lIns="0" rIns="0" tIns="0" bIns="0" anchor="ctr">
            <a:noAutofit/>
          </a:bodyPr>
          <a:lstStyle/>
          <a:p>
            <a:pPr algn="ctr">
              <a:lnSpc>
                <a:spcPts val="4140"/>
              </a:lnSpc>
            </a:pPr>
            <a:r>
              <a:rPr sz="3450" b="1">
                <a:solidFill>
                  <a:srgbClr val="3D4450"/>
                </a:solidFill>
                <a:latin typeface="Arial"/>
                <a:ea typeface="맑은 고딕"/>
                <a:cs typeface="맑은 고딕"/>
              </a:rPr>
              <a:t>2</a:t>
            </a:r>
          </a:p>
        </p:txBody>
      </p:sp>
      <p:sp>
        <p:nvSpPr>
          <p:cNvPr id="17" name="TextBox 16"/>
          <p:cNvSpPr txBox="1"/>
          <p:nvPr/>
        </p:nvSpPr>
        <p:spPr>
          <a:xfrm>
            <a:off x="8967639" y="838200"/>
            <a:ext cx="2786211" cy="864691"/>
          </a:xfrm>
          <a:prstGeom prst="rect">
            <a:avLst/>
          </a:prstGeom>
          <a:noFill/>
        </p:spPr>
        <p:txBody>
          <a:bodyPr wrap="square" anchor="t" lIns="0" rIns="0" tIns="0" bIns="0">
            <a:noAutofit/>
          </a:bodyPr>
          <a:lstStyle/>
          <a:p>
            <a:pPr algn="r">
              <a:lnSpc>
                <a:spcPts val="3442"/>
              </a:lnSpc>
              <a:spcBef>
                <a:spcPts val="0"/>
              </a:spcBef>
              <a:spcAft>
                <a:spcPts val="0"/>
              </a:spcAft>
            </a:pPr>
            <a:r>
              <a:rPr sz="2025" b="1">
                <a:solidFill>
                  <a:srgbClr val="E6F3FF"/>
                </a:solidFill>
                <a:latin typeface="맑은 고딕"/>
                <a:ea typeface="맑은 고딕"/>
                <a:cs typeface="맑은 고딕"/>
              </a:rPr>
              <a:t>자신의 삶과 진로에 대한</a:t>
            </a:r>
            <a:r>
              <a:rPr sz="2025" b="1">
                <a:solidFill>
                  <a:srgbClr val="E6F3FF"/>
                </a:solidFill>
                <a:latin typeface="맑은 고딕"/>
                <a:ea typeface="맑은 고딕"/>
                <a:cs typeface="맑은 고딕"/>
              </a:rPr>
              <a:t/>
            </a:r>
          </a:p>
          <a:p>
            <a:pPr algn="r">
              <a:lnSpc>
                <a:spcPts val="3442"/>
              </a:lnSpc>
              <a:spcBef>
                <a:spcPts val="0"/>
              </a:spcBef>
              <a:spcAft>
                <a:spcPts val="0"/>
              </a:spcAft>
            </a:pPr>
            <a:r>
              <a:rPr sz="2025" b="1">
                <a:solidFill>
                  <a:srgbClr val="E6F3FF"/>
                </a:solidFill>
                <a:latin typeface="맑은 고딕"/>
                <a:ea typeface="맑은 고딕"/>
                <a:cs typeface="맑은 고딕"/>
              </a:rPr>
              <a:t/>
            </a:r>
            <a:r>
              <a:rPr sz="2025" b="1">
                <a:solidFill>
                  <a:srgbClr val="E6F3FF"/>
                </a:solidFill>
                <a:latin typeface="맑은 고딕"/>
                <a:ea typeface="맑은 고딕"/>
                <a:cs typeface="맑은 고딕"/>
              </a:rPr>
              <a:t>탐색을 시작합니다.</a:t>
            </a:r>
          </a:p>
        </p:txBody>
      </p:sp>
      <p:sp>
        <p:nvSpPr>
          <p:cNvPr id="18" name="TextBox 17"/>
          <p:cNvSpPr txBox="1"/>
          <p:nvPr/>
        </p:nvSpPr>
        <p:spPr>
          <a:xfrm>
            <a:off x="6973252" y="4185880"/>
            <a:ext cx="4780598" cy="802005"/>
          </a:xfrm>
          <a:prstGeom prst="rect">
            <a:avLst/>
          </a:prstGeom>
          <a:noFill/>
        </p:spPr>
        <p:txBody>
          <a:bodyPr wrap="none" anchor="ctr" lIns="0" rIns="0" tIns="0" bIns="0">
            <a:noAutofit/>
          </a:bodyPr>
          <a:lstStyle/>
          <a:p>
            <a:pPr algn="r">
              <a:lnSpc>
                <a:spcPts val="5175"/>
              </a:lnSpc>
              <a:spcBef>
                <a:spcPts val="0"/>
              </a:spcBef>
              <a:spcAft>
                <a:spcPts val="0"/>
              </a:spcAft>
            </a:pPr>
            <a:r>
              <a:rPr sz="3450" b="1" spc="-121">
                <a:solidFill>
                  <a:srgbClr val="0B2A4A"/>
                </a:solidFill>
                <a:latin typeface="맑은 고딕"/>
                <a:ea typeface="맑은 고딕"/>
                <a:cs typeface="맑은 고딕"/>
              </a:rPr>
              <a:t>다음 차시 안내</a:t>
            </a:r>
          </a:p>
        </p:txBody>
      </p:sp>
      <p:sp>
        <p:nvSpPr>
          <p:cNvPr id="19" name="TextBox 18"/>
          <p:cNvSpPr txBox="1"/>
          <p:nvPr/>
        </p:nvSpPr>
        <p:spPr>
          <a:xfrm>
            <a:off x="5255181" y="4840039"/>
            <a:ext cx="6498669" cy="461962"/>
          </a:xfrm>
          <a:prstGeom prst="rect">
            <a:avLst/>
          </a:prstGeom>
          <a:noFill/>
        </p:spPr>
        <p:txBody>
          <a:bodyPr wrap="none" anchor="ctr" lIns="0" rIns="0" tIns="0" bIns="0">
            <a:noAutofit/>
          </a:bodyPr>
          <a:lstStyle/>
          <a:p>
            <a:pPr algn="r">
              <a:lnSpc>
                <a:spcPts val="2812"/>
              </a:lnSpc>
              <a:spcBef>
                <a:spcPts val="0"/>
              </a:spcBef>
              <a:spcAft>
                <a:spcPts val="0"/>
              </a:spcAft>
            </a:pPr>
            <a:r>
              <a:rPr sz="1875" b="1">
                <a:solidFill>
                  <a:srgbClr val="3D4450"/>
                </a:solidFill>
                <a:latin typeface="맑은 고딕"/>
                <a:ea typeface="맑은 고딕"/>
                <a:cs typeface="맑은 고딕"/>
              </a:rPr>
              <a:t>제2강  나의 삶, 나의 진로 / 나의 이해</a:t>
            </a:r>
          </a:p>
        </p:txBody>
      </p:sp>
      <p:sp>
        <p:nvSpPr>
          <p:cNvPr id="20" name="TextBox 19"/>
          <p:cNvSpPr txBox="1"/>
          <p:nvPr/>
        </p:nvSpPr>
        <p:spPr>
          <a:xfrm>
            <a:off x="10645825" y="5820728"/>
            <a:ext cx="2153841" cy="931545"/>
          </a:xfrm>
          <a:prstGeom prst="rect">
            <a:avLst/>
          </a:prstGeom>
          <a:noFill/>
        </p:spPr>
        <p:txBody>
          <a:bodyPr wrap="none" anchor="ctr" lIns="0" rIns="0" tIns="0" bIns="0">
            <a:noAutofit/>
          </a:bodyPr>
          <a:lstStyle/>
          <a:p>
            <a:pPr algn="l">
              <a:lnSpc>
                <a:spcPts val="4050"/>
              </a:lnSpc>
              <a:spcBef>
                <a:spcPts val="0"/>
              </a:spcBef>
              <a:spcAft>
                <a:spcPts val="0"/>
              </a:spcAft>
            </a:pPr>
            <a:r>
              <a:rPr sz="4050" b="1" spc="-182">
                <a:solidFill>
                  <a:srgbClr val="0B2A4A"/>
                </a:solidFill>
                <a:latin typeface="Arial"/>
                <a:ea typeface="맑은 고딕"/>
                <a:cs typeface="맑은 고딕"/>
              </a:rPr>
              <a:t>dima</a:t>
            </a:r>
          </a:p>
        </p:txBody>
      </p:sp>
      <p:sp>
        <p:nvSpPr>
          <p:cNvPr id="21" name="Oval 20"/>
          <p:cNvSpPr/>
          <p:nvPr/>
        </p:nvSpPr>
        <p:spPr>
          <a:xfrm>
            <a:off x="10947972" y="5857494"/>
            <a:ext cx="97726" cy="97726"/>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8341" y="6488906"/>
            <a:ext cx="635318" cy="300038"/>
          </a:xfrm>
          <a:prstGeom prst="rect">
            <a:avLst/>
          </a:prstGeom>
          <a:noFill/>
        </p:spPr>
        <p:txBody>
          <a:bodyPr wrap="none" anchor="ctr" lIns="0" rIns="0" tIns="0" bIns="0">
            <a:noAutofit/>
          </a:bodyPr>
          <a:lstStyle/>
          <a:p>
            <a:pPr algn="ctr">
              <a:lnSpc>
                <a:spcPts val="1687"/>
              </a:lnSpc>
              <a:spcBef>
                <a:spcPts val="0"/>
              </a:spcBef>
              <a:spcAft>
                <a:spcPts val="0"/>
              </a:spcAft>
            </a:pPr>
            <a:r>
              <a:rPr sz="1125" b="0">
                <a:solidFill>
                  <a:srgbClr val="6B7280"/>
                </a:solidFill>
                <a:latin typeface="Arial"/>
                <a:ea typeface="맑은 고딕"/>
                <a:cs typeface="맑은 고딕"/>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