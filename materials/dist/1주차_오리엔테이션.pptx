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표지</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강사 소개</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목차</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CHAPTER 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강의 소개</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교과 목표</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수업 목표를 달성하면</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CHAPTER 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성적 평가 기준</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출석 기준</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CHAPTER 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주차 별 강의 계획</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과제물 제출 안내</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CHAPTER 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강의 요구 분석</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CHAPTER 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창업 인식도 조사</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창업 인식도 조사 — 설문 방법</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CHAPTER 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진로준비도 검사란?</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진로준비도 검사 — 접속 경로</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진로준비도 검사 — 검사 고르기</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질의응답</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생성형 AI 사용 지침  · 이번에 추가한 장</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다음 차시 안내</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over.jpg"/>
          <p:cNvPicPr>
            <a:picLocks noChangeAspect="1"/>
          </p:cNvPicPr>
          <p:nvPr/>
        </p:nvPicPr>
        <p:blipFill>
          <a:blip r:embed="rId2"/>
          <a:stretch>
            <a:fillRect/>
          </a:stretch>
        </p:blipFill>
        <p:spPr>
          <a:xfrm>
            <a:off x="0" y="0"/>
            <a:ext cx="12192000" cy="4937671"/>
          </a:xfrm>
          <a:prstGeom prst="rect">
            <a:avLst/>
          </a:prstGeom>
        </p:spPr>
      </p:pic>
      <p:sp>
        <p:nvSpPr>
          <p:cNvPr id="4" name="Rectangle 3"/>
          <p:cNvSpPr/>
          <p:nvPr/>
        </p:nvSpPr>
        <p:spPr>
          <a:xfrm>
            <a:off x="0" y="4518571"/>
            <a:ext cx="7071360" cy="38100"/>
          </a:xfrm>
          <a:prstGeom prst="rect">
            <a:avLst/>
          </a:prstGeom>
          <a:ln>
            <a:noFill/>
          </a:ln>
          <a:effectLst/>
          <a:gradFill rotWithShape="1">
            <a:gsLst>
              <a:gs pos="0">
                <a:srgbClr val="005BAC"/>
              </a:gs>
              <a:gs pos="100000">
                <a:srgbClr val="005BAC">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0" y="4594771"/>
            <a:ext cx="4876800" cy="38100"/>
          </a:xfrm>
          <a:prstGeom prst="rect">
            <a:avLst/>
          </a:prstGeom>
          <a:ln>
            <a:noFill/>
          </a:ln>
          <a:effectLst/>
          <a:gradFill rotWithShape="1">
            <a:gsLst>
              <a:gs pos="0">
                <a:srgbClr val="0071CE"/>
              </a:gs>
              <a:gs pos="100000">
                <a:srgbClr val="0071CE">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0" y="4670971"/>
            <a:ext cx="3413760" cy="38100"/>
          </a:xfrm>
          <a:prstGeom prst="rect">
            <a:avLst/>
          </a:prstGeom>
          <a:ln>
            <a:noFill/>
          </a:ln>
          <a:effectLst/>
          <a:gradFill rotWithShape="1">
            <a:gsLst>
              <a:gs pos="0">
                <a:srgbClr val="4BA3E3"/>
              </a:gs>
              <a:gs pos="100000">
                <a:srgbClr val="4BA3E3">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419100" y="1979295"/>
            <a:ext cx="2704624" cy="413385"/>
          </a:xfrm>
          <a:prstGeom prst="rect">
            <a:avLst/>
          </a:prstGeom>
          <a:noFill/>
        </p:spPr>
        <p:txBody>
          <a:bodyPr wrap="none" anchor="ctr" lIns="0" rIns="0" tIns="0" bIns="0">
            <a:noAutofit/>
          </a:bodyPr>
          <a:lstStyle/>
          <a:p>
            <a:pPr algn="l">
              <a:lnSpc>
                <a:spcPts val="2475"/>
              </a:lnSpc>
              <a:spcBef>
                <a:spcPts val="0"/>
              </a:spcBef>
              <a:spcAft>
                <a:spcPts val="0"/>
              </a:spcAft>
            </a:pPr>
            <a:r>
              <a:rPr sz="1650" b="1" spc="-16">
                <a:solidFill>
                  <a:srgbClr val="CFE6F7"/>
                </a:solidFill>
                <a:latin typeface="맑은 고딕"/>
                <a:ea typeface="맑은 고딕"/>
                <a:cs typeface="맑은 고딕"/>
              </a:rPr>
              <a:t>취업과경력개발</a:t>
            </a:r>
          </a:p>
        </p:txBody>
      </p:sp>
      <p:sp>
        <p:nvSpPr>
          <p:cNvPr id="8" name="TextBox 7"/>
          <p:cNvSpPr txBox="1"/>
          <p:nvPr/>
        </p:nvSpPr>
        <p:spPr>
          <a:xfrm>
            <a:off x="419100" y="2379345"/>
            <a:ext cx="7324963" cy="899160"/>
          </a:xfrm>
          <a:prstGeom prst="rect">
            <a:avLst/>
          </a:prstGeom>
          <a:noFill/>
        </p:spPr>
        <p:txBody>
          <a:bodyPr wrap="none" anchor="ctr" lIns="0" rIns="0" tIns="0" bIns="0">
            <a:noAutofit/>
          </a:bodyPr>
          <a:lstStyle/>
          <a:p>
            <a:pPr algn="l">
              <a:lnSpc>
                <a:spcPts val="4484"/>
              </a:lnSpc>
              <a:spcBef>
                <a:spcPts val="0"/>
              </a:spcBef>
              <a:spcAft>
                <a:spcPts val="0"/>
              </a:spcAft>
            </a:pPr>
            <a:r>
              <a:rPr sz="3900" b="1" spc="-136">
                <a:solidFill>
                  <a:srgbClr val="FFFFFF"/>
                </a:solidFill>
                <a:latin typeface="맑은 고딕"/>
                <a:ea typeface="맑은 고딕"/>
                <a:cs typeface="맑은 고딕"/>
              </a:rPr>
              <a:t>제1강_오리엔테이션</a:t>
            </a:r>
          </a:p>
        </p:txBody>
      </p:sp>
      <p:sp>
        <p:nvSpPr>
          <p:cNvPr id="9" name="TextBox 8"/>
          <p:cNvSpPr txBox="1"/>
          <p:nvPr/>
        </p:nvSpPr>
        <p:spPr>
          <a:xfrm>
            <a:off x="9436894" y="1804035"/>
            <a:ext cx="4118610" cy="1935480"/>
          </a:xfrm>
          <a:prstGeom prst="rect">
            <a:avLst/>
          </a:prstGeom>
          <a:noFill/>
        </p:spPr>
        <p:txBody>
          <a:bodyPr wrap="none" anchor="ctr" lIns="0" rIns="0" tIns="0" bIns="0">
            <a:noAutofit/>
          </a:bodyPr>
          <a:lstStyle/>
          <a:p>
            <a:pPr algn="l">
              <a:lnSpc>
                <a:spcPts val="8700"/>
              </a:lnSpc>
              <a:spcBef>
                <a:spcPts val="0"/>
              </a:spcBef>
              <a:spcAft>
                <a:spcPts val="0"/>
              </a:spcAft>
            </a:pPr>
            <a:r>
              <a:rPr sz="8700" b="1" spc="-478">
                <a:solidFill>
                  <a:srgbClr val="FFFFFF"/>
                </a:solidFill>
                <a:latin typeface="Arial"/>
                <a:ea typeface="맑은 고딕"/>
                <a:cs typeface="맑은 고딕"/>
              </a:rPr>
              <a:t>dima</a:t>
            </a:r>
          </a:p>
        </p:txBody>
      </p:sp>
      <p:sp>
        <p:nvSpPr>
          <p:cNvPr id="10" name="Oval 9"/>
          <p:cNvSpPr/>
          <p:nvPr/>
        </p:nvSpPr>
        <p:spPr>
          <a:xfrm>
            <a:off x="10069297" y="1855851"/>
            <a:ext cx="209931" cy="209931"/>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31580" y="5492591"/>
            <a:ext cx="2941320" cy="397192"/>
          </a:xfrm>
          <a:prstGeom prst="rect">
            <a:avLst/>
          </a:prstGeom>
          <a:noFill/>
        </p:spPr>
        <p:txBody>
          <a:bodyPr wrap="none" anchor="ctr" lIns="0" rIns="0" tIns="0" bIns="0">
            <a:noAutofit/>
          </a:bodyPr>
          <a:lstStyle/>
          <a:p>
            <a:pPr algn="r">
              <a:lnSpc>
                <a:spcPts val="2362"/>
              </a:lnSpc>
              <a:spcBef>
                <a:spcPts val="0"/>
              </a:spcBef>
              <a:spcAft>
                <a:spcPts val="0"/>
              </a:spcAft>
            </a:pPr>
            <a:r>
              <a:rPr sz="1575" b="1">
                <a:solidFill>
                  <a:srgbClr val="17365D"/>
                </a:solidFill>
                <a:latin typeface="맑은 고딕"/>
                <a:ea typeface="맑은 고딕"/>
                <a:cs typeface="맑은 고딕"/>
              </a:rPr>
              <a:t>창의융합교양학부</a:t>
            </a:r>
          </a:p>
        </p:txBody>
      </p:sp>
      <p:sp>
        <p:nvSpPr>
          <p:cNvPr id="12" name="TextBox 11"/>
          <p:cNvSpPr txBox="1"/>
          <p:nvPr/>
        </p:nvSpPr>
        <p:spPr>
          <a:xfrm>
            <a:off x="9702641" y="5983129"/>
            <a:ext cx="2070259" cy="397192"/>
          </a:xfrm>
          <a:prstGeom prst="rect">
            <a:avLst/>
          </a:prstGeom>
          <a:noFill/>
        </p:spPr>
        <p:txBody>
          <a:bodyPr wrap="none" anchor="ctr" lIns="0" rIns="0" tIns="0" bIns="0">
            <a:noAutofit/>
          </a:bodyPr>
          <a:lstStyle/>
          <a:p>
            <a:pPr algn="r">
              <a:lnSpc>
                <a:spcPts val="2362"/>
              </a:lnSpc>
              <a:spcBef>
                <a:spcPts val="0"/>
              </a:spcBef>
              <a:spcAft>
                <a:spcPts val="0"/>
              </a:spcAft>
            </a:pPr>
            <a:r>
              <a:rPr sz="1575" b="1">
                <a:solidFill>
                  <a:srgbClr val="17365D"/>
                </a:solidFill>
                <a:latin typeface="맑은 고딕"/>
                <a:ea typeface="맑은 고딕"/>
                <a:cs typeface="맑은 고딕"/>
              </a:rPr>
              <a:t>정동엽 교수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2557016" cy="323850"/>
          </a:xfrm>
          <a:prstGeom prst="rect">
            <a:avLst/>
          </a:prstGeom>
          <a:solidFill>
            <a:srgbClr val="002A55"/>
          </a:solidFill>
          <a:ln w="19050">
            <a:solidFill>
              <a:srgbClr val="FFF100"/>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609600" y="85725"/>
            <a:ext cx="3862626"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FFF"/>
                </a:solidFill>
                <a:latin typeface="맑은 고딕"/>
                <a:ea typeface="맑은 고딕"/>
                <a:cs typeface="맑은 고딕"/>
              </a:rPr>
              <a:t>여러분과 함께 하는 저는 ?</a:t>
            </a:r>
          </a:p>
        </p:txBody>
      </p:sp>
      <p:sp>
        <p:nvSpPr>
          <p:cNvPr id="7" name="TextBox 6"/>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8" name="Oval 7"/>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9100" y="685800"/>
            <a:ext cx="4894957" cy="1482626"/>
          </a:xfrm>
          <a:prstGeom prst="rect">
            <a:avLst/>
          </a:prstGeom>
          <a:solidFill>
            <a:srgbClr val="F2F7FC"/>
          </a:solidFill>
          <a:ln w="9525">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61975" y="729615"/>
            <a:ext cx="838200" cy="445770"/>
          </a:xfrm>
          <a:prstGeom prst="rect">
            <a:avLst/>
          </a:prstGeom>
          <a:noFill/>
        </p:spPr>
        <p:txBody>
          <a:bodyPr wrap="none" anchor="ctr" lIns="0" rIns="0" tIns="0" bIns="0">
            <a:noAutofit/>
          </a:bodyPr>
          <a:lstStyle/>
          <a:p>
            <a:pPr algn="l">
              <a:lnSpc>
                <a:spcPts val="1800"/>
              </a:lnSpc>
              <a:spcBef>
                <a:spcPts val="0"/>
              </a:spcBef>
              <a:spcAft>
                <a:spcPts val="0"/>
              </a:spcAft>
            </a:pPr>
            <a:r>
              <a:rPr sz="1800" b="0">
                <a:solidFill>
                  <a:srgbClr val="3B3838"/>
                </a:solidFill>
                <a:latin typeface="맑은 고딕"/>
                <a:ea typeface="맑은 고딕"/>
                <a:cs typeface="맑은 고딕"/>
              </a:rPr>
              <a:t>🎓</a:t>
            </a:r>
          </a:p>
        </p:txBody>
      </p:sp>
      <p:sp>
        <p:nvSpPr>
          <p:cNvPr id="11" name="TextBox 10"/>
          <p:cNvSpPr txBox="1"/>
          <p:nvPr/>
        </p:nvSpPr>
        <p:spPr>
          <a:xfrm>
            <a:off x="561975" y="1042511"/>
            <a:ext cx="1914049" cy="267652"/>
          </a:xfrm>
          <a:prstGeom prst="rect">
            <a:avLst/>
          </a:prstGeom>
          <a:noFill/>
        </p:spPr>
        <p:txBody>
          <a:bodyPr wrap="none" anchor="ctr" lIns="0" rIns="0" tIns="0" bIns="0">
            <a:noAutofit/>
          </a:bodyPr>
          <a:lstStyle/>
          <a:p>
            <a:pPr algn="l">
              <a:lnSpc>
                <a:spcPts val="1462"/>
              </a:lnSpc>
              <a:spcBef>
                <a:spcPts val="0"/>
              </a:spcBef>
              <a:spcAft>
                <a:spcPts val="0"/>
              </a:spcAft>
            </a:pPr>
            <a:r>
              <a:rPr sz="975" b="1" spc="117">
                <a:solidFill>
                  <a:srgbClr val="0071CE"/>
                </a:solidFill>
                <a:latin typeface="Arial"/>
                <a:ea typeface="맑은 고딕"/>
                <a:cs typeface="맑은 고딕"/>
              </a:rPr>
              <a:t>INSTRUCTOR</a:t>
            </a:r>
          </a:p>
        </p:txBody>
      </p:sp>
      <p:sp>
        <p:nvSpPr>
          <p:cNvPr id="12" name="TextBox 11"/>
          <p:cNvSpPr txBox="1"/>
          <p:nvPr/>
        </p:nvSpPr>
        <p:spPr>
          <a:xfrm>
            <a:off x="561975" y="1262062"/>
            <a:ext cx="1434465"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17365D"/>
                </a:solidFill>
                <a:latin typeface="맑은 고딕"/>
                <a:ea typeface="맑은 고딕"/>
                <a:cs typeface="맑은 고딕"/>
              </a:rPr>
              <a:t>정 동 엽</a:t>
            </a:r>
          </a:p>
        </p:txBody>
      </p:sp>
      <p:sp>
        <p:nvSpPr>
          <p:cNvPr id="13" name="TextBox 12"/>
          <p:cNvSpPr txBox="1"/>
          <p:nvPr/>
        </p:nvSpPr>
        <p:spPr>
          <a:xfrm>
            <a:off x="561975" y="1624012"/>
            <a:ext cx="4609207" cy="458688"/>
          </a:xfrm>
          <a:prstGeom prst="rect">
            <a:avLst/>
          </a:prstGeom>
          <a:noFill/>
        </p:spPr>
        <p:txBody>
          <a:bodyPr wrap="square" anchor="t" lIns="0" rIns="0" tIns="0" bIns="0">
            <a:noAutofit/>
          </a:bodyPr>
          <a:lstStyle/>
          <a:p>
            <a:pPr algn="l">
              <a:lnSpc>
                <a:spcPts val="1655"/>
              </a:lnSpc>
              <a:spcBef>
                <a:spcPts val="0"/>
              </a:spcBef>
              <a:spcAft>
                <a:spcPts val="0"/>
              </a:spcAft>
            </a:pPr>
            <a:r>
              <a:rPr sz="1200" b="0">
                <a:solidFill>
                  <a:srgbClr val="3B3838"/>
                </a:solidFill>
                <a:latin typeface="맑은 고딕"/>
                <a:ea typeface="맑은 고딕"/>
                <a:cs typeface="맑은 고딕"/>
              </a:rPr>
              <a:t>창의융합교양학부</a:t>
            </a:r>
            <a:r>
              <a:rPr sz="1200" b="0">
                <a:solidFill>
                  <a:srgbClr val="3B3838"/>
                </a:solidFill>
                <a:latin typeface="맑은 고딕"/>
                <a:ea typeface="맑은 고딕"/>
                <a:cs typeface="맑은 고딕"/>
              </a:rPr>
              <a:t/>
            </a:r>
          </a:p>
          <a:p>
            <a:pPr algn="l">
              <a:lnSpc>
                <a:spcPts val="1655"/>
              </a:lnSpc>
              <a:spcBef>
                <a:spcPts val="0"/>
              </a:spcBef>
              <a:spcAft>
                <a:spcPts val="0"/>
              </a:spcAft>
            </a:pPr>
            <a:r>
              <a:rPr sz="1200" b="0">
                <a:solidFill>
                  <a:srgbClr val="3B3838"/>
                </a:solidFill>
                <a:latin typeface="맑은 고딕"/>
                <a:ea typeface="맑은 고딕"/>
                <a:cs typeface="맑은 고딕"/>
              </a:rPr>
              <a:t/>
            </a:r>
            <a:r>
              <a:rPr sz="1200" b="0">
                <a:solidFill>
                  <a:srgbClr val="3B3838"/>
                </a:solidFill>
                <a:latin typeface="맑은 고딕"/>
                <a:ea typeface="맑은 고딕"/>
                <a:cs typeface="맑은 고딕"/>
              </a:rPr>
              <a:t>취업과 경력개발</a:t>
            </a:r>
          </a:p>
        </p:txBody>
      </p:sp>
      <p:sp>
        <p:nvSpPr>
          <p:cNvPr id="14" name="Rectangle 13"/>
          <p:cNvSpPr/>
          <p:nvPr/>
        </p:nvSpPr>
        <p:spPr>
          <a:xfrm>
            <a:off x="419100" y="2444651"/>
            <a:ext cx="4894957" cy="5000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5" name="Connector 14"/>
          <p:cNvCxnSpPr/>
          <p:nvPr/>
        </p:nvCxnSpPr>
        <p:spPr>
          <a:xfrm>
            <a:off x="419100" y="2444651"/>
            <a:ext cx="4894957"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314057" y="2444651"/>
            <a:ext cx="0" cy="500062"/>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19100" y="2944713"/>
            <a:ext cx="4894957"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19100" y="2444651"/>
            <a:ext cx="0" cy="500062"/>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28650" y="2482275"/>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20" name="TextBox 19"/>
          <p:cNvSpPr txBox="1"/>
          <p:nvPr/>
        </p:nvSpPr>
        <p:spPr>
          <a:xfrm>
            <a:off x="1019175" y="2514660"/>
            <a:ext cx="3330654" cy="364808"/>
          </a:xfrm>
          <a:prstGeom prst="rect">
            <a:avLst/>
          </a:prstGeom>
          <a:noFill/>
        </p:spPr>
        <p:txBody>
          <a:bodyPr wrap="none" anchor="ctr" lIns="0" rIns="0" tIns="0" bIns="0">
            <a:noAutofit/>
          </a:bodyPr>
          <a:lstStyle/>
          <a:p>
            <a:pPr algn="l">
              <a:lnSpc>
                <a:spcPts val="2137"/>
              </a:lnSpc>
              <a:spcBef>
                <a:spcPts val="0"/>
              </a:spcBef>
              <a:spcAft>
                <a:spcPts val="0"/>
              </a:spcAft>
            </a:pPr>
            <a:r>
              <a:rPr sz="1425" b="0">
                <a:solidFill>
                  <a:srgbClr val="3B3838"/>
                </a:solidFill>
                <a:latin typeface="맑은 고딕"/>
                <a:ea typeface="맑은 고딕"/>
                <a:cs typeface="맑은 고딕"/>
              </a:rPr>
              <a:t>dimajob4u@gmail.com</a:t>
            </a:r>
          </a:p>
        </p:txBody>
      </p:sp>
      <p:sp>
        <p:nvSpPr>
          <p:cNvPr id="21" name="TextBox 20"/>
          <p:cNvSpPr txBox="1"/>
          <p:nvPr/>
        </p:nvSpPr>
        <p:spPr>
          <a:xfrm>
            <a:off x="5314057" y="643890"/>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22" name="TextBox 21"/>
          <p:cNvSpPr txBox="1"/>
          <p:nvPr/>
        </p:nvSpPr>
        <p:spPr>
          <a:xfrm>
            <a:off x="5799832" y="644842"/>
            <a:ext cx="374927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아시아퓨처스그룹 사무국장</a:t>
            </a:r>
          </a:p>
        </p:txBody>
      </p:sp>
      <p:sp>
        <p:nvSpPr>
          <p:cNvPr id="23" name="TextBox 22"/>
          <p:cNvSpPr txBox="1"/>
          <p:nvPr/>
        </p:nvSpPr>
        <p:spPr>
          <a:xfrm>
            <a:off x="5314057" y="968633"/>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24" name="TextBox 23"/>
          <p:cNvSpPr txBox="1"/>
          <p:nvPr/>
        </p:nvSpPr>
        <p:spPr>
          <a:xfrm>
            <a:off x="5799832" y="969585"/>
            <a:ext cx="6553200"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아시아미래인재연구소 (前)교육실장 및 전문연구원</a:t>
            </a:r>
          </a:p>
        </p:txBody>
      </p:sp>
      <p:sp>
        <p:nvSpPr>
          <p:cNvPr id="25" name="TextBox 24"/>
          <p:cNvSpPr txBox="1"/>
          <p:nvPr/>
        </p:nvSpPr>
        <p:spPr>
          <a:xfrm>
            <a:off x="5314057" y="1293376"/>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26" name="TextBox 25"/>
          <p:cNvSpPr txBox="1"/>
          <p:nvPr/>
        </p:nvSpPr>
        <p:spPr>
          <a:xfrm>
            <a:off x="5799832" y="1294328"/>
            <a:ext cx="554759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경기대학교 일반대학원 직업학과 박사수료</a:t>
            </a:r>
          </a:p>
        </p:txBody>
      </p:sp>
      <p:sp>
        <p:nvSpPr>
          <p:cNvPr id="27" name="TextBox 26"/>
          <p:cNvSpPr txBox="1"/>
          <p:nvPr/>
        </p:nvSpPr>
        <p:spPr>
          <a:xfrm>
            <a:off x="5314057" y="1618119"/>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28" name="TextBox 27"/>
          <p:cNvSpPr txBox="1"/>
          <p:nvPr/>
        </p:nvSpPr>
        <p:spPr>
          <a:xfrm>
            <a:off x="5799832" y="1619071"/>
            <a:ext cx="652295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가천대학교 경영대학원 고용 및 직업상담학과 석사</a:t>
            </a:r>
          </a:p>
        </p:txBody>
      </p:sp>
      <p:sp>
        <p:nvSpPr>
          <p:cNvPr id="29" name="TextBox 28"/>
          <p:cNvSpPr txBox="1"/>
          <p:nvPr/>
        </p:nvSpPr>
        <p:spPr>
          <a:xfrm>
            <a:off x="5314057" y="1942862"/>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30" name="TextBox 29"/>
          <p:cNvSpPr txBox="1"/>
          <p:nvPr/>
        </p:nvSpPr>
        <p:spPr>
          <a:xfrm>
            <a:off x="5799832" y="1943814"/>
            <a:ext cx="8748236"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한국기술교육대학교 능력개발원 4차 산업혁명과 일/직업의 변화 교수</a:t>
            </a:r>
          </a:p>
        </p:txBody>
      </p:sp>
      <p:sp>
        <p:nvSpPr>
          <p:cNvPr id="31" name="TextBox 30"/>
          <p:cNvSpPr txBox="1"/>
          <p:nvPr/>
        </p:nvSpPr>
        <p:spPr>
          <a:xfrm>
            <a:off x="5314057" y="2267605"/>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32" name="TextBox 31"/>
          <p:cNvSpPr txBox="1"/>
          <p:nvPr/>
        </p:nvSpPr>
        <p:spPr>
          <a:xfrm>
            <a:off x="5799832" y="2268557"/>
            <a:ext cx="9610249"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서울산업진흥원 신 직업전문컨설턴트 및 자문위원, 창업 닥터(2013~2020년)</a:t>
            </a:r>
          </a:p>
        </p:txBody>
      </p:sp>
      <p:sp>
        <p:nvSpPr>
          <p:cNvPr id="33" name="TextBox 32"/>
          <p:cNvSpPr txBox="1"/>
          <p:nvPr/>
        </p:nvSpPr>
        <p:spPr>
          <a:xfrm>
            <a:off x="5314057" y="2592348"/>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34" name="TextBox 33"/>
          <p:cNvSpPr txBox="1"/>
          <p:nvPr/>
        </p:nvSpPr>
        <p:spPr>
          <a:xfrm>
            <a:off x="5799832" y="2593300"/>
            <a:ext cx="6507480"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고용노동부 직업심리 전문가(성인, 청소년, 대학생)</a:t>
            </a:r>
          </a:p>
        </p:txBody>
      </p:sp>
      <p:sp>
        <p:nvSpPr>
          <p:cNvPr id="35" name="TextBox 34"/>
          <p:cNvSpPr txBox="1"/>
          <p:nvPr/>
        </p:nvSpPr>
        <p:spPr>
          <a:xfrm>
            <a:off x="5314057" y="2917091"/>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36" name="TextBox 35"/>
          <p:cNvSpPr txBox="1"/>
          <p:nvPr/>
        </p:nvSpPr>
        <p:spPr>
          <a:xfrm>
            <a:off x="5799832" y="2918043"/>
            <a:ext cx="5654040"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고용노동부 온라인직업심리 전문가(청소년)</a:t>
            </a:r>
          </a:p>
        </p:txBody>
      </p:sp>
      <p:sp>
        <p:nvSpPr>
          <p:cNvPr id="37" name="TextBox 36"/>
          <p:cNvSpPr txBox="1"/>
          <p:nvPr/>
        </p:nvSpPr>
        <p:spPr>
          <a:xfrm>
            <a:off x="5314057" y="3241834"/>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38" name="TextBox 37"/>
          <p:cNvSpPr txBox="1"/>
          <p:nvPr/>
        </p:nvSpPr>
        <p:spPr>
          <a:xfrm>
            <a:off x="5799832" y="3242786"/>
            <a:ext cx="382547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미래학기반 커리어 컨설턴트</a:t>
            </a:r>
          </a:p>
        </p:txBody>
      </p:sp>
      <p:sp>
        <p:nvSpPr>
          <p:cNvPr id="39" name="TextBox 38"/>
          <p:cNvSpPr txBox="1"/>
          <p:nvPr/>
        </p:nvSpPr>
        <p:spPr>
          <a:xfrm>
            <a:off x="5314057" y="3566577"/>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40" name="TextBox 39"/>
          <p:cNvSpPr txBox="1"/>
          <p:nvPr/>
        </p:nvSpPr>
        <p:spPr>
          <a:xfrm>
            <a:off x="5799832" y="3618012"/>
            <a:ext cx="5973068" cy="525661"/>
          </a:xfrm>
          <a:prstGeom prst="rect">
            <a:avLst/>
          </a:prstGeom>
          <a:noFill/>
        </p:spPr>
        <p:txBody>
          <a:bodyPr wrap="square" anchor="t"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IT업계 20년 근무(교학사, 삼보컴퓨터 등에서 교육정보화 관련 컨설팅 업무 진행)</a:t>
            </a:r>
          </a:p>
        </p:txBody>
      </p:sp>
      <p:sp>
        <p:nvSpPr>
          <p:cNvPr id="41" name="TextBox 40"/>
          <p:cNvSpPr txBox="1"/>
          <p:nvPr/>
        </p:nvSpPr>
        <p:spPr>
          <a:xfrm>
            <a:off x="5314057" y="4139863"/>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42" name="TextBox 41"/>
          <p:cNvSpPr txBox="1"/>
          <p:nvPr/>
        </p:nvSpPr>
        <p:spPr>
          <a:xfrm>
            <a:off x="5799832" y="4140815"/>
            <a:ext cx="4358640"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한국어교원 2급(문화체육관광부)</a:t>
            </a:r>
          </a:p>
        </p:txBody>
      </p:sp>
      <p:sp>
        <p:nvSpPr>
          <p:cNvPr id="43" name="TextBox 42"/>
          <p:cNvSpPr txBox="1"/>
          <p:nvPr/>
        </p:nvSpPr>
        <p:spPr>
          <a:xfrm>
            <a:off x="5314057" y="4464606"/>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44" name="TextBox 43"/>
          <p:cNvSpPr txBox="1"/>
          <p:nvPr/>
        </p:nvSpPr>
        <p:spPr>
          <a:xfrm>
            <a:off x="5799832" y="4465558"/>
            <a:ext cx="7421880"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고용노동부 직업훈련교사 3급(마케팅, 정보기술전략·계획)</a:t>
            </a:r>
          </a:p>
        </p:txBody>
      </p:sp>
      <p:sp>
        <p:nvSpPr>
          <p:cNvPr id="45" name="TextBox 44"/>
          <p:cNvSpPr txBox="1"/>
          <p:nvPr/>
        </p:nvSpPr>
        <p:spPr>
          <a:xfrm>
            <a:off x="5314057" y="4789349"/>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46" name="TextBox 45"/>
          <p:cNvSpPr txBox="1"/>
          <p:nvPr/>
        </p:nvSpPr>
        <p:spPr>
          <a:xfrm>
            <a:off x="5799832" y="4790301"/>
            <a:ext cx="8119110"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모금전문가, 평생교육사, 사회복지사, 국제공인 NLP Practitioner</a:t>
            </a:r>
          </a:p>
        </p:txBody>
      </p:sp>
      <p:sp>
        <p:nvSpPr>
          <p:cNvPr id="47" name="TextBox 46"/>
          <p:cNvSpPr txBox="1"/>
          <p:nvPr/>
        </p:nvSpPr>
        <p:spPr>
          <a:xfrm>
            <a:off x="5846013" y="6506528"/>
            <a:ext cx="499824"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TextBox 4"/>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6" name="Oval 5"/>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17712" y="969407"/>
            <a:ext cx="507206" cy="640080"/>
          </a:xfrm>
          <a:prstGeom prst="rect">
            <a:avLst/>
          </a:prstGeom>
          <a:noFill/>
        </p:spPr>
        <p:txBody>
          <a:bodyPr wrap="none" anchor="ctr" lIns="0" rIns="0" tIns="0" bIns="0">
            <a:noAutofit/>
          </a:bodyPr>
          <a:lstStyle/>
          <a:p>
            <a:pPr algn="l">
              <a:lnSpc>
                <a:spcPts val="4050"/>
              </a:lnSpc>
              <a:spcBef>
                <a:spcPts val="0"/>
              </a:spcBef>
              <a:spcAft>
                <a:spcPts val="0"/>
              </a:spcAft>
            </a:pPr>
            <a:r>
              <a:rPr sz="2700" b="0" spc="-81">
                <a:solidFill>
                  <a:srgbClr val="9DC3E6"/>
                </a:solidFill>
                <a:latin typeface="맑은 고딕"/>
                <a:ea typeface="맑은 고딕"/>
                <a:cs typeface="맑은 고딕"/>
              </a:rPr>
              <a:t>|</a:t>
            </a:r>
          </a:p>
        </p:txBody>
      </p:sp>
      <p:sp>
        <p:nvSpPr>
          <p:cNvPr id="8" name="TextBox 7"/>
          <p:cNvSpPr txBox="1"/>
          <p:nvPr/>
        </p:nvSpPr>
        <p:spPr>
          <a:xfrm>
            <a:off x="1429941" y="1130379"/>
            <a:ext cx="2493407" cy="413385"/>
          </a:xfrm>
          <a:prstGeom prst="rect">
            <a:avLst/>
          </a:prstGeom>
          <a:noFill/>
        </p:spPr>
        <p:txBody>
          <a:bodyPr wrap="none" anchor="ctr" lIns="0" rIns="0" tIns="0" bIns="0">
            <a:noAutofit/>
          </a:bodyPr>
          <a:lstStyle/>
          <a:p>
            <a:pPr algn="l">
              <a:lnSpc>
                <a:spcPts val="2475"/>
              </a:lnSpc>
              <a:spcBef>
                <a:spcPts val="0"/>
              </a:spcBef>
              <a:spcAft>
                <a:spcPts val="0"/>
              </a:spcAft>
            </a:pPr>
            <a:r>
              <a:rPr sz="1650" b="0" spc="165">
                <a:solidFill>
                  <a:srgbClr val="8A8F96"/>
                </a:solidFill>
                <a:latin typeface="Arial"/>
                <a:ea typeface="맑은 고딕"/>
                <a:cs typeface="맑은 고딕"/>
              </a:rPr>
              <a:t>CONTENTS</a:t>
            </a:r>
          </a:p>
        </p:txBody>
      </p:sp>
      <p:sp>
        <p:nvSpPr>
          <p:cNvPr id="9" name="Rectangle 8"/>
          <p:cNvSpPr/>
          <p:nvPr/>
        </p:nvSpPr>
        <p:spPr>
          <a:xfrm>
            <a:off x="419100" y="2131219"/>
            <a:ext cx="7039273" cy="4619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0" name="Connector 9"/>
          <p:cNvCxnSpPr/>
          <p:nvPr/>
        </p:nvCxnSpPr>
        <p:spPr>
          <a:xfrm>
            <a:off x="419100" y="2593181"/>
            <a:ext cx="7039273" cy="0"/>
          </a:xfrm>
          <a:prstGeom prst="line">
            <a:avLst/>
          </a:prstGeom>
          <a:ln w="9525">
            <a:solidFill>
              <a:srgbClr val="9DC3E6"/>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90500" y="2089309"/>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12" name="TextBox 11"/>
          <p:cNvSpPr txBox="1"/>
          <p:nvPr/>
        </p:nvSpPr>
        <p:spPr>
          <a:xfrm>
            <a:off x="419100" y="2017871"/>
            <a:ext cx="669369" cy="607695"/>
          </a:xfrm>
          <a:prstGeom prst="rect">
            <a:avLst/>
          </a:prstGeom>
          <a:noFill/>
        </p:spPr>
        <p:txBody>
          <a:bodyPr wrap="none" anchor="ctr" lIns="0" rIns="0" tIns="0" bIns="0">
            <a:noAutofit/>
          </a:bodyPr>
          <a:lstStyle/>
          <a:p>
            <a:pPr algn="l">
              <a:lnSpc>
                <a:spcPts val="2550"/>
              </a:lnSpc>
              <a:spcBef>
                <a:spcPts val="0"/>
              </a:spcBef>
              <a:spcAft>
                <a:spcPts val="0"/>
              </a:spcAft>
            </a:pPr>
            <a:r>
              <a:rPr sz="2550" b="0">
                <a:solidFill>
                  <a:srgbClr val="0071CE"/>
                </a:solidFill>
                <a:latin typeface="Arial"/>
                <a:ea typeface="맑은 고딕"/>
                <a:cs typeface="맑은 고딕"/>
              </a:rPr>
              <a:t>1</a:t>
            </a:r>
          </a:p>
        </p:txBody>
      </p:sp>
      <p:sp>
        <p:nvSpPr>
          <p:cNvPr id="13" name="TextBox 12"/>
          <p:cNvSpPr txBox="1"/>
          <p:nvPr/>
        </p:nvSpPr>
        <p:spPr>
          <a:xfrm>
            <a:off x="819150" y="2100262"/>
            <a:ext cx="4078367" cy="461962"/>
          </a:xfrm>
          <a:prstGeom prst="rect">
            <a:avLst/>
          </a:prstGeom>
          <a:noFill/>
        </p:spPr>
        <p:txBody>
          <a:bodyPr wrap="none" anchor="ctr" lIns="0" rIns="0" tIns="0" bIns="0">
            <a:noAutofit/>
          </a:bodyPr>
          <a:lstStyle/>
          <a:p>
            <a:pPr algn="l">
              <a:lnSpc>
                <a:spcPts val="2812"/>
              </a:lnSpc>
              <a:spcBef>
                <a:spcPts val="0"/>
              </a:spcBef>
              <a:spcAft>
                <a:spcPts val="0"/>
              </a:spcAft>
            </a:pPr>
            <a:r>
              <a:rPr sz="1875" b="1" spc="-38">
                <a:solidFill>
                  <a:srgbClr val="005BAC"/>
                </a:solidFill>
                <a:latin typeface="맑은 고딕"/>
                <a:ea typeface="맑은 고딕"/>
                <a:cs typeface="맑은 고딕"/>
              </a:rPr>
              <a:t>강의 개요(강의계획서)</a:t>
            </a:r>
          </a:p>
        </p:txBody>
      </p:sp>
      <p:sp>
        <p:nvSpPr>
          <p:cNvPr id="14" name="Rectangle 13"/>
          <p:cNvSpPr/>
          <p:nvPr/>
        </p:nvSpPr>
        <p:spPr>
          <a:xfrm>
            <a:off x="419100" y="2726531"/>
            <a:ext cx="7039273" cy="4619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5" name="Connector 14"/>
          <p:cNvCxnSpPr/>
          <p:nvPr/>
        </p:nvCxnSpPr>
        <p:spPr>
          <a:xfrm>
            <a:off x="419100" y="3188494"/>
            <a:ext cx="7039273" cy="0"/>
          </a:xfrm>
          <a:prstGeom prst="line">
            <a:avLst/>
          </a:prstGeom>
          <a:ln w="9525">
            <a:solidFill>
              <a:srgbClr val="9DC3E6"/>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90500" y="2684621"/>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17" name="TextBox 16"/>
          <p:cNvSpPr txBox="1"/>
          <p:nvPr/>
        </p:nvSpPr>
        <p:spPr>
          <a:xfrm>
            <a:off x="419100" y="2613184"/>
            <a:ext cx="669369" cy="607695"/>
          </a:xfrm>
          <a:prstGeom prst="rect">
            <a:avLst/>
          </a:prstGeom>
          <a:noFill/>
        </p:spPr>
        <p:txBody>
          <a:bodyPr wrap="none" anchor="ctr" lIns="0" rIns="0" tIns="0" bIns="0">
            <a:noAutofit/>
          </a:bodyPr>
          <a:lstStyle/>
          <a:p>
            <a:pPr algn="l">
              <a:lnSpc>
                <a:spcPts val="2550"/>
              </a:lnSpc>
              <a:spcBef>
                <a:spcPts val="0"/>
              </a:spcBef>
              <a:spcAft>
                <a:spcPts val="0"/>
              </a:spcAft>
            </a:pPr>
            <a:r>
              <a:rPr sz="2550" b="0">
                <a:solidFill>
                  <a:srgbClr val="0071CE"/>
                </a:solidFill>
                <a:latin typeface="Arial"/>
                <a:ea typeface="맑은 고딕"/>
                <a:cs typeface="맑은 고딕"/>
              </a:rPr>
              <a:t>2</a:t>
            </a:r>
          </a:p>
        </p:txBody>
      </p:sp>
      <p:sp>
        <p:nvSpPr>
          <p:cNvPr id="18" name="TextBox 17"/>
          <p:cNvSpPr txBox="1"/>
          <p:nvPr/>
        </p:nvSpPr>
        <p:spPr>
          <a:xfrm>
            <a:off x="819150" y="2695575"/>
            <a:ext cx="1972866" cy="461962"/>
          </a:xfrm>
          <a:prstGeom prst="rect">
            <a:avLst/>
          </a:prstGeom>
          <a:noFill/>
        </p:spPr>
        <p:txBody>
          <a:bodyPr wrap="none" anchor="ctr" lIns="0" rIns="0" tIns="0" bIns="0">
            <a:noAutofit/>
          </a:bodyPr>
          <a:lstStyle/>
          <a:p>
            <a:pPr algn="l">
              <a:lnSpc>
                <a:spcPts val="2812"/>
              </a:lnSpc>
              <a:spcBef>
                <a:spcPts val="0"/>
              </a:spcBef>
              <a:spcAft>
                <a:spcPts val="0"/>
              </a:spcAft>
            </a:pPr>
            <a:r>
              <a:rPr sz="1875" b="1" spc="-38">
                <a:solidFill>
                  <a:srgbClr val="005BAC"/>
                </a:solidFill>
                <a:latin typeface="맑은 고딕"/>
                <a:ea typeface="맑은 고딕"/>
                <a:cs typeface="맑은 고딕"/>
              </a:rPr>
              <a:t>성적 평가</a:t>
            </a:r>
          </a:p>
        </p:txBody>
      </p:sp>
      <p:sp>
        <p:nvSpPr>
          <p:cNvPr id="19" name="Rectangle 18"/>
          <p:cNvSpPr/>
          <p:nvPr/>
        </p:nvSpPr>
        <p:spPr>
          <a:xfrm>
            <a:off x="419100" y="3321844"/>
            <a:ext cx="7039273" cy="4619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20" name="Connector 19"/>
          <p:cNvCxnSpPr/>
          <p:nvPr/>
        </p:nvCxnSpPr>
        <p:spPr>
          <a:xfrm>
            <a:off x="419100" y="3783806"/>
            <a:ext cx="7039273" cy="0"/>
          </a:xfrm>
          <a:prstGeom prst="line">
            <a:avLst/>
          </a:prstGeom>
          <a:ln w="9525">
            <a:solidFill>
              <a:srgbClr val="9DC3E6"/>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90500" y="3279934"/>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22" name="TextBox 21"/>
          <p:cNvSpPr txBox="1"/>
          <p:nvPr/>
        </p:nvSpPr>
        <p:spPr>
          <a:xfrm>
            <a:off x="419100" y="3208496"/>
            <a:ext cx="669369" cy="607695"/>
          </a:xfrm>
          <a:prstGeom prst="rect">
            <a:avLst/>
          </a:prstGeom>
          <a:noFill/>
        </p:spPr>
        <p:txBody>
          <a:bodyPr wrap="none" anchor="ctr" lIns="0" rIns="0" tIns="0" bIns="0">
            <a:noAutofit/>
          </a:bodyPr>
          <a:lstStyle/>
          <a:p>
            <a:pPr algn="l">
              <a:lnSpc>
                <a:spcPts val="2550"/>
              </a:lnSpc>
              <a:spcBef>
                <a:spcPts val="0"/>
              </a:spcBef>
              <a:spcAft>
                <a:spcPts val="0"/>
              </a:spcAft>
            </a:pPr>
            <a:r>
              <a:rPr sz="2550" b="0">
                <a:solidFill>
                  <a:srgbClr val="0071CE"/>
                </a:solidFill>
                <a:latin typeface="Arial"/>
                <a:ea typeface="맑은 고딕"/>
                <a:cs typeface="맑은 고딕"/>
              </a:rPr>
              <a:t>3</a:t>
            </a:r>
          </a:p>
        </p:txBody>
      </p:sp>
      <p:sp>
        <p:nvSpPr>
          <p:cNvPr id="23" name="TextBox 22"/>
          <p:cNvSpPr txBox="1"/>
          <p:nvPr/>
        </p:nvSpPr>
        <p:spPr>
          <a:xfrm>
            <a:off x="819150" y="3290888"/>
            <a:ext cx="2916079" cy="461962"/>
          </a:xfrm>
          <a:prstGeom prst="rect">
            <a:avLst/>
          </a:prstGeom>
          <a:noFill/>
        </p:spPr>
        <p:txBody>
          <a:bodyPr wrap="none" anchor="ctr" lIns="0" rIns="0" tIns="0" bIns="0">
            <a:noAutofit/>
          </a:bodyPr>
          <a:lstStyle/>
          <a:p>
            <a:pPr algn="l">
              <a:lnSpc>
                <a:spcPts val="2812"/>
              </a:lnSpc>
              <a:spcBef>
                <a:spcPts val="0"/>
              </a:spcBef>
              <a:spcAft>
                <a:spcPts val="0"/>
              </a:spcAft>
            </a:pPr>
            <a:r>
              <a:rPr sz="1875" b="1" spc="-38">
                <a:solidFill>
                  <a:srgbClr val="005BAC"/>
                </a:solidFill>
                <a:latin typeface="맑은 고딕"/>
                <a:ea typeface="맑은 고딕"/>
                <a:cs typeface="맑은 고딕"/>
              </a:rPr>
              <a:t>주 별 강의 계획</a:t>
            </a:r>
          </a:p>
        </p:txBody>
      </p:sp>
      <p:sp>
        <p:nvSpPr>
          <p:cNvPr id="24" name="Rectangle 23"/>
          <p:cNvSpPr/>
          <p:nvPr/>
        </p:nvSpPr>
        <p:spPr>
          <a:xfrm>
            <a:off x="419100" y="3917156"/>
            <a:ext cx="7039273" cy="4619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25" name="Connector 24"/>
          <p:cNvCxnSpPr/>
          <p:nvPr/>
        </p:nvCxnSpPr>
        <p:spPr>
          <a:xfrm>
            <a:off x="419100" y="4379119"/>
            <a:ext cx="7039273" cy="0"/>
          </a:xfrm>
          <a:prstGeom prst="line">
            <a:avLst/>
          </a:prstGeom>
          <a:ln w="9525">
            <a:solidFill>
              <a:srgbClr val="9DC3E6"/>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90500" y="3875246"/>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27" name="TextBox 26"/>
          <p:cNvSpPr txBox="1"/>
          <p:nvPr/>
        </p:nvSpPr>
        <p:spPr>
          <a:xfrm>
            <a:off x="419100" y="3803809"/>
            <a:ext cx="669369" cy="607695"/>
          </a:xfrm>
          <a:prstGeom prst="rect">
            <a:avLst/>
          </a:prstGeom>
          <a:noFill/>
        </p:spPr>
        <p:txBody>
          <a:bodyPr wrap="none" anchor="ctr" lIns="0" rIns="0" tIns="0" bIns="0">
            <a:noAutofit/>
          </a:bodyPr>
          <a:lstStyle/>
          <a:p>
            <a:pPr algn="l">
              <a:lnSpc>
                <a:spcPts val="2550"/>
              </a:lnSpc>
              <a:spcBef>
                <a:spcPts val="0"/>
              </a:spcBef>
              <a:spcAft>
                <a:spcPts val="0"/>
              </a:spcAft>
            </a:pPr>
            <a:r>
              <a:rPr sz="2550" b="0">
                <a:solidFill>
                  <a:srgbClr val="0071CE"/>
                </a:solidFill>
                <a:latin typeface="Arial"/>
                <a:ea typeface="맑은 고딕"/>
                <a:cs typeface="맑은 고딕"/>
              </a:rPr>
              <a:t>4</a:t>
            </a:r>
          </a:p>
        </p:txBody>
      </p:sp>
      <p:sp>
        <p:nvSpPr>
          <p:cNvPr id="28" name="TextBox 27"/>
          <p:cNvSpPr txBox="1"/>
          <p:nvPr/>
        </p:nvSpPr>
        <p:spPr>
          <a:xfrm>
            <a:off x="819150" y="3886200"/>
            <a:ext cx="3606641" cy="461962"/>
          </a:xfrm>
          <a:prstGeom prst="rect">
            <a:avLst/>
          </a:prstGeom>
          <a:noFill/>
        </p:spPr>
        <p:txBody>
          <a:bodyPr wrap="none" anchor="ctr" lIns="0" rIns="0" tIns="0" bIns="0">
            <a:noAutofit/>
          </a:bodyPr>
          <a:lstStyle/>
          <a:p>
            <a:pPr algn="l">
              <a:lnSpc>
                <a:spcPts val="2812"/>
              </a:lnSpc>
              <a:spcBef>
                <a:spcPts val="0"/>
              </a:spcBef>
              <a:spcAft>
                <a:spcPts val="0"/>
              </a:spcAft>
            </a:pPr>
            <a:r>
              <a:rPr sz="1875" b="1" spc="-38">
                <a:solidFill>
                  <a:srgbClr val="005BAC"/>
                </a:solidFill>
                <a:latin typeface="맑은 고딕"/>
                <a:ea typeface="맑은 고딕"/>
                <a:cs typeface="맑은 고딕"/>
              </a:rPr>
              <a:t>강의요구분석(설문)</a:t>
            </a:r>
          </a:p>
        </p:txBody>
      </p:sp>
      <p:sp>
        <p:nvSpPr>
          <p:cNvPr id="29" name="Rectangle 28"/>
          <p:cNvSpPr/>
          <p:nvPr/>
        </p:nvSpPr>
        <p:spPr>
          <a:xfrm>
            <a:off x="419100" y="4512469"/>
            <a:ext cx="7039273" cy="4619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30" name="Connector 29"/>
          <p:cNvCxnSpPr/>
          <p:nvPr/>
        </p:nvCxnSpPr>
        <p:spPr>
          <a:xfrm>
            <a:off x="419100" y="4974431"/>
            <a:ext cx="7039273" cy="0"/>
          </a:xfrm>
          <a:prstGeom prst="line">
            <a:avLst/>
          </a:prstGeom>
          <a:ln w="9525">
            <a:solidFill>
              <a:srgbClr val="9DC3E6"/>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90500" y="4470559"/>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32" name="TextBox 31"/>
          <p:cNvSpPr txBox="1"/>
          <p:nvPr/>
        </p:nvSpPr>
        <p:spPr>
          <a:xfrm>
            <a:off x="419100" y="4399121"/>
            <a:ext cx="669369" cy="607695"/>
          </a:xfrm>
          <a:prstGeom prst="rect">
            <a:avLst/>
          </a:prstGeom>
          <a:noFill/>
        </p:spPr>
        <p:txBody>
          <a:bodyPr wrap="none" anchor="ctr" lIns="0" rIns="0" tIns="0" bIns="0">
            <a:noAutofit/>
          </a:bodyPr>
          <a:lstStyle/>
          <a:p>
            <a:pPr algn="l">
              <a:lnSpc>
                <a:spcPts val="2550"/>
              </a:lnSpc>
              <a:spcBef>
                <a:spcPts val="0"/>
              </a:spcBef>
              <a:spcAft>
                <a:spcPts val="0"/>
              </a:spcAft>
            </a:pPr>
            <a:r>
              <a:rPr sz="2550" b="0">
                <a:solidFill>
                  <a:srgbClr val="0071CE"/>
                </a:solidFill>
                <a:latin typeface="Arial"/>
                <a:ea typeface="맑은 고딕"/>
                <a:cs typeface="맑은 고딕"/>
              </a:rPr>
              <a:t>5</a:t>
            </a:r>
          </a:p>
        </p:txBody>
      </p:sp>
      <p:sp>
        <p:nvSpPr>
          <p:cNvPr id="33" name="TextBox 32"/>
          <p:cNvSpPr txBox="1"/>
          <p:nvPr/>
        </p:nvSpPr>
        <p:spPr>
          <a:xfrm>
            <a:off x="819150" y="4481512"/>
            <a:ext cx="4176474" cy="461962"/>
          </a:xfrm>
          <a:prstGeom prst="rect">
            <a:avLst/>
          </a:prstGeom>
          <a:noFill/>
        </p:spPr>
        <p:txBody>
          <a:bodyPr wrap="none" anchor="ctr" lIns="0" rIns="0" tIns="0" bIns="0">
            <a:noAutofit/>
          </a:bodyPr>
          <a:lstStyle/>
          <a:p>
            <a:pPr algn="l">
              <a:lnSpc>
                <a:spcPts val="2812"/>
              </a:lnSpc>
              <a:spcBef>
                <a:spcPts val="0"/>
              </a:spcBef>
              <a:spcAft>
                <a:spcPts val="0"/>
              </a:spcAft>
            </a:pPr>
            <a:r>
              <a:rPr sz="1875" b="1" spc="-38">
                <a:solidFill>
                  <a:srgbClr val="005BAC"/>
                </a:solidFill>
                <a:latin typeface="맑은 고딕"/>
                <a:ea typeface="맑은 고딕"/>
                <a:cs typeface="맑은 고딕"/>
              </a:rPr>
              <a:t>창업 인식도 조사(설문)</a:t>
            </a:r>
          </a:p>
        </p:txBody>
      </p:sp>
      <p:sp>
        <p:nvSpPr>
          <p:cNvPr id="34" name="TextBox 33"/>
          <p:cNvSpPr txBox="1"/>
          <p:nvPr/>
        </p:nvSpPr>
        <p:spPr>
          <a:xfrm>
            <a:off x="5846013" y="6506528"/>
            <a:ext cx="499824"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band.jpg"/>
          <p:cNvPicPr>
            <a:picLocks noChangeAspect="1"/>
          </p:cNvPicPr>
          <p:nvPr/>
        </p:nvPicPr>
        <p:blipFill>
          <a:blip r:embed="rId2"/>
          <a:stretch>
            <a:fillRect/>
          </a:stretch>
        </p:blipFill>
        <p:spPr>
          <a:xfrm>
            <a:off x="0" y="0"/>
            <a:ext cx="12192000" cy="3566071"/>
          </a:xfrm>
          <a:prstGeom prst="rect">
            <a:avLst/>
          </a:prstGeom>
        </p:spPr>
      </p:pic>
      <p:sp>
        <p:nvSpPr>
          <p:cNvPr id="4" name="Rectangle 3"/>
          <p:cNvSpPr/>
          <p:nvPr/>
        </p:nvSpPr>
        <p:spPr>
          <a:xfrm>
            <a:off x="0" y="3547021"/>
            <a:ext cx="7071360" cy="38100"/>
          </a:xfrm>
          <a:prstGeom prst="rect">
            <a:avLst/>
          </a:prstGeom>
          <a:ln>
            <a:noFill/>
          </a:ln>
          <a:effectLst/>
          <a:gradFill rotWithShape="1">
            <a:gsLst>
              <a:gs pos="0">
                <a:srgbClr val="005BAC"/>
              </a:gs>
              <a:gs pos="100000">
                <a:srgbClr val="005BAC">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0" y="3623221"/>
            <a:ext cx="4876800" cy="38100"/>
          </a:xfrm>
          <a:prstGeom prst="rect">
            <a:avLst/>
          </a:prstGeom>
          <a:ln>
            <a:noFill/>
          </a:ln>
          <a:effectLst/>
          <a:gradFill rotWithShape="1">
            <a:gsLst>
              <a:gs pos="0">
                <a:srgbClr val="0071CE"/>
              </a:gs>
              <a:gs pos="100000">
                <a:srgbClr val="0071CE">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0" y="3699421"/>
            <a:ext cx="3413760" cy="38100"/>
          </a:xfrm>
          <a:prstGeom prst="rect">
            <a:avLst/>
          </a:prstGeom>
          <a:ln>
            <a:noFill/>
          </a:ln>
          <a:effectLst/>
          <a:gradFill rotWithShape="1">
            <a:gsLst>
              <a:gs pos="0">
                <a:srgbClr val="4BA3E3"/>
              </a:gs>
              <a:gs pos="100000">
                <a:srgbClr val="4BA3E3">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247650" y="3032671"/>
            <a:ext cx="1066800" cy="1066800"/>
          </a:xfrm>
          <a:prstGeom prst="ellipse">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rot="1873891">
            <a:off x="277468" y="2897338"/>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C</a:t>
            </a:r>
          </a:p>
        </p:txBody>
      </p:sp>
      <p:sp>
        <p:nvSpPr>
          <p:cNvPr id="9" name="TextBox 8"/>
          <p:cNvSpPr txBox="1"/>
          <p:nvPr/>
        </p:nvSpPr>
        <p:spPr>
          <a:xfrm rot="2597530">
            <a:off x="385778" y="2979733"/>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H</a:t>
            </a:r>
          </a:p>
        </p:txBody>
      </p:sp>
      <p:sp>
        <p:nvSpPr>
          <p:cNvPr id="10" name="TextBox 9"/>
          <p:cNvSpPr txBox="1"/>
          <p:nvPr/>
        </p:nvSpPr>
        <p:spPr>
          <a:xfrm rot="3289047">
            <a:off x="471016" y="3077979"/>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A</a:t>
            </a:r>
          </a:p>
        </p:txBody>
      </p:sp>
      <p:sp>
        <p:nvSpPr>
          <p:cNvPr id="11" name="TextBox 10"/>
          <p:cNvSpPr txBox="1"/>
          <p:nvPr/>
        </p:nvSpPr>
        <p:spPr>
          <a:xfrm rot="3979591">
            <a:off x="534833" y="3191105"/>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P</a:t>
            </a:r>
          </a:p>
        </p:txBody>
      </p:sp>
      <p:sp>
        <p:nvSpPr>
          <p:cNvPr id="12" name="TextBox 11"/>
          <p:cNvSpPr txBox="1"/>
          <p:nvPr/>
        </p:nvSpPr>
        <p:spPr>
          <a:xfrm rot="4647428">
            <a:off x="573879" y="3310511"/>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T</a:t>
            </a:r>
          </a:p>
        </p:txBody>
      </p:sp>
      <p:sp>
        <p:nvSpPr>
          <p:cNvPr id="13" name="TextBox 12"/>
          <p:cNvSpPr txBox="1"/>
          <p:nvPr/>
        </p:nvSpPr>
        <p:spPr>
          <a:xfrm rot="5322137">
            <a:off x="589171" y="3436504"/>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E</a:t>
            </a:r>
          </a:p>
        </p:txBody>
      </p:sp>
      <p:sp>
        <p:nvSpPr>
          <p:cNvPr id="14" name="TextBox 13"/>
          <p:cNvSpPr txBox="1"/>
          <p:nvPr/>
        </p:nvSpPr>
        <p:spPr>
          <a:xfrm rot="6029545">
            <a:off x="578507" y="3569122"/>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R</a:t>
            </a:r>
          </a:p>
        </p:txBody>
      </p:sp>
      <p:sp>
        <p:nvSpPr>
          <p:cNvPr id="15" name="TextBox 14"/>
          <p:cNvSpPr txBox="1"/>
          <p:nvPr/>
        </p:nvSpPr>
        <p:spPr>
          <a:xfrm>
            <a:off x="-43532" y="3267938"/>
            <a:ext cx="658564" cy="615315"/>
          </a:xfrm>
          <a:prstGeom prst="rect">
            <a:avLst/>
          </a:prstGeom>
          <a:noFill/>
        </p:spPr>
        <p:txBody>
          <a:bodyPr wrap="none" lIns="0" rIns="0" tIns="0" bIns="0" anchor="ctr">
            <a:noAutofit/>
          </a:bodyPr>
          <a:lstStyle/>
          <a:p>
            <a:pPr algn="ctr">
              <a:lnSpc>
                <a:spcPts val="3420"/>
              </a:lnSpc>
            </a:pPr>
            <a:r>
              <a:rPr sz="2850" b="1">
                <a:solidFill>
                  <a:srgbClr val="17365D"/>
                </a:solidFill>
                <a:latin typeface="Arial"/>
                <a:ea typeface="맑은 고딕"/>
                <a:cs typeface="맑은 고딕"/>
              </a:rPr>
              <a:t>1</a:t>
            </a:r>
          </a:p>
        </p:txBody>
      </p:sp>
      <p:sp>
        <p:nvSpPr>
          <p:cNvPr id="16" name="TextBox 15"/>
          <p:cNvSpPr txBox="1"/>
          <p:nvPr/>
        </p:nvSpPr>
        <p:spPr>
          <a:xfrm>
            <a:off x="5295662" y="4067651"/>
            <a:ext cx="6477238" cy="737235"/>
          </a:xfrm>
          <a:prstGeom prst="rect">
            <a:avLst/>
          </a:prstGeom>
          <a:noFill/>
        </p:spPr>
        <p:txBody>
          <a:bodyPr wrap="none" anchor="ctr" lIns="0" rIns="0" tIns="0" bIns="0">
            <a:noAutofit/>
          </a:bodyPr>
          <a:lstStyle/>
          <a:p>
            <a:pPr algn="r">
              <a:lnSpc>
                <a:spcPts val="4725"/>
              </a:lnSpc>
              <a:spcBef>
                <a:spcPts val="0"/>
              </a:spcBef>
              <a:spcAft>
                <a:spcPts val="0"/>
              </a:spcAft>
            </a:pPr>
            <a:r>
              <a:rPr sz="3150" b="1" spc="-110">
                <a:solidFill>
                  <a:srgbClr val="17365D"/>
                </a:solidFill>
                <a:latin typeface="맑은 고딕"/>
                <a:ea typeface="맑은 고딕"/>
                <a:cs typeface="맑은 고딕"/>
              </a:rPr>
              <a:t>강의 개요(강의계획서)</a:t>
            </a:r>
          </a:p>
        </p:txBody>
      </p:sp>
      <p:sp>
        <p:nvSpPr>
          <p:cNvPr id="17" name="TextBox 16"/>
          <p:cNvSpPr txBox="1"/>
          <p:nvPr/>
        </p:nvSpPr>
        <p:spPr>
          <a:xfrm>
            <a:off x="6921341" y="4632871"/>
            <a:ext cx="4851559" cy="381000"/>
          </a:xfrm>
          <a:prstGeom prst="rect">
            <a:avLst/>
          </a:prstGeom>
          <a:noFill/>
        </p:spPr>
        <p:txBody>
          <a:bodyPr wrap="none" anchor="ctr" lIns="0" rIns="0" tIns="0" bIns="0">
            <a:noAutofit/>
          </a:bodyPr>
          <a:lstStyle/>
          <a:p>
            <a:pPr algn="r">
              <a:lnSpc>
                <a:spcPts val="2250"/>
              </a:lnSpc>
              <a:spcBef>
                <a:spcPts val="0"/>
              </a:spcBef>
              <a:spcAft>
                <a:spcPts val="0"/>
              </a:spcAft>
            </a:pPr>
            <a:r>
              <a:rPr sz="1500" b="1">
                <a:solidFill>
                  <a:srgbClr val="63666B"/>
                </a:solidFill>
                <a:latin typeface="맑은 고딕"/>
                <a:ea typeface="맑은 고딕"/>
                <a:cs typeface="맑은 고딕"/>
              </a:rPr>
              <a:t>교과 목표 및 교재 등에 대한 소개</a:t>
            </a:r>
          </a:p>
        </p:txBody>
      </p:sp>
      <p:sp>
        <p:nvSpPr>
          <p:cNvPr id="18" name="TextBox 17"/>
          <p:cNvSpPr txBox="1"/>
          <p:nvPr/>
        </p:nvSpPr>
        <p:spPr>
          <a:xfrm>
            <a:off x="10846296" y="5971222"/>
            <a:ext cx="1863566" cy="802005"/>
          </a:xfrm>
          <a:prstGeom prst="rect">
            <a:avLst/>
          </a:prstGeom>
          <a:noFill/>
        </p:spPr>
        <p:txBody>
          <a:bodyPr wrap="none" anchor="ctr" lIns="0" rIns="0" tIns="0" bIns="0">
            <a:noAutofit/>
          </a:bodyPr>
          <a:lstStyle/>
          <a:p>
            <a:pPr algn="l">
              <a:lnSpc>
                <a:spcPts val="3450"/>
              </a:lnSpc>
              <a:spcBef>
                <a:spcPts val="0"/>
              </a:spcBef>
              <a:spcAft>
                <a:spcPts val="0"/>
              </a:spcAft>
            </a:pPr>
            <a:r>
              <a:rPr sz="3450" b="1" spc="-190">
                <a:solidFill>
                  <a:srgbClr val="17365D"/>
                </a:solidFill>
                <a:latin typeface="Arial"/>
                <a:ea typeface="맑은 고딕"/>
                <a:cs typeface="맑은 고딕"/>
              </a:rPr>
              <a:t>dima</a:t>
            </a:r>
          </a:p>
        </p:txBody>
      </p:sp>
      <p:sp>
        <p:nvSpPr>
          <p:cNvPr id="19" name="Oval 18"/>
          <p:cNvSpPr/>
          <p:nvPr/>
        </p:nvSpPr>
        <p:spPr>
          <a:xfrm>
            <a:off x="11097194" y="6001131"/>
            <a:ext cx="83248" cy="83248"/>
          </a:xfrm>
          <a:prstGeom prst="ellipse">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1369070" cy="323850"/>
          </a:xfrm>
          <a:prstGeom prst="rect">
            <a:avLst/>
          </a:prstGeom>
          <a:solidFill>
            <a:srgbClr val="002A55"/>
          </a:solidFill>
          <a:ln w="19050">
            <a:solidFill>
              <a:srgbClr val="FFF100"/>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609600" y="103346"/>
            <a:ext cx="536019" cy="364808"/>
          </a:xfrm>
          <a:prstGeom prst="rect">
            <a:avLst/>
          </a:prstGeom>
          <a:noFill/>
        </p:spPr>
        <p:txBody>
          <a:bodyPr wrap="none" anchor="ctr" lIns="0" rIns="0" tIns="0" bIns="0">
            <a:noAutofit/>
          </a:bodyPr>
          <a:lstStyle/>
          <a:p>
            <a:pPr algn="l">
              <a:lnSpc>
                <a:spcPts val="1425"/>
              </a:lnSpc>
              <a:spcBef>
                <a:spcPts val="0"/>
              </a:spcBef>
              <a:spcAft>
                <a:spcPts val="0"/>
              </a:spcAft>
            </a:pPr>
            <a:r>
              <a:rPr sz="1425" b="1" spc="-30">
                <a:solidFill>
                  <a:srgbClr val="FFF100"/>
                </a:solidFill>
                <a:latin typeface="Arial"/>
                <a:ea typeface="맑은 고딕"/>
                <a:cs typeface="맑은 고딕"/>
              </a:rPr>
              <a:t>1</a:t>
            </a:r>
          </a:p>
        </p:txBody>
      </p:sp>
      <p:sp>
        <p:nvSpPr>
          <p:cNvPr id="7" name="TextBox 6"/>
          <p:cNvSpPr txBox="1"/>
          <p:nvPr/>
        </p:nvSpPr>
        <p:spPr>
          <a:xfrm>
            <a:off x="801737" y="85725"/>
            <a:ext cx="1654493"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FFF"/>
                </a:solidFill>
                <a:latin typeface="맑은 고딕"/>
                <a:ea typeface="맑은 고딕"/>
                <a:cs typeface="맑은 고딕"/>
              </a:rPr>
              <a:t>강의 소개</a:t>
            </a:r>
          </a:p>
        </p:txBody>
      </p:sp>
      <p:sp>
        <p:nvSpPr>
          <p:cNvPr id="8" name="TextBox 7"/>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9" name="Oval 8"/>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100" y="932200"/>
            <a:ext cx="14933771" cy="559118"/>
          </a:xfrm>
          <a:prstGeom prst="rect">
            <a:avLst/>
          </a:prstGeom>
          <a:noFill/>
        </p:spPr>
        <p:txBody>
          <a:bodyPr wrap="none" anchor="ctr" lIns="0" rIns="0" tIns="0" bIns="0">
            <a:noAutofit/>
          </a:bodyPr>
          <a:lstStyle/>
          <a:p>
            <a:pPr algn="l">
              <a:lnSpc>
                <a:spcPts val="3487"/>
              </a:lnSpc>
              <a:spcBef>
                <a:spcPts val="0"/>
              </a:spcBef>
              <a:spcAft>
                <a:spcPts val="0"/>
              </a:spcAft>
            </a:pPr>
            <a:r>
              <a:rPr sz="2325" b="1" spc="-58">
                <a:solidFill>
                  <a:srgbClr val="17365D"/>
                </a:solidFill>
                <a:latin typeface="맑은 고딕"/>
                <a:ea typeface="맑은 고딕"/>
                <a:cs typeface="맑은 고딕"/>
              </a:rPr>
              <a:t>본 수업은 여러분이 자신에게 맞는 진로를 찾을 수 있도록 도와드립니다.</a:t>
            </a:r>
          </a:p>
        </p:txBody>
      </p:sp>
      <p:sp>
        <p:nvSpPr>
          <p:cNvPr id="11" name="TextBox 10"/>
          <p:cNvSpPr txBox="1"/>
          <p:nvPr/>
        </p:nvSpPr>
        <p:spPr>
          <a:xfrm>
            <a:off x="419100" y="1991082"/>
            <a:ext cx="2842260" cy="445770"/>
          </a:xfrm>
          <a:prstGeom prst="rect">
            <a:avLst/>
          </a:prstGeom>
          <a:noFill/>
        </p:spPr>
        <p:txBody>
          <a:bodyPr wrap="none" anchor="ctr" lIns="0" rIns="0" tIns="0" bIns="0">
            <a:noAutofit/>
          </a:bodyPr>
          <a:lstStyle/>
          <a:p>
            <a:pPr algn="l">
              <a:lnSpc>
                <a:spcPts val="2700"/>
              </a:lnSpc>
              <a:spcBef>
                <a:spcPts val="0"/>
              </a:spcBef>
              <a:spcAft>
                <a:spcPts val="0"/>
              </a:spcAft>
            </a:pPr>
            <a:r>
              <a:rPr sz="1800" b="1" spc="-36">
                <a:solidFill>
                  <a:srgbClr val="005BAC"/>
                </a:solidFill>
                <a:latin typeface="맑은 고딕"/>
                <a:ea typeface="맑은 고딕"/>
                <a:cs typeface="맑은 고딕"/>
              </a:rPr>
              <a:t>행복한 삶이란?</a:t>
            </a:r>
          </a:p>
        </p:txBody>
      </p:sp>
      <p:sp>
        <p:nvSpPr>
          <p:cNvPr id="12" name="TextBox 11"/>
          <p:cNvSpPr txBox="1"/>
          <p:nvPr/>
        </p:nvSpPr>
        <p:spPr>
          <a:xfrm>
            <a:off x="419100" y="2908816"/>
            <a:ext cx="6671310" cy="429578"/>
          </a:xfrm>
          <a:prstGeom prst="rect">
            <a:avLst/>
          </a:prstGeom>
          <a:noFill/>
        </p:spPr>
        <p:txBody>
          <a:bodyPr wrap="none" anchor="ctr" lIns="0" rIns="0" tIns="0" bIns="0">
            <a:noAutofit/>
          </a:bodyPr>
          <a:lstStyle/>
          <a:p>
            <a:pPr algn="l">
              <a:lnSpc>
                <a:spcPts val="2587"/>
              </a:lnSpc>
              <a:spcBef>
                <a:spcPts val="0"/>
              </a:spcBef>
              <a:spcAft>
                <a:spcPts val="0"/>
              </a:spcAft>
            </a:pPr>
            <a:r>
              <a:rPr sz="1725" b="0">
                <a:solidFill>
                  <a:srgbClr val="3B3838"/>
                </a:solidFill>
                <a:latin typeface="맑은 고딕"/>
                <a:ea typeface="맑은 고딕"/>
                <a:cs typeface="맑은 고딕"/>
              </a:rPr>
              <a:t>여러분에게 </a:t>
            </a:r>
            <a:r>
              <a:rPr sz="1725" b="1">
                <a:solidFill>
                  <a:srgbClr val="005BAC"/>
                </a:solidFill>
                <a:latin typeface="맑은 고딕"/>
                <a:ea typeface="맑은 고딕"/>
                <a:cs typeface="맑은 고딕"/>
              </a:rPr>
              <a:t>‘행복한 삶’</a:t>
            </a:r>
            <a:r>
              <a:rPr sz="1725" b="0">
                <a:solidFill>
                  <a:srgbClr val="3B3838"/>
                </a:solidFill>
                <a:latin typeface="맑은 고딕"/>
                <a:ea typeface="맑은 고딕"/>
                <a:cs typeface="맑은 고딕"/>
              </a:rPr>
              <a:t>이란 무엇인가요?</a:t>
            </a:r>
          </a:p>
        </p:txBody>
      </p:sp>
      <p:sp>
        <p:nvSpPr>
          <p:cNvPr id="13" name="Rectangle 12"/>
          <p:cNvSpPr/>
          <p:nvPr/>
        </p:nvSpPr>
        <p:spPr>
          <a:xfrm>
            <a:off x="419100" y="3814167"/>
            <a:ext cx="6230094" cy="5524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4" name="Connector 13"/>
          <p:cNvCxnSpPr/>
          <p:nvPr/>
        </p:nvCxnSpPr>
        <p:spPr>
          <a:xfrm>
            <a:off x="419100" y="3814167"/>
            <a:ext cx="6230094"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649194" y="3814167"/>
            <a:ext cx="0" cy="55245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19100" y="4366617"/>
            <a:ext cx="6230094"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19100" y="3814167"/>
            <a:ext cx="0" cy="552450"/>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7225" y="3870841"/>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19" name="TextBox 18"/>
          <p:cNvSpPr txBox="1"/>
          <p:nvPr/>
        </p:nvSpPr>
        <p:spPr>
          <a:xfrm>
            <a:off x="1047750" y="3909417"/>
            <a:ext cx="7374731" cy="381000"/>
          </a:xfrm>
          <a:prstGeom prst="rect">
            <a:avLst/>
          </a:prstGeom>
          <a:noFill/>
        </p:spPr>
        <p:txBody>
          <a:bodyPr wrap="none" anchor="ctr" lIns="0" rIns="0" tIns="0" bIns="0">
            <a:noAutofit/>
          </a:bodyPr>
          <a:lstStyle/>
          <a:p>
            <a:pPr algn="l">
              <a:lnSpc>
                <a:spcPts val="2250"/>
              </a:lnSpc>
              <a:spcBef>
                <a:spcPts val="0"/>
              </a:spcBef>
              <a:spcAft>
                <a:spcPts val="0"/>
              </a:spcAft>
            </a:pPr>
            <a:r>
              <a:rPr sz="1500" b="0">
                <a:solidFill>
                  <a:srgbClr val="3B3838"/>
                </a:solidFill>
                <a:latin typeface="맑은 고딕"/>
                <a:ea typeface="맑은 고딕"/>
                <a:cs typeface="맑은 고딕"/>
              </a:rPr>
              <a:t>취업과 경력개발은 행복한 삶을 위한 첫 걸음입니다.</a:t>
            </a:r>
          </a:p>
        </p:txBody>
      </p:sp>
      <p:sp>
        <p:nvSpPr>
          <p:cNvPr id="20" name="TextBox 19"/>
          <p:cNvSpPr txBox="1"/>
          <p:nvPr/>
        </p:nvSpPr>
        <p:spPr>
          <a:xfrm>
            <a:off x="419100" y="4833342"/>
            <a:ext cx="8763476" cy="381000"/>
          </a:xfrm>
          <a:prstGeom prst="rect">
            <a:avLst/>
          </a:prstGeom>
          <a:noFill/>
        </p:spPr>
        <p:txBody>
          <a:bodyPr wrap="none" anchor="ctr" lIns="0" rIns="0" tIns="0" bIns="0">
            <a:noAutofit/>
          </a:bodyPr>
          <a:lstStyle/>
          <a:p>
            <a:pPr algn="l">
              <a:lnSpc>
                <a:spcPts val="2250"/>
              </a:lnSpc>
              <a:spcBef>
                <a:spcPts val="0"/>
              </a:spcBef>
              <a:spcAft>
                <a:spcPts val="0"/>
              </a:spcAft>
            </a:pPr>
            <a:r>
              <a:rPr sz="1500" b="0">
                <a:solidFill>
                  <a:srgbClr val="3B3838"/>
                </a:solidFill>
                <a:latin typeface="맑은 고딕"/>
                <a:ea typeface="맑은 고딕"/>
                <a:cs typeface="맑은 고딕"/>
              </a:rPr>
              <a:t>직업은 단순히 돈을 버는 수단이 아닌, </a:t>
            </a:r>
            <a:r>
              <a:rPr sz="1500" b="1">
                <a:solidFill>
                  <a:srgbClr val="C00000"/>
                </a:solidFill>
                <a:latin typeface="맑은 고딕"/>
                <a:ea typeface="맑은 고딕"/>
                <a:cs typeface="맑은 고딕"/>
              </a:rPr>
              <a:t>자아실현의 공간</a:t>
            </a:r>
            <a:r>
              <a:rPr sz="1500" b="0">
                <a:solidFill>
                  <a:srgbClr val="3B3838"/>
                </a:solidFill>
                <a:latin typeface="맑은 고딕"/>
                <a:ea typeface="맑은 고딕"/>
                <a:cs typeface="맑은 고딕"/>
              </a:rPr>
              <a:t>입니다.</a:t>
            </a:r>
          </a:p>
        </p:txBody>
      </p:sp>
      <p:sp>
        <p:nvSpPr>
          <p:cNvPr id="21" name="TextBox 20"/>
          <p:cNvSpPr txBox="1"/>
          <p:nvPr/>
        </p:nvSpPr>
        <p:spPr>
          <a:xfrm>
            <a:off x="419100" y="5623917"/>
            <a:ext cx="8543211" cy="381000"/>
          </a:xfrm>
          <a:prstGeom prst="rect">
            <a:avLst/>
          </a:prstGeom>
          <a:noFill/>
        </p:spPr>
        <p:txBody>
          <a:bodyPr wrap="none" anchor="ctr" lIns="0" rIns="0" tIns="0" bIns="0">
            <a:noAutofit/>
          </a:bodyPr>
          <a:lstStyle/>
          <a:p>
            <a:pPr algn="l">
              <a:lnSpc>
                <a:spcPts val="2250"/>
              </a:lnSpc>
              <a:spcBef>
                <a:spcPts val="0"/>
              </a:spcBef>
              <a:spcAft>
                <a:spcPts val="0"/>
              </a:spcAft>
            </a:pPr>
            <a:r>
              <a:rPr sz="1500" b="0">
                <a:solidFill>
                  <a:srgbClr val="3B3838"/>
                </a:solidFill>
                <a:latin typeface="맑은 고딕"/>
                <a:ea typeface="맑은 고딕"/>
                <a:cs typeface="맑은 고딕"/>
              </a:rPr>
              <a:t>나의 강점, 흥미, 가치관을 발견하고 취업 역량을 높여봅시다.</a:t>
            </a:r>
          </a:p>
        </p:txBody>
      </p:sp>
      <p:sp>
        <p:nvSpPr>
          <p:cNvPr id="22" name="Oval 21"/>
          <p:cNvSpPr/>
          <p:nvPr/>
        </p:nvSpPr>
        <p:spPr>
          <a:xfrm>
            <a:off x="8713459" y="2866070"/>
            <a:ext cx="1223776" cy="1223776"/>
          </a:xfrm>
          <a:prstGeom prst="ellipse">
            <a:avLst/>
          </a:prstGeom>
          <a:gradFill rotWithShape="1">
            <a:gsLst>
              <a:gs pos="0">
                <a:srgbClr val="00A5DE"/>
              </a:gs>
              <a:gs pos="100000">
                <a:srgbClr val="005BAC"/>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mage.png"/>
          <p:cNvPicPr>
            <a:picLocks noChangeAspect="1"/>
          </p:cNvPicPr>
          <p:nvPr/>
        </p:nvPicPr>
        <p:blipFill>
          <a:blip r:embed="rId3"/>
          <a:stretch>
            <a:fillRect/>
          </a:stretch>
        </p:blipFill>
        <p:spPr>
          <a:xfrm>
            <a:off x="9153897" y="3106364"/>
            <a:ext cx="342900" cy="342900"/>
          </a:xfrm>
          <a:prstGeom prst="rect">
            <a:avLst/>
          </a:prstGeom>
        </p:spPr>
      </p:pic>
      <p:sp>
        <p:nvSpPr>
          <p:cNvPr id="24" name="TextBox 23"/>
          <p:cNvSpPr txBox="1"/>
          <p:nvPr/>
        </p:nvSpPr>
        <p:spPr>
          <a:xfrm>
            <a:off x="8594661" y="3480383"/>
            <a:ext cx="1461373" cy="341783"/>
          </a:xfrm>
          <a:prstGeom prst="rect">
            <a:avLst/>
          </a:prstGeom>
          <a:noFill/>
        </p:spPr>
        <p:txBody>
          <a:bodyPr wrap="none" lIns="0" rIns="0" tIns="0" bIns="0" anchor="ctr">
            <a:noAutofit/>
          </a:bodyPr>
          <a:lstStyle/>
          <a:p>
            <a:pPr algn="ctr">
              <a:lnSpc>
                <a:spcPts val="1899"/>
              </a:lnSpc>
            </a:pPr>
            <a:r>
              <a:rPr sz="1583" b="1">
                <a:solidFill>
                  <a:srgbClr val="FFFFFF"/>
                </a:solidFill>
                <a:latin typeface="맑은 고딕"/>
                <a:ea typeface="맑은 고딕"/>
                <a:cs typeface="맑은 고딕"/>
              </a:rPr>
              <a:t>행복한 삶</a:t>
            </a:r>
          </a:p>
        </p:txBody>
      </p:sp>
      <p:sp>
        <p:nvSpPr>
          <p:cNvPr id="25" name="Freeform 24"/>
          <p:cNvSpPr/>
          <p:nvPr/>
        </p:nvSpPr>
        <p:spPr>
          <a:xfrm>
            <a:off x="9325347" y="4159776"/>
            <a:ext cx="0" cy="262238"/>
          </a:xfrm>
          <a:custGeom>
            <a:avLst/>
            <a:gdLst/>
            <a:ahLst/>
            <a:cxnLst/>
            <a:rect l="l" t="t" r="r" b="b"/>
            <a:pathLst>
              <a:path w="0" h="262238">
                <a:moveTo>
                  <a:pt x="0" y="0"/>
                </a:moveTo>
                <a:lnTo>
                  <a:pt x="0" y="262238"/>
                </a:lnTo>
                <a:close/>
              </a:path>
            </a:pathLst>
          </a:custGeom>
          <a:noFill/>
          <a:ln w="26224">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9272900" y="4387049"/>
            <a:ext cx="104895" cy="87413"/>
          </a:xfrm>
          <a:custGeom>
            <a:avLst/>
            <a:gdLst/>
            <a:ahLst/>
            <a:cxnLst/>
            <a:rect l="l" t="t" r="r" b="b"/>
            <a:pathLst>
              <a:path w="104895" h="87413">
                <a:moveTo>
                  <a:pt x="0" y="0"/>
                </a:moveTo>
                <a:lnTo>
                  <a:pt x="52447" y="87413"/>
                </a:lnTo>
                <a:lnTo>
                  <a:pt x="104895" y="0"/>
                </a:lnTo>
                <a:close/>
              </a:path>
            </a:pathLst>
          </a:custGeom>
          <a:solidFill>
            <a:srgbClr val="0071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01571" y="4491944"/>
            <a:ext cx="2447553" cy="402098"/>
          </a:xfrm>
          <a:prstGeom prst="rect">
            <a:avLst/>
          </a:prstGeom>
          <a:solidFill>
            <a:srgbClr val="DEEBF7"/>
          </a:solidFill>
          <a:ln w="8741">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7853977" y="4564602"/>
            <a:ext cx="2948172" cy="282343"/>
          </a:xfrm>
          <a:prstGeom prst="rect">
            <a:avLst/>
          </a:prstGeom>
          <a:noFill/>
        </p:spPr>
        <p:txBody>
          <a:bodyPr wrap="none" lIns="0" rIns="0" tIns="0" bIns="0" anchor="ctr">
            <a:noAutofit/>
          </a:bodyPr>
          <a:lstStyle/>
          <a:p>
            <a:pPr algn="ctr">
              <a:lnSpc>
                <a:spcPts val="1569"/>
              </a:lnSpc>
            </a:pPr>
            <a:r>
              <a:rPr sz="1307" b="1">
                <a:solidFill>
                  <a:srgbClr val="005BAC"/>
                </a:solidFill>
                <a:latin typeface="맑은 고딕"/>
                <a:ea typeface="맑은 고딕"/>
                <a:cs typeface="맑은 고딕"/>
              </a:rPr>
              <a:t>직업 = 자아실현의 공간</a:t>
            </a:r>
          </a:p>
        </p:txBody>
      </p:sp>
      <p:sp>
        <p:nvSpPr>
          <p:cNvPr id="29" name="Freeform 28"/>
          <p:cNvSpPr/>
          <p:nvPr/>
        </p:nvSpPr>
        <p:spPr>
          <a:xfrm>
            <a:off x="9325347" y="4894042"/>
            <a:ext cx="0" cy="209790"/>
          </a:xfrm>
          <a:custGeom>
            <a:avLst/>
            <a:gdLst/>
            <a:ahLst/>
            <a:cxnLst/>
            <a:rect l="l" t="t" r="r" b="b"/>
            <a:pathLst>
              <a:path w="0" h="209790">
                <a:moveTo>
                  <a:pt x="0" y="0"/>
                </a:moveTo>
                <a:lnTo>
                  <a:pt x="0" y="209790"/>
                </a:lnTo>
                <a:close/>
              </a:path>
            </a:pathLst>
          </a:custGeom>
          <a:noFill/>
          <a:ln w="26224">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000172" y="5121315"/>
            <a:ext cx="1433567" cy="384615"/>
          </a:xfrm>
          <a:prstGeom prst="rect">
            <a:avLst/>
          </a:prstGeom>
          <a:solidFill>
            <a:srgbClr val="FFFFFF"/>
          </a:solidFill>
          <a:ln w="8741">
            <a:solidFill>
              <a:srgbClr val="D4DC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7145410" y="5198780"/>
            <a:ext cx="1143089" cy="237762"/>
          </a:xfrm>
          <a:prstGeom prst="rect">
            <a:avLst/>
          </a:prstGeom>
          <a:noFill/>
        </p:spPr>
        <p:txBody>
          <a:bodyPr wrap="none" lIns="0" rIns="0" tIns="0" bIns="0" anchor="ctr">
            <a:noAutofit/>
          </a:bodyPr>
          <a:lstStyle/>
          <a:p>
            <a:pPr algn="ctr">
              <a:lnSpc>
                <a:spcPts val="1321"/>
              </a:lnSpc>
            </a:pPr>
            <a:r>
              <a:rPr sz="1101" b="0">
                <a:solidFill>
                  <a:srgbClr val="16181D"/>
                </a:solidFill>
                <a:latin typeface="맑은 고딕"/>
                <a:ea typeface="맑은 고딕"/>
                <a:cs typeface="맑은 고딕"/>
              </a:rPr>
              <a:t>나의 강점</a:t>
            </a:r>
          </a:p>
        </p:txBody>
      </p:sp>
      <p:sp>
        <p:nvSpPr>
          <p:cNvPr id="32" name="Rectangle 31"/>
          <p:cNvSpPr/>
          <p:nvPr/>
        </p:nvSpPr>
        <p:spPr>
          <a:xfrm>
            <a:off x="8608564" y="5121315"/>
            <a:ext cx="1433567" cy="384615"/>
          </a:xfrm>
          <a:prstGeom prst="rect">
            <a:avLst/>
          </a:prstGeom>
          <a:solidFill>
            <a:srgbClr val="FFFFFF"/>
          </a:solidFill>
          <a:ln w="8741">
            <a:solidFill>
              <a:srgbClr val="D4DC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TextBox 32"/>
          <p:cNvSpPr txBox="1"/>
          <p:nvPr/>
        </p:nvSpPr>
        <p:spPr>
          <a:xfrm>
            <a:off x="8939585" y="5198780"/>
            <a:ext cx="771525" cy="237762"/>
          </a:xfrm>
          <a:prstGeom prst="rect">
            <a:avLst/>
          </a:prstGeom>
          <a:noFill/>
        </p:spPr>
        <p:txBody>
          <a:bodyPr wrap="none" lIns="0" rIns="0" tIns="0" bIns="0" anchor="ctr">
            <a:noAutofit/>
          </a:bodyPr>
          <a:lstStyle/>
          <a:p>
            <a:pPr algn="ctr">
              <a:lnSpc>
                <a:spcPts val="1321"/>
              </a:lnSpc>
            </a:pPr>
            <a:r>
              <a:rPr sz="1101" b="0">
                <a:solidFill>
                  <a:srgbClr val="16181D"/>
                </a:solidFill>
                <a:latin typeface="맑은 고딕"/>
                <a:ea typeface="맑은 고딕"/>
                <a:cs typeface="맑은 고딕"/>
              </a:rPr>
              <a:t>흥미</a:t>
            </a:r>
          </a:p>
        </p:txBody>
      </p:sp>
      <p:sp>
        <p:nvSpPr>
          <p:cNvPr id="34" name="Rectangle 33"/>
          <p:cNvSpPr/>
          <p:nvPr/>
        </p:nvSpPr>
        <p:spPr>
          <a:xfrm>
            <a:off x="10216956" y="5121315"/>
            <a:ext cx="1433567" cy="384615"/>
          </a:xfrm>
          <a:prstGeom prst="rect">
            <a:avLst/>
          </a:prstGeom>
          <a:solidFill>
            <a:srgbClr val="FFFFFF"/>
          </a:solidFill>
          <a:ln w="8741">
            <a:solidFill>
              <a:srgbClr val="D4DC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10469396" y="5198780"/>
            <a:ext cx="933450" cy="237762"/>
          </a:xfrm>
          <a:prstGeom prst="rect">
            <a:avLst/>
          </a:prstGeom>
          <a:noFill/>
        </p:spPr>
        <p:txBody>
          <a:bodyPr wrap="none" lIns="0" rIns="0" tIns="0" bIns="0" anchor="ctr">
            <a:noAutofit/>
          </a:bodyPr>
          <a:lstStyle/>
          <a:p>
            <a:pPr algn="ctr">
              <a:lnSpc>
                <a:spcPts val="1321"/>
              </a:lnSpc>
            </a:pPr>
            <a:r>
              <a:rPr sz="1101" b="0">
                <a:solidFill>
                  <a:srgbClr val="16181D"/>
                </a:solidFill>
                <a:latin typeface="맑은 고딕"/>
                <a:ea typeface="맑은 고딕"/>
                <a:cs typeface="맑은 고딕"/>
              </a:rPr>
              <a:t>가치관</a:t>
            </a:r>
          </a:p>
        </p:txBody>
      </p:sp>
      <p:sp>
        <p:nvSpPr>
          <p:cNvPr id="36" name="TextBox 35"/>
          <p:cNvSpPr txBox="1"/>
          <p:nvPr/>
        </p:nvSpPr>
        <p:spPr>
          <a:xfrm>
            <a:off x="5846013" y="6506528"/>
            <a:ext cx="499824"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1369070" cy="323850"/>
          </a:xfrm>
          <a:prstGeom prst="rect">
            <a:avLst/>
          </a:prstGeom>
          <a:solidFill>
            <a:srgbClr val="002A55"/>
          </a:solidFill>
          <a:ln w="19050">
            <a:solidFill>
              <a:srgbClr val="FFF100"/>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609600" y="103346"/>
            <a:ext cx="536019" cy="364808"/>
          </a:xfrm>
          <a:prstGeom prst="rect">
            <a:avLst/>
          </a:prstGeom>
          <a:noFill/>
        </p:spPr>
        <p:txBody>
          <a:bodyPr wrap="none" anchor="ctr" lIns="0" rIns="0" tIns="0" bIns="0">
            <a:noAutofit/>
          </a:bodyPr>
          <a:lstStyle/>
          <a:p>
            <a:pPr algn="l">
              <a:lnSpc>
                <a:spcPts val="1425"/>
              </a:lnSpc>
              <a:spcBef>
                <a:spcPts val="0"/>
              </a:spcBef>
              <a:spcAft>
                <a:spcPts val="0"/>
              </a:spcAft>
            </a:pPr>
            <a:r>
              <a:rPr sz="1425" b="1" spc="-30">
                <a:solidFill>
                  <a:srgbClr val="FFF100"/>
                </a:solidFill>
                <a:latin typeface="Arial"/>
                <a:ea typeface="맑은 고딕"/>
                <a:cs typeface="맑은 고딕"/>
              </a:rPr>
              <a:t>1</a:t>
            </a:r>
          </a:p>
        </p:txBody>
      </p:sp>
      <p:sp>
        <p:nvSpPr>
          <p:cNvPr id="7" name="TextBox 6"/>
          <p:cNvSpPr txBox="1"/>
          <p:nvPr/>
        </p:nvSpPr>
        <p:spPr>
          <a:xfrm>
            <a:off x="801737" y="85725"/>
            <a:ext cx="1654493"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FFF"/>
                </a:solidFill>
                <a:latin typeface="맑은 고딕"/>
                <a:ea typeface="맑은 고딕"/>
                <a:cs typeface="맑은 고딕"/>
              </a:rPr>
              <a:t>강의 개요</a:t>
            </a:r>
          </a:p>
        </p:txBody>
      </p:sp>
      <p:sp>
        <p:nvSpPr>
          <p:cNvPr id="8" name="TextBox 7"/>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9" name="Oval 8"/>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100" y="932200"/>
            <a:ext cx="2343150" cy="559118"/>
          </a:xfrm>
          <a:prstGeom prst="rect">
            <a:avLst/>
          </a:prstGeom>
          <a:noFill/>
        </p:spPr>
        <p:txBody>
          <a:bodyPr wrap="none" anchor="ctr" lIns="0" rIns="0" tIns="0" bIns="0">
            <a:noAutofit/>
          </a:bodyPr>
          <a:lstStyle/>
          <a:p>
            <a:pPr algn="l">
              <a:lnSpc>
                <a:spcPts val="3487"/>
              </a:lnSpc>
              <a:spcBef>
                <a:spcPts val="0"/>
              </a:spcBef>
              <a:spcAft>
                <a:spcPts val="0"/>
              </a:spcAft>
            </a:pPr>
            <a:r>
              <a:rPr sz="2325" b="1" spc="-58">
                <a:solidFill>
                  <a:srgbClr val="17365D"/>
                </a:solidFill>
                <a:latin typeface="맑은 고딕"/>
                <a:ea typeface="맑은 고딕"/>
                <a:cs typeface="맑은 고딕"/>
              </a:rPr>
              <a:t>교과 목표</a:t>
            </a:r>
          </a:p>
        </p:txBody>
      </p:sp>
      <p:sp>
        <p:nvSpPr>
          <p:cNvPr id="11" name="Rectangle 10"/>
          <p:cNvSpPr/>
          <p:nvPr/>
        </p:nvSpPr>
        <p:spPr>
          <a:xfrm>
            <a:off x="419100" y="1999655"/>
            <a:ext cx="11353800" cy="5524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2" name="Connector 11"/>
          <p:cNvCxnSpPr/>
          <p:nvPr/>
        </p:nvCxnSpPr>
        <p:spPr>
          <a:xfrm>
            <a:off x="419100" y="1999655"/>
            <a:ext cx="113538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1772900" y="1999655"/>
            <a:ext cx="0" cy="55245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9100" y="2552105"/>
            <a:ext cx="113538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9100" y="1999655"/>
            <a:ext cx="0" cy="552450"/>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7225" y="2056328"/>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17" name="TextBox 16"/>
          <p:cNvSpPr txBox="1"/>
          <p:nvPr/>
        </p:nvSpPr>
        <p:spPr>
          <a:xfrm>
            <a:off x="1047750" y="2094905"/>
            <a:ext cx="6595824" cy="381000"/>
          </a:xfrm>
          <a:prstGeom prst="rect">
            <a:avLst/>
          </a:prstGeom>
          <a:noFill/>
        </p:spPr>
        <p:txBody>
          <a:bodyPr wrap="none" anchor="ctr" lIns="0" rIns="0" tIns="0" bIns="0">
            <a:noAutofit/>
          </a:bodyPr>
          <a:lstStyle/>
          <a:p>
            <a:pPr algn="l">
              <a:lnSpc>
                <a:spcPts val="2250"/>
              </a:lnSpc>
              <a:spcBef>
                <a:spcPts val="0"/>
              </a:spcBef>
              <a:spcAft>
                <a:spcPts val="0"/>
              </a:spcAft>
            </a:pPr>
            <a:r>
              <a:rPr sz="1500" b="0">
                <a:solidFill>
                  <a:srgbClr val="3B3838"/>
                </a:solidFill>
                <a:latin typeface="맑은 고딕"/>
                <a:ea typeface="맑은 고딕"/>
                <a:cs typeface="맑은 고딕"/>
              </a:rPr>
              <a:t>『취업과 경력개발』 한 학기 수업을 마치면…</a:t>
            </a:r>
          </a:p>
        </p:txBody>
      </p:sp>
      <p:sp>
        <p:nvSpPr>
          <p:cNvPr id="18" name="Rectangle 17"/>
          <p:cNvSpPr/>
          <p:nvPr/>
        </p:nvSpPr>
        <p:spPr>
          <a:xfrm>
            <a:off x="419100" y="3146354"/>
            <a:ext cx="5565389" cy="1419225"/>
          </a:xfrm>
          <a:prstGeom prst="rect">
            <a:avLst/>
          </a:prstGeom>
          <a:solidFill>
            <a:srgbClr val="F2F7FC"/>
          </a:solidFill>
          <a:ln w="10137">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3"/>
          <a:stretch>
            <a:fillRect/>
          </a:stretch>
        </p:blipFill>
        <p:spPr>
          <a:xfrm>
            <a:off x="692195" y="3387747"/>
            <a:ext cx="361950" cy="361950"/>
          </a:xfrm>
          <a:prstGeom prst="rect">
            <a:avLst/>
          </a:prstGeom>
        </p:spPr>
      </p:pic>
      <p:sp>
        <p:nvSpPr>
          <p:cNvPr id="20" name="TextBox 19"/>
          <p:cNvSpPr txBox="1"/>
          <p:nvPr/>
        </p:nvSpPr>
        <p:spPr>
          <a:xfrm>
            <a:off x="1148987" y="3381866"/>
            <a:ext cx="781348" cy="275735"/>
          </a:xfrm>
          <a:prstGeom prst="rect">
            <a:avLst/>
          </a:prstGeom>
          <a:noFill/>
        </p:spPr>
        <p:txBody>
          <a:bodyPr wrap="none" lIns="0" rIns="0" tIns="0" bIns="0" anchor="ctr">
            <a:noAutofit/>
          </a:bodyPr>
          <a:lstStyle/>
          <a:p>
            <a:pPr algn="l">
              <a:lnSpc>
                <a:spcPts val="1532"/>
              </a:lnSpc>
            </a:pPr>
            <a:r>
              <a:rPr sz="1277" b="1">
                <a:solidFill>
                  <a:srgbClr val="005BAC"/>
                </a:solidFill>
                <a:latin typeface="맑은 고딕"/>
                <a:ea typeface="맑은 고딕"/>
                <a:cs typeface="맑은 고딕"/>
              </a:rPr>
              <a:t>첫째</a:t>
            </a:r>
          </a:p>
        </p:txBody>
      </p:sp>
      <p:sp>
        <p:nvSpPr>
          <p:cNvPr id="21" name="TextBox 20"/>
          <p:cNvSpPr txBox="1"/>
          <p:nvPr/>
        </p:nvSpPr>
        <p:spPr>
          <a:xfrm>
            <a:off x="1148987" y="3659229"/>
            <a:ext cx="5217527" cy="310202"/>
          </a:xfrm>
          <a:prstGeom prst="rect">
            <a:avLst/>
          </a:prstGeom>
          <a:noFill/>
        </p:spPr>
        <p:txBody>
          <a:bodyPr wrap="none" lIns="0" rIns="0" tIns="0" bIns="0" anchor="ctr">
            <a:noAutofit/>
          </a:bodyPr>
          <a:lstStyle/>
          <a:p>
            <a:pPr algn="l">
              <a:lnSpc>
                <a:spcPts val="1724"/>
              </a:lnSpc>
            </a:pPr>
            <a:r>
              <a:rPr sz="1436" b="0">
                <a:solidFill>
                  <a:srgbClr val="3B3838"/>
                </a:solidFill>
                <a:latin typeface="맑은 고딕"/>
                <a:ea typeface="맑은 고딕"/>
                <a:cs typeface="맑은 고딕"/>
              </a:rPr>
              <a:t>자기이해와 직업세계의 이해를 토대로</a:t>
            </a:r>
          </a:p>
        </p:txBody>
      </p:sp>
      <p:sp>
        <p:nvSpPr>
          <p:cNvPr id="22" name="TextBox 21"/>
          <p:cNvSpPr txBox="1"/>
          <p:nvPr/>
        </p:nvSpPr>
        <p:spPr>
          <a:xfrm>
            <a:off x="1148987" y="3932935"/>
            <a:ext cx="6181739" cy="310202"/>
          </a:xfrm>
          <a:prstGeom prst="rect">
            <a:avLst/>
          </a:prstGeom>
          <a:noFill/>
        </p:spPr>
        <p:txBody>
          <a:bodyPr wrap="none" lIns="0" rIns="0" tIns="0" bIns="0" anchor="ctr">
            <a:noAutofit/>
          </a:bodyPr>
          <a:lstStyle/>
          <a:p>
            <a:pPr algn="l">
              <a:lnSpc>
                <a:spcPts val="1724"/>
              </a:lnSpc>
            </a:pPr>
            <a:r>
              <a:rPr sz="1436" b="1">
                <a:solidFill>
                  <a:srgbClr val="17365D"/>
                </a:solidFill>
                <a:latin typeface="맑은 고딕"/>
                <a:ea typeface="맑은 고딕"/>
                <a:cs typeface="맑은 고딕"/>
              </a:rPr>
              <a:t>자신의 진로목표와 이유를 분명히 알 수 있다.</a:t>
            </a:r>
          </a:p>
        </p:txBody>
      </p:sp>
      <p:sp>
        <p:nvSpPr>
          <p:cNvPr id="23" name="Rectangle 22"/>
          <p:cNvSpPr/>
          <p:nvPr/>
        </p:nvSpPr>
        <p:spPr>
          <a:xfrm>
            <a:off x="6207511" y="3146354"/>
            <a:ext cx="5565389" cy="1419225"/>
          </a:xfrm>
          <a:prstGeom prst="rect">
            <a:avLst/>
          </a:prstGeom>
          <a:solidFill>
            <a:srgbClr val="F2F7FC"/>
          </a:solidFill>
          <a:ln w="10137">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4" name="Picture 23" descr="image.png"/>
          <p:cNvPicPr>
            <a:picLocks noChangeAspect="1"/>
          </p:cNvPicPr>
          <p:nvPr/>
        </p:nvPicPr>
        <p:blipFill>
          <a:blip r:embed="rId4"/>
          <a:stretch>
            <a:fillRect/>
          </a:stretch>
        </p:blipFill>
        <p:spPr>
          <a:xfrm>
            <a:off x="6480606" y="3387747"/>
            <a:ext cx="361950" cy="361950"/>
          </a:xfrm>
          <a:prstGeom prst="rect">
            <a:avLst/>
          </a:prstGeom>
        </p:spPr>
      </p:pic>
      <p:sp>
        <p:nvSpPr>
          <p:cNvPr id="25" name="TextBox 24"/>
          <p:cNvSpPr txBox="1"/>
          <p:nvPr/>
        </p:nvSpPr>
        <p:spPr>
          <a:xfrm>
            <a:off x="6937397" y="3381866"/>
            <a:ext cx="781348" cy="275735"/>
          </a:xfrm>
          <a:prstGeom prst="rect">
            <a:avLst/>
          </a:prstGeom>
          <a:noFill/>
        </p:spPr>
        <p:txBody>
          <a:bodyPr wrap="none" lIns="0" rIns="0" tIns="0" bIns="0" anchor="ctr">
            <a:noAutofit/>
          </a:bodyPr>
          <a:lstStyle/>
          <a:p>
            <a:pPr algn="l">
              <a:lnSpc>
                <a:spcPts val="1532"/>
              </a:lnSpc>
            </a:pPr>
            <a:r>
              <a:rPr sz="1277" b="1">
                <a:solidFill>
                  <a:srgbClr val="005BAC"/>
                </a:solidFill>
                <a:latin typeface="맑은 고딕"/>
                <a:ea typeface="맑은 고딕"/>
                <a:cs typeface="맑은 고딕"/>
              </a:rPr>
              <a:t>둘째</a:t>
            </a:r>
          </a:p>
        </p:txBody>
      </p:sp>
      <p:sp>
        <p:nvSpPr>
          <p:cNvPr id="26" name="TextBox 25"/>
          <p:cNvSpPr txBox="1"/>
          <p:nvPr/>
        </p:nvSpPr>
        <p:spPr>
          <a:xfrm>
            <a:off x="6937397" y="3659229"/>
            <a:ext cx="5389572" cy="310202"/>
          </a:xfrm>
          <a:prstGeom prst="rect">
            <a:avLst/>
          </a:prstGeom>
          <a:noFill/>
        </p:spPr>
        <p:txBody>
          <a:bodyPr wrap="none" lIns="0" rIns="0" tIns="0" bIns="0" anchor="ctr">
            <a:noAutofit/>
          </a:bodyPr>
          <a:lstStyle/>
          <a:p>
            <a:pPr algn="l">
              <a:lnSpc>
                <a:spcPts val="1724"/>
              </a:lnSpc>
            </a:pPr>
            <a:r>
              <a:rPr sz="1436" b="0">
                <a:solidFill>
                  <a:srgbClr val="3B3838"/>
                </a:solidFill>
                <a:latin typeface="맑은 고딕"/>
                <a:ea typeface="맑은 고딕"/>
                <a:cs typeface="맑은 고딕"/>
              </a:rPr>
              <a:t>희망기업 및 직업 분석을 통해 현장에서</a:t>
            </a:r>
          </a:p>
        </p:txBody>
      </p:sp>
      <p:sp>
        <p:nvSpPr>
          <p:cNvPr id="27" name="TextBox 26"/>
          <p:cNvSpPr txBox="1"/>
          <p:nvPr/>
        </p:nvSpPr>
        <p:spPr>
          <a:xfrm>
            <a:off x="6937397" y="3932935"/>
            <a:ext cx="6405652" cy="310202"/>
          </a:xfrm>
          <a:prstGeom prst="rect">
            <a:avLst/>
          </a:prstGeom>
          <a:noFill/>
        </p:spPr>
        <p:txBody>
          <a:bodyPr wrap="none" lIns="0" rIns="0" tIns="0" bIns="0" anchor="ctr">
            <a:noAutofit/>
          </a:bodyPr>
          <a:lstStyle/>
          <a:p>
            <a:pPr algn="l">
              <a:lnSpc>
                <a:spcPts val="1724"/>
              </a:lnSpc>
            </a:pPr>
            <a:r>
              <a:rPr sz="1436" b="1">
                <a:solidFill>
                  <a:srgbClr val="17365D"/>
                </a:solidFill>
                <a:latin typeface="맑은 고딕"/>
                <a:ea typeface="맑은 고딕"/>
                <a:cs typeface="맑은 고딕"/>
              </a:rPr>
              <a:t>요구되는 전문지식을 배우려고 노력할 수 있다.</a:t>
            </a:r>
          </a:p>
        </p:txBody>
      </p:sp>
      <p:sp>
        <p:nvSpPr>
          <p:cNvPr id="28" name="Rectangle 27"/>
          <p:cNvSpPr/>
          <p:nvPr/>
        </p:nvSpPr>
        <p:spPr>
          <a:xfrm>
            <a:off x="419100" y="4768326"/>
            <a:ext cx="5565389" cy="1419225"/>
          </a:xfrm>
          <a:prstGeom prst="rect">
            <a:avLst/>
          </a:prstGeom>
          <a:solidFill>
            <a:srgbClr val="F2F7FC"/>
          </a:solidFill>
          <a:ln w="10137">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9" name="Picture 28" descr="image.png"/>
          <p:cNvPicPr>
            <a:picLocks noChangeAspect="1"/>
          </p:cNvPicPr>
          <p:nvPr/>
        </p:nvPicPr>
        <p:blipFill>
          <a:blip r:embed="rId5"/>
          <a:stretch>
            <a:fillRect/>
          </a:stretch>
        </p:blipFill>
        <p:spPr>
          <a:xfrm>
            <a:off x="692195" y="5009717"/>
            <a:ext cx="361950" cy="361950"/>
          </a:xfrm>
          <a:prstGeom prst="rect">
            <a:avLst/>
          </a:prstGeom>
        </p:spPr>
      </p:pic>
      <p:sp>
        <p:nvSpPr>
          <p:cNvPr id="30" name="TextBox 29"/>
          <p:cNvSpPr txBox="1"/>
          <p:nvPr/>
        </p:nvSpPr>
        <p:spPr>
          <a:xfrm>
            <a:off x="1139462" y="5003837"/>
            <a:ext cx="790873" cy="275735"/>
          </a:xfrm>
          <a:prstGeom prst="rect">
            <a:avLst/>
          </a:prstGeom>
          <a:noFill/>
        </p:spPr>
        <p:txBody>
          <a:bodyPr wrap="none" lIns="0" rIns="0" tIns="0" bIns="0" anchor="ctr">
            <a:noAutofit/>
          </a:bodyPr>
          <a:lstStyle/>
          <a:p>
            <a:pPr algn="l">
              <a:lnSpc>
                <a:spcPts val="1532"/>
              </a:lnSpc>
            </a:pPr>
            <a:r>
              <a:rPr sz="1277" b="1">
                <a:solidFill>
                  <a:srgbClr val="005BAC"/>
                </a:solidFill>
                <a:latin typeface="맑은 고딕"/>
                <a:ea typeface="맑은 고딕"/>
                <a:cs typeface="맑은 고딕"/>
              </a:rPr>
              <a:t>셋째</a:t>
            </a:r>
          </a:p>
        </p:txBody>
      </p:sp>
      <p:sp>
        <p:nvSpPr>
          <p:cNvPr id="31" name="TextBox 30"/>
          <p:cNvSpPr txBox="1"/>
          <p:nvPr/>
        </p:nvSpPr>
        <p:spPr>
          <a:xfrm>
            <a:off x="1148987" y="5281200"/>
            <a:ext cx="6319376" cy="310202"/>
          </a:xfrm>
          <a:prstGeom prst="rect">
            <a:avLst/>
          </a:prstGeom>
          <a:noFill/>
        </p:spPr>
        <p:txBody>
          <a:bodyPr wrap="none" lIns="0" rIns="0" tIns="0" bIns="0" anchor="ctr">
            <a:noAutofit/>
          </a:bodyPr>
          <a:lstStyle/>
          <a:p>
            <a:pPr algn="l">
              <a:lnSpc>
                <a:spcPts val="1724"/>
              </a:lnSpc>
            </a:pPr>
            <a:r>
              <a:rPr sz="1436" b="0">
                <a:solidFill>
                  <a:srgbClr val="3B3838"/>
                </a:solidFill>
                <a:latin typeface="맑은 고딕"/>
                <a:ea typeface="맑은 고딕"/>
                <a:cs typeface="맑은 고딕"/>
              </a:rPr>
              <a:t>취업실무 준비를 위해서 고용환경 변화에 대해</a:t>
            </a:r>
          </a:p>
        </p:txBody>
      </p:sp>
      <p:sp>
        <p:nvSpPr>
          <p:cNvPr id="32" name="TextBox 31"/>
          <p:cNvSpPr txBox="1"/>
          <p:nvPr/>
        </p:nvSpPr>
        <p:spPr>
          <a:xfrm>
            <a:off x="1148987" y="5554909"/>
            <a:ext cx="6405651" cy="310202"/>
          </a:xfrm>
          <a:prstGeom prst="rect">
            <a:avLst/>
          </a:prstGeom>
          <a:noFill/>
        </p:spPr>
        <p:txBody>
          <a:bodyPr wrap="none" lIns="0" rIns="0" tIns="0" bIns="0" anchor="ctr">
            <a:noAutofit/>
          </a:bodyPr>
          <a:lstStyle/>
          <a:p>
            <a:pPr algn="l">
              <a:lnSpc>
                <a:spcPts val="1724"/>
              </a:lnSpc>
            </a:pPr>
            <a:r>
              <a:rPr sz="1436" b="1">
                <a:solidFill>
                  <a:srgbClr val="17365D"/>
                </a:solidFill>
                <a:latin typeface="맑은 고딕"/>
                <a:ea typeface="맑은 고딕"/>
                <a:cs typeface="맑은 고딕"/>
              </a:rPr>
              <a:t>종합적인 시각으로 이해하려고 노력할 수 있다.</a:t>
            </a:r>
          </a:p>
        </p:txBody>
      </p:sp>
      <p:sp>
        <p:nvSpPr>
          <p:cNvPr id="33" name="Rectangle 32"/>
          <p:cNvSpPr/>
          <p:nvPr/>
        </p:nvSpPr>
        <p:spPr>
          <a:xfrm>
            <a:off x="6207511" y="4768326"/>
            <a:ext cx="5565389" cy="1419225"/>
          </a:xfrm>
          <a:prstGeom prst="rect">
            <a:avLst/>
          </a:prstGeom>
          <a:solidFill>
            <a:srgbClr val="F2F7FC"/>
          </a:solidFill>
          <a:ln w="10137">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4" name="Picture 33" descr="image.png"/>
          <p:cNvPicPr>
            <a:picLocks noChangeAspect="1"/>
          </p:cNvPicPr>
          <p:nvPr/>
        </p:nvPicPr>
        <p:blipFill>
          <a:blip r:embed="rId6"/>
          <a:stretch>
            <a:fillRect/>
          </a:stretch>
        </p:blipFill>
        <p:spPr>
          <a:xfrm>
            <a:off x="6480606" y="5009717"/>
            <a:ext cx="361950" cy="361950"/>
          </a:xfrm>
          <a:prstGeom prst="rect">
            <a:avLst/>
          </a:prstGeom>
        </p:spPr>
      </p:pic>
      <p:sp>
        <p:nvSpPr>
          <p:cNvPr id="35" name="TextBox 34"/>
          <p:cNvSpPr txBox="1"/>
          <p:nvPr/>
        </p:nvSpPr>
        <p:spPr>
          <a:xfrm>
            <a:off x="6937397" y="5003837"/>
            <a:ext cx="781348" cy="275735"/>
          </a:xfrm>
          <a:prstGeom prst="rect">
            <a:avLst/>
          </a:prstGeom>
          <a:noFill/>
        </p:spPr>
        <p:txBody>
          <a:bodyPr wrap="none" lIns="0" rIns="0" tIns="0" bIns="0" anchor="ctr">
            <a:noAutofit/>
          </a:bodyPr>
          <a:lstStyle/>
          <a:p>
            <a:pPr algn="l">
              <a:lnSpc>
                <a:spcPts val="1532"/>
              </a:lnSpc>
            </a:pPr>
            <a:r>
              <a:rPr sz="1277" b="1">
                <a:solidFill>
                  <a:srgbClr val="005BAC"/>
                </a:solidFill>
                <a:latin typeface="맑은 고딕"/>
                <a:ea typeface="맑은 고딕"/>
                <a:cs typeface="맑은 고딕"/>
              </a:rPr>
              <a:t>넷째</a:t>
            </a:r>
          </a:p>
        </p:txBody>
      </p:sp>
      <p:sp>
        <p:nvSpPr>
          <p:cNvPr id="36" name="TextBox 35"/>
          <p:cNvSpPr txBox="1"/>
          <p:nvPr/>
        </p:nvSpPr>
        <p:spPr>
          <a:xfrm>
            <a:off x="6937397" y="5281200"/>
            <a:ext cx="6009442" cy="310202"/>
          </a:xfrm>
          <a:prstGeom prst="rect">
            <a:avLst/>
          </a:prstGeom>
          <a:noFill/>
        </p:spPr>
        <p:txBody>
          <a:bodyPr wrap="none" lIns="0" rIns="0" tIns="0" bIns="0" anchor="ctr">
            <a:noAutofit/>
          </a:bodyPr>
          <a:lstStyle/>
          <a:p>
            <a:pPr algn="l">
              <a:lnSpc>
                <a:spcPts val="1724"/>
              </a:lnSpc>
            </a:pPr>
            <a:r>
              <a:rPr sz="1436" b="0">
                <a:solidFill>
                  <a:srgbClr val="3B3838"/>
                </a:solidFill>
                <a:latin typeface="맑은 고딕"/>
                <a:ea typeface="맑은 고딕"/>
                <a:cs typeface="맑은 고딕"/>
              </a:rPr>
              <a:t>채용시장에서 일어날 수 있는 다양한 문제에</a:t>
            </a:r>
          </a:p>
        </p:txBody>
      </p:sp>
      <p:sp>
        <p:nvSpPr>
          <p:cNvPr id="37" name="TextBox 36"/>
          <p:cNvSpPr txBox="1"/>
          <p:nvPr/>
        </p:nvSpPr>
        <p:spPr>
          <a:xfrm>
            <a:off x="6937397" y="5554909"/>
            <a:ext cx="5871805" cy="310202"/>
          </a:xfrm>
          <a:prstGeom prst="rect">
            <a:avLst/>
          </a:prstGeom>
          <a:noFill/>
        </p:spPr>
        <p:txBody>
          <a:bodyPr wrap="none" lIns="0" rIns="0" tIns="0" bIns="0" anchor="ctr">
            <a:noAutofit/>
          </a:bodyPr>
          <a:lstStyle/>
          <a:p>
            <a:pPr algn="l">
              <a:lnSpc>
                <a:spcPts val="1724"/>
              </a:lnSpc>
            </a:pPr>
            <a:r>
              <a:rPr sz="1436" b="1">
                <a:solidFill>
                  <a:srgbClr val="17365D"/>
                </a:solidFill>
                <a:latin typeface="맑은 고딕"/>
                <a:ea typeface="맑은 고딕"/>
                <a:cs typeface="맑은 고딕"/>
              </a:rPr>
              <a:t>대하여 해결방안을 찾는 방법을 알 수 있다.</a:t>
            </a:r>
          </a:p>
        </p:txBody>
      </p:sp>
      <p:sp>
        <p:nvSpPr>
          <p:cNvPr id="38" name="TextBox 37"/>
          <p:cNvSpPr txBox="1"/>
          <p:nvPr/>
        </p:nvSpPr>
        <p:spPr>
          <a:xfrm>
            <a:off x="5846013" y="6506528"/>
            <a:ext cx="499824"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1369070" cy="323850"/>
          </a:xfrm>
          <a:prstGeom prst="rect">
            <a:avLst/>
          </a:prstGeom>
          <a:solidFill>
            <a:srgbClr val="002A55"/>
          </a:solidFill>
          <a:ln w="19050">
            <a:solidFill>
              <a:srgbClr val="FFF100"/>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609600" y="103346"/>
            <a:ext cx="536019" cy="364808"/>
          </a:xfrm>
          <a:prstGeom prst="rect">
            <a:avLst/>
          </a:prstGeom>
          <a:noFill/>
        </p:spPr>
        <p:txBody>
          <a:bodyPr wrap="none" anchor="ctr" lIns="0" rIns="0" tIns="0" bIns="0">
            <a:noAutofit/>
          </a:bodyPr>
          <a:lstStyle/>
          <a:p>
            <a:pPr algn="l">
              <a:lnSpc>
                <a:spcPts val="1425"/>
              </a:lnSpc>
              <a:spcBef>
                <a:spcPts val="0"/>
              </a:spcBef>
              <a:spcAft>
                <a:spcPts val="0"/>
              </a:spcAft>
            </a:pPr>
            <a:r>
              <a:rPr sz="1425" b="1" spc="-30">
                <a:solidFill>
                  <a:srgbClr val="FFF100"/>
                </a:solidFill>
                <a:latin typeface="Arial"/>
                <a:ea typeface="맑은 고딕"/>
                <a:cs typeface="맑은 고딕"/>
              </a:rPr>
              <a:t>1</a:t>
            </a:r>
          </a:p>
        </p:txBody>
      </p:sp>
      <p:sp>
        <p:nvSpPr>
          <p:cNvPr id="7" name="TextBox 6"/>
          <p:cNvSpPr txBox="1"/>
          <p:nvPr/>
        </p:nvSpPr>
        <p:spPr>
          <a:xfrm>
            <a:off x="801737" y="85725"/>
            <a:ext cx="1654493"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FFF"/>
                </a:solidFill>
                <a:latin typeface="맑은 고딕"/>
                <a:ea typeface="맑은 고딕"/>
                <a:cs typeface="맑은 고딕"/>
              </a:rPr>
              <a:t>강의 개요</a:t>
            </a:r>
          </a:p>
        </p:txBody>
      </p:sp>
      <p:sp>
        <p:nvSpPr>
          <p:cNvPr id="8" name="TextBox 7"/>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9" name="Oval 8"/>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100" y="932200"/>
            <a:ext cx="5226368" cy="559118"/>
          </a:xfrm>
          <a:prstGeom prst="rect">
            <a:avLst/>
          </a:prstGeom>
          <a:noFill/>
        </p:spPr>
        <p:txBody>
          <a:bodyPr wrap="none" anchor="ctr" lIns="0" rIns="0" tIns="0" bIns="0">
            <a:noAutofit/>
          </a:bodyPr>
          <a:lstStyle/>
          <a:p>
            <a:pPr algn="l">
              <a:lnSpc>
                <a:spcPts val="3487"/>
              </a:lnSpc>
              <a:spcBef>
                <a:spcPts val="0"/>
              </a:spcBef>
              <a:spcAft>
                <a:spcPts val="0"/>
              </a:spcAft>
            </a:pPr>
            <a:r>
              <a:rPr sz="2325" b="1" spc="-58">
                <a:solidFill>
                  <a:srgbClr val="17365D"/>
                </a:solidFill>
                <a:latin typeface="맑은 고딕"/>
                <a:ea typeface="맑은 고딕"/>
                <a:cs typeface="맑은 고딕"/>
              </a:rPr>
              <a:t>수업 목표를 달성하면…</a:t>
            </a:r>
          </a:p>
        </p:txBody>
      </p:sp>
      <p:sp>
        <p:nvSpPr>
          <p:cNvPr id="11" name="Rectangle 10"/>
          <p:cNvSpPr/>
          <p:nvPr/>
        </p:nvSpPr>
        <p:spPr>
          <a:xfrm>
            <a:off x="419100" y="1999655"/>
            <a:ext cx="11353800" cy="5524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2" name="Connector 11"/>
          <p:cNvCxnSpPr/>
          <p:nvPr/>
        </p:nvCxnSpPr>
        <p:spPr>
          <a:xfrm>
            <a:off x="419100" y="1999655"/>
            <a:ext cx="113538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1772900" y="1999655"/>
            <a:ext cx="0" cy="55245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9100" y="2552105"/>
            <a:ext cx="113538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9100" y="1999655"/>
            <a:ext cx="0" cy="552450"/>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7225" y="2056328"/>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17" name="TextBox 16"/>
          <p:cNvSpPr txBox="1"/>
          <p:nvPr/>
        </p:nvSpPr>
        <p:spPr>
          <a:xfrm>
            <a:off x="1047750" y="2094905"/>
            <a:ext cx="6595824" cy="381000"/>
          </a:xfrm>
          <a:prstGeom prst="rect">
            <a:avLst/>
          </a:prstGeom>
          <a:noFill/>
        </p:spPr>
        <p:txBody>
          <a:bodyPr wrap="none" anchor="ctr" lIns="0" rIns="0" tIns="0" bIns="0">
            <a:noAutofit/>
          </a:bodyPr>
          <a:lstStyle/>
          <a:p>
            <a:pPr algn="l">
              <a:lnSpc>
                <a:spcPts val="2250"/>
              </a:lnSpc>
              <a:spcBef>
                <a:spcPts val="0"/>
              </a:spcBef>
              <a:spcAft>
                <a:spcPts val="0"/>
              </a:spcAft>
            </a:pPr>
            <a:r>
              <a:rPr sz="1500" b="0">
                <a:solidFill>
                  <a:srgbClr val="3B3838"/>
                </a:solidFill>
                <a:latin typeface="맑은 고딕"/>
                <a:ea typeface="맑은 고딕"/>
                <a:cs typeface="맑은 고딕"/>
              </a:rPr>
              <a:t>『취업과 경력개발』 한 학기 수업을 마치면…</a:t>
            </a:r>
          </a:p>
        </p:txBody>
      </p:sp>
      <p:sp>
        <p:nvSpPr>
          <p:cNvPr id="18" name="Rectangle 17"/>
          <p:cNvSpPr/>
          <p:nvPr/>
        </p:nvSpPr>
        <p:spPr>
          <a:xfrm>
            <a:off x="419100" y="3146354"/>
            <a:ext cx="5565389" cy="1419225"/>
          </a:xfrm>
          <a:prstGeom prst="rect">
            <a:avLst/>
          </a:prstGeom>
          <a:solidFill>
            <a:srgbClr val="F2F7FC"/>
          </a:solidFill>
          <a:ln w="10137">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3"/>
          <a:stretch>
            <a:fillRect/>
          </a:stretch>
        </p:blipFill>
        <p:spPr>
          <a:xfrm>
            <a:off x="692195" y="3387747"/>
            <a:ext cx="361950" cy="361950"/>
          </a:xfrm>
          <a:prstGeom prst="rect">
            <a:avLst/>
          </a:prstGeom>
        </p:spPr>
      </p:pic>
      <p:sp>
        <p:nvSpPr>
          <p:cNvPr id="20" name="TextBox 19"/>
          <p:cNvSpPr txBox="1"/>
          <p:nvPr/>
        </p:nvSpPr>
        <p:spPr>
          <a:xfrm>
            <a:off x="1148987" y="3381866"/>
            <a:ext cx="943421" cy="275735"/>
          </a:xfrm>
          <a:prstGeom prst="rect">
            <a:avLst/>
          </a:prstGeom>
          <a:noFill/>
        </p:spPr>
        <p:txBody>
          <a:bodyPr wrap="none" lIns="0" rIns="0" tIns="0" bIns="0" anchor="ctr">
            <a:noAutofit/>
          </a:bodyPr>
          <a:lstStyle/>
          <a:p>
            <a:pPr algn="l">
              <a:lnSpc>
                <a:spcPts val="1532"/>
              </a:lnSpc>
            </a:pPr>
            <a:r>
              <a:rPr sz="1277" b="1">
                <a:solidFill>
                  <a:srgbClr val="005BAC"/>
                </a:solidFill>
                <a:latin typeface="맑은 고딕"/>
                <a:ea typeface="맑은 고딕"/>
                <a:cs typeface="맑은 고딕"/>
              </a:rPr>
              <a:t>첫번째</a:t>
            </a:r>
          </a:p>
        </p:txBody>
      </p:sp>
      <p:sp>
        <p:nvSpPr>
          <p:cNvPr id="21" name="TextBox 20"/>
          <p:cNvSpPr txBox="1"/>
          <p:nvPr/>
        </p:nvSpPr>
        <p:spPr>
          <a:xfrm>
            <a:off x="1148987" y="3659229"/>
            <a:ext cx="3134008" cy="310202"/>
          </a:xfrm>
          <a:prstGeom prst="rect">
            <a:avLst/>
          </a:prstGeom>
          <a:noFill/>
        </p:spPr>
        <p:txBody>
          <a:bodyPr wrap="none" lIns="0" rIns="0" tIns="0" bIns="0" anchor="ctr">
            <a:noAutofit/>
          </a:bodyPr>
          <a:lstStyle/>
          <a:p>
            <a:pPr algn="l">
              <a:lnSpc>
                <a:spcPts val="1724"/>
              </a:lnSpc>
            </a:pPr>
            <a:r>
              <a:rPr sz="1436" b="0">
                <a:solidFill>
                  <a:srgbClr val="3B3838"/>
                </a:solidFill>
                <a:latin typeface="맑은 고딕"/>
                <a:ea typeface="맑은 고딕"/>
                <a:cs typeface="맑은 고딕"/>
              </a:rPr>
              <a:t>자신의 직업흥미, 적성,</a:t>
            </a:r>
          </a:p>
        </p:txBody>
      </p:sp>
      <p:sp>
        <p:nvSpPr>
          <p:cNvPr id="22" name="TextBox 21"/>
          <p:cNvSpPr txBox="1"/>
          <p:nvPr/>
        </p:nvSpPr>
        <p:spPr>
          <a:xfrm>
            <a:off x="1148987" y="3932935"/>
            <a:ext cx="2824073" cy="310202"/>
          </a:xfrm>
          <a:prstGeom prst="rect">
            <a:avLst/>
          </a:prstGeom>
          <a:noFill/>
        </p:spPr>
        <p:txBody>
          <a:bodyPr wrap="none" lIns="0" rIns="0" tIns="0" bIns="0" anchor="ctr">
            <a:noAutofit/>
          </a:bodyPr>
          <a:lstStyle/>
          <a:p>
            <a:pPr algn="l">
              <a:lnSpc>
                <a:spcPts val="1724"/>
              </a:lnSpc>
            </a:pPr>
            <a:r>
              <a:rPr sz="1436" b="1">
                <a:solidFill>
                  <a:srgbClr val="17365D"/>
                </a:solidFill>
                <a:latin typeface="맑은 고딕"/>
                <a:ea typeface="맑은 고딕"/>
                <a:cs typeface="맑은 고딕"/>
              </a:rPr>
              <a:t>가치관을 알 수 있다.</a:t>
            </a:r>
          </a:p>
        </p:txBody>
      </p:sp>
      <p:sp>
        <p:nvSpPr>
          <p:cNvPr id="23" name="Rectangle 22"/>
          <p:cNvSpPr/>
          <p:nvPr/>
        </p:nvSpPr>
        <p:spPr>
          <a:xfrm>
            <a:off x="6207511" y="3146354"/>
            <a:ext cx="5565389" cy="1419225"/>
          </a:xfrm>
          <a:prstGeom prst="rect">
            <a:avLst/>
          </a:prstGeom>
          <a:solidFill>
            <a:srgbClr val="F2F7FC"/>
          </a:solidFill>
          <a:ln w="10137">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4" name="Picture 23" descr="image.png"/>
          <p:cNvPicPr>
            <a:picLocks noChangeAspect="1"/>
          </p:cNvPicPr>
          <p:nvPr/>
        </p:nvPicPr>
        <p:blipFill>
          <a:blip r:embed="rId4"/>
          <a:stretch>
            <a:fillRect/>
          </a:stretch>
        </p:blipFill>
        <p:spPr>
          <a:xfrm>
            <a:off x="6480606" y="3387747"/>
            <a:ext cx="361950" cy="361950"/>
          </a:xfrm>
          <a:prstGeom prst="rect">
            <a:avLst/>
          </a:prstGeom>
        </p:spPr>
      </p:pic>
      <p:sp>
        <p:nvSpPr>
          <p:cNvPr id="25" name="TextBox 24"/>
          <p:cNvSpPr txBox="1"/>
          <p:nvPr/>
        </p:nvSpPr>
        <p:spPr>
          <a:xfrm>
            <a:off x="6937397" y="3381866"/>
            <a:ext cx="943421" cy="275735"/>
          </a:xfrm>
          <a:prstGeom prst="rect">
            <a:avLst/>
          </a:prstGeom>
          <a:noFill/>
        </p:spPr>
        <p:txBody>
          <a:bodyPr wrap="none" lIns="0" rIns="0" tIns="0" bIns="0" anchor="ctr">
            <a:noAutofit/>
          </a:bodyPr>
          <a:lstStyle/>
          <a:p>
            <a:pPr algn="l">
              <a:lnSpc>
                <a:spcPts val="1532"/>
              </a:lnSpc>
            </a:pPr>
            <a:r>
              <a:rPr sz="1277" b="1">
                <a:solidFill>
                  <a:srgbClr val="005BAC"/>
                </a:solidFill>
                <a:latin typeface="맑은 고딕"/>
                <a:ea typeface="맑은 고딕"/>
                <a:cs typeface="맑은 고딕"/>
              </a:rPr>
              <a:t>두번째</a:t>
            </a:r>
          </a:p>
        </p:txBody>
      </p:sp>
      <p:sp>
        <p:nvSpPr>
          <p:cNvPr id="26" name="TextBox 25"/>
          <p:cNvSpPr txBox="1"/>
          <p:nvPr/>
        </p:nvSpPr>
        <p:spPr>
          <a:xfrm>
            <a:off x="6937397" y="3659229"/>
            <a:ext cx="2875687" cy="310202"/>
          </a:xfrm>
          <a:prstGeom prst="rect">
            <a:avLst/>
          </a:prstGeom>
          <a:noFill/>
        </p:spPr>
        <p:txBody>
          <a:bodyPr wrap="none" lIns="0" rIns="0" tIns="0" bIns="0" anchor="ctr">
            <a:noAutofit/>
          </a:bodyPr>
          <a:lstStyle/>
          <a:p>
            <a:pPr algn="l">
              <a:lnSpc>
                <a:spcPts val="1724"/>
              </a:lnSpc>
            </a:pPr>
            <a:r>
              <a:rPr sz="1436" b="0">
                <a:solidFill>
                  <a:srgbClr val="3B3838"/>
                </a:solidFill>
                <a:latin typeface="맑은 고딕"/>
                <a:ea typeface="맑은 고딕"/>
                <a:cs typeface="맑은 고딕"/>
              </a:rPr>
              <a:t>직업정보를 탐색하고</a:t>
            </a:r>
          </a:p>
        </p:txBody>
      </p:sp>
      <p:sp>
        <p:nvSpPr>
          <p:cNvPr id="27" name="TextBox 26"/>
          <p:cNvSpPr txBox="1"/>
          <p:nvPr/>
        </p:nvSpPr>
        <p:spPr>
          <a:xfrm>
            <a:off x="6937397" y="3932935"/>
            <a:ext cx="2118181" cy="310202"/>
          </a:xfrm>
          <a:prstGeom prst="rect">
            <a:avLst/>
          </a:prstGeom>
          <a:noFill/>
        </p:spPr>
        <p:txBody>
          <a:bodyPr wrap="none" lIns="0" rIns="0" tIns="0" bIns="0" anchor="ctr">
            <a:noAutofit/>
          </a:bodyPr>
          <a:lstStyle/>
          <a:p>
            <a:pPr algn="l">
              <a:lnSpc>
                <a:spcPts val="1724"/>
              </a:lnSpc>
            </a:pPr>
            <a:r>
              <a:rPr sz="1436" b="1">
                <a:solidFill>
                  <a:srgbClr val="17365D"/>
                </a:solidFill>
                <a:latin typeface="맑은 고딕"/>
                <a:ea typeface="맑은 고딕"/>
                <a:cs typeface="맑은 고딕"/>
              </a:rPr>
              <a:t>분석할 수 있다.</a:t>
            </a:r>
          </a:p>
        </p:txBody>
      </p:sp>
      <p:sp>
        <p:nvSpPr>
          <p:cNvPr id="28" name="Rectangle 27"/>
          <p:cNvSpPr/>
          <p:nvPr/>
        </p:nvSpPr>
        <p:spPr>
          <a:xfrm>
            <a:off x="419100" y="4768326"/>
            <a:ext cx="5565389" cy="1419225"/>
          </a:xfrm>
          <a:prstGeom prst="rect">
            <a:avLst/>
          </a:prstGeom>
          <a:solidFill>
            <a:srgbClr val="F2F7FC"/>
          </a:solidFill>
          <a:ln w="10137">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9" name="Picture 28" descr="image.png"/>
          <p:cNvPicPr>
            <a:picLocks noChangeAspect="1"/>
          </p:cNvPicPr>
          <p:nvPr/>
        </p:nvPicPr>
        <p:blipFill>
          <a:blip r:embed="rId5"/>
          <a:stretch>
            <a:fillRect/>
          </a:stretch>
        </p:blipFill>
        <p:spPr>
          <a:xfrm>
            <a:off x="692195" y="5009717"/>
            <a:ext cx="361950" cy="361950"/>
          </a:xfrm>
          <a:prstGeom prst="rect">
            <a:avLst/>
          </a:prstGeom>
        </p:spPr>
      </p:pic>
      <p:sp>
        <p:nvSpPr>
          <p:cNvPr id="30" name="TextBox 29"/>
          <p:cNvSpPr txBox="1"/>
          <p:nvPr/>
        </p:nvSpPr>
        <p:spPr>
          <a:xfrm>
            <a:off x="1139462" y="5003837"/>
            <a:ext cx="952946" cy="275735"/>
          </a:xfrm>
          <a:prstGeom prst="rect">
            <a:avLst/>
          </a:prstGeom>
          <a:noFill/>
        </p:spPr>
        <p:txBody>
          <a:bodyPr wrap="none" lIns="0" rIns="0" tIns="0" bIns="0" anchor="ctr">
            <a:noAutofit/>
          </a:bodyPr>
          <a:lstStyle/>
          <a:p>
            <a:pPr algn="l">
              <a:lnSpc>
                <a:spcPts val="1532"/>
              </a:lnSpc>
            </a:pPr>
            <a:r>
              <a:rPr sz="1277" b="1">
                <a:solidFill>
                  <a:srgbClr val="005BAC"/>
                </a:solidFill>
                <a:latin typeface="맑은 고딕"/>
                <a:ea typeface="맑은 고딕"/>
                <a:cs typeface="맑은 고딕"/>
              </a:rPr>
              <a:t>세번째</a:t>
            </a:r>
          </a:p>
        </p:txBody>
      </p:sp>
      <p:sp>
        <p:nvSpPr>
          <p:cNvPr id="31" name="TextBox 30"/>
          <p:cNvSpPr txBox="1"/>
          <p:nvPr/>
        </p:nvSpPr>
        <p:spPr>
          <a:xfrm>
            <a:off x="1148987" y="5281200"/>
            <a:ext cx="4074699" cy="310202"/>
          </a:xfrm>
          <a:prstGeom prst="rect">
            <a:avLst/>
          </a:prstGeom>
          <a:noFill/>
        </p:spPr>
        <p:txBody>
          <a:bodyPr wrap="none" lIns="0" rIns="0" tIns="0" bIns="0" anchor="ctr">
            <a:noAutofit/>
          </a:bodyPr>
          <a:lstStyle/>
          <a:p>
            <a:pPr algn="l">
              <a:lnSpc>
                <a:spcPts val="1724"/>
              </a:lnSpc>
            </a:pPr>
            <a:r>
              <a:rPr sz="1436" b="0">
                <a:solidFill>
                  <a:srgbClr val="3B3838"/>
                </a:solidFill>
                <a:latin typeface="맑은 고딕"/>
                <a:ea typeface="맑은 고딕"/>
                <a:cs typeface="맑은 고딕"/>
              </a:rPr>
              <a:t>자신의 직무에 적합한 이력서/</a:t>
            </a:r>
          </a:p>
        </p:txBody>
      </p:sp>
      <p:sp>
        <p:nvSpPr>
          <p:cNvPr id="32" name="TextBox 31"/>
          <p:cNvSpPr txBox="1"/>
          <p:nvPr/>
        </p:nvSpPr>
        <p:spPr>
          <a:xfrm>
            <a:off x="1148987" y="5554909"/>
            <a:ext cx="4063811" cy="310202"/>
          </a:xfrm>
          <a:prstGeom prst="rect">
            <a:avLst/>
          </a:prstGeom>
          <a:noFill/>
        </p:spPr>
        <p:txBody>
          <a:bodyPr wrap="none" lIns="0" rIns="0" tIns="0" bIns="0" anchor="ctr">
            <a:noAutofit/>
          </a:bodyPr>
          <a:lstStyle/>
          <a:p>
            <a:pPr algn="l">
              <a:lnSpc>
                <a:spcPts val="1724"/>
              </a:lnSpc>
            </a:pPr>
            <a:r>
              <a:rPr sz="1436" b="1">
                <a:solidFill>
                  <a:srgbClr val="17365D"/>
                </a:solidFill>
                <a:latin typeface="맑은 고딕"/>
                <a:ea typeface="맑은 고딕"/>
                <a:cs typeface="맑은 고딕"/>
              </a:rPr>
              <a:t>자기소개서를 작성할 수 있다.</a:t>
            </a:r>
          </a:p>
        </p:txBody>
      </p:sp>
      <p:sp>
        <p:nvSpPr>
          <p:cNvPr id="33" name="Rectangle 32"/>
          <p:cNvSpPr/>
          <p:nvPr/>
        </p:nvSpPr>
        <p:spPr>
          <a:xfrm>
            <a:off x="6207511" y="4768326"/>
            <a:ext cx="5565389" cy="1419225"/>
          </a:xfrm>
          <a:prstGeom prst="rect">
            <a:avLst/>
          </a:prstGeom>
          <a:solidFill>
            <a:srgbClr val="F2F7FC"/>
          </a:solidFill>
          <a:ln w="10137">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4" name="Picture 33" descr="image.png"/>
          <p:cNvPicPr>
            <a:picLocks noChangeAspect="1"/>
          </p:cNvPicPr>
          <p:nvPr/>
        </p:nvPicPr>
        <p:blipFill>
          <a:blip r:embed="rId6"/>
          <a:stretch>
            <a:fillRect/>
          </a:stretch>
        </p:blipFill>
        <p:spPr>
          <a:xfrm>
            <a:off x="6480606" y="5009717"/>
            <a:ext cx="361950" cy="361950"/>
          </a:xfrm>
          <a:prstGeom prst="rect">
            <a:avLst/>
          </a:prstGeom>
        </p:spPr>
      </p:pic>
      <p:sp>
        <p:nvSpPr>
          <p:cNvPr id="35" name="TextBox 34"/>
          <p:cNvSpPr txBox="1"/>
          <p:nvPr/>
        </p:nvSpPr>
        <p:spPr>
          <a:xfrm>
            <a:off x="6937397" y="5003837"/>
            <a:ext cx="943421" cy="275735"/>
          </a:xfrm>
          <a:prstGeom prst="rect">
            <a:avLst/>
          </a:prstGeom>
          <a:noFill/>
        </p:spPr>
        <p:txBody>
          <a:bodyPr wrap="none" lIns="0" rIns="0" tIns="0" bIns="0" anchor="ctr">
            <a:noAutofit/>
          </a:bodyPr>
          <a:lstStyle/>
          <a:p>
            <a:pPr algn="l">
              <a:lnSpc>
                <a:spcPts val="1532"/>
              </a:lnSpc>
            </a:pPr>
            <a:r>
              <a:rPr sz="1277" b="1">
                <a:solidFill>
                  <a:srgbClr val="005BAC"/>
                </a:solidFill>
                <a:latin typeface="맑은 고딕"/>
                <a:ea typeface="맑은 고딕"/>
                <a:cs typeface="맑은 고딕"/>
              </a:rPr>
              <a:t>네번째</a:t>
            </a:r>
          </a:p>
        </p:txBody>
      </p:sp>
      <p:sp>
        <p:nvSpPr>
          <p:cNvPr id="36" name="TextBox 35"/>
          <p:cNvSpPr txBox="1"/>
          <p:nvPr/>
        </p:nvSpPr>
        <p:spPr>
          <a:xfrm>
            <a:off x="6937397" y="5281200"/>
            <a:ext cx="3977789" cy="310202"/>
          </a:xfrm>
          <a:prstGeom prst="rect">
            <a:avLst/>
          </a:prstGeom>
          <a:noFill/>
        </p:spPr>
        <p:txBody>
          <a:bodyPr wrap="none" lIns="0" rIns="0" tIns="0" bIns="0" anchor="ctr">
            <a:noAutofit/>
          </a:bodyPr>
          <a:lstStyle/>
          <a:p>
            <a:pPr algn="l">
              <a:lnSpc>
                <a:spcPts val="1724"/>
              </a:lnSpc>
            </a:pPr>
            <a:r>
              <a:rPr sz="1436" b="0">
                <a:solidFill>
                  <a:srgbClr val="3B3838"/>
                </a:solidFill>
                <a:latin typeface="맑은 고딕"/>
                <a:ea typeface="맑은 고딕"/>
                <a:cs typeface="맑은 고딕"/>
              </a:rPr>
              <a:t>적절한 면접 기법을 학습하여</a:t>
            </a:r>
          </a:p>
        </p:txBody>
      </p:sp>
      <p:sp>
        <p:nvSpPr>
          <p:cNvPr id="37" name="TextBox 36"/>
          <p:cNvSpPr txBox="1"/>
          <p:nvPr/>
        </p:nvSpPr>
        <p:spPr>
          <a:xfrm>
            <a:off x="6937397" y="5554909"/>
            <a:ext cx="2118181" cy="310202"/>
          </a:xfrm>
          <a:prstGeom prst="rect">
            <a:avLst/>
          </a:prstGeom>
          <a:noFill/>
        </p:spPr>
        <p:txBody>
          <a:bodyPr wrap="none" lIns="0" rIns="0" tIns="0" bIns="0" anchor="ctr">
            <a:noAutofit/>
          </a:bodyPr>
          <a:lstStyle/>
          <a:p>
            <a:pPr algn="l">
              <a:lnSpc>
                <a:spcPts val="1724"/>
              </a:lnSpc>
            </a:pPr>
            <a:r>
              <a:rPr sz="1436" b="1">
                <a:solidFill>
                  <a:srgbClr val="17365D"/>
                </a:solidFill>
                <a:latin typeface="맑은 고딕"/>
                <a:ea typeface="맑은 고딕"/>
                <a:cs typeface="맑은 고딕"/>
              </a:rPr>
              <a:t>활용할 수 있다.</a:t>
            </a:r>
          </a:p>
        </p:txBody>
      </p:sp>
      <p:sp>
        <p:nvSpPr>
          <p:cNvPr id="38" name="TextBox 37"/>
          <p:cNvSpPr txBox="1"/>
          <p:nvPr/>
        </p:nvSpPr>
        <p:spPr>
          <a:xfrm>
            <a:off x="5846013" y="6506528"/>
            <a:ext cx="499824"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band.jpg"/>
          <p:cNvPicPr>
            <a:picLocks noChangeAspect="1"/>
          </p:cNvPicPr>
          <p:nvPr/>
        </p:nvPicPr>
        <p:blipFill>
          <a:blip r:embed="rId2"/>
          <a:stretch>
            <a:fillRect/>
          </a:stretch>
        </p:blipFill>
        <p:spPr>
          <a:xfrm>
            <a:off x="0" y="0"/>
            <a:ext cx="12192000" cy="3566071"/>
          </a:xfrm>
          <a:prstGeom prst="rect">
            <a:avLst/>
          </a:prstGeom>
        </p:spPr>
      </p:pic>
      <p:sp>
        <p:nvSpPr>
          <p:cNvPr id="4" name="Rectangle 3"/>
          <p:cNvSpPr/>
          <p:nvPr/>
        </p:nvSpPr>
        <p:spPr>
          <a:xfrm>
            <a:off x="0" y="3547021"/>
            <a:ext cx="7071360" cy="38100"/>
          </a:xfrm>
          <a:prstGeom prst="rect">
            <a:avLst/>
          </a:prstGeom>
          <a:ln>
            <a:noFill/>
          </a:ln>
          <a:effectLst/>
          <a:gradFill rotWithShape="1">
            <a:gsLst>
              <a:gs pos="0">
                <a:srgbClr val="005BAC"/>
              </a:gs>
              <a:gs pos="100000">
                <a:srgbClr val="005BAC">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0" y="3623221"/>
            <a:ext cx="4876800" cy="38100"/>
          </a:xfrm>
          <a:prstGeom prst="rect">
            <a:avLst/>
          </a:prstGeom>
          <a:ln>
            <a:noFill/>
          </a:ln>
          <a:effectLst/>
          <a:gradFill rotWithShape="1">
            <a:gsLst>
              <a:gs pos="0">
                <a:srgbClr val="0071CE"/>
              </a:gs>
              <a:gs pos="100000">
                <a:srgbClr val="0071CE">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0" y="3699421"/>
            <a:ext cx="3413760" cy="38100"/>
          </a:xfrm>
          <a:prstGeom prst="rect">
            <a:avLst/>
          </a:prstGeom>
          <a:ln>
            <a:noFill/>
          </a:ln>
          <a:effectLst/>
          <a:gradFill rotWithShape="1">
            <a:gsLst>
              <a:gs pos="0">
                <a:srgbClr val="4BA3E3"/>
              </a:gs>
              <a:gs pos="100000">
                <a:srgbClr val="4BA3E3">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247650" y="3032671"/>
            <a:ext cx="1066800" cy="1066800"/>
          </a:xfrm>
          <a:prstGeom prst="ellipse">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rot="1873891">
            <a:off x="277468" y="2897338"/>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C</a:t>
            </a:r>
          </a:p>
        </p:txBody>
      </p:sp>
      <p:sp>
        <p:nvSpPr>
          <p:cNvPr id="9" name="TextBox 8"/>
          <p:cNvSpPr txBox="1"/>
          <p:nvPr/>
        </p:nvSpPr>
        <p:spPr>
          <a:xfrm rot="2597530">
            <a:off x="385778" y="2979733"/>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H</a:t>
            </a:r>
          </a:p>
        </p:txBody>
      </p:sp>
      <p:sp>
        <p:nvSpPr>
          <p:cNvPr id="10" name="TextBox 9"/>
          <p:cNvSpPr txBox="1"/>
          <p:nvPr/>
        </p:nvSpPr>
        <p:spPr>
          <a:xfrm rot="3289047">
            <a:off x="471016" y="3077979"/>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A</a:t>
            </a:r>
          </a:p>
        </p:txBody>
      </p:sp>
      <p:sp>
        <p:nvSpPr>
          <p:cNvPr id="11" name="TextBox 10"/>
          <p:cNvSpPr txBox="1"/>
          <p:nvPr/>
        </p:nvSpPr>
        <p:spPr>
          <a:xfrm rot="3979591">
            <a:off x="534833" y="3191105"/>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P</a:t>
            </a:r>
          </a:p>
        </p:txBody>
      </p:sp>
      <p:sp>
        <p:nvSpPr>
          <p:cNvPr id="12" name="TextBox 11"/>
          <p:cNvSpPr txBox="1"/>
          <p:nvPr/>
        </p:nvSpPr>
        <p:spPr>
          <a:xfrm rot="4647428">
            <a:off x="573879" y="3310511"/>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T</a:t>
            </a:r>
          </a:p>
        </p:txBody>
      </p:sp>
      <p:sp>
        <p:nvSpPr>
          <p:cNvPr id="13" name="TextBox 12"/>
          <p:cNvSpPr txBox="1"/>
          <p:nvPr/>
        </p:nvSpPr>
        <p:spPr>
          <a:xfrm rot="5322137">
            <a:off x="589171" y="3436504"/>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E</a:t>
            </a:r>
          </a:p>
        </p:txBody>
      </p:sp>
      <p:sp>
        <p:nvSpPr>
          <p:cNvPr id="14" name="TextBox 13"/>
          <p:cNvSpPr txBox="1"/>
          <p:nvPr/>
        </p:nvSpPr>
        <p:spPr>
          <a:xfrm rot="6029545">
            <a:off x="578507" y="3569122"/>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R</a:t>
            </a:r>
          </a:p>
        </p:txBody>
      </p:sp>
      <p:sp>
        <p:nvSpPr>
          <p:cNvPr id="15" name="TextBox 14"/>
          <p:cNvSpPr txBox="1"/>
          <p:nvPr/>
        </p:nvSpPr>
        <p:spPr>
          <a:xfrm>
            <a:off x="-43532" y="3267938"/>
            <a:ext cx="658564" cy="615315"/>
          </a:xfrm>
          <a:prstGeom prst="rect">
            <a:avLst/>
          </a:prstGeom>
          <a:noFill/>
        </p:spPr>
        <p:txBody>
          <a:bodyPr wrap="none" lIns="0" rIns="0" tIns="0" bIns="0" anchor="ctr">
            <a:noAutofit/>
          </a:bodyPr>
          <a:lstStyle/>
          <a:p>
            <a:pPr algn="ctr">
              <a:lnSpc>
                <a:spcPts val="3420"/>
              </a:lnSpc>
            </a:pPr>
            <a:r>
              <a:rPr sz="2850" b="1">
                <a:solidFill>
                  <a:srgbClr val="17365D"/>
                </a:solidFill>
                <a:latin typeface="Arial"/>
                <a:ea typeface="맑은 고딕"/>
                <a:cs typeface="맑은 고딕"/>
              </a:rPr>
              <a:t>2</a:t>
            </a:r>
          </a:p>
        </p:txBody>
      </p:sp>
      <p:sp>
        <p:nvSpPr>
          <p:cNvPr id="16" name="TextBox 15"/>
          <p:cNvSpPr txBox="1"/>
          <p:nvPr/>
        </p:nvSpPr>
        <p:spPr>
          <a:xfrm>
            <a:off x="8765619" y="4067651"/>
            <a:ext cx="3007281" cy="737235"/>
          </a:xfrm>
          <a:prstGeom prst="rect">
            <a:avLst/>
          </a:prstGeom>
          <a:noFill/>
        </p:spPr>
        <p:txBody>
          <a:bodyPr wrap="none" anchor="ctr" lIns="0" rIns="0" tIns="0" bIns="0">
            <a:noAutofit/>
          </a:bodyPr>
          <a:lstStyle/>
          <a:p>
            <a:pPr algn="r">
              <a:lnSpc>
                <a:spcPts val="4725"/>
              </a:lnSpc>
              <a:spcBef>
                <a:spcPts val="0"/>
              </a:spcBef>
              <a:spcAft>
                <a:spcPts val="0"/>
              </a:spcAft>
            </a:pPr>
            <a:r>
              <a:rPr sz="3150" b="1" spc="-110">
                <a:solidFill>
                  <a:srgbClr val="17365D"/>
                </a:solidFill>
                <a:latin typeface="맑은 고딕"/>
                <a:ea typeface="맑은 고딕"/>
                <a:cs typeface="맑은 고딕"/>
              </a:rPr>
              <a:t>성적 평가</a:t>
            </a:r>
          </a:p>
        </p:txBody>
      </p:sp>
      <p:sp>
        <p:nvSpPr>
          <p:cNvPr id="17" name="TextBox 16"/>
          <p:cNvSpPr txBox="1"/>
          <p:nvPr/>
        </p:nvSpPr>
        <p:spPr>
          <a:xfrm>
            <a:off x="3754755" y="4632871"/>
            <a:ext cx="8018145" cy="381000"/>
          </a:xfrm>
          <a:prstGeom prst="rect">
            <a:avLst/>
          </a:prstGeom>
          <a:noFill/>
        </p:spPr>
        <p:txBody>
          <a:bodyPr wrap="none" anchor="ctr" lIns="0" rIns="0" tIns="0" bIns="0">
            <a:noAutofit/>
          </a:bodyPr>
          <a:lstStyle/>
          <a:p>
            <a:pPr algn="r">
              <a:lnSpc>
                <a:spcPts val="2250"/>
              </a:lnSpc>
              <a:spcBef>
                <a:spcPts val="0"/>
              </a:spcBef>
              <a:spcAft>
                <a:spcPts val="0"/>
              </a:spcAft>
            </a:pPr>
            <a:r>
              <a:rPr sz="1500" b="1">
                <a:solidFill>
                  <a:srgbClr val="63666B"/>
                </a:solidFill>
                <a:latin typeface="맑은 고딕"/>
                <a:ea typeface="맑은 고딕"/>
                <a:cs typeface="맑은 고딕"/>
              </a:rPr>
              <a:t>출석, 중간고사, 기말고사, 과제물 등 성적 평가 방법 소개</a:t>
            </a:r>
          </a:p>
        </p:txBody>
      </p:sp>
      <p:sp>
        <p:nvSpPr>
          <p:cNvPr id="18" name="TextBox 17"/>
          <p:cNvSpPr txBox="1"/>
          <p:nvPr/>
        </p:nvSpPr>
        <p:spPr>
          <a:xfrm>
            <a:off x="10846296" y="5971222"/>
            <a:ext cx="1863566" cy="802005"/>
          </a:xfrm>
          <a:prstGeom prst="rect">
            <a:avLst/>
          </a:prstGeom>
          <a:noFill/>
        </p:spPr>
        <p:txBody>
          <a:bodyPr wrap="none" anchor="ctr" lIns="0" rIns="0" tIns="0" bIns="0">
            <a:noAutofit/>
          </a:bodyPr>
          <a:lstStyle/>
          <a:p>
            <a:pPr algn="l">
              <a:lnSpc>
                <a:spcPts val="3450"/>
              </a:lnSpc>
              <a:spcBef>
                <a:spcPts val="0"/>
              </a:spcBef>
              <a:spcAft>
                <a:spcPts val="0"/>
              </a:spcAft>
            </a:pPr>
            <a:r>
              <a:rPr sz="3450" b="1" spc="-190">
                <a:solidFill>
                  <a:srgbClr val="17365D"/>
                </a:solidFill>
                <a:latin typeface="Arial"/>
                <a:ea typeface="맑은 고딕"/>
                <a:cs typeface="맑은 고딕"/>
              </a:rPr>
              <a:t>dima</a:t>
            </a:r>
          </a:p>
        </p:txBody>
      </p:sp>
      <p:sp>
        <p:nvSpPr>
          <p:cNvPr id="19" name="Oval 18"/>
          <p:cNvSpPr/>
          <p:nvPr/>
        </p:nvSpPr>
        <p:spPr>
          <a:xfrm>
            <a:off x="11097194" y="6001131"/>
            <a:ext cx="83248" cy="83248"/>
          </a:xfrm>
          <a:prstGeom prst="ellipse">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1319957" cy="323850"/>
          </a:xfrm>
          <a:prstGeom prst="rect">
            <a:avLst/>
          </a:prstGeom>
          <a:solidFill>
            <a:srgbClr val="002A55"/>
          </a:solidFill>
          <a:ln w="19050">
            <a:solidFill>
              <a:srgbClr val="FFF100"/>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609600" y="103346"/>
            <a:ext cx="536019" cy="364808"/>
          </a:xfrm>
          <a:prstGeom prst="rect">
            <a:avLst/>
          </a:prstGeom>
          <a:noFill/>
        </p:spPr>
        <p:txBody>
          <a:bodyPr wrap="none" anchor="ctr" lIns="0" rIns="0" tIns="0" bIns="0">
            <a:noAutofit/>
          </a:bodyPr>
          <a:lstStyle/>
          <a:p>
            <a:pPr algn="l">
              <a:lnSpc>
                <a:spcPts val="1425"/>
              </a:lnSpc>
              <a:spcBef>
                <a:spcPts val="0"/>
              </a:spcBef>
              <a:spcAft>
                <a:spcPts val="0"/>
              </a:spcAft>
            </a:pPr>
            <a:r>
              <a:rPr sz="1425" b="1" spc="-30">
                <a:solidFill>
                  <a:srgbClr val="FFF100"/>
                </a:solidFill>
                <a:latin typeface="Arial"/>
                <a:ea typeface="맑은 고딕"/>
                <a:cs typeface="맑은 고딕"/>
              </a:rPr>
              <a:t>2</a:t>
            </a:r>
          </a:p>
        </p:txBody>
      </p:sp>
      <p:sp>
        <p:nvSpPr>
          <p:cNvPr id="7" name="TextBox 6"/>
          <p:cNvSpPr txBox="1"/>
          <p:nvPr/>
        </p:nvSpPr>
        <p:spPr>
          <a:xfrm>
            <a:off x="801737" y="85725"/>
            <a:ext cx="1575911"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FFF"/>
                </a:solidFill>
                <a:latin typeface="맑은 고딕"/>
                <a:ea typeface="맑은 고딕"/>
                <a:cs typeface="맑은 고딕"/>
              </a:rPr>
              <a:t>성적평가</a:t>
            </a:r>
          </a:p>
        </p:txBody>
      </p:sp>
      <p:sp>
        <p:nvSpPr>
          <p:cNvPr id="8" name="TextBox 7"/>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9" name="Oval 8"/>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100" y="852071"/>
            <a:ext cx="5611654"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51">
                <a:solidFill>
                  <a:srgbClr val="17365D"/>
                </a:solidFill>
                <a:latin typeface="맑은 고딕"/>
                <a:ea typeface="맑은 고딕"/>
                <a:cs typeface="맑은 고딕"/>
              </a:rPr>
              <a:t>평가 기준에 따라 적용합니다.</a:t>
            </a:r>
          </a:p>
        </p:txBody>
      </p:sp>
      <p:sp>
        <p:nvSpPr>
          <p:cNvPr id="11" name="TextBox 10"/>
          <p:cNvSpPr txBox="1"/>
          <p:nvPr/>
        </p:nvSpPr>
        <p:spPr>
          <a:xfrm>
            <a:off x="419100" y="1752243"/>
            <a:ext cx="1972389" cy="397192"/>
          </a:xfrm>
          <a:prstGeom prst="rect">
            <a:avLst/>
          </a:prstGeom>
          <a:noFill/>
        </p:spPr>
        <p:txBody>
          <a:bodyPr wrap="none" anchor="ctr" lIns="0" rIns="0" tIns="0" bIns="0">
            <a:noAutofit/>
          </a:bodyPr>
          <a:lstStyle/>
          <a:p>
            <a:pPr algn="l">
              <a:lnSpc>
                <a:spcPts val="2362"/>
              </a:lnSpc>
              <a:spcBef>
                <a:spcPts val="0"/>
              </a:spcBef>
              <a:spcAft>
                <a:spcPts val="0"/>
              </a:spcAft>
            </a:pPr>
            <a:r>
              <a:rPr sz="1575" b="1" spc="-32">
                <a:solidFill>
                  <a:srgbClr val="005BAC"/>
                </a:solidFill>
                <a:latin typeface="맑은 고딕"/>
                <a:ea typeface="맑은 고딕"/>
                <a:cs typeface="맑은 고딕"/>
              </a:rPr>
              <a:t>1. 성적평가</a:t>
            </a:r>
          </a:p>
        </p:txBody>
      </p:sp>
      <p:graphicFrame>
        <p:nvGraphicFramePr>
          <p:cNvPr id="12" name="Table 11"/>
          <p:cNvGraphicFramePr>
            <a:graphicFrameLocks noGrp="1"/>
          </p:cNvGraphicFramePr>
          <p:nvPr/>
        </p:nvGraphicFramePr>
        <p:xfrm>
          <a:off x="419100" y="2388989"/>
          <a:ext cx="6220570" cy="838200"/>
        </p:xfrm>
        <a:graphic>
          <a:graphicData uri="http://schemas.openxmlformats.org/drawingml/2006/table">
            <a:tbl>
              <a:tblPr>
                <a:tableStyleId>{5C22544A-7EE6-4342-B048-85BDC9FD1C3A}</a:tableStyleId>
              </a:tblPr>
              <a:tblGrid>
                <a:gridCol w="727472"/>
                <a:gridCol w="1135410"/>
                <a:gridCol w="1135410"/>
                <a:gridCol w="3222278"/>
              </a:tblGrid>
              <a:tr h="390525">
                <a:tc>
                  <a:txBody>
                    <a:bodyPr wrap="square"/>
                    <a:lstStyle/>
                    <a:p>
                      <a:pPr algn="ctr">
                        <a:lnSpc>
                          <a:spcPts val="1560"/>
                        </a:lnSpc>
                      </a:pPr>
                      <a:r>
                        <a:rPr sz="1200" b="1">
                          <a:solidFill>
                            <a:srgbClr val="17365D"/>
                          </a:solidFill>
                          <a:latin typeface="맑은 고딕"/>
                          <a:ea typeface="맑은 고딕"/>
                          <a:cs typeface="맑은 고딕"/>
                        </a:rPr>
                        <a:t>출석</a:t>
                      </a:r>
                    </a:p>
                  </a:txBody>
                  <a:tcPr marL="95250" marR="95250" marT="28575" marB="28575" anchor="ctr">
                    <a:solidFill>
                      <a:srgbClr val="DEEBF7"/>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ctr">
                        <a:lnSpc>
                          <a:spcPts val="1560"/>
                        </a:lnSpc>
                      </a:pPr>
                      <a:r>
                        <a:rPr sz="1200" b="1">
                          <a:solidFill>
                            <a:srgbClr val="17365D"/>
                          </a:solidFill>
                          <a:latin typeface="맑은 고딕"/>
                          <a:ea typeface="맑은 고딕"/>
                          <a:cs typeface="맑은 고딕"/>
                        </a:rPr>
                        <a:t>중간시험</a:t>
                      </a:r>
                    </a:p>
                  </a:txBody>
                  <a:tcPr marL="95250" marR="95250" marT="28575" marB="28575" anchor="ctr">
                    <a:solidFill>
                      <a:srgbClr val="DEEBF7"/>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ctr">
                        <a:lnSpc>
                          <a:spcPts val="1560"/>
                        </a:lnSpc>
                      </a:pPr>
                      <a:r>
                        <a:rPr sz="1200" b="1">
                          <a:solidFill>
                            <a:srgbClr val="17365D"/>
                          </a:solidFill>
                          <a:latin typeface="맑은 고딕"/>
                          <a:ea typeface="맑은 고딕"/>
                          <a:cs typeface="맑은 고딕"/>
                        </a:rPr>
                        <a:t>기말시험</a:t>
                      </a:r>
                    </a:p>
                  </a:txBody>
                  <a:tcPr marL="95250" marR="95250" marT="28575" marB="28575" anchor="ctr">
                    <a:solidFill>
                      <a:srgbClr val="DEEBF7"/>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ctr">
                        <a:lnSpc>
                          <a:spcPts val="1560"/>
                        </a:lnSpc>
                      </a:pPr>
                      <a:r>
                        <a:rPr sz="1200" b="1">
                          <a:solidFill>
                            <a:srgbClr val="17365D"/>
                          </a:solidFill>
                          <a:latin typeface="맑은 고딕"/>
                          <a:ea typeface="맑은 고딕"/>
                          <a:cs typeface="맑은 고딕"/>
                        </a:rPr>
                        <a:t>과제물제출 및 참여도(수업태도)</a:t>
                      </a:r>
                    </a:p>
                  </a:txBody>
                  <a:tcPr marL="95250" marR="95250" marT="28575" marB="28575" anchor="ctr">
                    <a:solidFill>
                      <a:srgbClr val="DEEBF7"/>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447675">
                <a:tc>
                  <a:txBody>
                    <a:bodyPr wrap="square"/>
                    <a:lstStyle/>
                    <a:p>
                      <a:pPr algn="ctr">
                        <a:lnSpc>
                          <a:spcPts val="1950"/>
                        </a:lnSpc>
                      </a:pPr>
                      <a:r>
                        <a:rPr sz="1500" b="1">
                          <a:solidFill>
                            <a:srgbClr val="005BAC"/>
                          </a:solidFill>
                          <a:latin typeface="맑은 고딕"/>
                          <a:ea typeface="맑은 고딕"/>
                          <a:cs typeface="맑은 고딕"/>
                        </a:rPr>
                        <a:t>20%</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ctr">
                        <a:lnSpc>
                          <a:spcPts val="1950"/>
                        </a:lnSpc>
                      </a:pPr>
                      <a:r>
                        <a:rPr sz="1500" b="1">
                          <a:solidFill>
                            <a:srgbClr val="005BAC"/>
                          </a:solidFill>
                          <a:latin typeface="맑은 고딕"/>
                          <a:ea typeface="맑은 고딕"/>
                          <a:cs typeface="맑은 고딕"/>
                        </a:rPr>
                        <a:t>30%</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ctr">
                        <a:lnSpc>
                          <a:spcPts val="1950"/>
                        </a:lnSpc>
                      </a:pPr>
                      <a:r>
                        <a:rPr sz="1500" b="1">
                          <a:solidFill>
                            <a:srgbClr val="005BAC"/>
                          </a:solidFill>
                          <a:latin typeface="맑은 고딕"/>
                          <a:ea typeface="맑은 고딕"/>
                          <a:cs typeface="맑은 고딕"/>
                        </a:rPr>
                        <a:t>30%</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ctr">
                        <a:lnSpc>
                          <a:spcPts val="1950"/>
                        </a:lnSpc>
                      </a:pPr>
                      <a:r>
                        <a:rPr sz="1500" b="1">
                          <a:solidFill>
                            <a:srgbClr val="005BAC"/>
                          </a:solidFill>
                          <a:latin typeface="맑은 고딕"/>
                          <a:ea typeface="맑은 고딕"/>
                          <a:cs typeface="맑은 고딕"/>
                        </a:rPr>
                        <a:t>20%</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bl>
          </a:graphicData>
        </a:graphic>
      </p:graphicFrame>
      <p:sp>
        <p:nvSpPr>
          <p:cNvPr id="13" name="Rectangle 12"/>
          <p:cNvSpPr/>
          <p:nvPr/>
        </p:nvSpPr>
        <p:spPr>
          <a:xfrm>
            <a:off x="419100" y="3331964"/>
            <a:ext cx="6230094" cy="533400"/>
          </a:xfrm>
          <a:prstGeom prst="rect">
            <a:avLst/>
          </a:prstGeom>
          <a:solidFill>
            <a:srgbClr val="FFFFFF"/>
          </a:solidFill>
          <a:ln w="9525">
            <a:solidFill>
              <a:srgbClr val="D4DC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561975" y="3417689"/>
            <a:ext cx="4453890"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17365D"/>
                </a:solidFill>
                <a:latin typeface="맑은 고딕"/>
                <a:ea typeface="맑은 고딕"/>
                <a:cs typeface="맑은 고딕"/>
              </a:rPr>
              <a:t>중간고사 : 개인별 과제 및 발표</a:t>
            </a:r>
          </a:p>
        </p:txBody>
      </p:sp>
      <p:sp>
        <p:nvSpPr>
          <p:cNvPr id="15" name="Rectangle 14"/>
          <p:cNvSpPr/>
          <p:nvPr/>
        </p:nvSpPr>
        <p:spPr>
          <a:xfrm>
            <a:off x="419100" y="3960614"/>
            <a:ext cx="6230094" cy="1163836"/>
          </a:xfrm>
          <a:prstGeom prst="rect">
            <a:avLst/>
          </a:prstGeom>
          <a:solidFill>
            <a:srgbClr val="FFFFFF"/>
          </a:solidFill>
          <a:ln w="9525">
            <a:solidFill>
              <a:srgbClr val="D4DC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561975" y="4046339"/>
            <a:ext cx="2965132"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17365D"/>
                </a:solidFill>
                <a:latin typeface="맑은 고딕"/>
                <a:ea typeface="맑은 고딕"/>
                <a:cs typeface="맑은 고딕"/>
              </a:rPr>
              <a:t>기말고사 : write-up</a:t>
            </a:r>
          </a:p>
        </p:txBody>
      </p:sp>
      <p:sp>
        <p:nvSpPr>
          <p:cNvPr id="17" name="Oval 16"/>
          <p:cNvSpPr/>
          <p:nvPr/>
        </p:nvSpPr>
        <p:spPr>
          <a:xfrm>
            <a:off x="609600" y="4521637"/>
            <a:ext cx="66675" cy="66675"/>
          </a:xfrm>
          <a:prstGeom prst="ellipse">
            <a:avLst/>
          </a:prstGeom>
          <a:solidFill>
            <a:srgbClr val="0071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150" y="4386382"/>
            <a:ext cx="3460194"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아이디어의 독창성 : </a:t>
            </a:r>
            <a:r>
              <a:rPr sz="1350" b="1">
                <a:solidFill>
                  <a:srgbClr val="C00000"/>
                </a:solidFill>
                <a:latin typeface="맑은 고딕"/>
                <a:ea typeface="맑은 고딕"/>
                <a:cs typeface="맑은 고딕"/>
              </a:rPr>
              <a:t>15점</a:t>
            </a:r>
          </a:p>
        </p:txBody>
      </p:sp>
      <p:sp>
        <p:nvSpPr>
          <p:cNvPr id="19" name="Oval 18"/>
          <p:cNvSpPr/>
          <p:nvPr/>
        </p:nvSpPr>
        <p:spPr>
          <a:xfrm>
            <a:off x="609600" y="4846380"/>
            <a:ext cx="66675" cy="66675"/>
          </a:xfrm>
          <a:prstGeom prst="ellipse">
            <a:avLst/>
          </a:prstGeom>
          <a:solidFill>
            <a:srgbClr val="0071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150" y="4711125"/>
            <a:ext cx="4008834"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비지니스의 성공가능성 : </a:t>
            </a:r>
            <a:r>
              <a:rPr sz="1350" b="1">
                <a:solidFill>
                  <a:srgbClr val="C00000"/>
                </a:solidFill>
                <a:latin typeface="맑은 고딕"/>
                <a:ea typeface="맑은 고딕"/>
                <a:cs typeface="맑은 고딕"/>
              </a:rPr>
              <a:t>15점</a:t>
            </a:r>
          </a:p>
        </p:txBody>
      </p:sp>
      <p:sp>
        <p:nvSpPr>
          <p:cNvPr id="21" name="Freeform 20"/>
          <p:cNvSpPr/>
          <p:nvPr/>
        </p:nvSpPr>
        <p:spPr>
          <a:xfrm>
            <a:off x="9346621" y="2157109"/>
            <a:ext cx="1288825" cy="1134613"/>
          </a:xfrm>
          <a:custGeom>
            <a:avLst/>
            <a:gdLst/>
            <a:ahLst/>
            <a:cxnLst/>
            <a:rect l="l" t="t" r="r" b="b"/>
            <a:pathLst>
              <a:path w="1288825" h="1134613">
                <a:moveTo>
                  <a:pt x="17548" y="0"/>
                </a:moveTo>
                <a:lnTo>
                  <a:pt x="145601" y="9501"/>
                </a:lnTo>
                <a:lnTo>
                  <a:pt x="272231" y="30772"/>
                </a:lnTo>
                <a:lnTo>
                  <a:pt x="396360" y="63633"/>
                </a:lnTo>
                <a:lnTo>
                  <a:pt x="516928" y="107803"/>
                </a:lnTo>
                <a:lnTo>
                  <a:pt x="632909" y="162905"/>
                </a:lnTo>
                <a:lnTo>
                  <a:pt x="743312" y="228470"/>
                </a:lnTo>
                <a:lnTo>
                  <a:pt x="847198" y="303939"/>
                </a:lnTo>
                <a:lnTo>
                  <a:pt x="943679" y="388668"/>
                </a:lnTo>
                <a:lnTo>
                  <a:pt x="1031934" y="481935"/>
                </a:lnTo>
                <a:lnTo>
                  <a:pt x="1111211" y="582945"/>
                </a:lnTo>
                <a:lnTo>
                  <a:pt x="1180833" y="690837"/>
                </a:lnTo>
                <a:lnTo>
                  <a:pt x="1240206" y="804690"/>
                </a:lnTo>
                <a:lnTo>
                  <a:pt x="1288825" y="923534"/>
                </a:lnTo>
                <a:lnTo>
                  <a:pt x="696147" y="1134613"/>
                </a:lnTo>
                <a:lnTo>
                  <a:pt x="669525" y="1069532"/>
                </a:lnTo>
                <a:lnTo>
                  <a:pt x="637013" y="1007184"/>
                </a:lnTo>
                <a:lnTo>
                  <a:pt x="598889" y="948101"/>
                </a:lnTo>
                <a:lnTo>
                  <a:pt x="555478" y="892785"/>
                </a:lnTo>
                <a:lnTo>
                  <a:pt x="507151" y="841710"/>
                </a:lnTo>
                <a:lnTo>
                  <a:pt x="454318" y="795309"/>
                </a:lnTo>
                <a:lnTo>
                  <a:pt x="397431" y="753980"/>
                </a:lnTo>
                <a:lnTo>
                  <a:pt x="336974" y="718073"/>
                </a:lnTo>
                <a:lnTo>
                  <a:pt x="273463" y="687896"/>
                </a:lnTo>
                <a:lnTo>
                  <a:pt x="207439" y="663706"/>
                </a:lnTo>
                <a:lnTo>
                  <a:pt x="139466" y="645708"/>
                </a:lnTo>
                <a:lnTo>
                  <a:pt x="70122" y="634057"/>
                </a:lnTo>
                <a:lnTo>
                  <a:pt x="0" y="628851"/>
                </a:lnTo>
                <a:close/>
              </a:path>
            </a:pathLst>
          </a:custGeom>
          <a:solidFill>
            <a:srgbClr val="005B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9346621" y="3154562"/>
            <a:ext cx="1369211" cy="1782668"/>
          </a:xfrm>
          <a:custGeom>
            <a:avLst/>
            <a:gdLst/>
            <a:ahLst/>
            <a:cxnLst/>
            <a:rect l="l" t="t" r="r" b="b"/>
            <a:pathLst>
              <a:path w="1369211" h="1782668">
                <a:moveTo>
                  <a:pt x="1312747" y="0"/>
                </a:moveTo>
                <a:lnTo>
                  <a:pt x="1343023" y="123473"/>
                </a:lnTo>
                <a:lnTo>
                  <a:pt x="1361897" y="249196"/>
                </a:lnTo>
                <a:lnTo>
                  <a:pt x="1369211" y="376116"/>
                </a:lnTo>
                <a:lnTo>
                  <a:pt x="1364903" y="503175"/>
                </a:lnTo>
                <a:lnTo>
                  <a:pt x="1349009" y="629308"/>
                </a:lnTo>
                <a:lnTo>
                  <a:pt x="1321663" y="753464"/>
                </a:lnTo>
                <a:lnTo>
                  <a:pt x="1283093" y="874603"/>
                </a:lnTo>
                <a:lnTo>
                  <a:pt x="1233622" y="991713"/>
                </a:lnTo>
                <a:lnTo>
                  <a:pt x="1173662" y="1103816"/>
                </a:lnTo>
                <a:lnTo>
                  <a:pt x="1103715" y="1209976"/>
                </a:lnTo>
                <a:lnTo>
                  <a:pt x="1024365" y="1309303"/>
                </a:lnTo>
                <a:lnTo>
                  <a:pt x="936276" y="1400969"/>
                </a:lnTo>
                <a:lnTo>
                  <a:pt x="840184" y="1484208"/>
                </a:lnTo>
                <a:lnTo>
                  <a:pt x="736892" y="1558323"/>
                </a:lnTo>
                <a:lnTo>
                  <a:pt x="627263" y="1622695"/>
                </a:lnTo>
                <a:lnTo>
                  <a:pt x="512214" y="1676787"/>
                </a:lnTo>
                <a:lnTo>
                  <a:pt x="392705" y="1720146"/>
                </a:lnTo>
                <a:lnTo>
                  <a:pt x="269736" y="1752410"/>
                </a:lnTo>
                <a:lnTo>
                  <a:pt x="144334" y="1773309"/>
                </a:lnTo>
                <a:lnTo>
                  <a:pt x="17548" y="1782668"/>
                </a:lnTo>
                <a:lnTo>
                  <a:pt x="0" y="1153817"/>
                </a:lnTo>
                <a:lnTo>
                  <a:pt x="69435" y="1148695"/>
                </a:lnTo>
                <a:lnTo>
                  <a:pt x="138112" y="1137254"/>
                </a:lnTo>
                <a:lnTo>
                  <a:pt x="205457" y="1119587"/>
                </a:lnTo>
                <a:lnTo>
                  <a:pt x="270907" y="1095844"/>
                </a:lnTo>
                <a:lnTo>
                  <a:pt x="333915" y="1066223"/>
                </a:lnTo>
                <a:lnTo>
                  <a:pt x="393955" y="1030971"/>
                </a:lnTo>
                <a:lnTo>
                  <a:pt x="450524" y="990383"/>
                </a:lnTo>
                <a:lnTo>
                  <a:pt x="503149" y="944798"/>
                </a:lnTo>
                <a:lnTo>
                  <a:pt x="551392" y="894598"/>
                </a:lnTo>
                <a:lnTo>
                  <a:pt x="594848" y="840201"/>
                </a:lnTo>
                <a:lnTo>
                  <a:pt x="633155" y="782063"/>
                </a:lnTo>
                <a:lnTo>
                  <a:pt x="665992" y="720669"/>
                </a:lnTo>
                <a:lnTo>
                  <a:pt x="693085" y="656533"/>
                </a:lnTo>
                <a:lnTo>
                  <a:pt x="714206" y="590190"/>
                </a:lnTo>
                <a:lnTo>
                  <a:pt x="729181" y="522196"/>
                </a:lnTo>
                <a:lnTo>
                  <a:pt x="737883" y="453118"/>
                </a:lnTo>
                <a:lnTo>
                  <a:pt x="740240" y="383535"/>
                </a:lnTo>
                <a:lnTo>
                  <a:pt x="736232" y="314026"/>
                </a:lnTo>
                <a:lnTo>
                  <a:pt x="725893" y="245175"/>
                </a:lnTo>
                <a:lnTo>
                  <a:pt x="709309" y="177555"/>
                </a:lnTo>
                <a:close/>
              </a:path>
            </a:pathLst>
          </a:custGeom>
          <a:solidFill>
            <a:srgbClr val="0071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Freeform 22"/>
          <p:cNvSpPr/>
          <p:nvPr/>
        </p:nvSpPr>
        <p:spPr>
          <a:xfrm>
            <a:off x="7934863" y="3154562"/>
            <a:ext cx="1369211" cy="1782668"/>
          </a:xfrm>
          <a:custGeom>
            <a:avLst/>
            <a:gdLst/>
            <a:ahLst/>
            <a:cxnLst/>
            <a:rect l="l" t="t" r="r" b="b"/>
            <a:pathLst>
              <a:path w="1369211" h="1782668">
                <a:moveTo>
                  <a:pt x="1351662" y="1782668"/>
                </a:moveTo>
                <a:lnTo>
                  <a:pt x="1224876" y="1773309"/>
                </a:lnTo>
                <a:lnTo>
                  <a:pt x="1099474" y="1752410"/>
                </a:lnTo>
                <a:lnTo>
                  <a:pt x="976505" y="1720146"/>
                </a:lnTo>
                <a:lnTo>
                  <a:pt x="856997" y="1676787"/>
                </a:lnTo>
                <a:lnTo>
                  <a:pt x="741947" y="1622695"/>
                </a:lnTo>
                <a:lnTo>
                  <a:pt x="632318" y="1558323"/>
                </a:lnTo>
                <a:lnTo>
                  <a:pt x="529026" y="1484208"/>
                </a:lnTo>
                <a:lnTo>
                  <a:pt x="432934" y="1400969"/>
                </a:lnTo>
                <a:lnTo>
                  <a:pt x="344845" y="1309303"/>
                </a:lnTo>
                <a:lnTo>
                  <a:pt x="265495" y="1209976"/>
                </a:lnTo>
                <a:lnTo>
                  <a:pt x="195548" y="1103816"/>
                </a:lnTo>
                <a:lnTo>
                  <a:pt x="135588" y="991713"/>
                </a:lnTo>
                <a:lnTo>
                  <a:pt x="86117" y="874603"/>
                </a:lnTo>
                <a:lnTo>
                  <a:pt x="47547" y="753464"/>
                </a:lnTo>
                <a:lnTo>
                  <a:pt x="20201" y="629308"/>
                </a:lnTo>
                <a:lnTo>
                  <a:pt x="4308" y="503175"/>
                </a:lnTo>
                <a:lnTo>
                  <a:pt x="0" y="376116"/>
                </a:lnTo>
                <a:lnTo>
                  <a:pt x="7313" y="249196"/>
                </a:lnTo>
                <a:lnTo>
                  <a:pt x="26187" y="123473"/>
                </a:lnTo>
                <a:lnTo>
                  <a:pt x="56463" y="0"/>
                </a:lnTo>
                <a:lnTo>
                  <a:pt x="659901" y="177555"/>
                </a:lnTo>
                <a:lnTo>
                  <a:pt x="643317" y="245175"/>
                </a:lnTo>
                <a:lnTo>
                  <a:pt x="632978" y="314026"/>
                </a:lnTo>
                <a:lnTo>
                  <a:pt x="628970" y="383535"/>
                </a:lnTo>
                <a:lnTo>
                  <a:pt x="631327" y="453118"/>
                </a:lnTo>
                <a:lnTo>
                  <a:pt x="640029" y="522196"/>
                </a:lnTo>
                <a:lnTo>
                  <a:pt x="655004" y="590190"/>
                </a:lnTo>
                <a:lnTo>
                  <a:pt x="676126" y="656533"/>
                </a:lnTo>
                <a:lnTo>
                  <a:pt x="703218" y="720669"/>
                </a:lnTo>
                <a:lnTo>
                  <a:pt x="736055" y="782063"/>
                </a:lnTo>
                <a:lnTo>
                  <a:pt x="774362" y="840201"/>
                </a:lnTo>
                <a:lnTo>
                  <a:pt x="817818" y="894598"/>
                </a:lnTo>
                <a:lnTo>
                  <a:pt x="866061" y="944798"/>
                </a:lnTo>
                <a:lnTo>
                  <a:pt x="918686" y="990383"/>
                </a:lnTo>
                <a:lnTo>
                  <a:pt x="975256" y="1030971"/>
                </a:lnTo>
                <a:lnTo>
                  <a:pt x="1035295" y="1066223"/>
                </a:lnTo>
                <a:lnTo>
                  <a:pt x="1098303" y="1095844"/>
                </a:lnTo>
                <a:lnTo>
                  <a:pt x="1163753" y="1119587"/>
                </a:lnTo>
                <a:lnTo>
                  <a:pt x="1231099" y="1137254"/>
                </a:lnTo>
                <a:lnTo>
                  <a:pt x="1299776" y="1148695"/>
                </a:lnTo>
                <a:lnTo>
                  <a:pt x="1369211" y="1153817"/>
                </a:lnTo>
                <a:close/>
              </a:path>
            </a:pathLst>
          </a:custGeom>
          <a:solidFill>
            <a:srgbClr val="4BA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8015248" y="2157109"/>
            <a:ext cx="1288826" cy="1134613"/>
          </a:xfrm>
          <a:custGeom>
            <a:avLst/>
            <a:gdLst/>
            <a:ahLst/>
            <a:cxnLst/>
            <a:rect l="l" t="t" r="r" b="b"/>
            <a:pathLst>
              <a:path w="1288826" h="1134613">
                <a:moveTo>
                  <a:pt x="0" y="923534"/>
                </a:moveTo>
                <a:lnTo>
                  <a:pt x="48619" y="804690"/>
                </a:lnTo>
                <a:lnTo>
                  <a:pt x="107993" y="690837"/>
                </a:lnTo>
                <a:lnTo>
                  <a:pt x="177614" y="582945"/>
                </a:lnTo>
                <a:lnTo>
                  <a:pt x="256891" y="481935"/>
                </a:lnTo>
                <a:lnTo>
                  <a:pt x="345146" y="388668"/>
                </a:lnTo>
                <a:lnTo>
                  <a:pt x="441628" y="303939"/>
                </a:lnTo>
                <a:lnTo>
                  <a:pt x="545513" y="228470"/>
                </a:lnTo>
                <a:lnTo>
                  <a:pt x="655917" y="162905"/>
                </a:lnTo>
                <a:lnTo>
                  <a:pt x="771897" y="107803"/>
                </a:lnTo>
                <a:lnTo>
                  <a:pt x="892466" y="63633"/>
                </a:lnTo>
                <a:lnTo>
                  <a:pt x="1016594" y="30772"/>
                </a:lnTo>
                <a:lnTo>
                  <a:pt x="1143224" y="9501"/>
                </a:lnTo>
                <a:lnTo>
                  <a:pt x="1271277" y="0"/>
                </a:lnTo>
                <a:lnTo>
                  <a:pt x="1288826" y="628851"/>
                </a:lnTo>
                <a:lnTo>
                  <a:pt x="1218703" y="634057"/>
                </a:lnTo>
                <a:lnTo>
                  <a:pt x="1149359" y="645708"/>
                </a:lnTo>
                <a:lnTo>
                  <a:pt x="1081386" y="663706"/>
                </a:lnTo>
                <a:lnTo>
                  <a:pt x="1015362" y="687896"/>
                </a:lnTo>
                <a:lnTo>
                  <a:pt x="951851" y="718073"/>
                </a:lnTo>
                <a:lnTo>
                  <a:pt x="891395" y="753980"/>
                </a:lnTo>
                <a:lnTo>
                  <a:pt x="834507" y="795309"/>
                </a:lnTo>
                <a:lnTo>
                  <a:pt x="781675" y="841710"/>
                </a:lnTo>
                <a:lnTo>
                  <a:pt x="733347" y="892785"/>
                </a:lnTo>
                <a:lnTo>
                  <a:pt x="689936" y="948101"/>
                </a:lnTo>
                <a:lnTo>
                  <a:pt x="651812" y="1007184"/>
                </a:lnTo>
                <a:lnTo>
                  <a:pt x="619300" y="1069532"/>
                </a:lnTo>
                <a:lnTo>
                  <a:pt x="592678" y="1134613"/>
                </a:lnTo>
                <a:close/>
              </a:path>
            </a:pathLst>
          </a:custGeom>
          <a:solidFill>
            <a:srgbClr val="7DB9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13369" y="2465261"/>
            <a:ext cx="688777" cy="197007"/>
          </a:xfrm>
          <a:prstGeom prst="rect">
            <a:avLst/>
          </a:prstGeom>
          <a:noFill/>
        </p:spPr>
        <p:txBody>
          <a:bodyPr wrap="none" lIns="0" rIns="0" tIns="0" bIns="0" anchor="ctr">
            <a:noAutofit/>
          </a:bodyPr>
          <a:lstStyle/>
          <a:p>
            <a:pPr algn="ctr">
              <a:lnSpc>
                <a:spcPts val="1094"/>
              </a:lnSpc>
            </a:pPr>
            <a:r>
              <a:rPr sz="912" b="1">
                <a:solidFill>
                  <a:srgbClr val="FFFFFF"/>
                </a:solidFill>
                <a:latin typeface="맑은 고딕"/>
                <a:ea typeface="맑은 고딕"/>
                <a:cs typeface="맑은 고딕"/>
              </a:rPr>
              <a:t>출석</a:t>
            </a:r>
          </a:p>
        </p:txBody>
      </p:sp>
      <p:sp>
        <p:nvSpPr>
          <p:cNvPr id="26" name="TextBox 25"/>
          <p:cNvSpPr txBox="1"/>
          <p:nvPr/>
        </p:nvSpPr>
        <p:spPr>
          <a:xfrm>
            <a:off x="9596700" y="2598938"/>
            <a:ext cx="722114" cy="225151"/>
          </a:xfrm>
          <a:prstGeom prst="rect">
            <a:avLst/>
          </a:prstGeom>
          <a:noFill/>
        </p:spPr>
        <p:txBody>
          <a:bodyPr wrap="none" lIns="0" rIns="0" tIns="0" bIns="0" anchor="ctr">
            <a:noAutofit/>
          </a:bodyPr>
          <a:lstStyle/>
          <a:p>
            <a:pPr algn="ctr">
              <a:lnSpc>
                <a:spcPts val="1251"/>
              </a:lnSpc>
            </a:pPr>
            <a:r>
              <a:rPr sz="1042" b="1">
                <a:solidFill>
                  <a:srgbClr val="FFFFFF"/>
                </a:solidFill>
                <a:latin typeface="Arial"/>
                <a:ea typeface="맑은 고딕"/>
                <a:cs typeface="맑은 고딕"/>
              </a:rPr>
              <a:t>20%</a:t>
            </a:r>
          </a:p>
        </p:txBody>
      </p:sp>
      <p:sp>
        <p:nvSpPr>
          <p:cNvPr id="27" name="TextBox 26"/>
          <p:cNvSpPr txBox="1"/>
          <p:nvPr/>
        </p:nvSpPr>
        <p:spPr>
          <a:xfrm>
            <a:off x="9735975" y="3968476"/>
            <a:ext cx="920353" cy="197007"/>
          </a:xfrm>
          <a:prstGeom prst="rect">
            <a:avLst/>
          </a:prstGeom>
          <a:noFill/>
        </p:spPr>
        <p:txBody>
          <a:bodyPr wrap="none" lIns="0" rIns="0" tIns="0" bIns="0" anchor="ctr">
            <a:noAutofit/>
          </a:bodyPr>
          <a:lstStyle/>
          <a:p>
            <a:pPr algn="ctr">
              <a:lnSpc>
                <a:spcPts val="1094"/>
              </a:lnSpc>
            </a:pPr>
            <a:r>
              <a:rPr sz="912" b="1">
                <a:solidFill>
                  <a:srgbClr val="FFFFFF"/>
                </a:solidFill>
                <a:latin typeface="맑은 고딕"/>
                <a:ea typeface="맑은 고딕"/>
                <a:cs typeface="맑은 고딕"/>
              </a:rPr>
              <a:t>중간시험</a:t>
            </a:r>
          </a:p>
        </p:txBody>
      </p:sp>
      <p:sp>
        <p:nvSpPr>
          <p:cNvPr id="28" name="TextBox 27"/>
          <p:cNvSpPr txBox="1"/>
          <p:nvPr/>
        </p:nvSpPr>
        <p:spPr>
          <a:xfrm>
            <a:off x="9835095" y="4102153"/>
            <a:ext cx="722114" cy="225151"/>
          </a:xfrm>
          <a:prstGeom prst="rect">
            <a:avLst/>
          </a:prstGeom>
          <a:noFill/>
        </p:spPr>
        <p:txBody>
          <a:bodyPr wrap="none" lIns="0" rIns="0" tIns="0" bIns="0" anchor="ctr">
            <a:noAutofit/>
          </a:bodyPr>
          <a:lstStyle/>
          <a:p>
            <a:pPr algn="ctr">
              <a:lnSpc>
                <a:spcPts val="1251"/>
              </a:lnSpc>
            </a:pPr>
            <a:r>
              <a:rPr sz="1042" b="1">
                <a:solidFill>
                  <a:srgbClr val="FFFFFF"/>
                </a:solidFill>
                <a:latin typeface="Arial"/>
                <a:ea typeface="맑은 고딕"/>
                <a:cs typeface="맑은 고딕"/>
              </a:rPr>
              <a:t>30%</a:t>
            </a:r>
          </a:p>
        </p:txBody>
      </p:sp>
      <p:sp>
        <p:nvSpPr>
          <p:cNvPr id="29" name="TextBox 28"/>
          <p:cNvSpPr txBox="1"/>
          <p:nvPr/>
        </p:nvSpPr>
        <p:spPr>
          <a:xfrm>
            <a:off x="7994365" y="3968476"/>
            <a:ext cx="920354" cy="197007"/>
          </a:xfrm>
          <a:prstGeom prst="rect">
            <a:avLst/>
          </a:prstGeom>
          <a:noFill/>
        </p:spPr>
        <p:txBody>
          <a:bodyPr wrap="none" lIns="0" rIns="0" tIns="0" bIns="0" anchor="ctr">
            <a:noAutofit/>
          </a:bodyPr>
          <a:lstStyle/>
          <a:p>
            <a:pPr algn="ctr">
              <a:lnSpc>
                <a:spcPts val="1094"/>
              </a:lnSpc>
            </a:pPr>
            <a:r>
              <a:rPr sz="912" b="1">
                <a:solidFill>
                  <a:srgbClr val="FFFFFF"/>
                </a:solidFill>
                <a:latin typeface="맑은 고딕"/>
                <a:ea typeface="맑은 고딕"/>
                <a:cs typeface="맑은 고딕"/>
              </a:rPr>
              <a:t>기말시험</a:t>
            </a:r>
          </a:p>
        </p:txBody>
      </p:sp>
      <p:sp>
        <p:nvSpPr>
          <p:cNvPr id="30" name="TextBox 29"/>
          <p:cNvSpPr txBox="1"/>
          <p:nvPr/>
        </p:nvSpPr>
        <p:spPr>
          <a:xfrm>
            <a:off x="8093484" y="4102153"/>
            <a:ext cx="722114" cy="225151"/>
          </a:xfrm>
          <a:prstGeom prst="rect">
            <a:avLst/>
          </a:prstGeom>
          <a:noFill/>
        </p:spPr>
        <p:txBody>
          <a:bodyPr wrap="none" lIns="0" rIns="0" tIns="0" bIns="0" anchor="ctr">
            <a:noAutofit/>
          </a:bodyPr>
          <a:lstStyle/>
          <a:p>
            <a:pPr algn="ctr">
              <a:lnSpc>
                <a:spcPts val="1251"/>
              </a:lnSpc>
            </a:pPr>
            <a:r>
              <a:rPr sz="1042" b="1">
                <a:solidFill>
                  <a:srgbClr val="FFFFFF"/>
                </a:solidFill>
                <a:latin typeface="Arial"/>
                <a:ea typeface="맑은 고딕"/>
                <a:cs typeface="맑은 고딕"/>
              </a:rPr>
              <a:t>30%</a:t>
            </a:r>
          </a:p>
        </p:txBody>
      </p:sp>
      <p:sp>
        <p:nvSpPr>
          <p:cNvPr id="31" name="TextBox 30"/>
          <p:cNvSpPr txBox="1"/>
          <p:nvPr/>
        </p:nvSpPr>
        <p:spPr>
          <a:xfrm>
            <a:off x="8274507" y="2341096"/>
            <a:ext cx="836861" cy="197007"/>
          </a:xfrm>
          <a:prstGeom prst="rect">
            <a:avLst/>
          </a:prstGeom>
          <a:noFill/>
        </p:spPr>
        <p:txBody>
          <a:bodyPr wrap="none" lIns="0" rIns="0" tIns="0" bIns="0" anchor="ctr">
            <a:noAutofit/>
          </a:bodyPr>
          <a:lstStyle/>
          <a:p>
            <a:pPr algn="ctr">
              <a:lnSpc>
                <a:spcPts val="1094"/>
              </a:lnSpc>
            </a:pPr>
            <a:r>
              <a:rPr sz="912" b="1">
                <a:solidFill>
                  <a:srgbClr val="FFFFFF"/>
                </a:solidFill>
                <a:latin typeface="맑은 고딕"/>
                <a:ea typeface="맑은 고딕"/>
                <a:cs typeface="맑은 고딕"/>
              </a:rPr>
              <a:t>과제물,</a:t>
            </a:r>
          </a:p>
        </p:txBody>
      </p:sp>
      <p:sp>
        <p:nvSpPr>
          <p:cNvPr id="32" name="TextBox 31"/>
          <p:cNvSpPr txBox="1"/>
          <p:nvPr/>
        </p:nvSpPr>
        <p:spPr>
          <a:xfrm>
            <a:off x="8232760" y="2498370"/>
            <a:ext cx="920353" cy="197007"/>
          </a:xfrm>
          <a:prstGeom prst="rect">
            <a:avLst/>
          </a:prstGeom>
          <a:noFill/>
        </p:spPr>
        <p:txBody>
          <a:bodyPr wrap="none" lIns="0" rIns="0" tIns="0" bIns="0" anchor="ctr">
            <a:noAutofit/>
          </a:bodyPr>
          <a:lstStyle/>
          <a:p>
            <a:pPr algn="ctr">
              <a:lnSpc>
                <a:spcPts val="1094"/>
              </a:lnSpc>
            </a:pPr>
            <a:r>
              <a:rPr sz="912" b="1">
                <a:solidFill>
                  <a:srgbClr val="FFFFFF"/>
                </a:solidFill>
                <a:latin typeface="맑은 고딕"/>
                <a:ea typeface="맑은 고딕"/>
                <a:cs typeface="맑은 고딕"/>
              </a:rPr>
              <a:t>수업태도</a:t>
            </a:r>
          </a:p>
        </p:txBody>
      </p:sp>
      <p:sp>
        <p:nvSpPr>
          <p:cNvPr id="33" name="TextBox 32"/>
          <p:cNvSpPr txBox="1"/>
          <p:nvPr/>
        </p:nvSpPr>
        <p:spPr>
          <a:xfrm>
            <a:off x="8331880" y="2632052"/>
            <a:ext cx="722115" cy="225151"/>
          </a:xfrm>
          <a:prstGeom prst="rect">
            <a:avLst/>
          </a:prstGeom>
          <a:noFill/>
        </p:spPr>
        <p:txBody>
          <a:bodyPr wrap="none" lIns="0" rIns="0" tIns="0" bIns="0" anchor="ctr">
            <a:noAutofit/>
          </a:bodyPr>
          <a:lstStyle/>
          <a:p>
            <a:pPr algn="ctr">
              <a:lnSpc>
                <a:spcPts val="1251"/>
              </a:lnSpc>
            </a:pPr>
            <a:r>
              <a:rPr sz="1042" b="1">
                <a:solidFill>
                  <a:srgbClr val="FFFFFF"/>
                </a:solidFill>
                <a:latin typeface="Arial"/>
                <a:ea typeface="맑은 고딕"/>
                <a:cs typeface="맑은 고딕"/>
              </a:rPr>
              <a:t>20%</a:t>
            </a:r>
          </a:p>
        </p:txBody>
      </p:sp>
      <p:sp>
        <p:nvSpPr>
          <p:cNvPr id="34" name="TextBox 33"/>
          <p:cNvSpPr txBox="1"/>
          <p:nvPr/>
        </p:nvSpPr>
        <p:spPr>
          <a:xfrm>
            <a:off x="8714839" y="3066771"/>
            <a:ext cx="1221016" cy="731741"/>
          </a:xfrm>
          <a:prstGeom prst="rect">
            <a:avLst/>
          </a:prstGeom>
          <a:noFill/>
        </p:spPr>
        <p:txBody>
          <a:bodyPr wrap="none" lIns="0" rIns="0" tIns="0" bIns="0" anchor="ctr">
            <a:noAutofit/>
          </a:bodyPr>
          <a:lstStyle/>
          <a:p>
            <a:pPr algn="ctr">
              <a:lnSpc>
                <a:spcPts val="4067"/>
              </a:lnSpc>
            </a:pPr>
            <a:r>
              <a:rPr sz="3389" b="1">
                <a:solidFill>
                  <a:srgbClr val="17365D"/>
                </a:solidFill>
                <a:latin typeface="Arial"/>
                <a:ea typeface="맑은 고딕"/>
                <a:cs typeface="맑은 고딕"/>
              </a:rPr>
              <a:t>100</a:t>
            </a:r>
          </a:p>
        </p:txBody>
      </p:sp>
      <p:sp>
        <p:nvSpPr>
          <p:cNvPr id="35" name="TextBox 34"/>
          <p:cNvSpPr txBox="1"/>
          <p:nvPr/>
        </p:nvSpPr>
        <p:spPr>
          <a:xfrm>
            <a:off x="8972773" y="3647096"/>
            <a:ext cx="705148" cy="211079"/>
          </a:xfrm>
          <a:prstGeom prst="rect">
            <a:avLst/>
          </a:prstGeom>
          <a:noFill/>
        </p:spPr>
        <p:txBody>
          <a:bodyPr wrap="none" lIns="0" rIns="0" tIns="0" bIns="0" anchor="ctr">
            <a:noAutofit/>
          </a:bodyPr>
          <a:lstStyle/>
          <a:p>
            <a:pPr algn="ctr">
              <a:lnSpc>
                <a:spcPts val="1173"/>
              </a:lnSpc>
            </a:pPr>
            <a:r>
              <a:rPr sz="977" b="1">
                <a:solidFill>
                  <a:srgbClr val="63666B"/>
                </a:solidFill>
                <a:latin typeface="맑은 고딕"/>
                <a:ea typeface="맑은 고딕"/>
                <a:cs typeface="맑은 고딕"/>
              </a:rPr>
              <a:t>총점</a:t>
            </a:r>
          </a:p>
        </p:txBody>
      </p:sp>
      <p:sp>
        <p:nvSpPr>
          <p:cNvPr id="36" name="Rectangle 35"/>
          <p:cNvSpPr/>
          <p:nvPr/>
        </p:nvSpPr>
        <p:spPr>
          <a:xfrm>
            <a:off x="419100" y="5776912"/>
            <a:ext cx="11353800" cy="5000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37" name="Connector 36"/>
          <p:cNvCxnSpPr/>
          <p:nvPr/>
        </p:nvCxnSpPr>
        <p:spPr>
          <a:xfrm>
            <a:off x="419100" y="5776912"/>
            <a:ext cx="113538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1772900" y="5776912"/>
            <a:ext cx="0" cy="500063"/>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19100" y="6276975"/>
            <a:ext cx="113538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19100" y="5776912"/>
            <a:ext cx="0" cy="500063"/>
          </a:xfrm>
          <a:prstGeom prst="line">
            <a:avLst/>
          </a:prstGeom>
          <a:ln w="66675">
            <a:solidFill>
              <a:srgbClr val="ED7D31"/>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28650" y="5814536"/>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42" name="TextBox 41"/>
          <p:cNvSpPr txBox="1"/>
          <p:nvPr/>
        </p:nvSpPr>
        <p:spPr>
          <a:xfrm>
            <a:off x="1019175" y="5846921"/>
            <a:ext cx="8376285" cy="364808"/>
          </a:xfrm>
          <a:prstGeom prst="rect">
            <a:avLst/>
          </a:prstGeom>
          <a:noFill/>
        </p:spPr>
        <p:txBody>
          <a:bodyPr wrap="none" anchor="ctr" lIns="0" rIns="0" tIns="0" bIns="0">
            <a:noAutofit/>
          </a:bodyPr>
          <a:lstStyle/>
          <a:p>
            <a:pPr algn="l">
              <a:lnSpc>
                <a:spcPts val="2137"/>
              </a:lnSpc>
              <a:spcBef>
                <a:spcPts val="0"/>
              </a:spcBef>
              <a:spcAft>
                <a:spcPts val="0"/>
              </a:spcAft>
            </a:pPr>
            <a:r>
              <a:rPr sz="1425" b="1">
                <a:solidFill>
                  <a:srgbClr val="005BAC"/>
                </a:solidFill>
                <a:latin typeface="맑은 고딕"/>
                <a:ea typeface="맑은 고딕"/>
                <a:cs typeface="맑은 고딕"/>
              </a:rPr>
              <a:t>취·창업 및 진로상담</a:t>
            </a:r>
            <a:r>
              <a:rPr sz="1425" b="0">
                <a:solidFill>
                  <a:srgbClr val="3B3838"/>
                </a:solidFill>
                <a:latin typeface="맑은 고딕"/>
                <a:ea typeface="맑은 고딕"/>
                <a:cs typeface="맑은 고딕"/>
              </a:rPr>
              <a:t> 참여는 과제물·수업태도 영역에 가산한다.</a:t>
            </a:r>
          </a:p>
        </p:txBody>
      </p:sp>
      <p:sp>
        <p:nvSpPr>
          <p:cNvPr id="43" name="TextBox 42"/>
          <p:cNvSpPr txBox="1"/>
          <p:nvPr/>
        </p:nvSpPr>
        <p:spPr>
          <a:xfrm>
            <a:off x="5846013" y="6506528"/>
            <a:ext cx="499824"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1319957" cy="323850"/>
          </a:xfrm>
          <a:prstGeom prst="rect">
            <a:avLst/>
          </a:prstGeom>
          <a:solidFill>
            <a:srgbClr val="002A55"/>
          </a:solidFill>
          <a:ln w="19050">
            <a:solidFill>
              <a:srgbClr val="FFF100"/>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609600" y="103346"/>
            <a:ext cx="536019" cy="364808"/>
          </a:xfrm>
          <a:prstGeom prst="rect">
            <a:avLst/>
          </a:prstGeom>
          <a:noFill/>
        </p:spPr>
        <p:txBody>
          <a:bodyPr wrap="none" anchor="ctr" lIns="0" rIns="0" tIns="0" bIns="0">
            <a:noAutofit/>
          </a:bodyPr>
          <a:lstStyle/>
          <a:p>
            <a:pPr algn="l">
              <a:lnSpc>
                <a:spcPts val="1425"/>
              </a:lnSpc>
              <a:spcBef>
                <a:spcPts val="0"/>
              </a:spcBef>
              <a:spcAft>
                <a:spcPts val="0"/>
              </a:spcAft>
            </a:pPr>
            <a:r>
              <a:rPr sz="1425" b="1" spc="-30">
                <a:solidFill>
                  <a:srgbClr val="FFF100"/>
                </a:solidFill>
                <a:latin typeface="Arial"/>
                <a:ea typeface="맑은 고딕"/>
                <a:cs typeface="맑은 고딕"/>
              </a:rPr>
              <a:t>2</a:t>
            </a:r>
          </a:p>
        </p:txBody>
      </p:sp>
      <p:sp>
        <p:nvSpPr>
          <p:cNvPr id="7" name="TextBox 6"/>
          <p:cNvSpPr txBox="1"/>
          <p:nvPr/>
        </p:nvSpPr>
        <p:spPr>
          <a:xfrm>
            <a:off x="801737" y="85725"/>
            <a:ext cx="1575911"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FFF"/>
                </a:solidFill>
                <a:latin typeface="맑은 고딕"/>
                <a:ea typeface="맑은 고딕"/>
                <a:cs typeface="맑은 고딕"/>
              </a:rPr>
              <a:t>성적평가</a:t>
            </a:r>
          </a:p>
        </p:txBody>
      </p:sp>
      <p:sp>
        <p:nvSpPr>
          <p:cNvPr id="8" name="TextBox 7"/>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9" name="Oval 8"/>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9100" y="866775"/>
            <a:ext cx="11353800" cy="5000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1" name="Connector 10"/>
          <p:cNvCxnSpPr/>
          <p:nvPr/>
        </p:nvCxnSpPr>
        <p:spPr>
          <a:xfrm>
            <a:off x="419100" y="866775"/>
            <a:ext cx="113538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772900" y="866775"/>
            <a:ext cx="0" cy="500063"/>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9100" y="1366838"/>
            <a:ext cx="113538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9100" y="866775"/>
            <a:ext cx="0" cy="500063"/>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8650" y="904399"/>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16" name="TextBox 15"/>
          <p:cNvSpPr txBox="1"/>
          <p:nvPr/>
        </p:nvSpPr>
        <p:spPr>
          <a:xfrm>
            <a:off x="1019175" y="936784"/>
            <a:ext cx="7057311" cy="364808"/>
          </a:xfrm>
          <a:prstGeom prst="rect">
            <a:avLst/>
          </a:prstGeom>
          <a:noFill/>
        </p:spPr>
        <p:txBody>
          <a:bodyPr wrap="none" anchor="ctr" lIns="0" rIns="0" tIns="0" bIns="0">
            <a:noAutofit/>
          </a:bodyPr>
          <a:lstStyle/>
          <a:p>
            <a:pPr algn="l">
              <a:lnSpc>
                <a:spcPts val="2137"/>
              </a:lnSpc>
              <a:spcBef>
                <a:spcPts val="0"/>
              </a:spcBef>
              <a:spcAft>
                <a:spcPts val="0"/>
              </a:spcAft>
            </a:pPr>
            <a:r>
              <a:rPr sz="1425" b="1">
                <a:solidFill>
                  <a:srgbClr val="005BAC"/>
                </a:solidFill>
                <a:latin typeface="맑은 고딕"/>
                <a:ea typeface="맑은 고딕"/>
                <a:cs typeface="맑은 고딕"/>
              </a:rPr>
              <a:t>출석 : 1. 전자출결(헤이영)</a:t>
            </a:r>
            <a:r>
              <a:rPr sz="1425" b="0">
                <a:solidFill>
                  <a:srgbClr val="3B3838"/>
                </a:solidFill>
                <a:latin typeface="맑은 고딕"/>
                <a:ea typeface="맑은 고딕"/>
                <a:cs typeface="맑은 고딕"/>
              </a:rPr>
              <a:t> — 유연한 출결 관리 불가</a:t>
            </a:r>
          </a:p>
        </p:txBody>
      </p:sp>
      <p:sp>
        <p:nvSpPr>
          <p:cNvPr id="17" name="TextBox 16"/>
          <p:cNvSpPr txBox="1"/>
          <p:nvPr/>
        </p:nvSpPr>
        <p:spPr>
          <a:xfrm>
            <a:off x="419100" y="1801654"/>
            <a:ext cx="2054781" cy="397192"/>
          </a:xfrm>
          <a:prstGeom prst="rect">
            <a:avLst/>
          </a:prstGeom>
          <a:noFill/>
        </p:spPr>
        <p:txBody>
          <a:bodyPr wrap="none" anchor="ctr" lIns="0" rIns="0" tIns="0" bIns="0">
            <a:noAutofit/>
          </a:bodyPr>
          <a:lstStyle/>
          <a:p>
            <a:pPr algn="l">
              <a:lnSpc>
                <a:spcPts val="2362"/>
              </a:lnSpc>
              <a:spcBef>
                <a:spcPts val="0"/>
              </a:spcBef>
              <a:spcAft>
                <a:spcPts val="0"/>
              </a:spcAft>
            </a:pPr>
            <a:r>
              <a:rPr sz="1575" b="1" spc="-32">
                <a:solidFill>
                  <a:srgbClr val="005BAC"/>
                </a:solidFill>
                <a:latin typeface="맑은 고딕"/>
                <a:ea typeface="맑은 고딕"/>
                <a:cs typeface="맑은 고딕"/>
              </a:rPr>
              <a:t>2. 공결 기준</a:t>
            </a:r>
          </a:p>
        </p:txBody>
      </p:sp>
      <p:sp>
        <p:nvSpPr>
          <p:cNvPr id="18" name="TextBox 17"/>
          <p:cNvSpPr txBox="1"/>
          <p:nvPr/>
        </p:nvSpPr>
        <p:spPr>
          <a:xfrm>
            <a:off x="1541413" y="1882140"/>
            <a:ext cx="3619500" cy="283845"/>
          </a:xfrm>
          <a:prstGeom prst="rect">
            <a:avLst/>
          </a:prstGeom>
          <a:noFill/>
        </p:spPr>
        <p:txBody>
          <a:bodyPr wrap="none" anchor="ctr" lIns="0" rIns="0" tIns="0" bIns="0">
            <a:noAutofit/>
          </a:bodyPr>
          <a:lstStyle/>
          <a:p>
            <a:pPr algn="l">
              <a:lnSpc>
                <a:spcPts val="1575"/>
              </a:lnSpc>
              <a:spcBef>
                <a:spcPts val="0"/>
              </a:spcBef>
              <a:spcAft>
                <a:spcPts val="0"/>
              </a:spcAft>
            </a:pPr>
            <a:r>
              <a:rPr sz="1050" b="1" spc="-32">
                <a:solidFill>
                  <a:srgbClr val="8A8F96"/>
                </a:solidFill>
                <a:latin typeface="맑은 고딕"/>
                <a:ea typeface="맑은 고딕"/>
                <a:cs typeface="맑은 고딕"/>
              </a:rPr>
              <a:t>* 자세한 내용은 학교 홈페이지 참조</a:t>
            </a:r>
          </a:p>
        </p:txBody>
      </p:sp>
      <p:sp>
        <p:nvSpPr>
          <p:cNvPr id="19" name="TextBox 18"/>
          <p:cNvSpPr txBox="1"/>
          <p:nvPr/>
        </p:nvSpPr>
        <p:spPr>
          <a:xfrm>
            <a:off x="190500" y="2396490"/>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20" name="TextBox 19"/>
          <p:cNvSpPr txBox="1"/>
          <p:nvPr/>
        </p:nvSpPr>
        <p:spPr>
          <a:xfrm>
            <a:off x="676275" y="2397442"/>
            <a:ext cx="9433560"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국가에서 부과한 의무를 이행한 경우 (예: 병무 관련 신체검사, 예비군 훈련)</a:t>
            </a:r>
          </a:p>
        </p:txBody>
      </p:sp>
      <p:sp>
        <p:nvSpPr>
          <p:cNvPr id="21" name="TextBox 20"/>
          <p:cNvSpPr txBox="1"/>
          <p:nvPr/>
        </p:nvSpPr>
        <p:spPr>
          <a:xfrm>
            <a:off x="190500" y="2721233"/>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22" name="TextBox 21"/>
          <p:cNvSpPr txBox="1"/>
          <p:nvPr/>
        </p:nvSpPr>
        <p:spPr>
          <a:xfrm>
            <a:off x="676275" y="2722185"/>
            <a:ext cx="792503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총장이 인정한 국제 또는 국내 행사나 각종 대회에 참가한 경우</a:t>
            </a:r>
          </a:p>
        </p:txBody>
      </p:sp>
      <p:sp>
        <p:nvSpPr>
          <p:cNvPr id="23" name="TextBox 22"/>
          <p:cNvSpPr txBox="1"/>
          <p:nvPr/>
        </p:nvSpPr>
        <p:spPr>
          <a:xfrm>
            <a:off x="190500" y="3045976"/>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24" name="TextBox 23"/>
          <p:cNvSpPr txBox="1"/>
          <p:nvPr/>
        </p:nvSpPr>
        <p:spPr>
          <a:xfrm>
            <a:off x="676275" y="3046928"/>
            <a:ext cx="597431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정부기관의 요청에 의한 특별회합 참가의 경우</a:t>
            </a:r>
          </a:p>
        </p:txBody>
      </p:sp>
      <p:sp>
        <p:nvSpPr>
          <p:cNvPr id="25" name="TextBox 24"/>
          <p:cNvSpPr txBox="1"/>
          <p:nvPr/>
        </p:nvSpPr>
        <p:spPr>
          <a:xfrm>
            <a:off x="190500" y="3370719"/>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26" name="TextBox 25"/>
          <p:cNvSpPr txBox="1"/>
          <p:nvPr/>
        </p:nvSpPr>
        <p:spPr>
          <a:xfrm>
            <a:off x="676275" y="3371671"/>
            <a:ext cx="210335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경조사의 경우</a:t>
            </a:r>
          </a:p>
        </p:txBody>
      </p:sp>
      <p:sp>
        <p:nvSpPr>
          <p:cNvPr id="27" name="TextBox 26"/>
          <p:cNvSpPr txBox="1"/>
          <p:nvPr/>
        </p:nvSpPr>
        <p:spPr>
          <a:xfrm>
            <a:off x="190500" y="3695462"/>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28" name="TextBox 27"/>
          <p:cNvSpPr txBox="1"/>
          <p:nvPr/>
        </p:nvSpPr>
        <p:spPr>
          <a:xfrm>
            <a:off x="676275" y="3696414"/>
            <a:ext cx="1088159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본인 질병(입원) 및 감염병의 예방 및 관리에 관한 법률에 따라 격리 수용이 필요한 경우</a:t>
            </a:r>
          </a:p>
        </p:txBody>
      </p:sp>
      <p:sp>
        <p:nvSpPr>
          <p:cNvPr id="29" name="TextBox 28"/>
          <p:cNvSpPr txBox="1"/>
          <p:nvPr/>
        </p:nvSpPr>
        <p:spPr>
          <a:xfrm>
            <a:off x="190500" y="4020205"/>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30" name="TextBox 29"/>
          <p:cNvSpPr txBox="1"/>
          <p:nvPr/>
        </p:nvSpPr>
        <p:spPr>
          <a:xfrm>
            <a:off x="676275" y="4021157"/>
            <a:ext cx="368831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단순질병 (</a:t>
            </a:r>
            <a:r>
              <a:rPr sz="1350" b="1">
                <a:solidFill>
                  <a:srgbClr val="C00000"/>
                </a:solidFill>
                <a:latin typeface="맑은 고딕"/>
                <a:ea typeface="맑은 고딕"/>
                <a:cs typeface="맑은 고딕"/>
              </a:rPr>
              <a:t>1회만 인정 가능</a:t>
            </a:r>
            <a:r>
              <a:rPr sz="1350" b="0">
                <a:solidFill>
                  <a:srgbClr val="3B3838"/>
                </a:solidFill>
                <a:latin typeface="맑은 고딕"/>
                <a:ea typeface="맑은 고딕"/>
                <a:cs typeface="맑은 고딕"/>
              </a:rPr>
              <a:t>)</a:t>
            </a:r>
          </a:p>
        </p:txBody>
      </p:sp>
      <p:sp>
        <p:nvSpPr>
          <p:cNvPr id="31" name="Rectangle 30"/>
          <p:cNvSpPr/>
          <p:nvPr/>
        </p:nvSpPr>
        <p:spPr>
          <a:xfrm>
            <a:off x="419100" y="4586883"/>
            <a:ext cx="5562600" cy="5000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32" name="Connector 31"/>
          <p:cNvCxnSpPr/>
          <p:nvPr/>
        </p:nvCxnSpPr>
        <p:spPr>
          <a:xfrm>
            <a:off x="419100" y="4586883"/>
            <a:ext cx="55626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81700" y="4586883"/>
            <a:ext cx="0" cy="500062"/>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19100" y="5086945"/>
            <a:ext cx="55626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19100" y="4586883"/>
            <a:ext cx="0" cy="500062"/>
          </a:xfrm>
          <a:prstGeom prst="line">
            <a:avLst/>
          </a:prstGeom>
          <a:ln w="66675">
            <a:solidFill>
              <a:srgbClr val="ED7D31"/>
            </a:solidFill>
          </a:ln>
          <a:effectLst/>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28650" y="4624507"/>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37" name="TextBox 36"/>
          <p:cNvSpPr txBox="1"/>
          <p:nvPr/>
        </p:nvSpPr>
        <p:spPr>
          <a:xfrm>
            <a:off x="1019175" y="4656892"/>
            <a:ext cx="5898833" cy="364808"/>
          </a:xfrm>
          <a:prstGeom prst="rect">
            <a:avLst/>
          </a:prstGeom>
          <a:noFill/>
        </p:spPr>
        <p:txBody>
          <a:bodyPr wrap="none" anchor="ctr" lIns="0" rIns="0" tIns="0" bIns="0">
            <a:noAutofit/>
          </a:bodyPr>
          <a:lstStyle/>
          <a:p>
            <a:pPr algn="l">
              <a:lnSpc>
                <a:spcPts val="2137"/>
              </a:lnSpc>
              <a:spcBef>
                <a:spcPts val="0"/>
              </a:spcBef>
              <a:spcAft>
                <a:spcPts val="0"/>
              </a:spcAft>
            </a:pPr>
            <a:r>
              <a:rPr sz="1425" b="0">
                <a:solidFill>
                  <a:srgbClr val="3B3838"/>
                </a:solidFill>
                <a:latin typeface="맑은 고딕"/>
                <a:ea typeface="맑은 고딕"/>
                <a:cs typeface="맑은 고딕"/>
              </a:rPr>
              <a:t>취업 관련 면접(</a:t>
            </a:r>
            <a:r>
              <a:rPr sz="1425" b="1">
                <a:solidFill>
                  <a:srgbClr val="005BAC"/>
                </a:solidFill>
                <a:latin typeface="맑은 고딕"/>
                <a:ea typeface="맑은 고딕"/>
                <a:cs typeface="맑은 고딕"/>
              </a:rPr>
              <a:t>면접확인서 필수</a:t>
            </a:r>
            <a:r>
              <a:rPr sz="1425" b="0">
                <a:solidFill>
                  <a:srgbClr val="3B3838"/>
                </a:solidFill>
                <a:latin typeface="맑은 고딕"/>
                <a:ea typeface="맑은 고딕"/>
                <a:cs typeface="맑은 고딕"/>
              </a:rPr>
              <a:t>)은 인정함.</a:t>
            </a:r>
          </a:p>
        </p:txBody>
      </p:sp>
      <p:sp>
        <p:nvSpPr>
          <p:cNvPr id="38" name="Rectangle 37"/>
          <p:cNvSpPr/>
          <p:nvPr/>
        </p:nvSpPr>
        <p:spPr>
          <a:xfrm>
            <a:off x="6210300" y="4586883"/>
            <a:ext cx="5562600" cy="77152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39" name="Connector 38"/>
          <p:cNvCxnSpPr/>
          <p:nvPr/>
        </p:nvCxnSpPr>
        <p:spPr>
          <a:xfrm>
            <a:off x="6210300" y="4586883"/>
            <a:ext cx="55626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1772900" y="4586883"/>
            <a:ext cx="0" cy="771525"/>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210300" y="5358408"/>
            <a:ext cx="55626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210300" y="4586883"/>
            <a:ext cx="0" cy="771525"/>
          </a:xfrm>
          <a:prstGeom prst="line">
            <a:avLst/>
          </a:prstGeom>
          <a:ln w="66675">
            <a:solidFill>
              <a:srgbClr val="C00000"/>
            </a:solidFill>
          </a:ln>
          <a:effectLst/>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419850" y="4624507"/>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44" name="TextBox 43"/>
          <p:cNvSpPr txBox="1"/>
          <p:nvPr/>
        </p:nvSpPr>
        <p:spPr>
          <a:xfrm>
            <a:off x="6810375" y="4710708"/>
            <a:ext cx="4800600" cy="571500"/>
          </a:xfrm>
          <a:prstGeom prst="rect">
            <a:avLst/>
          </a:prstGeom>
          <a:noFill/>
        </p:spPr>
        <p:txBody>
          <a:bodyPr wrap="square" anchor="t" lIns="0" rIns="0" tIns="0" bIns="0">
            <a:noAutofit/>
          </a:bodyPr>
          <a:lstStyle/>
          <a:p>
            <a:pPr algn="l">
              <a:lnSpc>
                <a:spcPts val="2137"/>
              </a:lnSpc>
              <a:spcBef>
                <a:spcPts val="0"/>
              </a:spcBef>
              <a:spcAft>
                <a:spcPts val="0"/>
              </a:spcAft>
            </a:pPr>
            <a:r>
              <a:rPr sz="1425" b="1">
                <a:solidFill>
                  <a:srgbClr val="C00000"/>
                </a:solidFill>
                <a:latin typeface="맑은 고딕"/>
                <a:ea typeface="맑은 고딕"/>
                <a:cs typeface="맑은 고딕"/>
              </a:rPr>
              <a:t>¼ 결석자 학점 미취득 (F, 1주차 포함)</a:t>
            </a:r>
            <a:r>
              <a:rPr sz="1425" b="0">
                <a:solidFill>
                  <a:srgbClr val="3B3838"/>
                </a:solidFill>
                <a:latin typeface="맑은 고딕"/>
                <a:ea typeface="맑은 고딕"/>
                <a:cs typeface="맑은 고딕"/>
              </a:rPr>
              <a:t/>
            </a:r>
          </a:p>
          <a:p>
            <a:pPr algn="l">
              <a:lnSpc>
                <a:spcPts val="2137"/>
              </a:lnSpc>
              <a:spcBef>
                <a:spcPts val="0"/>
              </a:spcBef>
              <a:spcAft>
                <a:spcPts val="0"/>
              </a:spcAft>
            </a:pPr>
            <a:r>
              <a:rPr sz="1425" b="0">
                <a:solidFill>
                  <a:srgbClr val="3B3838"/>
                </a:solidFill>
                <a:latin typeface="맑은 고딕"/>
                <a:ea typeface="맑은 고딕"/>
                <a:cs typeface="맑은 고딕"/>
              </a:rPr>
              <a:t/>
            </a:r>
            <a:r>
              <a:rPr sz="1425" b="0">
                <a:solidFill>
                  <a:srgbClr val="3B3838"/>
                </a:solidFill>
                <a:latin typeface="맑은 고딕"/>
                <a:ea typeface="맑은 고딕"/>
                <a:cs typeface="맑은 고딕"/>
              </a:rPr>
              <a:t>진단서 </a:t>
            </a:r>
            <a:r>
              <a:rPr sz="1425" b="1">
                <a:solidFill>
                  <a:srgbClr val="005BAC"/>
                </a:solidFill>
                <a:latin typeface="맑은 고딕"/>
                <a:ea typeface="맑은 고딕"/>
                <a:cs typeface="맑은 고딕"/>
              </a:rPr>
              <a:t>1주 이내 제출</a:t>
            </a:r>
            <a:r>
              <a:rPr sz="1425" b="0">
                <a:solidFill>
                  <a:srgbClr val="3B3838"/>
                </a:solidFill>
                <a:latin typeface="맑은 고딕"/>
                <a:ea typeface="맑은 고딕"/>
                <a:cs typeface="맑은 고딕"/>
              </a:rPr>
              <a:t>만 유효</a:t>
            </a:r>
          </a:p>
        </p:txBody>
      </p:sp>
      <p:sp>
        <p:nvSpPr>
          <p:cNvPr id="45" name="TextBox 44"/>
          <p:cNvSpPr txBox="1"/>
          <p:nvPr/>
        </p:nvSpPr>
        <p:spPr>
          <a:xfrm>
            <a:off x="5786720" y="6506528"/>
            <a:ext cx="618411"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band.jpg"/>
          <p:cNvPicPr>
            <a:picLocks noChangeAspect="1"/>
          </p:cNvPicPr>
          <p:nvPr/>
        </p:nvPicPr>
        <p:blipFill>
          <a:blip r:embed="rId2"/>
          <a:stretch>
            <a:fillRect/>
          </a:stretch>
        </p:blipFill>
        <p:spPr>
          <a:xfrm>
            <a:off x="0" y="0"/>
            <a:ext cx="12192000" cy="3566071"/>
          </a:xfrm>
          <a:prstGeom prst="rect">
            <a:avLst/>
          </a:prstGeom>
        </p:spPr>
      </p:pic>
      <p:sp>
        <p:nvSpPr>
          <p:cNvPr id="4" name="Rectangle 3"/>
          <p:cNvSpPr/>
          <p:nvPr/>
        </p:nvSpPr>
        <p:spPr>
          <a:xfrm>
            <a:off x="0" y="3547021"/>
            <a:ext cx="7071360" cy="38100"/>
          </a:xfrm>
          <a:prstGeom prst="rect">
            <a:avLst/>
          </a:prstGeom>
          <a:ln>
            <a:noFill/>
          </a:ln>
          <a:effectLst/>
          <a:gradFill rotWithShape="1">
            <a:gsLst>
              <a:gs pos="0">
                <a:srgbClr val="005BAC"/>
              </a:gs>
              <a:gs pos="100000">
                <a:srgbClr val="005BAC">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0" y="3623221"/>
            <a:ext cx="4876800" cy="38100"/>
          </a:xfrm>
          <a:prstGeom prst="rect">
            <a:avLst/>
          </a:prstGeom>
          <a:ln>
            <a:noFill/>
          </a:ln>
          <a:effectLst/>
          <a:gradFill rotWithShape="1">
            <a:gsLst>
              <a:gs pos="0">
                <a:srgbClr val="0071CE"/>
              </a:gs>
              <a:gs pos="100000">
                <a:srgbClr val="0071CE">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0" y="3699421"/>
            <a:ext cx="3413760" cy="38100"/>
          </a:xfrm>
          <a:prstGeom prst="rect">
            <a:avLst/>
          </a:prstGeom>
          <a:ln>
            <a:noFill/>
          </a:ln>
          <a:effectLst/>
          <a:gradFill rotWithShape="1">
            <a:gsLst>
              <a:gs pos="0">
                <a:srgbClr val="4BA3E3"/>
              </a:gs>
              <a:gs pos="100000">
                <a:srgbClr val="4BA3E3">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247650" y="3032671"/>
            <a:ext cx="1066800" cy="1066800"/>
          </a:xfrm>
          <a:prstGeom prst="ellipse">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rot="1873891">
            <a:off x="277468" y="2897338"/>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C</a:t>
            </a:r>
          </a:p>
        </p:txBody>
      </p:sp>
      <p:sp>
        <p:nvSpPr>
          <p:cNvPr id="9" name="TextBox 8"/>
          <p:cNvSpPr txBox="1"/>
          <p:nvPr/>
        </p:nvSpPr>
        <p:spPr>
          <a:xfrm rot="2597530">
            <a:off x="385778" y="2979733"/>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H</a:t>
            </a:r>
          </a:p>
        </p:txBody>
      </p:sp>
      <p:sp>
        <p:nvSpPr>
          <p:cNvPr id="10" name="TextBox 9"/>
          <p:cNvSpPr txBox="1"/>
          <p:nvPr/>
        </p:nvSpPr>
        <p:spPr>
          <a:xfrm rot="3289047">
            <a:off x="471016" y="3077979"/>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A</a:t>
            </a:r>
          </a:p>
        </p:txBody>
      </p:sp>
      <p:sp>
        <p:nvSpPr>
          <p:cNvPr id="11" name="TextBox 10"/>
          <p:cNvSpPr txBox="1"/>
          <p:nvPr/>
        </p:nvSpPr>
        <p:spPr>
          <a:xfrm rot="3979591">
            <a:off x="534833" y="3191105"/>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P</a:t>
            </a:r>
          </a:p>
        </p:txBody>
      </p:sp>
      <p:sp>
        <p:nvSpPr>
          <p:cNvPr id="12" name="TextBox 11"/>
          <p:cNvSpPr txBox="1"/>
          <p:nvPr/>
        </p:nvSpPr>
        <p:spPr>
          <a:xfrm rot="4647428">
            <a:off x="573879" y="3310511"/>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T</a:t>
            </a:r>
          </a:p>
        </p:txBody>
      </p:sp>
      <p:sp>
        <p:nvSpPr>
          <p:cNvPr id="13" name="TextBox 12"/>
          <p:cNvSpPr txBox="1"/>
          <p:nvPr/>
        </p:nvSpPr>
        <p:spPr>
          <a:xfrm rot="5322137">
            <a:off x="589171" y="3436504"/>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E</a:t>
            </a:r>
          </a:p>
        </p:txBody>
      </p:sp>
      <p:sp>
        <p:nvSpPr>
          <p:cNvPr id="14" name="TextBox 13"/>
          <p:cNvSpPr txBox="1"/>
          <p:nvPr/>
        </p:nvSpPr>
        <p:spPr>
          <a:xfrm rot="6029545">
            <a:off x="578507" y="3569122"/>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R</a:t>
            </a:r>
          </a:p>
        </p:txBody>
      </p:sp>
      <p:sp>
        <p:nvSpPr>
          <p:cNvPr id="15" name="TextBox 14"/>
          <p:cNvSpPr txBox="1"/>
          <p:nvPr/>
        </p:nvSpPr>
        <p:spPr>
          <a:xfrm>
            <a:off x="-43532" y="3267938"/>
            <a:ext cx="658564" cy="615315"/>
          </a:xfrm>
          <a:prstGeom prst="rect">
            <a:avLst/>
          </a:prstGeom>
          <a:noFill/>
        </p:spPr>
        <p:txBody>
          <a:bodyPr wrap="none" lIns="0" rIns="0" tIns="0" bIns="0" anchor="ctr">
            <a:noAutofit/>
          </a:bodyPr>
          <a:lstStyle/>
          <a:p>
            <a:pPr algn="ctr">
              <a:lnSpc>
                <a:spcPts val="3420"/>
              </a:lnSpc>
            </a:pPr>
            <a:r>
              <a:rPr sz="2850" b="1">
                <a:solidFill>
                  <a:srgbClr val="17365D"/>
                </a:solidFill>
                <a:latin typeface="Arial"/>
                <a:ea typeface="맑은 고딕"/>
                <a:cs typeface="맑은 고딕"/>
              </a:rPr>
              <a:t>3</a:t>
            </a:r>
          </a:p>
        </p:txBody>
      </p:sp>
      <p:sp>
        <p:nvSpPr>
          <p:cNvPr id="16" name="TextBox 15"/>
          <p:cNvSpPr txBox="1"/>
          <p:nvPr/>
        </p:nvSpPr>
        <p:spPr>
          <a:xfrm>
            <a:off x="6601777" y="4067651"/>
            <a:ext cx="5171123" cy="737235"/>
          </a:xfrm>
          <a:prstGeom prst="rect">
            <a:avLst/>
          </a:prstGeom>
          <a:noFill/>
        </p:spPr>
        <p:txBody>
          <a:bodyPr wrap="none" anchor="ctr" lIns="0" rIns="0" tIns="0" bIns="0">
            <a:noAutofit/>
          </a:bodyPr>
          <a:lstStyle/>
          <a:p>
            <a:pPr algn="r">
              <a:lnSpc>
                <a:spcPts val="4725"/>
              </a:lnSpc>
              <a:spcBef>
                <a:spcPts val="0"/>
              </a:spcBef>
              <a:spcAft>
                <a:spcPts val="0"/>
              </a:spcAft>
            </a:pPr>
            <a:r>
              <a:rPr sz="3150" b="1" spc="-110">
                <a:solidFill>
                  <a:srgbClr val="17365D"/>
                </a:solidFill>
                <a:latin typeface="맑은 고딕"/>
                <a:ea typeface="맑은 고딕"/>
                <a:cs typeface="맑은 고딕"/>
              </a:rPr>
              <a:t>주차 별 강의 계획</a:t>
            </a:r>
          </a:p>
        </p:txBody>
      </p:sp>
      <p:sp>
        <p:nvSpPr>
          <p:cNvPr id="17" name="TextBox 16"/>
          <p:cNvSpPr txBox="1"/>
          <p:nvPr/>
        </p:nvSpPr>
        <p:spPr>
          <a:xfrm>
            <a:off x="3822621" y="4632871"/>
            <a:ext cx="7950279" cy="381000"/>
          </a:xfrm>
          <a:prstGeom prst="rect">
            <a:avLst/>
          </a:prstGeom>
          <a:noFill/>
        </p:spPr>
        <p:txBody>
          <a:bodyPr wrap="none" anchor="ctr" lIns="0" rIns="0" tIns="0" bIns="0">
            <a:noAutofit/>
          </a:bodyPr>
          <a:lstStyle/>
          <a:p>
            <a:pPr algn="r">
              <a:lnSpc>
                <a:spcPts val="2250"/>
              </a:lnSpc>
              <a:spcBef>
                <a:spcPts val="0"/>
              </a:spcBef>
              <a:spcAft>
                <a:spcPts val="0"/>
              </a:spcAft>
            </a:pPr>
            <a:r>
              <a:rPr sz="1500" b="1">
                <a:solidFill>
                  <a:srgbClr val="63666B"/>
                </a:solidFill>
                <a:latin typeface="맑은 고딕"/>
                <a:ea typeface="맑은 고딕"/>
                <a:cs typeface="맑은 고딕"/>
              </a:rPr>
              <a:t>주차 별 강의 계획을 통해 한 학기 교수-학습의 흐름 파악</a:t>
            </a:r>
          </a:p>
        </p:txBody>
      </p:sp>
      <p:sp>
        <p:nvSpPr>
          <p:cNvPr id="18" name="TextBox 17"/>
          <p:cNvSpPr txBox="1"/>
          <p:nvPr/>
        </p:nvSpPr>
        <p:spPr>
          <a:xfrm>
            <a:off x="10846296" y="5971222"/>
            <a:ext cx="1863566" cy="802005"/>
          </a:xfrm>
          <a:prstGeom prst="rect">
            <a:avLst/>
          </a:prstGeom>
          <a:noFill/>
        </p:spPr>
        <p:txBody>
          <a:bodyPr wrap="none" anchor="ctr" lIns="0" rIns="0" tIns="0" bIns="0">
            <a:noAutofit/>
          </a:bodyPr>
          <a:lstStyle/>
          <a:p>
            <a:pPr algn="l">
              <a:lnSpc>
                <a:spcPts val="3450"/>
              </a:lnSpc>
              <a:spcBef>
                <a:spcPts val="0"/>
              </a:spcBef>
              <a:spcAft>
                <a:spcPts val="0"/>
              </a:spcAft>
            </a:pPr>
            <a:r>
              <a:rPr sz="3450" b="1" spc="-190">
                <a:solidFill>
                  <a:srgbClr val="17365D"/>
                </a:solidFill>
                <a:latin typeface="Arial"/>
                <a:ea typeface="맑은 고딕"/>
                <a:cs typeface="맑은 고딕"/>
              </a:rPr>
              <a:t>dima</a:t>
            </a:r>
          </a:p>
        </p:txBody>
      </p:sp>
      <p:sp>
        <p:nvSpPr>
          <p:cNvPr id="19" name="Oval 18"/>
          <p:cNvSpPr/>
          <p:nvPr/>
        </p:nvSpPr>
        <p:spPr>
          <a:xfrm>
            <a:off x="11097194" y="6001131"/>
            <a:ext cx="83248" cy="83248"/>
          </a:xfrm>
          <a:prstGeom prst="ellipse">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2027337" cy="323850"/>
          </a:xfrm>
          <a:prstGeom prst="rect">
            <a:avLst/>
          </a:prstGeom>
          <a:solidFill>
            <a:srgbClr val="002A55"/>
          </a:solidFill>
          <a:ln w="19050">
            <a:solidFill>
              <a:srgbClr val="FFF100"/>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609600" y="103346"/>
            <a:ext cx="536019" cy="364808"/>
          </a:xfrm>
          <a:prstGeom prst="rect">
            <a:avLst/>
          </a:prstGeom>
          <a:noFill/>
        </p:spPr>
        <p:txBody>
          <a:bodyPr wrap="none" anchor="ctr" lIns="0" rIns="0" tIns="0" bIns="0">
            <a:noAutofit/>
          </a:bodyPr>
          <a:lstStyle/>
          <a:p>
            <a:pPr algn="l">
              <a:lnSpc>
                <a:spcPts val="1425"/>
              </a:lnSpc>
              <a:spcBef>
                <a:spcPts val="0"/>
              </a:spcBef>
              <a:spcAft>
                <a:spcPts val="0"/>
              </a:spcAft>
            </a:pPr>
            <a:r>
              <a:rPr sz="1425" b="1" spc="-30">
                <a:solidFill>
                  <a:srgbClr val="FFF100"/>
                </a:solidFill>
                <a:latin typeface="Arial"/>
                <a:ea typeface="맑은 고딕"/>
                <a:cs typeface="맑은 고딕"/>
              </a:rPr>
              <a:t>3</a:t>
            </a:r>
          </a:p>
        </p:txBody>
      </p:sp>
      <p:sp>
        <p:nvSpPr>
          <p:cNvPr id="7" name="TextBox 6"/>
          <p:cNvSpPr txBox="1"/>
          <p:nvPr/>
        </p:nvSpPr>
        <p:spPr>
          <a:xfrm>
            <a:off x="801737" y="85725"/>
            <a:ext cx="2707719"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FFF"/>
                </a:solidFill>
                <a:latin typeface="맑은 고딕"/>
                <a:ea typeface="맑은 고딕"/>
                <a:cs typeface="맑은 고딕"/>
              </a:rPr>
              <a:t>주차 별 강의 계획</a:t>
            </a:r>
          </a:p>
        </p:txBody>
      </p:sp>
      <p:sp>
        <p:nvSpPr>
          <p:cNvPr id="8" name="TextBox 7"/>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9" name="Oval 8"/>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100" y="852071"/>
            <a:ext cx="5908834"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51">
                <a:solidFill>
                  <a:srgbClr val="17365D"/>
                </a:solidFill>
                <a:latin typeface="맑은 고딕"/>
                <a:ea typeface="맑은 고딕"/>
                <a:cs typeface="맑은 고딕"/>
              </a:rPr>
              <a:t>강의계획서에 따라 진행합니다.</a:t>
            </a:r>
          </a:p>
        </p:txBody>
      </p:sp>
      <p:graphicFrame>
        <p:nvGraphicFramePr>
          <p:cNvPr id="11" name="Table 10"/>
          <p:cNvGraphicFramePr>
            <a:graphicFrameLocks noGrp="1"/>
          </p:cNvGraphicFramePr>
          <p:nvPr/>
        </p:nvGraphicFramePr>
        <p:xfrm>
          <a:off x="419100" y="1593652"/>
          <a:ext cx="11344275" cy="4108095"/>
        </p:xfrm>
        <a:graphic>
          <a:graphicData uri="http://schemas.openxmlformats.org/drawingml/2006/table">
            <a:tbl>
              <a:tblPr>
                <a:tableStyleId>{5C22544A-7EE6-4342-B048-85BDC9FD1C3A}</a:tableStyleId>
              </a:tblPr>
              <a:tblGrid>
                <a:gridCol w="7260282"/>
                <a:gridCol w="4083993"/>
              </a:tblGrid>
              <a:tr h="321915">
                <a:tc>
                  <a:txBody>
                    <a:bodyPr wrap="square"/>
                    <a:lstStyle/>
                    <a:p>
                      <a:pPr algn="ctr">
                        <a:lnSpc>
                          <a:spcPts val="1560"/>
                        </a:lnSpc>
                      </a:pPr>
                      <a:r>
                        <a:rPr sz="1200" b="1">
                          <a:solidFill>
                            <a:srgbClr val="17365D"/>
                          </a:solidFill>
                          <a:latin typeface="맑은 고딕"/>
                          <a:ea typeface="맑은 고딕"/>
                          <a:cs typeface="맑은 고딕"/>
                        </a:rPr>
                        <a:t>주차 별 강의 주제</a:t>
                      </a:r>
                    </a:p>
                  </a:txBody>
                  <a:tcPr marL="95250" marR="95250" marT="28575" marB="28575" anchor="ctr">
                    <a:solidFill>
                      <a:srgbClr val="DEEBF7"/>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ctr">
                        <a:lnSpc>
                          <a:spcPts val="1560"/>
                        </a:lnSpc>
                      </a:pPr>
                      <a:r>
                        <a:rPr sz="1200" b="1">
                          <a:solidFill>
                            <a:srgbClr val="17365D"/>
                          </a:solidFill>
                          <a:latin typeface="맑은 고딕"/>
                          <a:ea typeface="맑은 고딕"/>
                          <a:cs typeface="맑은 고딕"/>
                        </a:rPr>
                        <a:t>과제물</a:t>
                      </a:r>
                    </a:p>
                  </a:txBody>
                  <a:tcPr marL="95250" marR="95250" marT="28575" marB="28575" anchor="ctr">
                    <a:solidFill>
                      <a:srgbClr val="DEEBF7"/>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1">
                          <a:solidFill>
                            <a:srgbClr val="3B3838"/>
                          </a:solidFill>
                          <a:latin typeface="맑은 고딕"/>
                          <a:ea typeface="맑은 고딕"/>
                          <a:cs typeface="맑은 고딕"/>
                        </a:rPr>
                        <a:t>1. 오리엔테이션 / 진로준비도검사</a:t>
                      </a:r>
                    </a:p>
                  </a:txBody>
                  <a:tcPr marL="95250" marR="95250" marT="28575" marB="28575" anchor="ctr">
                    <a:solidFill>
                      <a:srgbClr val="FDF3F3"/>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강좌요구분석, 창업교육영향조사, 진로준비도검사</a:t>
                      </a:r>
                    </a:p>
                  </a:txBody>
                  <a:tcPr marL="95250" marR="95250" marT="28575" marB="28575" anchor="ctr">
                    <a:solidFill>
                      <a:srgbClr val="FDF3F3"/>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3B3838"/>
                          </a:solidFill>
                          <a:latin typeface="맑은 고딕"/>
                          <a:ea typeface="맑은 고딕"/>
                          <a:cs typeface="맑은 고딕"/>
                        </a:rPr>
                        <a:t>2. 나의 삶, 나의 진로 / 나의 이해(강의)</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나의 개인적 특성의 이해, 내가 생각하는 나와 타인이 보는 나</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3B3838"/>
                          </a:solidFill>
                          <a:latin typeface="맑은 고딕"/>
                          <a:ea typeface="맑은 고딕"/>
                          <a:cs typeface="맑은 고딕"/>
                        </a:rPr>
                        <a:t>3. 미래 사회 및 직업세계와 진로(강의)</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미래사회와 직업세계의 변화가 나에게 미치는 영향</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3B3838"/>
                          </a:solidFill>
                          <a:latin typeface="맑은 고딕"/>
                          <a:ea typeface="맑은 고딕"/>
                          <a:cs typeface="맑은 고딕"/>
                        </a:rPr>
                        <a:t>4. 객관적 검사를 통한 나의 이해 : 직업선호도 검사 실시 및 해석 (강의 및 소그룹 토론)</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직업선호도 검사 L형(자기 이해 검사)</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3B3838"/>
                          </a:solidFill>
                          <a:latin typeface="맑은 고딕"/>
                          <a:ea typeface="맑은 고딕"/>
                          <a:cs typeface="맑은 고딕"/>
                        </a:rPr>
                        <a:t>5. 구직능력 향상 1. 이력서 작성하기(강의 및 소그룹 토론)</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나를 표현하는 한마디는?</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3B3838"/>
                          </a:solidFill>
                          <a:latin typeface="맑은 고딕"/>
                          <a:ea typeface="맑은 고딕"/>
                          <a:cs typeface="맑은 고딕"/>
                        </a:rPr>
                        <a:t>6. 구직능력 향상 2. 자기소개서 작성하기(강의 및 소그룹 토론)</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0">
                          <a:solidFill>
                            <a:srgbClr val="3B3838"/>
                          </a:solidFill>
                          <a:latin typeface="맑은 고딕"/>
                          <a:ea typeface="맑은 고딕"/>
                          <a:cs typeface="맑은 고딕"/>
                        </a:rPr>
                        <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3B3838"/>
                          </a:solidFill>
                          <a:latin typeface="맑은 고딕"/>
                          <a:ea typeface="맑은 고딕"/>
                          <a:cs typeface="맑은 고딕"/>
                        </a:rPr>
                        <a:t>7. 진로실행계획의 수립 방법(강의 및 소그룹 토론)</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0">
                          <a:solidFill>
                            <a:srgbClr val="3B3838"/>
                          </a:solidFill>
                          <a:latin typeface="맑은 고딕"/>
                          <a:ea typeface="맑은 고딕"/>
                          <a:cs typeface="맑은 고딕"/>
                        </a:rPr>
                        <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3B3838"/>
                          </a:solidFill>
                          <a:latin typeface="맑은 고딕"/>
                          <a:ea typeface="맑은 고딕"/>
                          <a:cs typeface="맑은 고딕"/>
                        </a:rPr>
                        <a:t>8. 중간고사 – 이력서 및 자기소개서 발표(공유)</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이력서 및 자기소개서 제출</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3B3838"/>
                          </a:solidFill>
                          <a:latin typeface="맑은 고딕"/>
                          <a:ea typeface="맑은 고딕"/>
                          <a:cs typeface="맑은 고딕"/>
                        </a:rPr>
                        <a:t>9. 노동관련 법률과 제도 / 창업의 이해</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0">
                          <a:solidFill>
                            <a:srgbClr val="3B3838"/>
                          </a:solidFill>
                          <a:latin typeface="맑은 고딕"/>
                          <a:ea typeface="맑은 고딕"/>
                          <a:cs typeface="맑은 고딕"/>
                        </a:rPr>
                        <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3B3838"/>
                          </a:solidFill>
                          <a:latin typeface="맑은 고딕"/>
                          <a:ea typeface="맑은 고딕"/>
                          <a:cs typeface="맑은 고딕"/>
                        </a:rPr>
                        <a:t>10. 사업기획서 작성법 / 진로대안 선정, 탐색 및 결정 – 다양한 취업과 경력경로에 대한 탐색</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나의 잠정적 진로대안 찾기</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3B3838"/>
                          </a:solidFill>
                          <a:latin typeface="맑은 고딕"/>
                          <a:ea typeface="맑은 고딕"/>
                          <a:cs typeface="맑은 고딕"/>
                        </a:rPr>
                        <a:t>11. 진로정보 탐색방법, 희망직업 분석</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희망직업 분석지</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3B3838"/>
                          </a:solidFill>
                          <a:latin typeface="맑은 고딕"/>
                          <a:ea typeface="맑은 고딕"/>
                          <a:cs typeface="맑은 고딕"/>
                        </a:rPr>
                        <a:t>12. 진로실행계획 수립의 실제 / 경력개발이란</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희망 경력개발 프로그램 탐색하기</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3B3838"/>
                          </a:solidFill>
                          <a:latin typeface="맑은 고딕"/>
                          <a:ea typeface="맑은 고딕"/>
                          <a:cs typeface="맑은 고딕"/>
                        </a:rPr>
                        <a:t>13. 나의 진로의사결정</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1">
                          <a:solidFill>
                            <a:srgbClr val="C00000"/>
                          </a:solidFill>
                          <a:latin typeface="맑은 고딕"/>
                          <a:ea typeface="맑은 고딕"/>
                          <a:cs typeface="맑은 고딕"/>
                        </a:rPr>
                        <a:t>과거 의사 결정 회고</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3B3838"/>
                          </a:solidFill>
                          <a:latin typeface="맑은 고딕"/>
                          <a:ea typeface="맑은 고딕"/>
                          <a:cs typeface="맑은 고딕"/>
                        </a:rPr>
                        <a:t>14. 구직능력 향상 3. 면접 준비하기</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0">
                          <a:solidFill>
                            <a:srgbClr val="3B3838"/>
                          </a:solidFill>
                          <a:latin typeface="맑은 고딕"/>
                          <a:ea typeface="맑은 고딕"/>
                          <a:cs typeface="맑은 고딕"/>
                        </a:rPr>
                        <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252412">
                <a:tc>
                  <a:txBody>
                    <a:bodyPr wrap="square"/>
                    <a:lstStyle/>
                    <a:p>
                      <a:pPr algn="l">
                        <a:lnSpc>
                          <a:spcPts val="1462"/>
                        </a:lnSpc>
                      </a:pPr>
                      <a:r>
                        <a:rPr sz="1125" b="0">
                          <a:solidFill>
                            <a:srgbClr val="3B3838"/>
                          </a:solidFill>
                          <a:latin typeface="맑은 고딕"/>
                          <a:ea typeface="맑은 고딕"/>
                          <a:cs typeface="맑은 고딕"/>
                        </a:rPr>
                        <a:t>15. 기말고사</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462"/>
                        </a:lnSpc>
                      </a:pPr>
                      <a:r>
                        <a:rPr sz="1125" b="0">
                          <a:solidFill>
                            <a:srgbClr val="3B3838"/>
                          </a:solidFill>
                          <a:latin typeface="맑은 고딕"/>
                          <a:ea typeface="맑은 고딕"/>
                          <a:cs typeface="맑은 고딕"/>
                        </a:rPr>
                        <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bl>
          </a:graphicData>
        </a:graphic>
      </p:graphicFrame>
      <p:sp>
        <p:nvSpPr>
          <p:cNvPr id="12" name="Rectangle 11"/>
          <p:cNvSpPr/>
          <p:nvPr/>
        </p:nvSpPr>
        <p:spPr>
          <a:xfrm>
            <a:off x="423862" y="1920329"/>
            <a:ext cx="11344275" cy="252412"/>
          </a:xfrm>
          <a:prstGeom prst="rect">
            <a:avLst/>
          </a:prstGeom>
          <a:noFill/>
          <a:ln w="19050">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86720" y="6506528"/>
            <a:ext cx="618411"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2027337" cy="323850"/>
          </a:xfrm>
          <a:prstGeom prst="rect">
            <a:avLst/>
          </a:prstGeom>
          <a:solidFill>
            <a:srgbClr val="002A55"/>
          </a:solidFill>
          <a:ln w="19050">
            <a:solidFill>
              <a:srgbClr val="FFF100"/>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609600" y="103346"/>
            <a:ext cx="536019" cy="364808"/>
          </a:xfrm>
          <a:prstGeom prst="rect">
            <a:avLst/>
          </a:prstGeom>
          <a:noFill/>
        </p:spPr>
        <p:txBody>
          <a:bodyPr wrap="none" anchor="ctr" lIns="0" rIns="0" tIns="0" bIns="0">
            <a:noAutofit/>
          </a:bodyPr>
          <a:lstStyle/>
          <a:p>
            <a:pPr algn="l">
              <a:lnSpc>
                <a:spcPts val="1425"/>
              </a:lnSpc>
              <a:spcBef>
                <a:spcPts val="0"/>
              </a:spcBef>
              <a:spcAft>
                <a:spcPts val="0"/>
              </a:spcAft>
            </a:pPr>
            <a:r>
              <a:rPr sz="1425" b="1" spc="-30">
                <a:solidFill>
                  <a:srgbClr val="FFF100"/>
                </a:solidFill>
                <a:latin typeface="Arial"/>
                <a:ea typeface="맑은 고딕"/>
                <a:cs typeface="맑은 고딕"/>
              </a:rPr>
              <a:t>3</a:t>
            </a:r>
          </a:p>
        </p:txBody>
      </p:sp>
      <p:sp>
        <p:nvSpPr>
          <p:cNvPr id="7" name="TextBox 6"/>
          <p:cNvSpPr txBox="1"/>
          <p:nvPr/>
        </p:nvSpPr>
        <p:spPr>
          <a:xfrm>
            <a:off x="801737" y="85725"/>
            <a:ext cx="2707719"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FFF"/>
                </a:solidFill>
                <a:latin typeface="맑은 고딕"/>
                <a:ea typeface="맑은 고딕"/>
                <a:cs typeface="맑은 고딕"/>
              </a:rPr>
              <a:t>주차 별 강의 계획</a:t>
            </a:r>
          </a:p>
        </p:txBody>
      </p:sp>
      <p:sp>
        <p:nvSpPr>
          <p:cNvPr id="8" name="TextBox 7"/>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9" name="Oval 8"/>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100" y="932200"/>
            <a:ext cx="3844528" cy="559118"/>
          </a:xfrm>
          <a:prstGeom prst="rect">
            <a:avLst/>
          </a:prstGeom>
          <a:noFill/>
        </p:spPr>
        <p:txBody>
          <a:bodyPr wrap="none" anchor="ctr" lIns="0" rIns="0" tIns="0" bIns="0">
            <a:noAutofit/>
          </a:bodyPr>
          <a:lstStyle/>
          <a:p>
            <a:pPr algn="l">
              <a:lnSpc>
                <a:spcPts val="3487"/>
              </a:lnSpc>
              <a:spcBef>
                <a:spcPts val="0"/>
              </a:spcBef>
              <a:spcAft>
                <a:spcPts val="0"/>
              </a:spcAft>
            </a:pPr>
            <a:r>
              <a:rPr sz="2325" b="1" spc="-58">
                <a:solidFill>
                  <a:srgbClr val="17365D"/>
                </a:solidFill>
                <a:latin typeface="맑은 고딕"/>
                <a:ea typeface="맑은 고딕"/>
                <a:cs typeface="맑은 고딕"/>
              </a:rPr>
              <a:t>과제물 제출 안내</a:t>
            </a:r>
          </a:p>
        </p:txBody>
      </p:sp>
      <p:sp>
        <p:nvSpPr>
          <p:cNvPr id="11" name="Rectangle 10"/>
          <p:cNvSpPr/>
          <p:nvPr/>
        </p:nvSpPr>
        <p:spPr>
          <a:xfrm>
            <a:off x="419100" y="1999655"/>
            <a:ext cx="11353800" cy="838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2" name="Connector 11"/>
          <p:cNvCxnSpPr/>
          <p:nvPr/>
        </p:nvCxnSpPr>
        <p:spPr>
          <a:xfrm>
            <a:off x="419100" y="1999655"/>
            <a:ext cx="113538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1772900" y="1999655"/>
            <a:ext cx="0" cy="83820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9100" y="2837855"/>
            <a:ext cx="113538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9100" y="1999655"/>
            <a:ext cx="0" cy="838200"/>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7225" y="2056328"/>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17" name="TextBox 16"/>
          <p:cNvSpPr txBox="1"/>
          <p:nvPr/>
        </p:nvSpPr>
        <p:spPr>
          <a:xfrm>
            <a:off x="1047750" y="2152055"/>
            <a:ext cx="10525125" cy="590550"/>
          </a:xfrm>
          <a:prstGeom prst="rect">
            <a:avLst/>
          </a:prstGeom>
          <a:noFill/>
        </p:spPr>
        <p:txBody>
          <a:bodyPr wrap="square" anchor="t" lIns="0" rIns="0" tIns="0" bIns="0">
            <a:noAutofit/>
          </a:bodyPr>
          <a:lstStyle/>
          <a:p>
            <a:pPr algn="l">
              <a:lnSpc>
                <a:spcPts val="2250"/>
              </a:lnSpc>
              <a:spcBef>
                <a:spcPts val="0"/>
              </a:spcBef>
              <a:spcAft>
                <a:spcPts val="0"/>
              </a:spcAft>
            </a:pPr>
            <a:r>
              <a:rPr sz="1500" b="0">
                <a:solidFill>
                  <a:srgbClr val="3B3838"/>
                </a:solidFill>
                <a:latin typeface="맑은 고딕"/>
                <a:ea typeface="맑은 고딕"/>
                <a:cs typeface="맑은 고딕"/>
              </a:rPr>
              <a:t>과제물은 </a:t>
            </a:r>
            <a:r>
              <a:rPr sz="1500" b="1">
                <a:solidFill>
                  <a:srgbClr val="005BAC"/>
                </a:solidFill>
                <a:latin typeface="맑은 고딕"/>
                <a:ea typeface="맑은 고딕"/>
                <a:cs typeface="맑은 고딕"/>
              </a:rPr>
              <a:t>‘LMS 과제방’</a:t>
            </a:r>
            <a:r>
              <a:rPr sz="1500" b="0">
                <a:solidFill>
                  <a:srgbClr val="3B3838"/>
                </a:solidFill>
                <a:latin typeface="맑은 고딕"/>
                <a:ea typeface="맑은 고딕"/>
                <a:cs typeface="맑은 고딕"/>
              </a:rPr>
              <a:t> 혹은 저의 메일로 해당 주차 강의일 </a:t>
            </a:r>
            <a:r>
              <a:rPr sz="1500" b="1">
                <a:solidFill>
                  <a:srgbClr val="C00000"/>
                </a:solidFill>
                <a:latin typeface="맑은 고딕"/>
                <a:ea typeface="맑은 고딕"/>
                <a:cs typeface="맑은 고딕"/>
              </a:rPr>
              <a:t>하루 전 23:59:59</a:t>
            </a:r>
            <a:r>
              <a:rPr sz="1500" b="0">
                <a:solidFill>
                  <a:srgbClr val="3B3838"/>
                </a:solidFill>
                <a:latin typeface="맑은 고딕"/>
                <a:ea typeface="맑은 고딕"/>
                <a:cs typeface="맑은 고딕"/>
              </a:rPr>
              <a:t>까지 이 메일 주소로 dimajob4u@gmail.com 으로 제출하시면 됩니다.</a:t>
            </a:r>
          </a:p>
        </p:txBody>
      </p:sp>
      <p:cxnSp>
        <p:nvCxnSpPr>
          <p:cNvPr id="18" name="Connector 17"/>
          <p:cNvCxnSpPr/>
          <p:nvPr/>
        </p:nvCxnSpPr>
        <p:spPr>
          <a:xfrm>
            <a:off x="1939698" y="4809827"/>
            <a:ext cx="9022216" cy="0"/>
          </a:xfrm>
          <a:prstGeom prst="line">
            <a:avLst/>
          </a:prstGeom>
          <a:ln w="141922">
            <a:solidFill>
              <a:srgbClr val="DEEBF7"/>
            </a:solidFill>
          </a:ln>
          <a:effectLst/>
        </p:spPr>
        <p:style>
          <a:lnRef idx="2">
            <a:schemeClr val="accent1"/>
          </a:lnRef>
          <a:fillRef idx="0">
            <a:schemeClr val="accent1"/>
          </a:fillRef>
          <a:effectRef idx="1">
            <a:schemeClr val="accent1"/>
          </a:effectRef>
          <a:fontRef idx="minor">
            <a:schemeClr val="tx1"/>
          </a:fontRef>
        </p:style>
      </p:cxnSp>
      <p:sp>
        <p:nvSpPr>
          <p:cNvPr id="19" name="Freeform 18"/>
          <p:cNvSpPr/>
          <p:nvPr/>
        </p:nvSpPr>
        <p:spPr>
          <a:xfrm>
            <a:off x="10738893" y="4667905"/>
            <a:ext cx="263571" cy="283845"/>
          </a:xfrm>
          <a:custGeom>
            <a:avLst/>
            <a:gdLst/>
            <a:ahLst/>
            <a:cxnLst/>
            <a:rect l="l" t="t" r="r" b="b"/>
            <a:pathLst>
              <a:path w="263571" h="283845">
                <a:moveTo>
                  <a:pt x="263571" y="141922"/>
                </a:moveTo>
                <a:lnTo>
                  <a:pt x="0" y="0"/>
                </a:lnTo>
                <a:lnTo>
                  <a:pt x="0" y="283845"/>
                </a:lnTo>
                <a:close/>
              </a:path>
            </a:pathLst>
          </a:custGeom>
          <a:solidFill>
            <a:srgbClr val="DEE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eeform 19"/>
          <p:cNvSpPr/>
          <p:nvPr/>
        </p:nvSpPr>
        <p:spPr>
          <a:xfrm>
            <a:off x="1098301" y="4424609"/>
            <a:ext cx="567690" cy="527141"/>
          </a:xfrm>
          <a:custGeom>
            <a:avLst/>
            <a:gdLst/>
            <a:ahLst/>
            <a:cxnLst/>
            <a:rect l="l" t="t" r="r" b="b"/>
            <a:pathLst>
              <a:path w="567690" h="527141">
                <a:moveTo>
                  <a:pt x="293982" y="0"/>
                </a:moveTo>
                <a:lnTo>
                  <a:pt x="364943" y="91236"/>
                </a:lnTo>
                <a:lnTo>
                  <a:pt x="476454" y="50687"/>
                </a:lnTo>
                <a:lnTo>
                  <a:pt x="456179" y="172335"/>
                </a:lnTo>
                <a:lnTo>
                  <a:pt x="567690" y="223021"/>
                </a:lnTo>
                <a:lnTo>
                  <a:pt x="476454" y="304120"/>
                </a:lnTo>
                <a:lnTo>
                  <a:pt x="527140" y="415630"/>
                </a:lnTo>
                <a:lnTo>
                  <a:pt x="405492" y="405493"/>
                </a:lnTo>
                <a:lnTo>
                  <a:pt x="375080" y="527141"/>
                </a:lnTo>
                <a:lnTo>
                  <a:pt x="283845" y="446042"/>
                </a:lnTo>
                <a:lnTo>
                  <a:pt x="192609" y="527141"/>
                </a:lnTo>
                <a:lnTo>
                  <a:pt x="162197" y="405493"/>
                </a:lnTo>
                <a:lnTo>
                  <a:pt x="40549" y="415630"/>
                </a:lnTo>
                <a:lnTo>
                  <a:pt x="91235" y="304120"/>
                </a:lnTo>
                <a:lnTo>
                  <a:pt x="0" y="223021"/>
                </a:lnTo>
                <a:lnTo>
                  <a:pt x="111510" y="172335"/>
                </a:lnTo>
                <a:lnTo>
                  <a:pt x="91235" y="50687"/>
                </a:lnTo>
                <a:lnTo>
                  <a:pt x="202746" y="91236"/>
                </a:lnTo>
                <a:close/>
              </a:path>
            </a:pathLst>
          </a:custGeom>
          <a:solidFill>
            <a:srgbClr val="4BA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79148" y="4678874"/>
            <a:ext cx="627435" cy="258502"/>
          </a:xfrm>
          <a:prstGeom prst="rect">
            <a:avLst/>
          </a:prstGeom>
          <a:noFill/>
        </p:spPr>
        <p:txBody>
          <a:bodyPr wrap="none" lIns="0" rIns="0" tIns="0" bIns="0" anchor="ctr">
            <a:noAutofit/>
          </a:bodyPr>
          <a:lstStyle/>
          <a:p>
            <a:pPr algn="ctr">
              <a:lnSpc>
                <a:spcPts val="1436"/>
              </a:lnSpc>
            </a:pPr>
            <a:r>
              <a:rPr sz="1197" b="1">
                <a:solidFill>
                  <a:srgbClr val="FFFFFF"/>
                </a:solidFill>
                <a:latin typeface="Arial"/>
                <a:ea typeface="맑은 고딕"/>
                <a:cs typeface="맑은 고딕"/>
              </a:rPr>
              <a:t>ex</a:t>
            </a:r>
          </a:p>
        </p:txBody>
      </p:sp>
      <p:sp>
        <p:nvSpPr>
          <p:cNvPr id="22" name="Oval 21"/>
          <p:cNvSpPr/>
          <p:nvPr/>
        </p:nvSpPr>
        <p:spPr>
          <a:xfrm>
            <a:off x="3896201" y="4637493"/>
            <a:ext cx="344669" cy="344669"/>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08048" y="4082915"/>
            <a:ext cx="2920976" cy="430836"/>
          </a:xfrm>
          <a:prstGeom prst="rect">
            <a:avLst/>
          </a:prstGeom>
          <a:noFill/>
        </p:spPr>
        <p:txBody>
          <a:bodyPr wrap="none" lIns="0" rIns="0" tIns="0" bIns="0" anchor="ctr">
            <a:noAutofit/>
          </a:bodyPr>
          <a:lstStyle/>
          <a:p>
            <a:pPr algn="ctr">
              <a:lnSpc>
                <a:spcPts val="2394"/>
              </a:lnSpc>
            </a:pPr>
            <a:r>
              <a:rPr sz="1995" b="1">
                <a:solidFill>
                  <a:srgbClr val="C00000"/>
                </a:solidFill>
                <a:latin typeface="Arial"/>
                <a:ea typeface="맑은 고딕"/>
                <a:cs typeface="맑은 고딕"/>
              </a:rPr>
              <a:t>3. 10, 23:59:59</a:t>
            </a:r>
          </a:p>
        </p:txBody>
      </p:sp>
      <p:sp>
        <p:nvSpPr>
          <p:cNvPr id="24" name="TextBox 23"/>
          <p:cNvSpPr txBox="1"/>
          <p:nvPr/>
        </p:nvSpPr>
        <p:spPr>
          <a:xfrm>
            <a:off x="2701661" y="5114995"/>
            <a:ext cx="2733749" cy="361902"/>
          </a:xfrm>
          <a:prstGeom prst="rect">
            <a:avLst/>
          </a:prstGeom>
          <a:noFill/>
        </p:spPr>
        <p:txBody>
          <a:bodyPr wrap="none" lIns="0" rIns="0" tIns="0" bIns="0" anchor="ctr">
            <a:noAutofit/>
          </a:bodyPr>
          <a:lstStyle/>
          <a:p>
            <a:pPr algn="ctr">
              <a:lnSpc>
                <a:spcPts val="2011"/>
              </a:lnSpc>
            </a:pPr>
            <a:r>
              <a:rPr sz="1676" b="1">
                <a:solidFill>
                  <a:srgbClr val="C00000"/>
                </a:solidFill>
                <a:latin typeface="맑은 고딕"/>
                <a:ea typeface="맑은 고딕"/>
                <a:cs typeface="맑은 고딕"/>
              </a:rPr>
              <a:t>과제물 제출 일시</a:t>
            </a:r>
          </a:p>
        </p:txBody>
      </p:sp>
      <p:sp>
        <p:nvSpPr>
          <p:cNvPr id="25" name="Oval 24"/>
          <p:cNvSpPr/>
          <p:nvPr/>
        </p:nvSpPr>
        <p:spPr>
          <a:xfrm>
            <a:off x="8356623" y="4637493"/>
            <a:ext cx="344669" cy="344669"/>
          </a:xfrm>
          <a:prstGeom prst="ellipse">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03452" y="4082915"/>
            <a:ext cx="2251011" cy="430836"/>
          </a:xfrm>
          <a:prstGeom prst="rect">
            <a:avLst/>
          </a:prstGeom>
          <a:noFill/>
        </p:spPr>
        <p:txBody>
          <a:bodyPr wrap="none" lIns="0" rIns="0" tIns="0" bIns="0" anchor="ctr">
            <a:noAutofit/>
          </a:bodyPr>
          <a:lstStyle/>
          <a:p>
            <a:pPr algn="ctr">
              <a:lnSpc>
                <a:spcPts val="2394"/>
              </a:lnSpc>
            </a:pPr>
            <a:r>
              <a:rPr sz="1995" b="1">
                <a:solidFill>
                  <a:srgbClr val="3B3838"/>
                </a:solidFill>
                <a:latin typeface="Arial"/>
                <a:ea typeface="맑은 고딕"/>
                <a:cs typeface="맑은 고딕"/>
              </a:rPr>
              <a:t>3. 11, 11:00</a:t>
            </a:r>
          </a:p>
        </p:txBody>
      </p:sp>
      <p:sp>
        <p:nvSpPr>
          <p:cNvPr id="27" name="TextBox 26"/>
          <p:cNvSpPr txBox="1"/>
          <p:nvPr/>
        </p:nvSpPr>
        <p:spPr>
          <a:xfrm>
            <a:off x="7935907" y="5114995"/>
            <a:ext cx="1186101" cy="361902"/>
          </a:xfrm>
          <a:prstGeom prst="rect">
            <a:avLst/>
          </a:prstGeom>
          <a:noFill/>
        </p:spPr>
        <p:txBody>
          <a:bodyPr wrap="none" lIns="0" rIns="0" tIns="0" bIns="0" anchor="ctr">
            <a:noAutofit/>
          </a:bodyPr>
          <a:lstStyle/>
          <a:p>
            <a:pPr algn="ctr">
              <a:lnSpc>
                <a:spcPts val="2011"/>
              </a:lnSpc>
            </a:pPr>
            <a:r>
              <a:rPr sz="1676" b="1">
                <a:solidFill>
                  <a:srgbClr val="3B3838"/>
                </a:solidFill>
                <a:latin typeface="맑은 고딕"/>
                <a:ea typeface="맑은 고딕"/>
                <a:cs typeface="맑은 고딕"/>
              </a:rPr>
              <a:t>본 강의</a:t>
            </a:r>
          </a:p>
        </p:txBody>
      </p:sp>
      <p:sp>
        <p:nvSpPr>
          <p:cNvPr id="28" name="Freeform 27"/>
          <p:cNvSpPr/>
          <p:nvPr/>
        </p:nvSpPr>
        <p:spPr>
          <a:xfrm>
            <a:off x="4190184" y="5641088"/>
            <a:ext cx="4237400" cy="810985"/>
          </a:xfrm>
          <a:custGeom>
            <a:avLst/>
            <a:gdLst/>
            <a:ahLst/>
            <a:cxnLst/>
            <a:rect l="l" t="t" r="r" b="b"/>
            <a:pathLst>
              <a:path w="4237400" h="810985">
                <a:moveTo>
                  <a:pt x="4237400" y="0"/>
                </a:moveTo>
                <a:lnTo>
                  <a:pt x="2108562" y="810985"/>
                </a:lnTo>
                <a:lnTo>
                  <a:pt x="0" y="121648"/>
                </a:lnTo>
                <a:close/>
              </a:path>
            </a:pathLst>
          </a:custGeom>
          <a:noFill/>
          <a:ln w="40549">
            <a:solidFill>
              <a:srgbClr val="C87B7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Freeform 28"/>
          <p:cNvSpPr/>
          <p:nvPr/>
        </p:nvSpPr>
        <p:spPr>
          <a:xfrm>
            <a:off x="4190184" y="5600538"/>
            <a:ext cx="223021" cy="162198"/>
          </a:xfrm>
          <a:custGeom>
            <a:avLst/>
            <a:gdLst/>
            <a:ahLst/>
            <a:cxnLst/>
            <a:rect l="l" t="t" r="r" b="b"/>
            <a:pathLst>
              <a:path w="223021" h="162198">
                <a:moveTo>
                  <a:pt x="0" y="162198"/>
                </a:moveTo>
                <a:lnTo>
                  <a:pt x="223021" y="141923"/>
                </a:lnTo>
                <a:lnTo>
                  <a:pt x="101373" y="0"/>
                </a:lnTo>
                <a:close/>
              </a:path>
            </a:pathLst>
          </a:custGeom>
          <a:solidFill>
            <a:srgbClr val="C87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972860" y="5991761"/>
            <a:ext cx="2651774" cy="310202"/>
          </a:xfrm>
          <a:prstGeom prst="rect">
            <a:avLst/>
          </a:prstGeom>
          <a:noFill/>
        </p:spPr>
        <p:txBody>
          <a:bodyPr wrap="none" lIns="0" rIns="0" tIns="0" bIns="0" anchor="ctr">
            <a:noAutofit/>
          </a:bodyPr>
          <a:lstStyle/>
          <a:p>
            <a:pPr algn="ctr">
              <a:lnSpc>
                <a:spcPts val="1724"/>
              </a:lnSpc>
            </a:pPr>
            <a:r>
              <a:rPr sz="1436" b="1">
                <a:solidFill>
                  <a:srgbClr val="B0655C"/>
                </a:solidFill>
                <a:latin typeface="맑은 고딕"/>
                <a:ea typeface="맑은 고딕"/>
                <a:cs typeface="맑은 고딕"/>
              </a:rPr>
              <a:t>강의일 하루 전까지</a:t>
            </a:r>
          </a:p>
        </p:txBody>
      </p:sp>
      <p:sp>
        <p:nvSpPr>
          <p:cNvPr id="31" name="TextBox 30"/>
          <p:cNvSpPr txBox="1"/>
          <p:nvPr/>
        </p:nvSpPr>
        <p:spPr>
          <a:xfrm>
            <a:off x="5786720" y="6506528"/>
            <a:ext cx="618411"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band.jpg"/>
          <p:cNvPicPr>
            <a:picLocks noChangeAspect="1"/>
          </p:cNvPicPr>
          <p:nvPr/>
        </p:nvPicPr>
        <p:blipFill>
          <a:blip r:embed="rId2"/>
          <a:stretch>
            <a:fillRect/>
          </a:stretch>
        </p:blipFill>
        <p:spPr>
          <a:xfrm>
            <a:off x="0" y="0"/>
            <a:ext cx="12192000" cy="3566071"/>
          </a:xfrm>
          <a:prstGeom prst="rect">
            <a:avLst/>
          </a:prstGeom>
        </p:spPr>
      </p:pic>
      <p:sp>
        <p:nvSpPr>
          <p:cNvPr id="4" name="Rectangle 3"/>
          <p:cNvSpPr/>
          <p:nvPr/>
        </p:nvSpPr>
        <p:spPr>
          <a:xfrm>
            <a:off x="0" y="3547021"/>
            <a:ext cx="7071360" cy="38100"/>
          </a:xfrm>
          <a:prstGeom prst="rect">
            <a:avLst/>
          </a:prstGeom>
          <a:ln>
            <a:noFill/>
          </a:ln>
          <a:effectLst/>
          <a:gradFill rotWithShape="1">
            <a:gsLst>
              <a:gs pos="0">
                <a:srgbClr val="005BAC"/>
              </a:gs>
              <a:gs pos="100000">
                <a:srgbClr val="005BAC">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0" y="3623221"/>
            <a:ext cx="4876800" cy="38100"/>
          </a:xfrm>
          <a:prstGeom prst="rect">
            <a:avLst/>
          </a:prstGeom>
          <a:ln>
            <a:noFill/>
          </a:ln>
          <a:effectLst/>
          <a:gradFill rotWithShape="1">
            <a:gsLst>
              <a:gs pos="0">
                <a:srgbClr val="0071CE"/>
              </a:gs>
              <a:gs pos="100000">
                <a:srgbClr val="0071CE">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0" y="3699421"/>
            <a:ext cx="3413760" cy="38100"/>
          </a:xfrm>
          <a:prstGeom prst="rect">
            <a:avLst/>
          </a:prstGeom>
          <a:ln>
            <a:noFill/>
          </a:ln>
          <a:effectLst/>
          <a:gradFill rotWithShape="1">
            <a:gsLst>
              <a:gs pos="0">
                <a:srgbClr val="4BA3E3"/>
              </a:gs>
              <a:gs pos="100000">
                <a:srgbClr val="4BA3E3">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247650" y="3032671"/>
            <a:ext cx="1066800" cy="1066800"/>
          </a:xfrm>
          <a:prstGeom prst="ellipse">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rot="1873891">
            <a:off x="277468" y="2897338"/>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C</a:t>
            </a:r>
          </a:p>
        </p:txBody>
      </p:sp>
      <p:sp>
        <p:nvSpPr>
          <p:cNvPr id="9" name="TextBox 8"/>
          <p:cNvSpPr txBox="1"/>
          <p:nvPr/>
        </p:nvSpPr>
        <p:spPr>
          <a:xfrm rot="2597530">
            <a:off x="385778" y="2979733"/>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H</a:t>
            </a:r>
          </a:p>
        </p:txBody>
      </p:sp>
      <p:sp>
        <p:nvSpPr>
          <p:cNvPr id="10" name="TextBox 9"/>
          <p:cNvSpPr txBox="1"/>
          <p:nvPr/>
        </p:nvSpPr>
        <p:spPr>
          <a:xfrm rot="3289047">
            <a:off x="471016" y="3077979"/>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A</a:t>
            </a:r>
          </a:p>
        </p:txBody>
      </p:sp>
      <p:sp>
        <p:nvSpPr>
          <p:cNvPr id="11" name="TextBox 10"/>
          <p:cNvSpPr txBox="1"/>
          <p:nvPr/>
        </p:nvSpPr>
        <p:spPr>
          <a:xfrm rot="3979591">
            <a:off x="534833" y="3191105"/>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P</a:t>
            </a:r>
          </a:p>
        </p:txBody>
      </p:sp>
      <p:sp>
        <p:nvSpPr>
          <p:cNvPr id="12" name="TextBox 11"/>
          <p:cNvSpPr txBox="1"/>
          <p:nvPr/>
        </p:nvSpPr>
        <p:spPr>
          <a:xfrm rot="4647428">
            <a:off x="573879" y="3310511"/>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T</a:t>
            </a:r>
          </a:p>
        </p:txBody>
      </p:sp>
      <p:sp>
        <p:nvSpPr>
          <p:cNvPr id="13" name="TextBox 12"/>
          <p:cNvSpPr txBox="1"/>
          <p:nvPr/>
        </p:nvSpPr>
        <p:spPr>
          <a:xfrm rot="5322137">
            <a:off x="589171" y="3436504"/>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E</a:t>
            </a:r>
          </a:p>
        </p:txBody>
      </p:sp>
      <p:sp>
        <p:nvSpPr>
          <p:cNvPr id="14" name="TextBox 13"/>
          <p:cNvSpPr txBox="1"/>
          <p:nvPr/>
        </p:nvSpPr>
        <p:spPr>
          <a:xfrm rot="6029545">
            <a:off x="578507" y="3569122"/>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R</a:t>
            </a:r>
          </a:p>
        </p:txBody>
      </p:sp>
      <p:sp>
        <p:nvSpPr>
          <p:cNvPr id="15" name="TextBox 14"/>
          <p:cNvSpPr txBox="1"/>
          <p:nvPr/>
        </p:nvSpPr>
        <p:spPr>
          <a:xfrm>
            <a:off x="-43532" y="3267938"/>
            <a:ext cx="658564" cy="615315"/>
          </a:xfrm>
          <a:prstGeom prst="rect">
            <a:avLst/>
          </a:prstGeom>
          <a:noFill/>
        </p:spPr>
        <p:txBody>
          <a:bodyPr wrap="none" lIns="0" rIns="0" tIns="0" bIns="0" anchor="ctr">
            <a:noAutofit/>
          </a:bodyPr>
          <a:lstStyle/>
          <a:p>
            <a:pPr algn="ctr">
              <a:lnSpc>
                <a:spcPts val="3420"/>
              </a:lnSpc>
            </a:pPr>
            <a:r>
              <a:rPr sz="2850" b="1">
                <a:solidFill>
                  <a:srgbClr val="17365D"/>
                </a:solidFill>
                <a:latin typeface="Arial"/>
                <a:ea typeface="맑은 고딕"/>
                <a:cs typeface="맑은 고딕"/>
              </a:rPr>
              <a:t>4</a:t>
            </a:r>
          </a:p>
        </p:txBody>
      </p:sp>
      <p:sp>
        <p:nvSpPr>
          <p:cNvPr id="16" name="TextBox 15"/>
          <p:cNvSpPr txBox="1"/>
          <p:nvPr/>
        </p:nvSpPr>
        <p:spPr>
          <a:xfrm>
            <a:off x="7374969" y="4067651"/>
            <a:ext cx="4397931" cy="737235"/>
          </a:xfrm>
          <a:prstGeom prst="rect">
            <a:avLst/>
          </a:prstGeom>
          <a:noFill/>
        </p:spPr>
        <p:txBody>
          <a:bodyPr wrap="none" anchor="ctr" lIns="0" rIns="0" tIns="0" bIns="0">
            <a:noAutofit/>
          </a:bodyPr>
          <a:lstStyle/>
          <a:p>
            <a:pPr algn="r">
              <a:lnSpc>
                <a:spcPts val="4725"/>
              </a:lnSpc>
              <a:spcBef>
                <a:spcPts val="0"/>
              </a:spcBef>
              <a:spcAft>
                <a:spcPts val="0"/>
              </a:spcAft>
            </a:pPr>
            <a:r>
              <a:rPr sz="3150" b="1" spc="-110">
                <a:solidFill>
                  <a:srgbClr val="17365D"/>
                </a:solidFill>
                <a:latin typeface="맑은 고딕"/>
                <a:ea typeface="맑은 고딕"/>
                <a:cs typeface="맑은 고딕"/>
              </a:rPr>
              <a:t>강의 요구 분석</a:t>
            </a:r>
          </a:p>
        </p:txBody>
      </p:sp>
      <p:sp>
        <p:nvSpPr>
          <p:cNvPr id="17" name="TextBox 16"/>
          <p:cNvSpPr txBox="1"/>
          <p:nvPr/>
        </p:nvSpPr>
        <p:spPr>
          <a:xfrm>
            <a:off x="3873341" y="4632871"/>
            <a:ext cx="7899559" cy="381000"/>
          </a:xfrm>
          <a:prstGeom prst="rect">
            <a:avLst/>
          </a:prstGeom>
          <a:noFill/>
        </p:spPr>
        <p:txBody>
          <a:bodyPr wrap="none" anchor="ctr" lIns="0" rIns="0" tIns="0" bIns="0">
            <a:noAutofit/>
          </a:bodyPr>
          <a:lstStyle/>
          <a:p>
            <a:pPr algn="r">
              <a:lnSpc>
                <a:spcPts val="2250"/>
              </a:lnSpc>
              <a:spcBef>
                <a:spcPts val="0"/>
              </a:spcBef>
              <a:spcAft>
                <a:spcPts val="0"/>
              </a:spcAft>
            </a:pPr>
            <a:r>
              <a:rPr sz="1500" b="1">
                <a:solidFill>
                  <a:srgbClr val="63666B"/>
                </a:solidFill>
                <a:latin typeface="맑은 고딕"/>
                <a:ea typeface="맑은 고딕"/>
                <a:cs typeface="맑은 고딕"/>
              </a:rPr>
              <a:t>강의를 통해 무엇을 얻고자 하는지 설문조사로 알아보기</a:t>
            </a:r>
          </a:p>
        </p:txBody>
      </p:sp>
      <p:sp>
        <p:nvSpPr>
          <p:cNvPr id="18" name="TextBox 17"/>
          <p:cNvSpPr txBox="1"/>
          <p:nvPr/>
        </p:nvSpPr>
        <p:spPr>
          <a:xfrm>
            <a:off x="10846296" y="5971222"/>
            <a:ext cx="1863566" cy="802005"/>
          </a:xfrm>
          <a:prstGeom prst="rect">
            <a:avLst/>
          </a:prstGeom>
          <a:noFill/>
        </p:spPr>
        <p:txBody>
          <a:bodyPr wrap="none" anchor="ctr" lIns="0" rIns="0" tIns="0" bIns="0">
            <a:noAutofit/>
          </a:bodyPr>
          <a:lstStyle/>
          <a:p>
            <a:pPr algn="l">
              <a:lnSpc>
                <a:spcPts val="3450"/>
              </a:lnSpc>
              <a:spcBef>
                <a:spcPts val="0"/>
              </a:spcBef>
              <a:spcAft>
                <a:spcPts val="0"/>
              </a:spcAft>
            </a:pPr>
            <a:r>
              <a:rPr sz="3450" b="1" spc="-190">
                <a:solidFill>
                  <a:srgbClr val="17365D"/>
                </a:solidFill>
                <a:latin typeface="Arial"/>
                <a:ea typeface="맑은 고딕"/>
                <a:cs typeface="맑은 고딕"/>
              </a:rPr>
              <a:t>dima</a:t>
            </a:r>
          </a:p>
        </p:txBody>
      </p:sp>
      <p:sp>
        <p:nvSpPr>
          <p:cNvPr id="19" name="Oval 18"/>
          <p:cNvSpPr/>
          <p:nvPr/>
        </p:nvSpPr>
        <p:spPr>
          <a:xfrm>
            <a:off x="11097194" y="6001131"/>
            <a:ext cx="83248" cy="83248"/>
          </a:xfrm>
          <a:prstGeom prst="ellipse">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1791593" cy="323850"/>
          </a:xfrm>
          <a:prstGeom prst="rect">
            <a:avLst/>
          </a:prstGeom>
          <a:solidFill>
            <a:srgbClr val="002A55"/>
          </a:solidFill>
          <a:ln w="19050">
            <a:solidFill>
              <a:srgbClr val="FFF100"/>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609600" y="103346"/>
            <a:ext cx="536019" cy="364808"/>
          </a:xfrm>
          <a:prstGeom prst="rect">
            <a:avLst/>
          </a:prstGeom>
          <a:noFill/>
        </p:spPr>
        <p:txBody>
          <a:bodyPr wrap="none" anchor="ctr" lIns="0" rIns="0" tIns="0" bIns="0">
            <a:noAutofit/>
          </a:bodyPr>
          <a:lstStyle/>
          <a:p>
            <a:pPr algn="l">
              <a:lnSpc>
                <a:spcPts val="1425"/>
              </a:lnSpc>
              <a:spcBef>
                <a:spcPts val="0"/>
              </a:spcBef>
              <a:spcAft>
                <a:spcPts val="0"/>
              </a:spcAft>
            </a:pPr>
            <a:r>
              <a:rPr sz="1425" b="1" spc="-30">
                <a:solidFill>
                  <a:srgbClr val="FFF100"/>
                </a:solidFill>
                <a:latin typeface="Arial"/>
                <a:ea typeface="맑은 고딕"/>
                <a:cs typeface="맑은 고딕"/>
              </a:rPr>
              <a:t>4</a:t>
            </a:r>
          </a:p>
        </p:txBody>
      </p:sp>
      <p:sp>
        <p:nvSpPr>
          <p:cNvPr id="7" name="TextBox 6"/>
          <p:cNvSpPr txBox="1"/>
          <p:nvPr/>
        </p:nvSpPr>
        <p:spPr>
          <a:xfrm>
            <a:off x="801737" y="85725"/>
            <a:ext cx="2330529"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FFF"/>
                </a:solidFill>
                <a:latin typeface="맑은 고딕"/>
                <a:ea typeface="맑은 고딕"/>
                <a:cs typeface="맑은 고딕"/>
              </a:rPr>
              <a:t>강의 요구 분석</a:t>
            </a:r>
          </a:p>
        </p:txBody>
      </p:sp>
      <p:sp>
        <p:nvSpPr>
          <p:cNvPr id="8" name="TextBox 7"/>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9" name="Oval 8"/>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100" y="852071"/>
            <a:ext cx="7561421"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51">
                <a:solidFill>
                  <a:srgbClr val="17365D"/>
                </a:solidFill>
                <a:latin typeface="맑은 고딕"/>
                <a:ea typeface="맑은 고딕"/>
                <a:cs typeface="맑은 고딕"/>
              </a:rPr>
              <a:t>이번 강의를 통해 무엇을 얻고 싶은가요?</a:t>
            </a:r>
          </a:p>
        </p:txBody>
      </p:sp>
      <p:sp>
        <p:nvSpPr>
          <p:cNvPr id="11" name="Rectangle 10"/>
          <p:cNvSpPr/>
          <p:nvPr/>
        </p:nvSpPr>
        <p:spPr>
          <a:xfrm>
            <a:off x="419100" y="1593652"/>
            <a:ext cx="5624512" cy="800100"/>
          </a:xfrm>
          <a:prstGeom prst="rect">
            <a:avLst/>
          </a:prstGeom>
          <a:solidFill>
            <a:srgbClr val="F2F7FC"/>
          </a:solidFill>
          <a:ln w="9525">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561975" y="1637467"/>
            <a:ext cx="838200" cy="445770"/>
          </a:xfrm>
          <a:prstGeom prst="rect">
            <a:avLst/>
          </a:prstGeom>
          <a:noFill/>
        </p:spPr>
        <p:txBody>
          <a:bodyPr wrap="none" anchor="ctr" lIns="0" rIns="0" tIns="0" bIns="0">
            <a:noAutofit/>
          </a:bodyPr>
          <a:lstStyle/>
          <a:p>
            <a:pPr algn="l">
              <a:lnSpc>
                <a:spcPts val="1800"/>
              </a:lnSpc>
              <a:spcBef>
                <a:spcPts val="0"/>
              </a:spcBef>
              <a:spcAft>
                <a:spcPts val="0"/>
              </a:spcAft>
            </a:pPr>
            <a:r>
              <a:rPr sz="1800" b="0">
                <a:solidFill>
                  <a:srgbClr val="3B3838"/>
                </a:solidFill>
                <a:latin typeface="맑은 고딕"/>
                <a:ea typeface="맑은 고딕"/>
                <a:cs typeface="맑은 고딕"/>
              </a:rPr>
              <a:t>📊</a:t>
            </a:r>
          </a:p>
        </p:txBody>
      </p:sp>
      <p:sp>
        <p:nvSpPr>
          <p:cNvPr id="13" name="TextBox 12"/>
          <p:cNvSpPr txBox="1"/>
          <p:nvPr/>
        </p:nvSpPr>
        <p:spPr>
          <a:xfrm>
            <a:off x="561975" y="1946077"/>
            <a:ext cx="4538662"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17365D"/>
                </a:solidFill>
                <a:latin typeface="맑은 고딕"/>
                <a:ea typeface="맑은 고딕"/>
                <a:cs typeface="맑은 고딕"/>
              </a:rPr>
              <a:t>나의 진로 및 취업 준비 정도는?</a:t>
            </a:r>
          </a:p>
        </p:txBody>
      </p:sp>
      <p:sp>
        <p:nvSpPr>
          <p:cNvPr id="14" name="Rectangle 13"/>
          <p:cNvSpPr/>
          <p:nvPr/>
        </p:nvSpPr>
        <p:spPr>
          <a:xfrm>
            <a:off x="6148388" y="1593652"/>
            <a:ext cx="5624512" cy="800100"/>
          </a:xfrm>
          <a:prstGeom prst="rect">
            <a:avLst/>
          </a:prstGeom>
          <a:solidFill>
            <a:srgbClr val="F2F7FC"/>
          </a:solidFill>
          <a:ln w="9525">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291262" y="1637467"/>
            <a:ext cx="838200" cy="445770"/>
          </a:xfrm>
          <a:prstGeom prst="rect">
            <a:avLst/>
          </a:prstGeom>
          <a:noFill/>
        </p:spPr>
        <p:txBody>
          <a:bodyPr wrap="none" anchor="ctr" lIns="0" rIns="0" tIns="0" bIns="0">
            <a:noAutofit/>
          </a:bodyPr>
          <a:lstStyle/>
          <a:p>
            <a:pPr algn="l">
              <a:lnSpc>
                <a:spcPts val="1800"/>
              </a:lnSpc>
              <a:spcBef>
                <a:spcPts val="0"/>
              </a:spcBef>
              <a:spcAft>
                <a:spcPts val="0"/>
              </a:spcAft>
            </a:pPr>
            <a:r>
              <a:rPr sz="1800" b="0">
                <a:solidFill>
                  <a:srgbClr val="3B3838"/>
                </a:solidFill>
                <a:latin typeface="맑은 고딕"/>
                <a:ea typeface="맑은 고딕"/>
                <a:cs typeface="맑은 고딕"/>
              </a:rPr>
              <a:t>🤔</a:t>
            </a:r>
          </a:p>
        </p:txBody>
      </p:sp>
      <p:sp>
        <p:nvSpPr>
          <p:cNvPr id="16" name="TextBox 15"/>
          <p:cNvSpPr txBox="1"/>
          <p:nvPr/>
        </p:nvSpPr>
        <p:spPr>
          <a:xfrm>
            <a:off x="6291262" y="1946077"/>
            <a:ext cx="6769894"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17365D"/>
                </a:solidFill>
                <a:latin typeface="맑은 고딕"/>
                <a:ea typeface="맑은 고딕"/>
                <a:cs typeface="맑은 고딕"/>
              </a:rPr>
              <a:t>‘취업과 경력개발’ 교과목을 수강하게 된 이유는?</a:t>
            </a:r>
          </a:p>
        </p:txBody>
      </p:sp>
      <p:sp>
        <p:nvSpPr>
          <p:cNvPr id="17" name="Rectangle 16"/>
          <p:cNvSpPr/>
          <p:nvPr/>
        </p:nvSpPr>
        <p:spPr>
          <a:xfrm>
            <a:off x="419100" y="2498527"/>
            <a:ext cx="5624512" cy="1085850"/>
          </a:xfrm>
          <a:prstGeom prst="rect">
            <a:avLst/>
          </a:prstGeom>
          <a:solidFill>
            <a:srgbClr val="F2F7FC"/>
          </a:solidFill>
          <a:ln w="9525">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561975" y="2542342"/>
            <a:ext cx="838200" cy="445770"/>
          </a:xfrm>
          <a:prstGeom prst="rect">
            <a:avLst/>
          </a:prstGeom>
          <a:noFill/>
        </p:spPr>
        <p:txBody>
          <a:bodyPr wrap="none" anchor="ctr" lIns="0" rIns="0" tIns="0" bIns="0">
            <a:noAutofit/>
          </a:bodyPr>
          <a:lstStyle/>
          <a:p>
            <a:pPr algn="l">
              <a:lnSpc>
                <a:spcPts val="1800"/>
              </a:lnSpc>
              <a:spcBef>
                <a:spcPts val="0"/>
              </a:spcBef>
              <a:spcAft>
                <a:spcPts val="0"/>
              </a:spcAft>
            </a:pPr>
            <a:r>
              <a:rPr sz="1800" b="0">
                <a:solidFill>
                  <a:srgbClr val="3B3838"/>
                </a:solidFill>
                <a:latin typeface="맑은 고딕"/>
                <a:ea typeface="맑은 고딕"/>
                <a:cs typeface="맑은 고딕"/>
              </a:rPr>
              <a:t>📚</a:t>
            </a:r>
          </a:p>
        </p:txBody>
      </p:sp>
      <p:sp>
        <p:nvSpPr>
          <p:cNvPr id="19" name="TextBox 18"/>
          <p:cNvSpPr txBox="1"/>
          <p:nvPr/>
        </p:nvSpPr>
        <p:spPr>
          <a:xfrm>
            <a:off x="561975" y="2908102"/>
            <a:ext cx="5338762" cy="590550"/>
          </a:xfrm>
          <a:prstGeom prst="rect">
            <a:avLst/>
          </a:prstGeom>
          <a:noFill/>
        </p:spPr>
        <p:txBody>
          <a:bodyPr wrap="square" anchor="t" lIns="0" rIns="0" tIns="0" bIns="0">
            <a:noAutofit/>
          </a:bodyPr>
          <a:lstStyle/>
          <a:p>
            <a:pPr algn="l">
              <a:lnSpc>
                <a:spcPts val="2250"/>
              </a:lnSpc>
              <a:spcBef>
                <a:spcPts val="0"/>
              </a:spcBef>
              <a:spcAft>
                <a:spcPts val="0"/>
              </a:spcAft>
            </a:pPr>
            <a:r>
              <a:rPr sz="1500" b="1" spc="-30">
                <a:solidFill>
                  <a:srgbClr val="17365D"/>
                </a:solidFill>
                <a:latin typeface="맑은 고딕"/>
                <a:ea typeface="맑은 고딕"/>
                <a:cs typeface="맑은 고딕"/>
              </a:rPr>
              <a:t>‘취업과 경력개발’ 교과목을 통해 배웠으면 하는 내용은 무엇인가요?</a:t>
            </a:r>
          </a:p>
        </p:txBody>
      </p:sp>
      <p:sp>
        <p:nvSpPr>
          <p:cNvPr id="20" name="Rectangle 19"/>
          <p:cNvSpPr/>
          <p:nvPr/>
        </p:nvSpPr>
        <p:spPr>
          <a:xfrm>
            <a:off x="6148388" y="2498527"/>
            <a:ext cx="5624512" cy="1085850"/>
          </a:xfrm>
          <a:prstGeom prst="rect">
            <a:avLst/>
          </a:prstGeom>
          <a:solidFill>
            <a:srgbClr val="F2F7FC"/>
          </a:solidFill>
          <a:ln w="9525">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6291262" y="2542342"/>
            <a:ext cx="838200" cy="445770"/>
          </a:xfrm>
          <a:prstGeom prst="rect">
            <a:avLst/>
          </a:prstGeom>
          <a:noFill/>
        </p:spPr>
        <p:txBody>
          <a:bodyPr wrap="none" anchor="ctr" lIns="0" rIns="0" tIns="0" bIns="0">
            <a:noAutofit/>
          </a:bodyPr>
          <a:lstStyle/>
          <a:p>
            <a:pPr algn="l">
              <a:lnSpc>
                <a:spcPts val="1800"/>
              </a:lnSpc>
              <a:spcBef>
                <a:spcPts val="0"/>
              </a:spcBef>
              <a:spcAft>
                <a:spcPts val="0"/>
              </a:spcAft>
            </a:pPr>
            <a:r>
              <a:rPr sz="1800" b="0">
                <a:solidFill>
                  <a:srgbClr val="3B3838"/>
                </a:solidFill>
                <a:latin typeface="맑은 고딕"/>
                <a:ea typeface="맑은 고딕"/>
                <a:cs typeface="맑은 고딕"/>
              </a:rPr>
              <a:t>🙋</a:t>
            </a:r>
          </a:p>
        </p:txBody>
      </p:sp>
      <p:sp>
        <p:nvSpPr>
          <p:cNvPr id="22" name="TextBox 21"/>
          <p:cNvSpPr txBox="1"/>
          <p:nvPr/>
        </p:nvSpPr>
        <p:spPr>
          <a:xfrm>
            <a:off x="6291262" y="2850952"/>
            <a:ext cx="8420576"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17365D"/>
                </a:solidFill>
                <a:latin typeface="맑은 고딕"/>
                <a:ea typeface="맑은 고딕"/>
                <a:cs typeface="맑은 고딕"/>
              </a:rPr>
              <a:t>‘취업과 경력개발’ 교과목 담당 교수에게 바라는 점이 있다면?</a:t>
            </a:r>
          </a:p>
        </p:txBody>
      </p:sp>
      <p:sp>
        <p:nvSpPr>
          <p:cNvPr id="23" name="TextBox 22"/>
          <p:cNvSpPr txBox="1"/>
          <p:nvPr/>
        </p:nvSpPr>
        <p:spPr>
          <a:xfrm>
            <a:off x="419100" y="3838218"/>
            <a:ext cx="2427922" cy="397192"/>
          </a:xfrm>
          <a:prstGeom prst="rect">
            <a:avLst/>
          </a:prstGeom>
          <a:noFill/>
        </p:spPr>
        <p:txBody>
          <a:bodyPr wrap="none" anchor="ctr" lIns="0" rIns="0" tIns="0" bIns="0">
            <a:noAutofit/>
          </a:bodyPr>
          <a:lstStyle/>
          <a:p>
            <a:pPr algn="l">
              <a:lnSpc>
                <a:spcPts val="2362"/>
              </a:lnSpc>
              <a:spcBef>
                <a:spcPts val="0"/>
              </a:spcBef>
              <a:spcAft>
                <a:spcPts val="0"/>
              </a:spcAft>
            </a:pPr>
            <a:r>
              <a:rPr sz="1575" b="1" spc="-32">
                <a:solidFill>
                  <a:srgbClr val="005BAC"/>
                </a:solidFill>
                <a:latin typeface="맑은 고딕"/>
                <a:ea typeface="맑은 고딕"/>
                <a:cs typeface="맑은 고딕"/>
              </a:rPr>
              <a:t>설문 방법 안내</a:t>
            </a:r>
          </a:p>
        </p:txBody>
      </p:sp>
      <p:sp>
        <p:nvSpPr>
          <p:cNvPr id="24" name="TextBox 23"/>
          <p:cNvSpPr txBox="1"/>
          <p:nvPr/>
        </p:nvSpPr>
        <p:spPr>
          <a:xfrm>
            <a:off x="190500" y="4440674"/>
            <a:ext cx="628650" cy="291465"/>
          </a:xfrm>
          <a:prstGeom prst="rect">
            <a:avLst/>
          </a:prstGeom>
          <a:noFill/>
        </p:spPr>
        <p:txBody>
          <a:bodyPr wrap="none" lIns="0" rIns="0" tIns="0" bIns="0" anchor="ctr">
            <a:noAutofit/>
          </a:bodyPr>
          <a:lstStyle/>
          <a:p>
            <a:pPr algn="ctr">
              <a:lnSpc>
                <a:spcPts val="1620"/>
              </a:lnSpc>
            </a:pPr>
            <a:r>
              <a:rPr sz="1350" b="1">
                <a:solidFill>
                  <a:srgbClr val="0071CE"/>
                </a:solidFill>
                <a:latin typeface="맑은 고딕"/>
                <a:ea typeface="맑은 고딕"/>
                <a:cs typeface="맑은 고딕"/>
              </a:rPr>
              <a:t>✓</a:t>
            </a:r>
          </a:p>
        </p:txBody>
      </p:sp>
      <p:sp>
        <p:nvSpPr>
          <p:cNvPr id="25" name="TextBox 24"/>
          <p:cNvSpPr txBox="1"/>
          <p:nvPr/>
        </p:nvSpPr>
        <p:spPr>
          <a:xfrm>
            <a:off x="676275" y="4434007"/>
            <a:ext cx="10968752"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구글 설문지 링크 주소는 </a:t>
            </a:r>
            <a:r>
              <a:rPr sz="1350" b="1">
                <a:solidFill>
                  <a:srgbClr val="005BAC"/>
                </a:solidFill>
                <a:latin typeface="맑은 고딕"/>
                <a:ea typeface="맑은 고딕"/>
                <a:cs typeface="맑은 고딕"/>
              </a:rPr>
              <a:t>‘전자 출결 / 강의 공지’</a:t>
            </a:r>
            <a:r>
              <a:rPr sz="1350" b="0">
                <a:solidFill>
                  <a:srgbClr val="3B3838"/>
                </a:solidFill>
                <a:latin typeface="맑은 고딕"/>
                <a:ea typeface="맑은 고딕"/>
                <a:cs typeface="맑은 고딕"/>
              </a:rPr>
              <a:t> 혹은 </a:t>
            </a:r>
            <a:r>
              <a:rPr sz="1350" b="1">
                <a:solidFill>
                  <a:srgbClr val="005BAC"/>
                </a:solidFill>
                <a:latin typeface="맑은 고딕"/>
                <a:ea typeface="맑은 고딕"/>
                <a:cs typeface="맑은 고딕"/>
              </a:rPr>
              <a:t>‘과제’</a:t>
            </a:r>
            <a:r>
              <a:rPr sz="1350" b="0">
                <a:solidFill>
                  <a:srgbClr val="3B3838"/>
                </a:solidFill>
                <a:latin typeface="맑은 고딕"/>
                <a:ea typeface="맑은 고딕"/>
                <a:cs typeface="맑은 고딕"/>
              </a:rPr>
              <a:t>에 게시 (OT 종결 후 업로드)</a:t>
            </a:r>
          </a:p>
        </p:txBody>
      </p:sp>
      <p:sp>
        <p:nvSpPr>
          <p:cNvPr id="26" name="Rectangle 25"/>
          <p:cNvSpPr/>
          <p:nvPr/>
        </p:nvSpPr>
        <p:spPr>
          <a:xfrm>
            <a:off x="419100" y="4818757"/>
            <a:ext cx="11353800" cy="766762"/>
          </a:xfrm>
          <a:prstGeom prst="rect">
            <a:avLst/>
          </a:prstGeom>
          <a:solidFill>
            <a:srgbClr val="F2F7F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27" name="Connector 26"/>
          <p:cNvCxnSpPr/>
          <p:nvPr/>
        </p:nvCxnSpPr>
        <p:spPr>
          <a:xfrm>
            <a:off x="419100" y="4818757"/>
            <a:ext cx="11353800" cy="0"/>
          </a:xfrm>
          <a:prstGeom prst="line">
            <a:avLst/>
          </a:prstGeom>
          <a:ln w="9525">
            <a:solidFill>
              <a:srgbClr val="9DC3E6"/>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1772900" y="4818757"/>
            <a:ext cx="0" cy="766763"/>
          </a:xfrm>
          <a:prstGeom prst="line">
            <a:avLst/>
          </a:prstGeom>
          <a:ln w="9525">
            <a:solidFill>
              <a:srgbClr val="9DC3E6"/>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19100" y="5585520"/>
            <a:ext cx="11353800" cy="0"/>
          </a:xfrm>
          <a:prstGeom prst="line">
            <a:avLst/>
          </a:prstGeom>
          <a:ln w="9525">
            <a:solidFill>
              <a:srgbClr val="9DC3E6"/>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19100" y="4818757"/>
            <a:ext cx="0" cy="766763"/>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57225" y="5004971"/>
            <a:ext cx="792480" cy="413385"/>
          </a:xfrm>
          <a:prstGeom prst="rect">
            <a:avLst/>
          </a:prstGeom>
          <a:noFill/>
        </p:spPr>
        <p:txBody>
          <a:bodyPr wrap="none" anchor="ctr" lIns="0" rIns="0" tIns="0" bIns="0">
            <a:noAutofit/>
          </a:bodyPr>
          <a:lstStyle/>
          <a:p>
            <a:pPr algn="l">
              <a:lnSpc>
                <a:spcPts val="2475"/>
              </a:lnSpc>
              <a:spcBef>
                <a:spcPts val="0"/>
              </a:spcBef>
              <a:spcAft>
                <a:spcPts val="0"/>
              </a:spcAft>
            </a:pPr>
            <a:r>
              <a:rPr sz="1650" b="0">
                <a:solidFill>
                  <a:srgbClr val="0000EE"/>
                </a:solidFill>
                <a:latin typeface="맑은 고딕"/>
                <a:ea typeface="맑은 고딕"/>
                <a:cs typeface="맑은 고딕"/>
              </a:rPr>
              <a:t>🔗</a:t>
            </a:r>
          </a:p>
        </p:txBody>
      </p:sp>
      <p:sp>
        <p:nvSpPr>
          <p:cNvPr id="32" name="TextBox 31"/>
          <p:cNvSpPr txBox="1"/>
          <p:nvPr/>
        </p:nvSpPr>
        <p:spPr>
          <a:xfrm>
            <a:off x="1028700" y="4898291"/>
            <a:ext cx="4612243" cy="364808"/>
          </a:xfrm>
          <a:prstGeom prst="rect">
            <a:avLst/>
          </a:prstGeom>
          <a:noFill/>
        </p:spPr>
        <p:txBody>
          <a:bodyPr wrap="none" anchor="ctr" lIns="0" rIns="0" tIns="0" bIns="0">
            <a:noAutofit/>
          </a:bodyPr>
          <a:lstStyle/>
          <a:p>
            <a:pPr algn="l">
              <a:lnSpc>
                <a:spcPts val="2137"/>
              </a:lnSpc>
              <a:spcBef>
                <a:spcPts val="0"/>
              </a:spcBef>
              <a:spcAft>
                <a:spcPts val="0"/>
              </a:spcAft>
            </a:pPr>
            <a:r>
              <a:rPr sz="1425" b="1">
                <a:solidFill>
                  <a:srgbClr val="17365D"/>
                </a:solidFill>
                <a:latin typeface="맑은 고딕"/>
                <a:ea typeface="맑은 고딕"/>
                <a:cs typeface="맑은 고딕"/>
              </a:rPr>
              <a:t>Y3반 강의 요구 분석 구글 설문지</a:t>
            </a:r>
          </a:p>
        </p:txBody>
      </p:sp>
      <p:sp>
        <p:nvSpPr>
          <p:cNvPr id="33" name="TextBox 32"/>
          <p:cNvSpPr txBox="1"/>
          <p:nvPr/>
        </p:nvSpPr>
        <p:spPr>
          <a:xfrm>
            <a:off x="1028700" y="5194042"/>
            <a:ext cx="4595574" cy="316230"/>
          </a:xfrm>
          <a:prstGeom prst="rect">
            <a:avLst/>
          </a:prstGeom>
          <a:noFill/>
        </p:spPr>
        <p:txBody>
          <a:bodyPr wrap="none" anchor="ctr" lIns="0" rIns="0" tIns="0" bIns="0">
            <a:noAutofit/>
          </a:bodyPr>
          <a:lstStyle/>
          <a:p>
            <a:pPr algn="l">
              <a:lnSpc>
                <a:spcPts val="1800"/>
              </a:lnSpc>
              <a:spcBef>
                <a:spcPts val="0"/>
              </a:spcBef>
              <a:spcAft>
                <a:spcPts val="0"/>
              </a:spcAft>
            </a:pPr>
            <a:r>
              <a:rPr sz="1200" b="1">
                <a:solidFill>
                  <a:srgbClr val="005BAC"/>
                </a:solidFill>
                <a:latin typeface="Arial"/>
                <a:ea typeface="맑은 고딕"/>
                <a:cs typeface="맑은 고딕"/>
              </a:rPr>
              <a:t>https://forms.gle/7r7zeoC7zy6xZ19i8</a:t>
            </a:r>
          </a:p>
        </p:txBody>
      </p:sp>
      <p:sp>
        <p:nvSpPr>
          <p:cNvPr id="34" name="TextBox 33"/>
          <p:cNvSpPr txBox="1"/>
          <p:nvPr/>
        </p:nvSpPr>
        <p:spPr>
          <a:xfrm>
            <a:off x="5786720" y="6506528"/>
            <a:ext cx="618411"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band.jpg"/>
          <p:cNvPicPr>
            <a:picLocks noChangeAspect="1"/>
          </p:cNvPicPr>
          <p:nvPr/>
        </p:nvPicPr>
        <p:blipFill>
          <a:blip r:embed="rId2"/>
          <a:stretch>
            <a:fillRect/>
          </a:stretch>
        </p:blipFill>
        <p:spPr>
          <a:xfrm>
            <a:off x="0" y="0"/>
            <a:ext cx="12192000" cy="3566071"/>
          </a:xfrm>
          <a:prstGeom prst="rect">
            <a:avLst/>
          </a:prstGeom>
        </p:spPr>
      </p:pic>
      <p:sp>
        <p:nvSpPr>
          <p:cNvPr id="4" name="Rectangle 3"/>
          <p:cNvSpPr/>
          <p:nvPr/>
        </p:nvSpPr>
        <p:spPr>
          <a:xfrm>
            <a:off x="0" y="3547021"/>
            <a:ext cx="7071360" cy="38100"/>
          </a:xfrm>
          <a:prstGeom prst="rect">
            <a:avLst/>
          </a:prstGeom>
          <a:ln>
            <a:noFill/>
          </a:ln>
          <a:effectLst/>
          <a:gradFill rotWithShape="1">
            <a:gsLst>
              <a:gs pos="0">
                <a:srgbClr val="005BAC"/>
              </a:gs>
              <a:gs pos="100000">
                <a:srgbClr val="005BAC">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0" y="3623221"/>
            <a:ext cx="4876800" cy="38100"/>
          </a:xfrm>
          <a:prstGeom prst="rect">
            <a:avLst/>
          </a:prstGeom>
          <a:ln>
            <a:noFill/>
          </a:ln>
          <a:effectLst/>
          <a:gradFill rotWithShape="1">
            <a:gsLst>
              <a:gs pos="0">
                <a:srgbClr val="0071CE"/>
              </a:gs>
              <a:gs pos="100000">
                <a:srgbClr val="0071CE">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0" y="3699421"/>
            <a:ext cx="3413760" cy="38100"/>
          </a:xfrm>
          <a:prstGeom prst="rect">
            <a:avLst/>
          </a:prstGeom>
          <a:ln>
            <a:noFill/>
          </a:ln>
          <a:effectLst/>
          <a:gradFill rotWithShape="1">
            <a:gsLst>
              <a:gs pos="0">
                <a:srgbClr val="4BA3E3"/>
              </a:gs>
              <a:gs pos="100000">
                <a:srgbClr val="4BA3E3">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247650" y="3032671"/>
            <a:ext cx="1066800" cy="1066800"/>
          </a:xfrm>
          <a:prstGeom prst="ellipse">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rot="1873891">
            <a:off x="277468" y="2897338"/>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C</a:t>
            </a:r>
          </a:p>
        </p:txBody>
      </p:sp>
      <p:sp>
        <p:nvSpPr>
          <p:cNvPr id="9" name="TextBox 8"/>
          <p:cNvSpPr txBox="1"/>
          <p:nvPr/>
        </p:nvSpPr>
        <p:spPr>
          <a:xfrm rot="2597530">
            <a:off x="385778" y="2979733"/>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H</a:t>
            </a:r>
          </a:p>
        </p:txBody>
      </p:sp>
      <p:sp>
        <p:nvSpPr>
          <p:cNvPr id="10" name="TextBox 9"/>
          <p:cNvSpPr txBox="1"/>
          <p:nvPr/>
        </p:nvSpPr>
        <p:spPr>
          <a:xfrm rot="3289047">
            <a:off x="471016" y="3077979"/>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A</a:t>
            </a:r>
          </a:p>
        </p:txBody>
      </p:sp>
      <p:sp>
        <p:nvSpPr>
          <p:cNvPr id="11" name="TextBox 10"/>
          <p:cNvSpPr txBox="1"/>
          <p:nvPr/>
        </p:nvSpPr>
        <p:spPr>
          <a:xfrm rot="3979591">
            <a:off x="534833" y="3191105"/>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P</a:t>
            </a:r>
          </a:p>
        </p:txBody>
      </p:sp>
      <p:sp>
        <p:nvSpPr>
          <p:cNvPr id="12" name="TextBox 11"/>
          <p:cNvSpPr txBox="1"/>
          <p:nvPr/>
        </p:nvSpPr>
        <p:spPr>
          <a:xfrm rot="4647428">
            <a:off x="573879" y="3310511"/>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T</a:t>
            </a:r>
          </a:p>
        </p:txBody>
      </p:sp>
      <p:sp>
        <p:nvSpPr>
          <p:cNvPr id="13" name="TextBox 12"/>
          <p:cNvSpPr txBox="1"/>
          <p:nvPr/>
        </p:nvSpPr>
        <p:spPr>
          <a:xfrm rot="5322137">
            <a:off x="589171" y="3436504"/>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E</a:t>
            </a:r>
          </a:p>
        </p:txBody>
      </p:sp>
      <p:sp>
        <p:nvSpPr>
          <p:cNvPr id="14" name="TextBox 13"/>
          <p:cNvSpPr txBox="1"/>
          <p:nvPr/>
        </p:nvSpPr>
        <p:spPr>
          <a:xfrm rot="6029545">
            <a:off x="578507" y="3569122"/>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R</a:t>
            </a:r>
          </a:p>
        </p:txBody>
      </p:sp>
      <p:sp>
        <p:nvSpPr>
          <p:cNvPr id="15" name="TextBox 14"/>
          <p:cNvSpPr txBox="1"/>
          <p:nvPr/>
        </p:nvSpPr>
        <p:spPr>
          <a:xfrm>
            <a:off x="-43532" y="3267938"/>
            <a:ext cx="658564" cy="615315"/>
          </a:xfrm>
          <a:prstGeom prst="rect">
            <a:avLst/>
          </a:prstGeom>
          <a:noFill/>
        </p:spPr>
        <p:txBody>
          <a:bodyPr wrap="none" lIns="0" rIns="0" tIns="0" bIns="0" anchor="ctr">
            <a:noAutofit/>
          </a:bodyPr>
          <a:lstStyle/>
          <a:p>
            <a:pPr algn="ctr">
              <a:lnSpc>
                <a:spcPts val="3420"/>
              </a:lnSpc>
            </a:pPr>
            <a:r>
              <a:rPr sz="2850" b="1">
                <a:solidFill>
                  <a:srgbClr val="17365D"/>
                </a:solidFill>
                <a:latin typeface="Arial"/>
                <a:ea typeface="맑은 고딕"/>
                <a:cs typeface="맑은 고딕"/>
              </a:rPr>
              <a:t>5</a:t>
            </a:r>
          </a:p>
        </p:txBody>
      </p:sp>
      <p:sp>
        <p:nvSpPr>
          <p:cNvPr id="16" name="TextBox 15"/>
          <p:cNvSpPr txBox="1"/>
          <p:nvPr/>
        </p:nvSpPr>
        <p:spPr>
          <a:xfrm>
            <a:off x="6757273" y="4067651"/>
            <a:ext cx="5015627" cy="737235"/>
          </a:xfrm>
          <a:prstGeom prst="rect">
            <a:avLst/>
          </a:prstGeom>
          <a:noFill/>
        </p:spPr>
        <p:txBody>
          <a:bodyPr wrap="none" anchor="ctr" lIns="0" rIns="0" tIns="0" bIns="0">
            <a:noAutofit/>
          </a:bodyPr>
          <a:lstStyle/>
          <a:p>
            <a:pPr algn="r">
              <a:lnSpc>
                <a:spcPts val="4725"/>
              </a:lnSpc>
              <a:spcBef>
                <a:spcPts val="0"/>
              </a:spcBef>
              <a:spcAft>
                <a:spcPts val="0"/>
              </a:spcAft>
            </a:pPr>
            <a:r>
              <a:rPr sz="3150" b="1" spc="-110">
                <a:solidFill>
                  <a:srgbClr val="17365D"/>
                </a:solidFill>
                <a:latin typeface="맑은 고딕"/>
                <a:ea typeface="맑은 고딕"/>
                <a:cs typeface="맑은 고딕"/>
              </a:rPr>
              <a:t>창업 인식도 조사</a:t>
            </a:r>
          </a:p>
        </p:txBody>
      </p:sp>
      <p:sp>
        <p:nvSpPr>
          <p:cNvPr id="17" name="TextBox 16"/>
          <p:cNvSpPr txBox="1"/>
          <p:nvPr/>
        </p:nvSpPr>
        <p:spPr>
          <a:xfrm>
            <a:off x="3483769" y="4632871"/>
            <a:ext cx="8289131" cy="381000"/>
          </a:xfrm>
          <a:prstGeom prst="rect">
            <a:avLst/>
          </a:prstGeom>
          <a:noFill/>
        </p:spPr>
        <p:txBody>
          <a:bodyPr wrap="none" anchor="ctr" lIns="0" rIns="0" tIns="0" bIns="0">
            <a:noAutofit/>
          </a:bodyPr>
          <a:lstStyle/>
          <a:p>
            <a:pPr algn="r">
              <a:lnSpc>
                <a:spcPts val="2250"/>
              </a:lnSpc>
              <a:spcBef>
                <a:spcPts val="0"/>
              </a:spcBef>
              <a:spcAft>
                <a:spcPts val="0"/>
              </a:spcAft>
            </a:pPr>
            <a:r>
              <a:rPr sz="1500" b="1">
                <a:solidFill>
                  <a:srgbClr val="63666B"/>
                </a:solidFill>
                <a:latin typeface="맑은 고딕"/>
                <a:ea typeface="맑은 고딕"/>
                <a:cs typeface="맑은 고딕"/>
              </a:rPr>
              <a:t>창업에 대한 학습자들의 인식 정도를 파악하여 수업에 반영</a:t>
            </a:r>
          </a:p>
        </p:txBody>
      </p:sp>
      <p:sp>
        <p:nvSpPr>
          <p:cNvPr id="18" name="TextBox 17"/>
          <p:cNvSpPr txBox="1"/>
          <p:nvPr/>
        </p:nvSpPr>
        <p:spPr>
          <a:xfrm>
            <a:off x="10846296" y="5971222"/>
            <a:ext cx="1863566" cy="802005"/>
          </a:xfrm>
          <a:prstGeom prst="rect">
            <a:avLst/>
          </a:prstGeom>
          <a:noFill/>
        </p:spPr>
        <p:txBody>
          <a:bodyPr wrap="none" anchor="ctr" lIns="0" rIns="0" tIns="0" bIns="0">
            <a:noAutofit/>
          </a:bodyPr>
          <a:lstStyle/>
          <a:p>
            <a:pPr algn="l">
              <a:lnSpc>
                <a:spcPts val="3450"/>
              </a:lnSpc>
              <a:spcBef>
                <a:spcPts val="0"/>
              </a:spcBef>
              <a:spcAft>
                <a:spcPts val="0"/>
              </a:spcAft>
            </a:pPr>
            <a:r>
              <a:rPr sz="3450" b="1" spc="-190">
                <a:solidFill>
                  <a:srgbClr val="17365D"/>
                </a:solidFill>
                <a:latin typeface="Arial"/>
                <a:ea typeface="맑은 고딕"/>
                <a:cs typeface="맑은 고딕"/>
              </a:rPr>
              <a:t>dima</a:t>
            </a:r>
          </a:p>
        </p:txBody>
      </p:sp>
      <p:sp>
        <p:nvSpPr>
          <p:cNvPr id="19" name="Oval 18"/>
          <p:cNvSpPr/>
          <p:nvPr/>
        </p:nvSpPr>
        <p:spPr>
          <a:xfrm>
            <a:off x="11097194" y="6001131"/>
            <a:ext cx="83248" cy="83248"/>
          </a:xfrm>
          <a:prstGeom prst="ellipse">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1978223" cy="323850"/>
          </a:xfrm>
          <a:prstGeom prst="rect">
            <a:avLst/>
          </a:prstGeom>
          <a:solidFill>
            <a:srgbClr val="002A55"/>
          </a:solidFill>
          <a:ln w="19050">
            <a:solidFill>
              <a:srgbClr val="FFF100"/>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609600" y="103346"/>
            <a:ext cx="536019" cy="364808"/>
          </a:xfrm>
          <a:prstGeom prst="rect">
            <a:avLst/>
          </a:prstGeom>
          <a:noFill/>
        </p:spPr>
        <p:txBody>
          <a:bodyPr wrap="none" anchor="ctr" lIns="0" rIns="0" tIns="0" bIns="0">
            <a:noAutofit/>
          </a:bodyPr>
          <a:lstStyle/>
          <a:p>
            <a:pPr algn="l">
              <a:lnSpc>
                <a:spcPts val="1425"/>
              </a:lnSpc>
              <a:spcBef>
                <a:spcPts val="0"/>
              </a:spcBef>
              <a:spcAft>
                <a:spcPts val="0"/>
              </a:spcAft>
            </a:pPr>
            <a:r>
              <a:rPr sz="1425" b="1" spc="-30">
                <a:solidFill>
                  <a:srgbClr val="FFF100"/>
                </a:solidFill>
                <a:latin typeface="Arial"/>
                <a:ea typeface="맑은 고딕"/>
                <a:cs typeface="맑은 고딕"/>
              </a:rPr>
              <a:t>5</a:t>
            </a:r>
          </a:p>
        </p:txBody>
      </p:sp>
      <p:sp>
        <p:nvSpPr>
          <p:cNvPr id="7" name="TextBox 6"/>
          <p:cNvSpPr txBox="1"/>
          <p:nvPr/>
        </p:nvSpPr>
        <p:spPr>
          <a:xfrm>
            <a:off x="801737" y="85725"/>
            <a:ext cx="2629138"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FFF"/>
                </a:solidFill>
                <a:latin typeface="맑은 고딕"/>
                <a:ea typeface="맑은 고딕"/>
                <a:cs typeface="맑은 고딕"/>
              </a:rPr>
              <a:t>창업 인식도 조사</a:t>
            </a:r>
          </a:p>
        </p:txBody>
      </p:sp>
      <p:sp>
        <p:nvSpPr>
          <p:cNvPr id="8" name="TextBox 7"/>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9" name="Oval 8"/>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100" y="852071"/>
            <a:ext cx="6815138"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51">
                <a:solidFill>
                  <a:srgbClr val="17365D"/>
                </a:solidFill>
                <a:latin typeface="맑은 고딕"/>
                <a:ea typeface="맑은 고딕"/>
                <a:cs typeface="맑은 고딕"/>
              </a:rPr>
              <a:t>창업교육 정책에 반영하고자 합니다.</a:t>
            </a:r>
          </a:p>
        </p:txBody>
      </p:sp>
      <p:sp>
        <p:nvSpPr>
          <p:cNvPr id="11" name="Rectangle 10"/>
          <p:cNvSpPr/>
          <p:nvPr/>
        </p:nvSpPr>
        <p:spPr>
          <a:xfrm>
            <a:off x="419100" y="1774627"/>
            <a:ext cx="11353800" cy="5000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2" name="Connector 11"/>
          <p:cNvCxnSpPr/>
          <p:nvPr/>
        </p:nvCxnSpPr>
        <p:spPr>
          <a:xfrm>
            <a:off x="419100" y="1774627"/>
            <a:ext cx="113538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1772900" y="1774627"/>
            <a:ext cx="0" cy="500062"/>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9100" y="2274689"/>
            <a:ext cx="113538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9100" y="1774627"/>
            <a:ext cx="0" cy="500062"/>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28650" y="1812250"/>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17" name="TextBox 16"/>
          <p:cNvSpPr txBox="1"/>
          <p:nvPr/>
        </p:nvSpPr>
        <p:spPr>
          <a:xfrm>
            <a:off x="1019175" y="1844635"/>
            <a:ext cx="10081498" cy="364808"/>
          </a:xfrm>
          <a:prstGeom prst="rect">
            <a:avLst/>
          </a:prstGeom>
          <a:noFill/>
        </p:spPr>
        <p:txBody>
          <a:bodyPr wrap="none" anchor="ctr" lIns="0" rIns="0" tIns="0" bIns="0">
            <a:noAutofit/>
          </a:bodyPr>
          <a:lstStyle/>
          <a:p>
            <a:pPr algn="l">
              <a:lnSpc>
                <a:spcPts val="2137"/>
              </a:lnSpc>
              <a:spcBef>
                <a:spcPts val="0"/>
              </a:spcBef>
              <a:spcAft>
                <a:spcPts val="0"/>
              </a:spcAft>
            </a:pPr>
            <a:r>
              <a:rPr sz="1425" b="0">
                <a:solidFill>
                  <a:srgbClr val="3B3838"/>
                </a:solidFill>
                <a:latin typeface="맑은 고딕"/>
                <a:ea typeface="맑은 고딕"/>
                <a:cs typeface="맑은 고딕"/>
              </a:rPr>
              <a:t>대학생 창업교육이 창업가 정신 및 진로준비행동에 미치는 영향에 대한 조사</a:t>
            </a:r>
          </a:p>
        </p:txBody>
      </p:sp>
      <p:sp>
        <p:nvSpPr>
          <p:cNvPr id="18" name="TextBox 17"/>
          <p:cNvSpPr txBox="1"/>
          <p:nvPr/>
        </p:nvSpPr>
        <p:spPr>
          <a:xfrm>
            <a:off x="419100" y="2654022"/>
            <a:ext cx="5577840" cy="308134"/>
          </a:xfrm>
          <a:prstGeom prst="rect">
            <a:avLst/>
          </a:prstGeom>
          <a:noFill/>
        </p:spPr>
        <p:txBody>
          <a:bodyPr wrap="none" anchor="ctr" lIns="0" rIns="0" tIns="0" bIns="0">
            <a:noAutofit/>
          </a:bodyPr>
          <a:lstStyle/>
          <a:p>
            <a:pPr algn="l">
              <a:lnSpc>
                <a:spcPts val="1685"/>
              </a:lnSpc>
              <a:spcBef>
                <a:spcPts val="0"/>
              </a:spcBef>
              <a:spcAft>
                <a:spcPts val="0"/>
              </a:spcAft>
            </a:pPr>
            <a:r>
              <a:rPr sz="1162" b="1">
                <a:solidFill>
                  <a:srgbClr val="005BAC"/>
                </a:solidFill>
                <a:latin typeface="맑은 고딕"/>
                <a:ea typeface="맑은 고딕"/>
                <a:cs typeface="맑은 고딕"/>
              </a:rPr>
              <a:t>안녕하십니까? 귀하의 행복과 발전을 기원합니다.</a:t>
            </a:r>
          </a:p>
        </p:txBody>
      </p:sp>
      <p:sp>
        <p:nvSpPr>
          <p:cNvPr id="19" name="TextBox 18"/>
          <p:cNvSpPr txBox="1"/>
          <p:nvPr/>
        </p:nvSpPr>
        <p:spPr>
          <a:xfrm>
            <a:off x="419100" y="3284041"/>
            <a:ext cx="5562600" cy="680145"/>
          </a:xfrm>
          <a:prstGeom prst="rect">
            <a:avLst/>
          </a:prstGeom>
          <a:noFill/>
        </p:spPr>
        <p:txBody>
          <a:bodyPr wrap="square" anchor="t" lIns="0" rIns="0" tIns="0" bIns="0">
            <a:noAutofit/>
          </a:bodyPr>
          <a:lstStyle/>
          <a:p>
            <a:pPr algn="l">
              <a:lnSpc>
                <a:spcPts val="1685"/>
              </a:lnSpc>
              <a:spcBef>
                <a:spcPts val="0"/>
              </a:spcBef>
              <a:spcAft>
                <a:spcPts val="0"/>
              </a:spcAft>
            </a:pPr>
            <a:r>
              <a:rPr sz="1162" b="0">
                <a:solidFill>
                  <a:srgbClr val="3B3838"/>
                </a:solidFill>
                <a:latin typeface="맑은 고딕"/>
                <a:ea typeface="맑은 고딕"/>
                <a:cs typeface="맑은 고딕"/>
              </a:rPr>
              <a:t>4차 산업혁명 시대의 도래와 함께 방송·예술 분야에 대한 사회적 관심이 날로 확대되고 있습니다. 특히 4차 산업혁명은 방송(미디어) 기술과 예술 콘텐츠의 결합을 통한 신산업 창출을 가속화할 것으로 예상됩니다.</a:t>
            </a:r>
          </a:p>
        </p:txBody>
      </p:sp>
      <p:sp>
        <p:nvSpPr>
          <p:cNvPr id="20" name="TextBox 19"/>
          <p:cNvSpPr txBox="1"/>
          <p:nvPr/>
        </p:nvSpPr>
        <p:spPr>
          <a:xfrm>
            <a:off x="419100" y="4297561"/>
            <a:ext cx="5562600" cy="1536204"/>
          </a:xfrm>
          <a:prstGeom prst="rect">
            <a:avLst/>
          </a:prstGeom>
          <a:noFill/>
        </p:spPr>
        <p:txBody>
          <a:bodyPr wrap="square" anchor="t" lIns="0" rIns="0" tIns="0" bIns="0">
            <a:noAutofit/>
          </a:bodyPr>
          <a:lstStyle/>
          <a:p>
            <a:pPr algn="l">
              <a:lnSpc>
                <a:spcPts val="1685"/>
              </a:lnSpc>
              <a:spcBef>
                <a:spcPts val="0"/>
              </a:spcBef>
              <a:spcAft>
                <a:spcPts val="0"/>
              </a:spcAft>
            </a:pPr>
            <a:r>
              <a:rPr sz="1162" b="0">
                <a:solidFill>
                  <a:srgbClr val="3B3838"/>
                </a:solidFill>
                <a:latin typeface="맑은 고딕"/>
                <a:ea typeface="맑은 고딕"/>
                <a:cs typeface="맑은 고딕"/>
              </a:rPr>
              <a:t>이에 본교에서는 학생들의 취업 및 창업역량 강화를 위해 LINC+ 사업의 일환으로 다양한 창업교육지원사업(방송예술 창업가 양성특강, 방송예술 창업가 양성 캠프, 지적재산권반 운영, 1인 예술가 양성 강좌 운영 등)과 창업보육지원사업(문화콘텐츠 창업가 육성, 창업교육센터 구축, 창업경진대회 등), 창업사업화지원사업(창업가 양성 정부사업 참여지원, 1인 예술가 벤치마킹 지원, 창업교육센터 활성화 등), 취업교육 및 취업지원사업(문화예술인 양성 강좌 운영, 1인 예술가 채용오디션 등)을 전개하고 있습니다.</a:t>
            </a:r>
          </a:p>
        </p:txBody>
      </p:sp>
      <p:sp>
        <p:nvSpPr>
          <p:cNvPr id="21" name="TextBox 20"/>
          <p:cNvSpPr txBox="1"/>
          <p:nvPr/>
        </p:nvSpPr>
        <p:spPr>
          <a:xfrm>
            <a:off x="6210300" y="2698552"/>
            <a:ext cx="5562600" cy="680145"/>
          </a:xfrm>
          <a:prstGeom prst="rect">
            <a:avLst/>
          </a:prstGeom>
          <a:noFill/>
        </p:spPr>
        <p:txBody>
          <a:bodyPr wrap="square" anchor="t" lIns="0" rIns="0" tIns="0" bIns="0">
            <a:noAutofit/>
          </a:bodyPr>
          <a:lstStyle/>
          <a:p>
            <a:pPr algn="l">
              <a:lnSpc>
                <a:spcPts val="1685"/>
              </a:lnSpc>
              <a:spcBef>
                <a:spcPts val="0"/>
              </a:spcBef>
              <a:spcAft>
                <a:spcPts val="0"/>
              </a:spcAft>
            </a:pPr>
            <a:r>
              <a:rPr sz="1162" b="0">
                <a:solidFill>
                  <a:srgbClr val="3B3838"/>
                </a:solidFill>
                <a:latin typeface="맑은 고딕"/>
                <a:ea typeface="맑은 고딕"/>
                <a:cs typeface="맑은 고딕"/>
              </a:rPr>
              <a:t>이에 본 설문은 창업 교과목이 창업가 정신 및 진로역량 강화에 미치는 효과를 측정하기 위해 작성되었습니다. 본 연구를 통해 도출된 결과물은 학생들의 창업교육 정책 결정에 의미 있게 활용될 것입니다. 여러분의 소중한 의견 주시면 감사하겠습니다.</a:t>
            </a:r>
          </a:p>
        </p:txBody>
      </p:sp>
      <p:sp>
        <p:nvSpPr>
          <p:cNvPr id="22" name="Rectangle 21"/>
          <p:cNvSpPr/>
          <p:nvPr/>
        </p:nvSpPr>
        <p:spPr>
          <a:xfrm>
            <a:off x="6210300" y="3745409"/>
            <a:ext cx="5562600" cy="77152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23" name="Connector 22"/>
          <p:cNvCxnSpPr/>
          <p:nvPr/>
        </p:nvCxnSpPr>
        <p:spPr>
          <a:xfrm>
            <a:off x="6210300" y="3745409"/>
            <a:ext cx="55626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1772900" y="3745409"/>
            <a:ext cx="0" cy="771525"/>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210300" y="4516934"/>
            <a:ext cx="55626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210300" y="3745409"/>
            <a:ext cx="0" cy="771525"/>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419850" y="3783032"/>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28" name="TextBox 27"/>
          <p:cNvSpPr txBox="1"/>
          <p:nvPr/>
        </p:nvSpPr>
        <p:spPr>
          <a:xfrm>
            <a:off x="6810375" y="3869234"/>
            <a:ext cx="4800600" cy="571500"/>
          </a:xfrm>
          <a:prstGeom prst="rect">
            <a:avLst/>
          </a:prstGeom>
          <a:noFill/>
        </p:spPr>
        <p:txBody>
          <a:bodyPr wrap="square" anchor="t" lIns="0" rIns="0" tIns="0" bIns="0">
            <a:noAutofit/>
          </a:bodyPr>
          <a:lstStyle/>
          <a:p>
            <a:pPr algn="l">
              <a:lnSpc>
                <a:spcPts val="2137"/>
              </a:lnSpc>
              <a:spcBef>
                <a:spcPts val="0"/>
              </a:spcBef>
              <a:spcAft>
                <a:spcPts val="0"/>
              </a:spcAft>
            </a:pPr>
            <a:r>
              <a:rPr sz="1425" b="0">
                <a:solidFill>
                  <a:srgbClr val="3B3838"/>
                </a:solidFill>
                <a:latin typeface="맑은 고딕"/>
                <a:ea typeface="맑은 고딕"/>
                <a:cs typeface="맑은 고딕"/>
              </a:rPr>
              <a:t>본 설문은 </a:t>
            </a:r>
            <a:r>
              <a:rPr sz="1425" b="1">
                <a:solidFill>
                  <a:srgbClr val="005BAC"/>
                </a:solidFill>
                <a:latin typeface="맑은 고딕"/>
                <a:ea typeface="맑은 고딕"/>
                <a:cs typeface="맑은 고딕"/>
              </a:rPr>
              <a:t>통계법 33조(비밀의 보호)</a:t>
            </a:r>
            <a:r>
              <a:rPr sz="1425" b="0">
                <a:solidFill>
                  <a:srgbClr val="3B3838"/>
                </a:solidFill>
                <a:latin typeface="맑은 고딕"/>
                <a:ea typeface="맑은 고딕"/>
                <a:cs typeface="맑은 고딕"/>
              </a:rPr>
              <a:t>에 따라 개인정보는 통계 목적으로만 사용·보호됩니다.</a:t>
            </a:r>
          </a:p>
        </p:txBody>
      </p:sp>
      <p:sp>
        <p:nvSpPr>
          <p:cNvPr id="29" name="Rectangle 28"/>
          <p:cNvSpPr/>
          <p:nvPr/>
        </p:nvSpPr>
        <p:spPr>
          <a:xfrm>
            <a:off x="6210300" y="4774109"/>
            <a:ext cx="5562600" cy="1482626"/>
          </a:xfrm>
          <a:prstGeom prst="rect">
            <a:avLst/>
          </a:prstGeom>
          <a:solidFill>
            <a:srgbClr val="F2F7FC"/>
          </a:solidFill>
          <a:ln w="9525">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6353175" y="4817924"/>
            <a:ext cx="838200" cy="445770"/>
          </a:xfrm>
          <a:prstGeom prst="rect">
            <a:avLst/>
          </a:prstGeom>
          <a:noFill/>
        </p:spPr>
        <p:txBody>
          <a:bodyPr wrap="none" anchor="ctr" lIns="0" rIns="0" tIns="0" bIns="0">
            <a:noAutofit/>
          </a:bodyPr>
          <a:lstStyle/>
          <a:p>
            <a:pPr algn="l">
              <a:lnSpc>
                <a:spcPts val="1800"/>
              </a:lnSpc>
              <a:spcBef>
                <a:spcPts val="0"/>
              </a:spcBef>
              <a:spcAft>
                <a:spcPts val="0"/>
              </a:spcAft>
            </a:pPr>
            <a:r>
              <a:rPr sz="1800" b="0">
                <a:solidFill>
                  <a:srgbClr val="3B3838"/>
                </a:solidFill>
                <a:latin typeface="맑은 고딕"/>
                <a:ea typeface="맑은 고딕"/>
                <a:cs typeface="맑은 고딕"/>
              </a:rPr>
              <a:t>🧑‍🏫</a:t>
            </a:r>
          </a:p>
        </p:txBody>
      </p:sp>
      <p:sp>
        <p:nvSpPr>
          <p:cNvPr id="31" name="TextBox 30"/>
          <p:cNvSpPr txBox="1"/>
          <p:nvPr/>
        </p:nvSpPr>
        <p:spPr>
          <a:xfrm>
            <a:off x="6353175" y="5130820"/>
            <a:ext cx="2005965" cy="267652"/>
          </a:xfrm>
          <a:prstGeom prst="rect">
            <a:avLst/>
          </a:prstGeom>
          <a:noFill/>
        </p:spPr>
        <p:txBody>
          <a:bodyPr wrap="none" anchor="ctr" lIns="0" rIns="0" tIns="0" bIns="0">
            <a:noAutofit/>
          </a:bodyPr>
          <a:lstStyle/>
          <a:p>
            <a:pPr algn="l">
              <a:lnSpc>
                <a:spcPts val="1462"/>
              </a:lnSpc>
              <a:spcBef>
                <a:spcPts val="0"/>
              </a:spcBef>
              <a:spcAft>
                <a:spcPts val="0"/>
              </a:spcAft>
            </a:pPr>
            <a:r>
              <a:rPr sz="975" b="1" spc="117">
                <a:solidFill>
                  <a:srgbClr val="0071CE"/>
                </a:solidFill>
                <a:latin typeface="Arial"/>
                <a:ea typeface="맑은 고딕"/>
                <a:cs typeface="맑은 고딕"/>
              </a:rPr>
              <a:t>RESEARCHER</a:t>
            </a:r>
          </a:p>
        </p:txBody>
      </p:sp>
      <p:sp>
        <p:nvSpPr>
          <p:cNvPr id="32" name="TextBox 31"/>
          <p:cNvSpPr txBox="1"/>
          <p:nvPr/>
        </p:nvSpPr>
        <p:spPr>
          <a:xfrm>
            <a:off x="6353175" y="5350371"/>
            <a:ext cx="1874758"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17365D"/>
                </a:solidFill>
                <a:latin typeface="맑은 고딕"/>
                <a:ea typeface="맑은 고딕"/>
                <a:cs typeface="맑은 고딕"/>
              </a:rPr>
              <a:t>연구책임자</a:t>
            </a:r>
          </a:p>
        </p:txBody>
      </p:sp>
      <p:sp>
        <p:nvSpPr>
          <p:cNvPr id="33" name="TextBox 32"/>
          <p:cNvSpPr txBox="1"/>
          <p:nvPr/>
        </p:nvSpPr>
        <p:spPr>
          <a:xfrm>
            <a:off x="6353175" y="5712321"/>
            <a:ext cx="5276850" cy="458688"/>
          </a:xfrm>
          <a:prstGeom prst="rect">
            <a:avLst/>
          </a:prstGeom>
          <a:noFill/>
        </p:spPr>
        <p:txBody>
          <a:bodyPr wrap="square" anchor="t" lIns="0" rIns="0" tIns="0" bIns="0">
            <a:noAutofit/>
          </a:bodyPr>
          <a:lstStyle/>
          <a:p>
            <a:pPr algn="l">
              <a:lnSpc>
                <a:spcPts val="1655"/>
              </a:lnSpc>
              <a:spcBef>
                <a:spcPts val="0"/>
              </a:spcBef>
              <a:spcAft>
                <a:spcPts val="0"/>
              </a:spcAft>
            </a:pPr>
            <a:r>
              <a:rPr sz="1200" b="0">
                <a:solidFill>
                  <a:srgbClr val="3B3838"/>
                </a:solidFill>
                <a:latin typeface="맑은 고딕"/>
                <a:ea typeface="맑은 고딕"/>
                <a:cs typeface="맑은 고딕"/>
              </a:rPr>
              <a:t>동아방송예술대학교 김성길 교수</a:t>
            </a:r>
            <a:r>
              <a:rPr sz="1200" b="0">
                <a:solidFill>
                  <a:srgbClr val="3B3838"/>
                </a:solidFill>
                <a:latin typeface="맑은 고딕"/>
                <a:ea typeface="맑은 고딕"/>
                <a:cs typeface="맑은 고딕"/>
              </a:rPr>
              <a:t/>
            </a:r>
          </a:p>
          <a:p>
            <a:pPr algn="l">
              <a:lnSpc>
                <a:spcPts val="1655"/>
              </a:lnSpc>
              <a:spcBef>
                <a:spcPts val="0"/>
              </a:spcBef>
              <a:spcAft>
                <a:spcPts val="0"/>
              </a:spcAft>
            </a:pPr>
            <a:r>
              <a:rPr sz="1200" b="0">
                <a:solidFill>
                  <a:srgbClr val="3B3838"/>
                </a:solidFill>
                <a:latin typeface="맑은 고딕"/>
                <a:ea typeface="맑은 고딕"/>
                <a:cs typeface="맑은 고딕"/>
              </a:rPr>
              <a:t/>
            </a:r>
            <a:r>
              <a:rPr sz="1200" b="0">
                <a:solidFill>
                  <a:srgbClr val="3B3838"/>
                </a:solidFill>
                <a:latin typeface="맑은 고딕"/>
                <a:ea typeface="맑은 고딕"/>
                <a:cs typeface="맑은 고딕"/>
              </a:rPr>
              <a:t>careerdima@gmail.com</a:t>
            </a:r>
          </a:p>
        </p:txBody>
      </p:sp>
      <p:sp>
        <p:nvSpPr>
          <p:cNvPr id="34" name="TextBox 33"/>
          <p:cNvSpPr txBox="1"/>
          <p:nvPr/>
        </p:nvSpPr>
        <p:spPr>
          <a:xfrm>
            <a:off x="5786720" y="6506528"/>
            <a:ext cx="618411"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1978223" cy="323850"/>
          </a:xfrm>
          <a:prstGeom prst="rect">
            <a:avLst/>
          </a:prstGeom>
          <a:solidFill>
            <a:srgbClr val="002A55"/>
          </a:solidFill>
          <a:ln w="19050">
            <a:solidFill>
              <a:srgbClr val="FFF100"/>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609600" y="103346"/>
            <a:ext cx="536019" cy="364808"/>
          </a:xfrm>
          <a:prstGeom prst="rect">
            <a:avLst/>
          </a:prstGeom>
          <a:noFill/>
        </p:spPr>
        <p:txBody>
          <a:bodyPr wrap="none" anchor="ctr" lIns="0" rIns="0" tIns="0" bIns="0">
            <a:noAutofit/>
          </a:bodyPr>
          <a:lstStyle/>
          <a:p>
            <a:pPr algn="l">
              <a:lnSpc>
                <a:spcPts val="1425"/>
              </a:lnSpc>
              <a:spcBef>
                <a:spcPts val="0"/>
              </a:spcBef>
              <a:spcAft>
                <a:spcPts val="0"/>
              </a:spcAft>
            </a:pPr>
            <a:r>
              <a:rPr sz="1425" b="1" spc="-30">
                <a:solidFill>
                  <a:srgbClr val="FFF100"/>
                </a:solidFill>
                <a:latin typeface="Arial"/>
                <a:ea typeface="맑은 고딕"/>
                <a:cs typeface="맑은 고딕"/>
              </a:rPr>
              <a:t>5</a:t>
            </a:r>
          </a:p>
        </p:txBody>
      </p:sp>
      <p:sp>
        <p:nvSpPr>
          <p:cNvPr id="7" name="TextBox 6"/>
          <p:cNvSpPr txBox="1"/>
          <p:nvPr/>
        </p:nvSpPr>
        <p:spPr>
          <a:xfrm>
            <a:off x="801737" y="85725"/>
            <a:ext cx="2629138"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FFF"/>
                </a:solidFill>
                <a:latin typeface="맑은 고딕"/>
                <a:ea typeface="맑은 고딕"/>
                <a:cs typeface="맑은 고딕"/>
              </a:rPr>
              <a:t>창업 인식도 조사</a:t>
            </a:r>
          </a:p>
        </p:txBody>
      </p:sp>
      <p:sp>
        <p:nvSpPr>
          <p:cNvPr id="8" name="TextBox 7"/>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9" name="Oval 8"/>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100" y="932200"/>
            <a:ext cx="3383756" cy="559118"/>
          </a:xfrm>
          <a:prstGeom prst="rect">
            <a:avLst/>
          </a:prstGeom>
          <a:noFill/>
        </p:spPr>
        <p:txBody>
          <a:bodyPr wrap="none" anchor="ctr" lIns="0" rIns="0" tIns="0" bIns="0">
            <a:noAutofit/>
          </a:bodyPr>
          <a:lstStyle/>
          <a:p>
            <a:pPr algn="l">
              <a:lnSpc>
                <a:spcPts val="3487"/>
              </a:lnSpc>
              <a:spcBef>
                <a:spcPts val="0"/>
              </a:spcBef>
              <a:spcAft>
                <a:spcPts val="0"/>
              </a:spcAft>
            </a:pPr>
            <a:r>
              <a:rPr sz="2325" b="1" spc="-58">
                <a:solidFill>
                  <a:srgbClr val="17365D"/>
                </a:solidFill>
                <a:latin typeface="맑은 고딕"/>
                <a:ea typeface="맑은 고딕"/>
                <a:cs typeface="맑은 고딕"/>
              </a:rPr>
              <a:t>설문 방법 안내</a:t>
            </a:r>
          </a:p>
        </p:txBody>
      </p:sp>
      <p:sp>
        <p:nvSpPr>
          <p:cNvPr id="11" name="TextBox 10"/>
          <p:cNvSpPr txBox="1"/>
          <p:nvPr/>
        </p:nvSpPr>
        <p:spPr>
          <a:xfrm>
            <a:off x="190500" y="1774865"/>
            <a:ext cx="628650" cy="291465"/>
          </a:xfrm>
          <a:prstGeom prst="rect">
            <a:avLst/>
          </a:prstGeom>
          <a:noFill/>
        </p:spPr>
        <p:txBody>
          <a:bodyPr wrap="none" lIns="0" rIns="0" tIns="0" bIns="0" anchor="ctr">
            <a:noAutofit/>
          </a:bodyPr>
          <a:lstStyle/>
          <a:p>
            <a:pPr algn="ctr">
              <a:lnSpc>
                <a:spcPts val="1620"/>
              </a:lnSpc>
            </a:pPr>
            <a:r>
              <a:rPr sz="1350" b="1">
                <a:solidFill>
                  <a:srgbClr val="0071CE"/>
                </a:solidFill>
                <a:latin typeface="맑은 고딕"/>
                <a:ea typeface="맑은 고딕"/>
                <a:cs typeface="맑은 고딕"/>
              </a:rPr>
              <a:t>✓</a:t>
            </a:r>
          </a:p>
        </p:txBody>
      </p:sp>
      <p:sp>
        <p:nvSpPr>
          <p:cNvPr id="12" name="TextBox 11"/>
          <p:cNvSpPr txBox="1"/>
          <p:nvPr/>
        </p:nvSpPr>
        <p:spPr>
          <a:xfrm>
            <a:off x="676275" y="1761530"/>
            <a:ext cx="12483465" cy="381000"/>
          </a:xfrm>
          <a:prstGeom prst="rect">
            <a:avLst/>
          </a:prstGeom>
          <a:noFill/>
        </p:spPr>
        <p:txBody>
          <a:bodyPr wrap="none" anchor="ctr" lIns="0" rIns="0" tIns="0" bIns="0">
            <a:noAutofit/>
          </a:bodyPr>
          <a:lstStyle/>
          <a:p>
            <a:pPr algn="l">
              <a:lnSpc>
                <a:spcPts val="2175"/>
              </a:lnSpc>
              <a:spcBef>
                <a:spcPts val="0"/>
              </a:spcBef>
              <a:spcAft>
                <a:spcPts val="0"/>
              </a:spcAft>
            </a:pPr>
            <a:r>
              <a:rPr sz="1500" b="0">
                <a:solidFill>
                  <a:srgbClr val="3B3838"/>
                </a:solidFill>
                <a:latin typeface="맑은 고딕"/>
                <a:ea typeface="맑은 고딕"/>
                <a:cs typeface="맑은 고딕"/>
              </a:rPr>
              <a:t>구글 설문지 링크 주소는 </a:t>
            </a:r>
            <a:r>
              <a:rPr sz="1500" b="1">
                <a:solidFill>
                  <a:srgbClr val="005BAC"/>
                </a:solidFill>
                <a:latin typeface="맑은 고딕"/>
                <a:ea typeface="맑은 고딕"/>
                <a:cs typeface="맑은 고딕"/>
              </a:rPr>
              <a:t>‘LMS 과제방 / 강의 공지’</a:t>
            </a:r>
            <a:r>
              <a:rPr sz="1500" b="0">
                <a:solidFill>
                  <a:srgbClr val="3B3838"/>
                </a:solidFill>
                <a:latin typeface="맑은 고딕"/>
                <a:ea typeface="맑은 고딕"/>
                <a:cs typeface="맑은 고딕"/>
              </a:rPr>
              <a:t> 혹은 </a:t>
            </a:r>
            <a:r>
              <a:rPr sz="1500" b="1">
                <a:solidFill>
                  <a:srgbClr val="005BAC"/>
                </a:solidFill>
                <a:latin typeface="맑은 고딕"/>
                <a:ea typeface="맑은 고딕"/>
                <a:cs typeface="맑은 고딕"/>
              </a:rPr>
              <a:t>‘과제’</a:t>
            </a:r>
            <a:r>
              <a:rPr sz="1500" b="0">
                <a:solidFill>
                  <a:srgbClr val="3B3838"/>
                </a:solidFill>
                <a:latin typeface="맑은 고딕"/>
                <a:ea typeface="맑은 고딕"/>
                <a:cs typeface="맑은 고딕"/>
              </a:rPr>
              <a:t>에 게시 (OT 종결 후 업로드)</a:t>
            </a:r>
          </a:p>
        </p:txBody>
      </p:sp>
      <p:sp>
        <p:nvSpPr>
          <p:cNvPr id="13" name="Rectangle 12"/>
          <p:cNvSpPr/>
          <p:nvPr/>
        </p:nvSpPr>
        <p:spPr>
          <a:xfrm>
            <a:off x="419100" y="2218730"/>
            <a:ext cx="11353800" cy="766762"/>
          </a:xfrm>
          <a:prstGeom prst="rect">
            <a:avLst/>
          </a:prstGeom>
          <a:solidFill>
            <a:srgbClr val="F2F7F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4" name="Connector 13"/>
          <p:cNvCxnSpPr/>
          <p:nvPr/>
        </p:nvCxnSpPr>
        <p:spPr>
          <a:xfrm>
            <a:off x="419100" y="2218730"/>
            <a:ext cx="11353800" cy="0"/>
          </a:xfrm>
          <a:prstGeom prst="line">
            <a:avLst/>
          </a:prstGeom>
          <a:ln w="9525">
            <a:solidFill>
              <a:srgbClr val="9DC3E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772900" y="2218730"/>
            <a:ext cx="0" cy="766762"/>
          </a:xfrm>
          <a:prstGeom prst="line">
            <a:avLst/>
          </a:prstGeom>
          <a:ln w="9525">
            <a:solidFill>
              <a:srgbClr val="9DC3E6"/>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19100" y="2985492"/>
            <a:ext cx="11353800" cy="0"/>
          </a:xfrm>
          <a:prstGeom prst="line">
            <a:avLst/>
          </a:prstGeom>
          <a:ln w="9525">
            <a:solidFill>
              <a:srgbClr val="9DC3E6"/>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19100" y="2218730"/>
            <a:ext cx="0" cy="766762"/>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7225" y="2404943"/>
            <a:ext cx="792480" cy="413385"/>
          </a:xfrm>
          <a:prstGeom prst="rect">
            <a:avLst/>
          </a:prstGeom>
          <a:noFill/>
        </p:spPr>
        <p:txBody>
          <a:bodyPr wrap="none" anchor="ctr" lIns="0" rIns="0" tIns="0" bIns="0">
            <a:noAutofit/>
          </a:bodyPr>
          <a:lstStyle/>
          <a:p>
            <a:pPr algn="l">
              <a:lnSpc>
                <a:spcPts val="2475"/>
              </a:lnSpc>
              <a:spcBef>
                <a:spcPts val="0"/>
              </a:spcBef>
              <a:spcAft>
                <a:spcPts val="0"/>
              </a:spcAft>
            </a:pPr>
            <a:r>
              <a:rPr sz="1650" b="0">
                <a:solidFill>
                  <a:srgbClr val="0000EE"/>
                </a:solidFill>
                <a:latin typeface="맑은 고딕"/>
                <a:ea typeface="맑은 고딕"/>
                <a:cs typeface="맑은 고딕"/>
              </a:rPr>
              <a:t>🔗</a:t>
            </a:r>
          </a:p>
        </p:txBody>
      </p:sp>
      <p:sp>
        <p:nvSpPr>
          <p:cNvPr id="19" name="TextBox 18"/>
          <p:cNvSpPr txBox="1"/>
          <p:nvPr/>
        </p:nvSpPr>
        <p:spPr>
          <a:xfrm>
            <a:off x="1028700" y="2298263"/>
            <a:ext cx="5110877" cy="364808"/>
          </a:xfrm>
          <a:prstGeom prst="rect">
            <a:avLst/>
          </a:prstGeom>
          <a:noFill/>
        </p:spPr>
        <p:txBody>
          <a:bodyPr wrap="none" anchor="ctr" lIns="0" rIns="0" tIns="0" bIns="0">
            <a:noAutofit/>
          </a:bodyPr>
          <a:lstStyle/>
          <a:p>
            <a:pPr algn="l">
              <a:lnSpc>
                <a:spcPts val="2137"/>
              </a:lnSpc>
              <a:spcBef>
                <a:spcPts val="0"/>
              </a:spcBef>
              <a:spcAft>
                <a:spcPts val="0"/>
              </a:spcAft>
            </a:pPr>
            <a:r>
              <a:rPr sz="1425" b="1">
                <a:solidFill>
                  <a:srgbClr val="17365D"/>
                </a:solidFill>
                <a:latin typeface="맑은 고딕"/>
                <a:ea typeface="맑은 고딕"/>
                <a:cs typeface="맑은 고딕"/>
              </a:rPr>
              <a:t>Y3반 창업교육 영향조사 구글 설문지</a:t>
            </a:r>
          </a:p>
        </p:txBody>
      </p:sp>
      <p:sp>
        <p:nvSpPr>
          <p:cNvPr id="20" name="TextBox 19"/>
          <p:cNvSpPr txBox="1"/>
          <p:nvPr/>
        </p:nvSpPr>
        <p:spPr>
          <a:xfrm>
            <a:off x="1028700" y="2594015"/>
            <a:ext cx="4955858" cy="316230"/>
          </a:xfrm>
          <a:prstGeom prst="rect">
            <a:avLst/>
          </a:prstGeom>
          <a:noFill/>
        </p:spPr>
        <p:txBody>
          <a:bodyPr wrap="none" anchor="ctr" lIns="0" rIns="0" tIns="0" bIns="0">
            <a:noAutofit/>
          </a:bodyPr>
          <a:lstStyle/>
          <a:p>
            <a:pPr algn="l">
              <a:lnSpc>
                <a:spcPts val="1800"/>
              </a:lnSpc>
              <a:spcBef>
                <a:spcPts val="0"/>
              </a:spcBef>
              <a:spcAft>
                <a:spcPts val="0"/>
              </a:spcAft>
            </a:pPr>
            <a:r>
              <a:rPr sz="1200" b="1">
                <a:solidFill>
                  <a:srgbClr val="005BAC"/>
                </a:solidFill>
                <a:latin typeface="Arial"/>
                <a:ea typeface="맑은 고딕"/>
                <a:cs typeface="맑은 고딕"/>
              </a:rPr>
              <a:t>https://forms.gle/XAnbLVxeTSdJBVdK7</a:t>
            </a:r>
          </a:p>
        </p:txBody>
      </p:sp>
      <p:sp>
        <p:nvSpPr>
          <p:cNvPr id="21" name="TextBox 20"/>
          <p:cNvSpPr txBox="1"/>
          <p:nvPr/>
        </p:nvSpPr>
        <p:spPr>
          <a:xfrm>
            <a:off x="5786720" y="6506528"/>
            <a:ext cx="618411"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band.jpg"/>
          <p:cNvPicPr>
            <a:picLocks noChangeAspect="1"/>
          </p:cNvPicPr>
          <p:nvPr/>
        </p:nvPicPr>
        <p:blipFill>
          <a:blip r:embed="rId2"/>
          <a:stretch>
            <a:fillRect/>
          </a:stretch>
        </p:blipFill>
        <p:spPr>
          <a:xfrm>
            <a:off x="0" y="0"/>
            <a:ext cx="12192000" cy="3566071"/>
          </a:xfrm>
          <a:prstGeom prst="rect">
            <a:avLst/>
          </a:prstGeom>
        </p:spPr>
      </p:pic>
      <p:sp>
        <p:nvSpPr>
          <p:cNvPr id="4" name="Rectangle 3"/>
          <p:cNvSpPr/>
          <p:nvPr/>
        </p:nvSpPr>
        <p:spPr>
          <a:xfrm>
            <a:off x="0" y="3547021"/>
            <a:ext cx="7071360" cy="38100"/>
          </a:xfrm>
          <a:prstGeom prst="rect">
            <a:avLst/>
          </a:prstGeom>
          <a:ln>
            <a:noFill/>
          </a:ln>
          <a:effectLst/>
          <a:gradFill rotWithShape="1">
            <a:gsLst>
              <a:gs pos="0">
                <a:srgbClr val="005BAC"/>
              </a:gs>
              <a:gs pos="100000">
                <a:srgbClr val="005BAC">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0" y="3623221"/>
            <a:ext cx="4876800" cy="38100"/>
          </a:xfrm>
          <a:prstGeom prst="rect">
            <a:avLst/>
          </a:prstGeom>
          <a:ln>
            <a:noFill/>
          </a:ln>
          <a:effectLst/>
          <a:gradFill rotWithShape="1">
            <a:gsLst>
              <a:gs pos="0">
                <a:srgbClr val="0071CE"/>
              </a:gs>
              <a:gs pos="100000">
                <a:srgbClr val="0071CE">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0" y="3699421"/>
            <a:ext cx="3413760" cy="38100"/>
          </a:xfrm>
          <a:prstGeom prst="rect">
            <a:avLst/>
          </a:prstGeom>
          <a:ln>
            <a:noFill/>
          </a:ln>
          <a:effectLst/>
          <a:gradFill rotWithShape="1">
            <a:gsLst>
              <a:gs pos="0">
                <a:srgbClr val="4BA3E3"/>
              </a:gs>
              <a:gs pos="100000">
                <a:srgbClr val="4BA3E3">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247650" y="3032671"/>
            <a:ext cx="1066800" cy="1066800"/>
          </a:xfrm>
          <a:prstGeom prst="ellipse">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rot="1873891">
            <a:off x="277468" y="2897338"/>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C</a:t>
            </a:r>
          </a:p>
        </p:txBody>
      </p:sp>
      <p:sp>
        <p:nvSpPr>
          <p:cNvPr id="9" name="TextBox 8"/>
          <p:cNvSpPr txBox="1"/>
          <p:nvPr/>
        </p:nvSpPr>
        <p:spPr>
          <a:xfrm rot="2597530">
            <a:off x="385778" y="2979733"/>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H</a:t>
            </a:r>
          </a:p>
        </p:txBody>
      </p:sp>
      <p:sp>
        <p:nvSpPr>
          <p:cNvPr id="10" name="TextBox 9"/>
          <p:cNvSpPr txBox="1"/>
          <p:nvPr/>
        </p:nvSpPr>
        <p:spPr>
          <a:xfrm rot="3289047">
            <a:off x="471016" y="3077979"/>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A</a:t>
            </a:r>
          </a:p>
        </p:txBody>
      </p:sp>
      <p:sp>
        <p:nvSpPr>
          <p:cNvPr id="11" name="TextBox 10"/>
          <p:cNvSpPr txBox="1"/>
          <p:nvPr/>
        </p:nvSpPr>
        <p:spPr>
          <a:xfrm rot="3979591">
            <a:off x="534833" y="3191105"/>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P</a:t>
            </a:r>
          </a:p>
        </p:txBody>
      </p:sp>
      <p:sp>
        <p:nvSpPr>
          <p:cNvPr id="12" name="TextBox 11"/>
          <p:cNvSpPr txBox="1"/>
          <p:nvPr/>
        </p:nvSpPr>
        <p:spPr>
          <a:xfrm rot="4647428">
            <a:off x="573879" y="3310511"/>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T</a:t>
            </a:r>
          </a:p>
        </p:txBody>
      </p:sp>
      <p:sp>
        <p:nvSpPr>
          <p:cNvPr id="13" name="TextBox 12"/>
          <p:cNvSpPr txBox="1"/>
          <p:nvPr/>
        </p:nvSpPr>
        <p:spPr>
          <a:xfrm rot="5322137">
            <a:off x="589171" y="3436504"/>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E</a:t>
            </a:r>
          </a:p>
        </p:txBody>
      </p:sp>
      <p:sp>
        <p:nvSpPr>
          <p:cNvPr id="14" name="TextBox 13"/>
          <p:cNvSpPr txBox="1"/>
          <p:nvPr/>
        </p:nvSpPr>
        <p:spPr>
          <a:xfrm rot="6029545">
            <a:off x="578507" y="3569122"/>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R</a:t>
            </a:r>
          </a:p>
        </p:txBody>
      </p:sp>
      <p:sp>
        <p:nvSpPr>
          <p:cNvPr id="15" name="TextBox 14"/>
          <p:cNvSpPr txBox="1"/>
          <p:nvPr/>
        </p:nvSpPr>
        <p:spPr>
          <a:xfrm>
            <a:off x="-43532" y="3267938"/>
            <a:ext cx="658564" cy="615315"/>
          </a:xfrm>
          <a:prstGeom prst="rect">
            <a:avLst/>
          </a:prstGeom>
          <a:noFill/>
        </p:spPr>
        <p:txBody>
          <a:bodyPr wrap="none" lIns="0" rIns="0" tIns="0" bIns="0" anchor="ctr">
            <a:noAutofit/>
          </a:bodyPr>
          <a:lstStyle/>
          <a:p>
            <a:pPr algn="ctr">
              <a:lnSpc>
                <a:spcPts val="3420"/>
              </a:lnSpc>
            </a:pPr>
            <a:r>
              <a:rPr sz="2850" b="1">
                <a:solidFill>
                  <a:srgbClr val="17365D"/>
                </a:solidFill>
                <a:latin typeface="Arial"/>
                <a:ea typeface="맑은 고딕"/>
                <a:cs typeface="맑은 고딕"/>
              </a:rPr>
              <a:t>6</a:t>
            </a:r>
          </a:p>
        </p:txBody>
      </p:sp>
      <p:sp>
        <p:nvSpPr>
          <p:cNvPr id="16" name="TextBox 15"/>
          <p:cNvSpPr txBox="1"/>
          <p:nvPr/>
        </p:nvSpPr>
        <p:spPr>
          <a:xfrm>
            <a:off x="6757273" y="4067651"/>
            <a:ext cx="5015627" cy="737235"/>
          </a:xfrm>
          <a:prstGeom prst="rect">
            <a:avLst/>
          </a:prstGeom>
          <a:noFill/>
        </p:spPr>
        <p:txBody>
          <a:bodyPr wrap="none" anchor="ctr" lIns="0" rIns="0" tIns="0" bIns="0">
            <a:noAutofit/>
          </a:bodyPr>
          <a:lstStyle/>
          <a:p>
            <a:pPr algn="r">
              <a:lnSpc>
                <a:spcPts val="4725"/>
              </a:lnSpc>
              <a:spcBef>
                <a:spcPts val="0"/>
              </a:spcBef>
              <a:spcAft>
                <a:spcPts val="0"/>
              </a:spcAft>
            </a:pPr>
            <a:r>
              <a:rPr sz="3150" b="1" spc="-110">
                <a:solidFill>
                  <a:srgbClr val="17365D"/>
                </a:solidFill>
                <a:latin typeface="맑은 고딕"/>
                <a:ea typeface="맑은 고딕"/>
                <a:cs typeface="맑은 고딕"/>
              </a:rPr>
              <a:t>진로 준비도 검사</a:t>
            </a:r>
          </a:p>
        </p:txBody>
      </p:sp>
      <p:sp>
        <p:nvSpPr>
          <p:cNvPr id="17" name="TextBox 16"/>
          <p:cNvSpPr txBox="1"/>
          <p:nvPr/>
        </p:nvSpPr>
        <p:spPr>
          <a:xfrm>
            <a:off x="4178141" y="4632871"/>
            <a:ext cx="7594759" cy="381000"/>
          </a:xfrm>
          <a:prstGeom prst="rect">
            <a:avLst/>
          </a:prstGeom>
          <a:noFill/>
        </p:spPr>
        <p:txBody>
          <a:bodyPr wrap="none" anchor="ctr" lIns="0" rIns="0" tIns="0" bIns="0">
            <a:noAutofit/>
          </a:bodyPr>
          <a:lstStyle/>
          <a:p>
            <a:pPr algn="r">
              <a:lnSpc>
                <a:spcPts val="2250"/>
              </a:lnSpc>
              <a:spcBef>
                <a:spcPts val="0"/>
              </a:spcBef>
              <a:spcAft>
                <a:spcPts val="0"/>
              </a:spcAft>
            </a:pPr>
            <a:r>
              <a:rPr sz="1500" b="1">
                <a:solidFill>
                  <a:srgbClr val="63666B"/>
                </a:solidFill>
                <a:latin typeface="맑은 고딕"/>
                <a:ea typeface="맑은 고딕"/>
                <a:cs typeface="맑은 고딕"/>
              </a:rPr>
              <a:t>효과적인 진로 및 취업선택을 지원하고자 개발된 검사</a:t>
            </a:r>
          </a:p>
        </p:txBody>
      </p:sp>
      <p:sp>
        <p:nvSpPr>
          <p:cNvPr id="18" name="TextBox 17"/>
          <p:cNvSpPr txBox="1"/>
          <p:nvPr/>
        </p:nvSpPr>
        <p:spPr>
          <a:xfrm>
            <a:off x="10846296" y="5971222"/>
            <a:ext cx="1863566" cy="802005"/>
          </a:xfrm>
          <a:prstGeom prst="rect">
            <a:avLst/>
          </a:prstGeom>
          <a:noFill/>
        </p:spPr>
        <p:txBody>
          <a:bodyPr wrap="none" anchor="ctr" lIns="0" rIns="0" tIns="0" bIns="0">
            <a:noAutofit/>
          </a:bodyPr>
          <a:lstStyle/>
          <a:p>
            <a:pPr algn="l">
              <a:lnSpc>
                <a:spcPts val="3450"/>
              </a:lnSpc>
              <a:spcBef>
                <a:spcPts val="0"/>
              </a:spcBef>
              <a:spcAft>
                <a:spcPts val="0"/>
              </a:spcAft>
            </a:pPr>
            <a:r>
              <a:rPr sz="3450" b="1" spc="-190">
                <a:solidFill>
                  <a:srgbClr val="17365D"/>
                </a:solidFill>
                <a:latin typeface="Arial"/>
                <a:ea typeface="맑은 고딕"/>
                <a:cs typeface="맑은 고딕"/>
              </a:rPr>
              <a:t>dima</a:t>
            </a:r>
          </a:p>
        </p:txBody>
      </p:sp>
      <p:sp>
        <p:nvSpPr>
          <p:cNvPr id="19" name="Oval 18"/>
          <p:cNvSpPr/>
          <p:nvPr/>
        </p:nvSpPr>
        <p:spPr>
          <a:xfrm>
            <a:off x="11097194" y="6001131"/>
            <a:ext cx="83248" cy="83248"/>
          </a:xfrm>
          <a:prstGeom prst="ellipse">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1929110" cy="323850"/>
          </a:xfrm>
          <a:prstGeom prst="rect">
            <a:avLst/>
          </a:prstGeom>
          <a:solidFill>
            <a:srgbClr val="002A55"/>
          </a:solidFill>
          <a:ln w="19050">
            <a:solidFill>
              <a:srgbClr val="FFF100"/>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609600" y="103346"/>
            <a:ext cx="536019" cy="364808"/>
          </a:xfrm>
          <a:prstGeom prst="rect">
            <a:avLst/>
          </a:prstGeom>
          <a:noFill/>
        </p:spPr>
        <p:txBody>
          <a:bodyPr wrap="none" anchor="ctr" lIns="0" rIns="0" tIns="0" bIns="0">
            <a:noAutofit/>
          </a:bodyPr>
          <a:lstStyle/>
          <a:p>
            <a:pPr algn="l">
              <a:lnSpc>
                <a:spcPts val="1425"/>
              </a:lnSpc>
              <a:spcBef>
                <a:spcPts val="0"/>
              </a:spcBef>
              <a:spcAft>
                <a:spcPts val="0"/>
              </a:spcAft>
            </a:pPr>
            <a:r>
              <a:rPr sz="1425" b="1" spc="-30">
                <a:solidFill>
                  <a:srgbClr val="FFF100"/>
                </a:solidFill>
                <a:latin typeface="Arial"/>
                <a:ea typeface="맑은 고딕"/>
                <a:cs typeface="맑은 고딕"/>
              </a:rPr>
              <a:t>6</a:t>
            </a:r>
          </a:p>
        </p:txBody>
      </p:sp>
      <p:sp>
        <p:nvSpPr>
          <p:cNvPr id="7" name="TextBox 6"/>
          <p:cNvSpPr txBox="1"/>
          <p:nvPr/>
        </p:nvSpPr>
        <p:spPr>
          <a:xfrm>
            <a:off x="801737" y="85725"/>
            <a:ext cx="2550557"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FFF"/>
                </a:solidFill>
                <a:latin typeface="맑은 고딕"/>
                <a:ea typeface="맑은 고딕"/>
                <a:cs typeface="맑은 고딕"/>
              </a:rPr>
              <a:t>진로준비도 검사</a:t>
            </a:r>
          </a:p>
        </p:txBody>
      </p:sp>
      <p:sp>
        <p:nvSpPr>
          <p:cNvPr id="8" name="TextBox 7"/>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9" name="Oval 8"/>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100" y="852071"/>
            <a:ext cx="3935730"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51">
                <a:solidFill>
                  <a:srgbClr val="17365D"/>
                </a:solidFill>
                <a:latin typeface="맑은 고딕"/>
                <a:ea typeface="맑은 고딕"/>
                <a:cs typeface="맑은 고딕"/>
              </a:rPr>
              <a:t>진로준비도 검사란?</a:t>
            </a:r>
          </a:p>
        </p:txBody>
      </p:sp>
      <p:sp>
        <p:nvSpPr>
          <p:cNvPr id="11" name="Rectangle 10"/>
          <p:cNvSpPr/>
          <p:nvPr/>
        </p:nvSpPr>
        <p:spPr>
          <a:xfrm>
            <a:off x="419100" y="1774627"/>
            <a:ext cx="11353800" cy="77152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2" name="Connector 11"/>
          <p:cNvCxnSpPr/>
          <p:nvPr/>
        </p:nvCxnSpPr>
        <p:spPr>
          <a:xfrm>
            <a:off x="419100" y="1774627"/>
            <a:ext cx="113538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1772900" y="1774627"/>
            <a:ext cx="0" cy="771525"/>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9100" y="2546152"/>
            <a:ext cx="113538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9100" y="1774627"/>
            <a:ext cx="0" cy="771525"/>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28650" y="1812250"/>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17" name="TextBox 16"/>
          <p:cNvSpPr txBox="1"/>
          <p:nvPr/>
        </p:nvSpPr>
        <p:spPr>
          <a:xfrm>
            <a:off x="1019175" y="1898452"/>
            <a:ext cx="10591800" cy="571500"/>
          </a:xfrm>
          <a:prstGeom prst="rect">
            <a:avLst/>
          </a:prstGeom>
          <a:noFill/>
        </p:spPr>
        <p:txBody>
          <a:bodyPr wrap="square" anchor="t" lIns="0" rIns="0" tIns="0" bIns="0">
            <a:noAutofit/>
          </a:bodyPr>
          <a:lstStyle/>
          <a:p>
            <a:pPr algn="l">
              <a:lnSpc>
                <a:spcPts val="2137"/>
              </a:lnSpc>
              <a:spcBef>
                <a:spcPts val="0"/>
              </a:spcBef>
              <a:spcAft>
                <a:spcPts val="0"/>
              </a:spcAft>
            </a:pPr>
            <a:r>
              <a:rPr sz="1425" b="0">
                <a:solidFill>
                  <a:srgbClr val="3B3838"/>
                </a:solidFill>
                <a:latin typeface="맑은 고딕"/>
                <a:ea typeface="맑은 고딕"/>
                <a:cs typeface="맑은 고딕"/>
              </a:rPr>
              <a:t>대학생 및 취업을 준비하는 대졸 청년층 구직자들을 대상으로 하며, 진로발달수준과 취업준비 행동 수준에 대한 객관적인 정보를 바탕으로 효과적인 진로 및 취업선택을 지원하고자 개발된 검사입니다.</a:t>
            </a:r>
          </a:p>
        </p:txBody>
      </p:sp>
      <p:graphicFrame>
        <p:nvGraphicFramePr>
          <p:cNvPr id="18" name="Table 17"/>
          <p:cNvGraphicFramePr>
            <a:graphicFrameLocks noGrp="1"/>
          </p:cNvGraphicFramePr>
          <p:nvPr/>
        </p:nvGraphicFramePr>
        <p:xfrm>
          <a:off x="419100" y="2822377"/>
          <a:ext cx="11344275" cy="2343150"/>
        </p:xfrm>
        <a:graphic>
          <a:graphicData uri="http://schemas.openxmlformats.org/drawingml/2006/table">
            <a:tbl>
              <a:tblPr>
                <a:tableStyleId>{5C22544A-7EE6-4342-B048-85BDC9FD1C3A}</a:tableStyleId>
              </a:tblPr>
              <a:tblGrid>
                <a:gridCol w="1703040"/>
                <a:gridCol w="9641235"/>
              </a:tblGrid>
              <a:tr h="390525">
                <a:tc>
                  <a:txBody>
                    <a:bodyPr wrap="square"/>
                    <a:lstStyle/>
                    <a:p>
                      <a:pPr algn="ctr">
                        <a:lnSpc>
                          <a:spcPts val="1560"/>
                        </a:lnSpc>
                      </a:pPr>
                      <a:r>
                        <a:rPr sz="1200" b="1">
                          <a:solidFill>
                            <a:srgbClr val="17365D"/>
                          </a:solidFill>
                          <a:latin typeface="맑은 고딕"/>
                          <a:ea typeface="맑은 고딕"/>
                          <a:cs typeface="맑은 고딕"/>
                        </a:rPr>
                        <a:t>구분</a:t>
                      </a:r>
                    </a:p>
                  </a:txBody>
                  <a:tcPr marL="95250" marR="95250" marT="28575" marB="28575" anchor="ctr">
                    <a:solidFill>
                      <a:srgbClr val="DEEBF7"/>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ctr">
                        <a:lnSpc>
                          <a:spcPts val="1560"/>
                        </a:lnSpc>
                      </a:pPr>
                      <a:r>
                        <a:rPr sz="1200" b="1">
                          <a:solidFill>
                            <a:srgbClr val="17365D"/>
                          </a:solidFill>
                          <a:latin typeface="맑은 고딕"/>
                          <a:ea typeface="맑은 고딕"/>
                          <a:cs typeface="맑은 고딕"/>
                        </a:rPr>
                        <a:t>내용</a:t>
                      </a:r>
                    </a:p>
                  </a:txBody>
                  <a:tcPr marL="95250" marR="95250" marT="28575" marB="28575" anchor="ctr">
                    <a:solidFill>
                      <a:srgbClr val="DEEBF7"/>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390525">
                <a:tc>
                  <a:txBody>
                    <a:bodyPr wrap="square"/>
                    <a:lstStyle/>
                    <a:p>
                      <a:pPr algn="ctr">
                        <a:lnSpc>
                          <a:spcPts val="1560"/>
                        </a:lnSpc>
                      </a:pPr>
                      <a:r>
                        <a:rPr sz="1200" b="0">
                          <a:solidFill>
                            <a:srgbClr val="3B3838"/>
                          </a:solidFill>
                          <a:latin typeface="맑은 고딕"/>
                          <a:ea typeface="맑은 고딕"/>
                          <a:cs typeface="맑은 고딕"/>
                        </a:rPr>
                        <a:t>검사 시간</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560"/>
                        </a:lnSpc>
                      </a:pPr>
                      <a:r>
                        <a:rPr sz="1200" b="0">
                          <a:solidFill>
                            <a:srgbClr val="3B3838"/>
                          </a:solidFill>
                          <a:latin typeface="맑은 고딕"/>
                          <a:ea typeface="맑은 고딕"/>
                          <a:cs typeface="맑은 고딕"/>
                        </a:rPr>
                        <a:t>약 20분 소요 (시간제한 없음)</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390525">
                <a:tc>
                  <a:txBody>
                    <a:bodyPr wrap="square"/>
                    <a:lstStyle/>
                    <a:p>
                      <a:pPr algn="ctr">
                        <a:lnSpc>
                          <a:spcPts val="1560"/>
                        </a:lnSpc>
                      </a:pPr>
                      <a:r>
                        <a:rPr sz="1200" b="0">
                          <a:solidFill>
                            <a:srgbClr val="3B3838"/>
                          </a:solidFill>
                          <a:latin typeface="맑은 고딕"/>
                          <a:ea typeface="맑은 고딕"/>
                          <a:cs typeface="맑은 고딕"/>
                        </a:rPr>
                        <a:t>주요 내용</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560"/>
                        </a:lnSpc>
                      </a:pPr>
                      <a:r>
                        <a:rPr sz="1200" b="0">
                          <a:solidFill>
                            <a:srgbClr val="3B3838"/>
                          </a:solidFill>
                          <a:latin typeface="맑은 고딕"/>
                          <a:ea typeface="맑은 고딕"/>
                          <a:cs typeface="맑은 고딕"/>
                        </a:rPr>
                        <a:t>진로 및 취업선택 지원을 위한 진로발달수준 및 취업준비행동 수준 측정</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390525">
                <a:tc>
                  <a:txBody>
                    <a:bodyPr wrap="square"/>
                    <a:lstStyle/>
                    <a:p>
                      <a:pPr algn="ctr">
                        <a:lnSpc>
                          <a:spcPts val="1560"/>
                        </a:lnSpc>
                      </a:pPr>
                      <a:r>
                        <a:rPr sz="1200" b="0">
                          <a:solidFill>
                            <a:srgbClr val="3B3838"/>
                          </a:solidFill>
                          <a:latin typeface="맑은 고딕"/>
                          <a:ea typeface="맑은 고딕"/>
                          <a:cs typeface="맑은 고딕"/>
                        </a:rPr>
                        <a:t>검사 구성</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560"/>
                        </a:lnSpc>
                      </a:pPr>
                      <a:r>
                        <a:rPr sz="1200" b="0">
                          <a:solidFill>
                            <a:srgbClr val="3B3838"/>
                          </a:solidFill>
                          <a:latin typeface="맑은 고딕"/>
                          <a:ea typeface="맑은 고딕"/>
                          <a:cs typeface="맑은 고딕"/>
                        </a:rPr>
                        <a:t>1부와 2부로 구성</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390525">
                <a:tc>
                  <a:txBody>
                    <a:bodyPr wrap="square"/>
                    <a:lstStyle/>
                    <a:p>
                      <a:pPr algn="ctr">
                        <a:lnSpc>
                          <a:spcPts val="1560"/>
                        </a:lnSpc>
                      </a:pPr>
                      <a:r>
                        <a:rPr sz="1200" b="0">
                          <a:solidFill>
                            <a:srgbClr val="3B3838"/>
                          </a:solidFill>
                          <a:latin typeface="맑은 고딕"/>
                          <a:ea typeface="맑은 고딕"/>
                          <a:cs typeface="맑은 고딕"/>
                        </a:rPr>
                        <a:t>응답 요령</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560"/>
                        </a:lnSpc>
                      </a:pPr>
                      <a:r>
                        <a:rPr sz="1200" b="0">
                          <a:solidFill>
                            <a:srgbClr val="3B3838"/>
                          </a:solidFill>
                          <a:latin typeface="맑은 고딕"/>
                          <a:ea typeface="맑은 고딕"/>
                          <a:cs typeface="맑은 고딕"/>
                        </a:rPr>
                        <a:t>문항을 읽고 평소의 생각이나 행동대로 솔직하고 성실하게 응답</a:t>
                      </a:r>
                    </a:p>
                  </a:txBody>
                  <a:tcPr marL="95250" marR="95250" marT="28575" marB="28575" anchor="ctr">
                    <a:solidFill>
                      <a:srgbClr val="F7FAFD"/>
                    </a:solid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r h="390525">
                <a:tc>
                  <a:txBody>
                    <a:bodyPr wrap="square"/>
                    <a:lstStyle/>
                    <a:p>
                      <a:pPr algn="ctr">
                        <a:lnSpc>
                          <a:spcPts val="1560"/>
                        </a:lnSpc>
                      </a:pPr>
                      <a:r>
                        <a:rPr sz="1200" b="0">
                          <a:solidFill>
                            <a:srgbClr val="3B3838"/>
                          </a:solidFill>
                          <a:latin typeface="맑은 고딕"/>
                          <a:ea typeface="맑은 고딕"/>
                          <a:cs typeface="맑은 고딕"/>
                        </a:rPr>
                        <a:t>제출 방법</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c>
                  <a:txBody>
                    <a:bodyPr wrap="square"/>
                    <a:lstStyle/>
                    <a:p>
                      <a:pPr algn="l">
                        <a:lnSpc>
                          <a:spcPts val="1560"/>
                        </a:lnSpc>
                      </a:pPr>
                      <a:r>
                        <a:rPr sz="1200" b="0">
                          <a:solidFill>
                            <a:srgbClr val="3B3838"/>
                          </a:solidFill>
                          <a:latin typeface="맑은 고딕"/>
                          <a:ea typeface="맑은 고딕"/>
                          <a:cs typeface="맑은 고딕"/>
                        </a:rPr>
                        <a:t>검사 완료 후 결과 캡처하여 </a:t>
                      </a:r>
                      <a:r>
                        <a:rPr sz="1200" b="1">
                          <a:solidFill>
                            <a:srgbClr val="005BAC"/>
                          </a:solidFill>
                          <a:latin typeface="맑은 고딕"/>
                          <a:ea typeface="맑은 고딕"/>
                          <a:cs typeface="맑은 고딕"/>
                        </a:rPr>
                        <a:t>LMS 과제방에 제출</a:t>
                      </a:r>
                    </a:p>
                  </a:txBody>
                  <a:tcPr marL="95250" marR="95250" marT="28575" marB="28575" anchor="ctr">
                    <a:noFill/>
                    <a:lnL w="9525" cap="flat" cmpd="sng" algn="ctr">
                      <a:solidFill>
                        <a:srgbClr val="9DC3E6"/>
                      </a:solidFill>
                    </a:lnL>
                    <a:lnR w="9525" cap="flat" cmpd="sng" algn="ctr">
                      <a:solidFill>
                        <a:srgbClr val="9DC3E6"/>
                      </a:solidFill>
                    </a:lnR>
                    <a:lnT w="9525" cap="flat" cmpd="sng" algn="ctr">
                      <a:solidFill>
                        <a:srgbClr val="9DC3E6"/>
                      </a:solidFill>
                    </a:lnT>
                    <a:lnB w="9525" cap="flat" cmpd="sng" algn="ctr">
                      <a:solidFill>
                        <a:srgbClr val="9DC3E6"/>
                      </a:solidFill>
                    </a:lnB>
                  </a:tcPr>
                </a:tc>
              </a:tr>
            </a:tbl>
          </a:graphicData>
        </a:graphic>
      </p:graphicFrame>
      <p:sp>
        <p:nvSpPr>
          <p:cNvPr id="19" name="TextBox 18"/>
          <p:cNvSpPr txBox="1"/>
          <p:nvPr/>
        </p:nvSpPr>
        <p:spPr>
          <a:xfrm>
            <a:off x="5786720" y="6506528"/>
            <a:ext cx="618411"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1929110" cy="323850"/>
          </a:xfrm>
          <a:prstGeom prst="rect">
            <a:avLst/>
          </a:prstGeom>
          <a:solidFill>
            <a:srgbClr val="002A55"/>
          </a:solidFill>
          <a:ln w="19050">
            <a:solidFill>
              <a:srgbClr val="FFF100"/>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609600" y="103346"/>
            <a:ext cx="536019" cy="364808"/>
          </a:xfrm>
          <a:prstGeom prst="rect">
            <a:avLst/>
          </a:prstGeom>
          <a:noFill/>
        </p:spPr>
        <p:txBody>
          <a:bodyPr wrap="none" anchor="ctr" lIns="0" rIns="0" tIns="0" bIns="0">
            <a:noAutofit/>
          </a:bodyPr>
          <a:lstStyle/>
          <a:p>
            <a:pPr algn="l">
              <a:lnSpc>
                <a:spcPts val="1425"/>
              </a:lnSpc>
              <a:spcBef>
                <a:spcPts val="0"/>
              </a:spcBef>
              <a:spcAft>
                <a:spcPts val="0"/>
              </a:spcAft>
            </a:pPr>
            <a:r>
              <a:rPr sz="1425" b="1" spc="-30">
                <a:solidFill>
                  <a:srgbClr val="FFF100"/>
                </a:solidFill>
                <a:latin typeface="Arial"/>
                <a:ea typeface="맑은 고딕"/>
                <a:cs typeface="맑은 고딕"/>
              </a:rPr>
              <a:t>6</a:t>
            </a:r>
          </a:p>
        </p:txBody>
      </p:sp>
      <p:sp>
        <p:nvSpPr>
          <p:cNvPr id="7" name="TextBox 6"/>
          <p:cNvSpPr txBox="1"/>
          <p:nvPr/>
        </p:nvSpPr>
        <p:spPr>
          <a:xfrm>
            <a:off x="801737" y="85725"/>
            <a:ext cx="2550557"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FFF"/>
                </a:solidFill>
                <a:latin typeface="맑은 고딕"/>
                <a:ea typeface="맑은 고딕"/>
                <a:cs typeface="맑은 고딕"/>
              </a:rPr>
              <a:t>진로준비도 검사</a:t>
            </a:r>
          </a:p>
        </p:txBody>
      </p:sp>
      <p:sp>
        <p:nvSpPr>
          <p:cNvPr id="8" name="TextBox 7"/>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9" name="Oval 8"/>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100" y="852071"/>
            <a:ext cx="4441031"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51">
                <a:solidFill>
                  <a:srgbClr val="17365D"/>
                </a:solidFill>
                <a:latin typeface="맑은 고딕"/>
                <a:ea typeface="맑은 고딕"/>
                <a:cs typeface="맑은 고딕"/>
              </a:rPr>
              <a:t>검사는 어디서 하나요?</a:t>
            </a:r>
          </a:p>
        </p:txBody>
      </p:sp>
      <p:sp>
        <p:nvSpPr>
          <p:cNvPr id="11" name="Rectangle 10"/>
          <p:cNvSpPr/>
          <p:nvPr/>
        </p:nvSpPr>
        <p:spPr>
          <a:xfrm>
            <a:off x="419100" y="2513469"/>
            <a:ext cx="5562600" cy="504111"/>
          </a:xfrm>
          <a:prstGeom prst="rect">
            <a:avLst/>
          </a:prstGeom>
          <a:solidFill>
            <a:srgbClr val="FFFFFF"/>
          </a:solidFill>
          <a:ln w="8692">
            <a:solidFill>
              <a:srgbClr val="D4DC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19100" y="2513469"/>
            <a:ext cx="52149" cy="504111"/>
          </a:xfrm>
          <a:prstGeom prst="rect">
            <a:avLst/>
          </a:prstGeom>
          <a:solidFill>
            <a:srgbClr val="4BA3E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Oval 12"/>
          <p:cNvSpPr/>
          <p:nvPr/>
        </p:nvSpPr>
        <p:spPr>
          <a:xfrm>
            <a:off x="601623" y="2617768"/>
            <a:ext cx="295513" cy="295513"/>
          </a:xfrm>
          <a:prstGeom prst="ellipse">
            <a:avLst/>
          </a:prstGeom>
          <a:solidFill>
            <a:srgbClr val="0071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7322" y="2636236"/>
            <a:ext cx="544116" cy="265962"/>
          </a:xfrm>
          <a:prstGeom prst="rect">
            <a:avLst/>
          </a:prstGeom>
          <a:noFill/>
        </p:spPr>
        <p:txBody>
          <a:bodyPr wrap="none" lIns="0" rIns="0" tIns="0" bIns="0" anchor="ctr">
            <a:noAutofit/>
          </a:bodyPr>
          <a:lstStyle/>
          <a:p>
            <a:pPr algn="ctr">
              <a:lnSpc>
                <a:spcPts val="1478"/>
              </a:lnSpc>
            </a:pPr>
            <a:r>
              <a:rPr sz="1231" b="1">
                <a:solidFill>
                  <a:srgbClr val="FFFFFF"/>
                </a:solidFill>
                <a:latin typeface="Arial"/>
                <a:ea typeface="맑은 고딕"/>
                <a:cs typeface="맑은 고딕"/>
              </a:rPr>
              <a:t>1</a:t>
            </a:r>
          </a:p>
        </p:txBody>
      </p:sp>
      <p:sp>
        <p:nvSpPr>
          <p:cNvPr id="15" name="TextBox 14"/>
          <p:cNvSpPr txBox="1"/>
          <p:nvPr/>
        </p:nvSpPr>
        <p:spPr>
          <a:xfrm>
            <a:off x="1027509" y="2529782"/>
            <a:ext cx="1592937" cy="295513"/>
          </a:xfrm>
          <a:prstGeom prst="rect">
            <a:avLst/>
          </a:prstGeom>
          <a:noFill/>
        </p:spPr>
        <p:txBody>
          <a:bodyPr wrap="none" lIns="0" rIns="0" tIns="0" bIns="0" anchor="ctr">
            <a:noAutofit/>
          </a:bodyPr>
          <a:lstStyle/>
          <a:p>
            <a:pPr algn="l">
              <a:lnSpc>
                <a:spcPts val="1642"/>
              </a:lnSpc>
            </a:pPr>
            <a:r>
              <a:rPr sz="1368" b="1">
                <a:solidFill>
                  <a:srgbClr val="17365D"/>
                </a:solidFill>
                <a:latin typeface="맑은 고딕"/>
                <a:ea typeface="맑은 고딕"/>
                <a:cs typeface="맑은 고딕"/>
              </a:rPr>
              <a:t>고용24 접속</a:t>
            </a:r>
          </a:p>
        </p:txBody>
      </p:sp>
      <p:sp>
        <p:nvSpPr>
          <p:cNvPr id="16" name="TextBox 15"/>
          <p:cNvSpPr txBox="1"/>
          <p:nvPr/>
        </p:nvSpPr>
        <p:spPr>
          <a:xfrm>
            <a:off x="1017984" y="2768291"/>
            <a:ext cx="1392888" cy="221635"/>
          </a:xfrm>
          <a:prstGeom prst="rect">
            <a:avLst/>
          </a:prstGeom>
          <a:noFill/>
        </p:spPr>
        <p:txBody>
          <a:bodyPr wrap="none" lIns="0" rIns="0" tIns="0" bIns="0" anchor="ctr">
            <a:noAutofit/>
          </a:bodyPr>
          <a:lstStyle/>
          <a:p>
            <a:pPr algn="l">
              <a:lnSpc>
                <a:spcPts val="1231"/>
              </a:lnSpc>
            </a:pPr>
            <a:r>
              <a:rPr sz="1026" b="1">
                <a:solidFill>
                  <a:srgbClr val="63666B"/>
                </a:solidFill>
                <a:latin typeface="Arial"/>
                <a:ea typeface="맑은 고딕"/>
                <a:cs typeface="맑은 고딕"/>
              </a:rPr>
              <a:t>work24.go.kr</a:t>
            </a:r>
          </a:p>
        </p:txBody>
      </p:sp>
      <p:sp>
        <p:nvSpPr>
          <p:cNvPr id="17" name="Freeform 16"/>
          <p:cNvSpPr/>
          <p:nvPr/>
        </p:nvSpPr>
        <p:spPr>
          <a:xfrm>
            <a:off x="3130868" y="3034963"/>
            <a:ext cx="139064" cy="86915"/>
          </a:xfrm>
          <a:custGeom>
            <a:avLst/>
            <a:gdLst/>
            <a:ahLst/>
            <a:cxnLst/>
            <a:rect l="l" t="t" r="r" b="b"/>
            <a:pathLst>
              <a:path w="139064" h="86915">
                <a:moveTo>
                  <a:pt x="69532" y="0"/>
                </a:moveTo>
                <a:lnTo>
                  <a:pt x="0" y="0"/>
                </a:lnTo>
                <a:lnTo>
                  <a:pt x="69532" y="86915"/>
                </a:lnTo>
                <a:lnTo>
                  <a:pt x="139064" y="0"/>
                </a:lnTo>
                <a:close/>
              </a:path>
            </a:pathLst>
          </a:custGeom>
          <a:solidFill>
            <a:srgbClr val="9DC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9100" y="3139261"/>
            <a:ext cx="5562600" cy="504111"/>
          </a:xfrm>
          <a:prstGeom prst="rect">
            <a:avLst/>
          </a:prstGeom>
          <a:solidFill>
            <a:srgbClr val="FFFFFF"/>
          </a:solidFill>
          <a:ln w="8692">
            <a:solidFill>
              <a:srgbClr val="D4DC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419100" y="3139261"/>
            <a:ext cx="52149" cy="504111"/>
          </a:xfrm>
          <a:prstGeom prst="rect">
            <a:avLst/>
          </a:prstGeom>
          <a:solidFill>
            <a:srgbClr val="4BA3E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Oval 19"/>
          <p:cNvSpPr/>
          <p:nvPr/>
        </p:nvSpPr>
        <p:spPr>
          <a:xfrm>
            <a:off x="601623" y="3243560"/>
            <a:ext cx="295513" cy="295513"/>
          </a:xfrm>
          <a:prstGeom prst="ellipse">
            <a:avLst/>
          </a:prstGeom>
          <a:solidFill>
            <a:srgbClr val="0071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22" y="3262030"/>
            <a:ext cx="544116" cy="265962"/>
          </a:xfrm>
          <a:prstGeom prst="rect">
            <a:avLst/>
          </a:prstGeom>
          <a:noFill/>
        </p:spPr>
        <p:txBody>
          <a:bodyPr wrap="none" lIns="0" rIns="0" tIns="0" bIns="0" anchor="ctr">
            <a:noAutofit/>
          </a:bodyPr>
          <a:lstStyle/>
          <a:p>
            <a:pPr algn="ctr">
              <a:lnSpc>
                <a:spcPts val="1478"/>
              </a:lnSpc>
            </a:pPr>
            <a:r>
              <a:rPr sz="1231" b="1">
                <a:solidFill>
                  <a:srgbClr val="FFFFFF"/>
                </a:solidFill>
                <a:latin typeface="Arial"/>
                <a:ea typeface="맑은 고딕"/>
                <a:cs typeface="맑은 고딕"/>
              </a:rPr>
              <a:t>2</a:t>
            </a:r>
          </a:p>
        </p:txBody>
      </p:sp>
      <p:sp>
        <p:nvSpPr>
          <p:cNvPr id="22" name="TextBox 21"/>
          <p:cNvSpPr txBox="1"/>
          <p:nvPr/>
        </p:nvSpPr>
        <p:spPr>
          <a:xfrm>
            <a:off x="1027509" y="3155577"/>
            <a:ext cx="1182052" cy="295513"/>
          </a:xfrm>
          <a:prstGeom prst="rect">
            <a:avLst/>
          </a:prstGeom>
          <a:noFill/>
        </p:spPr>
        <p:txBody>
          <a:bodyPr wrap="none" lIns="0" rIns="0" tIns="0" bIns="0" anchor="ctr">
            <a:noAutofit/>
          </a:bodyPr>
          <a:lstStyle/>
          <a:p>
            <a:pPr algn="l">
              <a:lnSpc>
                <a:spcPts val="1642"/>
              </a:lnSpc>
            </a:pPr>
            <a:r>
              <a:rPr sz="1368" b="1">
                <a:solidFill>
                  <a:srgbClr val="17365D"/>
                </a:solidFill>
                <a:latin typeface="맑은 고딕"/>
                <a:ea typeface="맑은 고딕"/>
                <a:cs typeface="맑은 고딕"/>
              </a:rPr>
              <a:t>취업지원</a:t>
            </a:r>
          </a:p>
        </p:txBody>
      </p:sp>
      <p:sp>
        <p:nvSpPr>
          <p:cNvPr id="23" name="TextBox 22"/>
          <p:cNvSpPr txBox="1"/>
          <p:nvPr/>
        </p:nvSpPr>
        <p:spPr>
          <a:xfrm>
            <a:off x="1027509" y="3394085"/>
            <a:ext cx="1014412" cy="221635"/>
          </a:xfrm>
          <a:prstGeom prst="rect">
            <a:avLst/>
          </a:prstGeom>
          <a:noFill/>
        </p:spPr>
        <p:txBody>
          <a:bodyPr wrap="none" lIns="0" rIns="0" tIns="0" bIns="0" anchor="ctr">
            <a:noAutofit/>
          </a:bodyPr>
          <a:lstStyle/>
          <a:p>
            <a:pPr algn="l">
              <a:lnSpc>
                <a:spcPts val="1231"/>
              </a:lnSpc>
            </a:pPr>
            <a:r>
              <a:rPr sz="1026" b="1">
                <a:solidFill>
                  <a:srgbClr val="63666B"/>
                </a:solidFill>
                <a:latin typeface="맑은 고딕"/>
                <a:ea typeface="맑은 고딕"/>
                <a:cs typeface="맑은 고딕"/>
              </a:rPr>
              <a:t>상단 메뉴</a:t>
            </a:r>
          </a:p>
        </p:txBody>
      </p:sp>
      <p:sp>
        <p:nvSpPr>
          <p:cNvPr id="24" name="Freeform 23"/>
          <p:cNvSpPr/>
          <p:nvPr/>
        </p:nvSpPr>
        <p:spPr>
          <a:xfrm>
            <a:off x="3130868" y="3660755"/>
            <a:ext cx="139064" cy="86916"/>
          </a:xfrm>
          <a:custGeom>
            <a:avLst/>
            <a:gdLst/>
            <a:ahLst/>
            <a:cxnLst/>
            <a:rect l="l" t="t" r="r" b="b"/>
            <a:pathLst>
              <a:path w="139064" h="86916">
                <a:moveTo>
                  <a:pt x="69532" y="0"/>
                </a:moveTo>
                <a:lnTo>
                  <a:pt x="0" y="0"/>
                </a:lnTo>
                <a:lnTo>
                  <a:pt x="69532" y="86916"/>
                </a:lnTo>
                <a:lnTo>
                  <a:pt x="139064" y="0"/>
                </a:lnTo>
                <a:close/>
              </a:path>
            </a:pathLst>
          </a:custGeom>
          <a:solidFill>
            <a:srgbClr val="9DC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9100" y="3765054"/>
            <a:ext cx="5562600" cy="504111"/>
          </a:xfrm>
          <a:prstGeom prst="rect">
            <a:avLst/>
          </a:prstGeom>
          <a:solidFill>
            <a:srgbClr val="FFFFFF"/>
          </a:solidFill>
          <a:ln w="8692">
            <a:solidFill>
              <a:srgbClr val="D4DC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Rectangle 25"/>
          <p:cNvSpPr/>
          <p:nvPr/>
        </p:nvSpPr>
        <p:spPr>
          <a:xfrm>
            <a:off x="419100" y="3765054"/>
            <a:ext cx="52149" cy="504111"/>
          </a:xfrm>
          <a:prstGeom prst="rect">
            <a:avLst/>
          </a:prstGeom>
          <a:solidFill>
            <a:srgbClr val="4BA3E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Oval 26"/>
          <p:cNvSpPr/>
          <p:nvPr/>
        </p:nvSpPr>
        <p:spPr>
          <a:xfrm>
            <a:off x="601623" y="3869353"/>
            <a:ext cx="295513" cy="295513"/>
          </a:xfrm>
          <a:prstGeom prst="ellipse">
            <a:avLst/>
          </a:prstGeom>
          <a:solidFill>
            <a:srgbClr val="0071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7322" y="3887816"/>
            <a:ext cx="544116" cy="265962"/>
          </a:xfrm>
          <a:prstGeom prst="rect">
            <a:avLst/>
          </a:prstGeom>
          <a:noFill/>
        </p:spPr>
        <p:txBody>
          <a:bodyPr wrap="none" lIns="0" rIns="0" tIns="0" bIns="0" anchor="ctr">
            <a:noAutofit/>
          </a:bodyPr>
          <a:lstStyle/>
          <a:p>
            <a:pPr algn="ctr">
              <a:lnSpc>
                <a:spcPts val="1478"/>
              </a:lnSpc>
            </a:pPr>
            <a:r>
              <a:rPr sz="1231" b="1">
                <a:solidFill>
                  <a:srgbClr val="FFFFFF"/>
                </a:solidFill>
                <a:latin typeface="Arial"/>
                <a:ea typeface="맑은 고딕"/>
                <a:cs typeface="맑은 고딕"/>
              </a:rPr>
              <a:t>3</a:t>
            </a:r>
          </a:p>
        </p:txBody>
      </p:sp>
      <p:sp>
        <p:nvSpPr>
          <p:cNvPr id="29" name="TextBox 28"/>
          <p:cNvSpPr txBox="1"/>
          <p:nvPr/>
        </p:nvSpPr>
        <p:spPr>
          <a:xfrm>
            <a:off x="1027509" y="3781362"/>
            <a:ext cx="1785223" cy="295513"/>
          </a:xfrm>
          <a:prstGeom prst="rect">
            <a:avLst/>
          </a:prstGeom>
          <a:noFill/>
        </p:spPr>
        <p:txBody>
          <a:bodyPr wrap="none" lIns="0" rIns="0" tIns="0" bIns="0" anchor="ctr">
            <a:noAutofit/>
          </a:bodyPr>
          <a:lstStyle/>
          <a:p>
            <a:pPr algn="l">
              <a:lnSpc>
                <a:spcPts val="1642"/>
              </a:lnSpc>
            </a:pPr>
            <a:r>
              <a:rPr sz="1368" b="1">
                <a:solidFill>
                  <a:srgbClr val="17365D"/>
                </a:solidFill>
                <a:latin typeface="맑은 고딕"/>
                <a:ea typeface="맑은 고딕"/>
                <a:cs typeface="맑은 고딕"/>
              </a:rPr>
              <a:t>직업심리검사</a:t>
            </a:r>
          </a:p>
        </p:txBody>
      </p:sp>
      <p:sp>
        <p:nvSpPr>
          <p:cNvPr id="30" name="TextBox 29"/>
          <p:cNvSpPr txBox="1"/>
          <p:nvPr/>
        </p:nvSpPr>
        <p:spPr>
          <a:xfrm>
            <a:off x="1027509" y="4019879"/>
            <a:ext cx="1395111" cy="221635"/>
          </a:xfrm>
          <a:prstGeom prst="rect">
            <a:avLst/>
          </a:prstGeom>
          <a:noFill/>
        </p:spPr>
        <p:txBody>
          <a:bodyPr wrap="none" lIns="0" rIns="0" tIns="0" bIns="0" anchor="ctr">
            <a:noAutofit/>
          </a:bodyPr>
          <a:lstStyle/>
          <a:p>
            <a:pPr algn="l">
              <a:lnSpc>
                <a:spcPts val="1231"/>
              </a:lnSpc>
            </a:pPr>
            <a:r>
              <a:rPr sz="1026" b="1">
                <a:solidFill>
                  <a:srgbClr val="63666B"/>
                </a:solidFill>
                <a:latin typeface="맑은 고딕"/>
                <a:ea typeface="맑은 고딕"/>
                <a:cs typeface="맑은 고딕"/>
              </a:rPr>
              <a:t>취업가이드 안</a:t>
            </a:r>
          </a:p>
        </p:txBody>
      </p:sp>
      <p:sp>
        <p:nvSpPr>
          <p:cNvPr id="31" name="Freeform 30"/>
          <p:cNvSpPr/>
          <p:nvPr/>
        </p:nvSpPr>
        <p:spPr>
          <a:xfrm>
            <a:off x="3130868" y="4286548"/>
            <a:ext cx="139064" cy="86915"/>
          </a:xfrm>
          <a:custGeom>
            <a:avLst/>
            <a:gdLst/>
            <a:ahLst/>
            <a:cxnLst/>
            <a:rect l="l" t="t" r="r" b="b"/>
            <a:pathLst>
              <a:path w="139064" h="86915">
                <a:moveTo>
                  <a:pt x="69532" y="0"/>
                </a:moveTo>
                <a:lnTo>
                  <a:pt x="0" y="0"/>
                </a:lnTo>
                <a:lnTo>
                  <a:pt x="69532" y="86915"/>
                </a:lnTo>
                <a:lnTo>
                  <a:pt x="139064" y="0"/>
                </a:lnTo>
                <a:close/>
              </a:path>
            </a:pathLst>
          </a:custGeom>
          <a:solidFill>
            <a:srgbClr val="9DC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9100" y="4390846"/>
            <a:ext cx="5562600" cy="504111"/>
          </a:xfrm>
          <a:prstGeom prst="rect">
            <a:avLst/>
          </a:prstGeom>
          <a:solidFill>
            <a:srgbClr val="FFFFFF"/>
          </a:solidFill>
          <a:ln w="8692">
            <a:solidFill>
              <a:srgbClr val="D4DC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Rectangle 32"/>
          <p:cNvSpPr/>
          <p:nvPr/>
        </p:nvSpPr>
        <p:spPr>
          <a:xfrm>
            <a:off x="419100" y="4390846"/>
            <a:ext cx="52149" cy="504111"/>
          </a:xfrm>
          <a:prstGeom prst="rect">
            <a:avLst/>
          </a:prstGeom>
          <a:solidFill>
            <a:srgbClr val="4BA3E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Oval 33"/>
          <p:cNvSpPr/>
          <p:nvPr/>
        </p:nvSpPr>
        <p:spPr>
          <a:xfrm>
            <a:off x="601623" y="4495145"/>
            <a:ext cx="295513" cy="295513"/>
          </a:xfrm>
          <a:prstGeom prst="ellipse">
            <a:avLst/>
          </a:prstGeom>
          <a:solidFill>
            <a:srgbClr val="0071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7322" y="4513610"/>
            <a:ext cx="552450" cy="265962"/>
          </a:xfrm>
          <a:prstGeom prst="rect">
            <a:avLst/>
          </a:prstGeom>
          <a:noFill/>
        </p:spPr>
        <p:txBody>
          <a:bodyPr wrap="none" lIns="0" rIns="0" tIns="0" bIns="0" anchor="ctr">
            <a:noAutofit/>
          </a:bodyPr>
          <a:lstStyle/>
          <a:p>
            <a:pPr algn="ctr">
              <a:lnSpc>
                <a:spcPts val="1478"/>
              </a:lnSpc>
            </a:pPr>
            <a:r>
              <a:rPr sz="1231" b="1">
                <a:solidFill>
                  <a:srgbClr val="FFFFFF"/>
                </a:solidFill>
                <a:latin typeface="Arial"/>
                <a:ea typeface="맑은 고딕"/>
                <a:cs typeface="맑은 고딕"/>
              </a:rPr>
              <a:t>4</a:t>
            </a:r>
          </a:p>
        </p:txBody>
      </p:sp>
      <p:sp>
        <p:nvSpPr>
          <p:cNvPr id="36" name="TextBox 35"/>
          <p:cNvSpPr txBox="1"/>
          <p:nvPr/>
        </p:nvSpPr>
        <p:spPr>
          <a:xfrm>
            <a:off x="1027509" y="4407156"/>
            <a:ext cx="3049379" cy="295513"/>
          </a:xfrm>
          <a:prstGeom prst="rect">
            <a:avLst/>
          </a:prstGeom>
          <a:noFill/>
        </p:spPr>
        <p:txBody>
          <a:bodyPr wrap="none" lIns="0" rIns="0" tIns="0" bIns="0" anchor="ctr">
            <a:noAutofit/>
          </a:bodyPr>
          <a:lstStyle/>
          <a:p>
            <a:pPr algn="l">
              <a:lnSpc>
                <a:spcPts val="1642"/>
              </a:lnSpc>
            </a:pPr>
            <a:r>
              <a:rPr sz="1368" b="1">
                <a:solidFill>
                  <a:srgbClr val="17365D"/>
                </a:solidFill>
                <a:latin typeface="맑은 고딕"/>
                <a:ea typeface="맑은 고딕"/>
                <a:cs typeface="맑은 고딕"/>
              </a:rPr>
              <a:t>대학생 진로준비도검사</a:t>
            </a:r>
          </a:p>
        </p:txBody>
      </p:sp>
      <p:sp>
        <p:nvSpPr>
          <p:cNvPr id="37" name="TextBox 36"/>
          <p:cNvSpPr txBox="1"/>
          <p:nvPr/>
        </p:nvSpPr>
        <p:spPr>
          <a:xfrm>
            <a:off x="1027509" y="4645674"/>
            <a:ext cx="1746513" cy="221635"/>
          </a:xfrm>
          <a:prstGeom prst="rect">
            <a:avLst/>
          </a:prstGeom>
          <a:noFill/>
        </p:spPr>
        <p:txBody>
          <a:bodyPr wrap="none" lIns="0" rIns="0" tIns="0" bIns="0" anchor="ctr">
            <a:noAutofit/>
          </a:bodyPr>
          <a:lstStyle/>
          <a:p>
            <a:pPr algn="l">
              <a:lnSpc>
                <a:spcPts val="1231"/>
              </a:lnSpc>
            </a:pPr>
            <a:r>
              <a:rPr sz="1026" b="1">
                <a:solidFill>
                  <a:srgbClr val="63666B"/>
                </a:solidFill>
                <a:latin typeface="맑은 고딕"/>
                <a:ea typeface="맑은 고딕"/>
                <a:cs typeface="맑은 고딕"/>
              </a:rPr>
              <a:t>검사 대상: 대학생</a:t>
            </a:r>
          </a:p>
        </p:txBody>
      </p:sp>
      <p:sp>
        <p:nvSpPr>
          <p:cNvPr id="38" name="Freeform 37"/>
          <p:cNvSpPr/>
          <p:nvPr/>
        </p:nvSpPr>
        <p:spPr>
          <a:xfrm>
            <a:off x="3130868" y="4912340"/>
            <a:ext cx="139064" cy="86916"/>
          </a:xfrm>
          <a:custGeom>
            <a:avLst/>
            <a:gdLst/>
            <a:ahLst/>
            <a:cxnLst/>
            <a:rect l="l" t="t" r="r" b="b"/>
            <a:pathLst>
              <a:path w="139064" h="86916">
                <a:moveTo>
                  <a:pt x="69532" y="0"/>
                </a:moveTo>
                <a:lnTo>
                  <a:pt x="0" y="0"/>
                </a:lnTo>
                <a:lnTo>
                  <a:pt x="69532" y="86916"/>
                </a:lnTo>
                <a:lnTo>
                  <a:pt x="139064" y="0"/>
                </a:lnTo>
                <a:close/>
              </a:path>
            </a:pathLst>
          </a:custGeom>
          <a:solidFill>
            <a:srgbClr val="9DC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19100" y="5016639"/>
            <a:ext cx="5562600" cy="504111"/>
          </a:xfrm>
          <a:prstGeom prst="rect">
            <a:avLst/>
          </a:prstGeom>
          <a:solidFill>
            <a:srgbClr val="DEEBF7"/>
          </a:solidFill>
          <a:ln w="17383">
            <a:solidFill>
              <a:srgbClr val="005BA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Rectangle 39"/>
          <p:cNvSpPr/>
          <p:nvPr/>
        </p:nvSpPr>
        <p:spPr>
          <a:xfrm>
            <a:off x="419100" y="5016639"/>
            <a:ext cx="52149" cy="504111"/>
          </a:xfrm>
          <a:prstGeom prst="rect">
            <a:avLst/>
          </a:prstGeom>
          <a:solidFill>
            <a:srgbClr val="005BA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Oval 40"/>
          <p:cNvSpPr/>
          <p:nvPr/>
        </p:nvSpPr>
        <p:spPr>
          <a:xfrm>
            <a:off x="601623" y="5120938"/>
            <a:ext cx="295513" cy="295513"/>
          </a:xfrm>
          <a:prstGeom prst="ellipse">
            <a:avLst/>
          </a:prstGeom>
          <a:solidFill>
            <a:srgbClr val="005B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77322" y="5139404"/>
            <a:ext cx="544116" cy="265962"/>
          </a:xfrm>
          <a:prstGeom prst="rect">
            <a:avLst/>
          </a:prstGeom>
          <a:noFill/>
        </p:spPr>
        <p:txBody>
          <a:bodyPr wrap="none" lIns="0" rIns="0" tIns="0" bIns="0" anchor="ctr">
            <a:noAutofit/>
          </a:bodyPr>
          <a:lstStyle/>
          <a:p>
            <a:pPr algn="ctr">
              <a:lnSpc>
                <a:spcPts val="1478"/>
              </a:lnSpc>
            </a:pPr>
            <a:r>
              <a:rPr sz="1231" b="1">
                <a:solidFill>
                  <a:srgbClr val="FFFFFF"/>
                </a:solidFill>
                <a:latin typeface="Arial"/>
                <a:ea typeface="맑은 고딕"/>
                <a:cs typeface="맑은 고딕"/>
              </a:rPr>
              <a:t>5</a:t>
            </a:r>
          </a:p>
        </p:txBody>
      </p:sp>
      <p:sp>
        <p:nvSpPr>
          <p:cNvPr id="43" name="TextBox 42"/>
          <p:cNvSpPr txBox="1"/>
          <p:nvPr/>
        </p:nvSpPr>
        <p:spPr>
          <a:xfrm>
            <a:off x="1027509" y="5032950"/>
            <a:ext cx="2167518" cy="295513"/>
          </a:xfrm>
          <a:prstGeom prst="rect">
            <a:avLst/>
          </a:prstGeom>
          <a:noFill/>
        </p:spPr>
        <p:txBody>
          <a:bodyPr wrap="none" lIns="0" rIns="0" tIns="0" bIns="0" anchor="ctr">
            <a:noAutofit/>
          </a:bodyPr>
          <a:lstStyle/>
          <a:p>
            <a:pPr algn="l">
              <a:lnSpc>
                <a:spcPts val="1642"/>
              </a:lnSpc>
            </a:pPr>
            <a:r>
              <a:rPr sz="1368" b="1">
                <a:solidFill>
                  <a:srgbClr val="17365D"/>
                </a:solidFill>
                <a:latin typeface="맑은 고딕"/>
                <a:ea typeface="맑은 고딕"/>
                <a:cs typeface="맑은 고딕"/>
              </a:rPr>
              <a:t>검사 실시 (20분)</a:t>
            </a:r>
          </a:p>
        </p:txBody>
      </p:sp>
      <p:sp>
        <p:nvSpPr>
          <p:cNvPr id="44" name="TextBox 43"/>
          <p:cNvSpPr txBox="1"/>
          <p:nvPr/>
        </p:nvSpPr>
        <p:spPr>
          <a:xfrm>
            <a:off x="1027509" y="5271459"/>
            <a:ext cx="2263155" cy="221635"/>
          </a:xfrm>
          <a:prstGeom prst="rect">
            <a:avLst/>
          </a:prstGeom>
          <a:noFill/>
        </p:spPr>
        <p:txBody>
          <a:bodyPr wrap="none" lIns="0" rIns="0" tIns="0" bIns="0" anchor="ctr">
            <a:noAutofit/>
          </a:bodyPr>
          <a:lstStyle/>
          <a:p>
            <a:pPr algn="l">
              <a:lnSpc>
                <a:spcPts val="1231"/>
              </a:lnSpc>
            </a:pPr>
            <a:r>
              <a:rPr sz="1026" b="1">
                <a:solidFill>
                  <a:srgbClr val="63666B"/>
                </a:solidFill>
                <a:latin typeface="맑은 고딕"/>
                <a:ea typeface="맑은 고딕"/>
                <a:cs typeface="맑은 고딕"/>
              </a:rPr>
              <a:t>결과 캡처 → LMS 제출</a:t>
            </a:r>
          </a:p>
        </p:txBody>
      </p:sp>
      <p:sp>
        <p:nvSpPr>
          <p:cNvPr id="45" name="TextBox 44"/>
          <p:cNvSpPr txBox="1"/>
          <p:nvPr/>
        </p:nvSpPr>
        <p:spPr>
          <a:xfrm>
            <a:off x="6210300" y="1752243"/>
            <a:ext cx="3315891" cy="397192"/>
          </a:xfrm>
          <a:prstGeom prst="rect">
            <a:avLst/>
          </a:prstGeom>
          <a:noFill/>
        </p:spPr>
        <p:txBody>
          <a:bodyPr wrap="none" anchor="ctr" lIns="0" rIns="0" tIns="0" bIns="0">
            <a:noAutofit/>
          </a:bodyPr>
          <a:lstStyle/>
          <a:p>
            <a:pPr algn="l">
              <a:lnSpc>
                <a:spcPts val="2362"/>
              </a:lnSpc>
              <a:spcBef>
                <a:spcPts val="0"/>
              </a:spcBef>
              <a:spcAft>
                <a:spcPts val="0"/>
              </a:spcAft>
            </a:pPr>
            <a:r>
              <a:rPr sz="1575" b="1" spc="-32">
                <a:solidFill>
                  <a:srgbClr val="005BAC"/>
                </a:solidFill>
                <a:latin typeface="맑은 고딕"/>
                <a:ea typeface="맑은 고딕"/>
                <a:cs typeface="맑은 고딕"/>
              </a:rPr>
              <a:t>고용24 직업심리검사</a:t>
            </a:r>
          </a:p>
        </p:txBody>
      </p:sp>
      <p:sp>
        <p:nvSpPr>
          <p:cNvPr id="46" name="Rectangle 45"/>
          <p:cNvSpPr/>
          <p:nvPr/>
        </p:nvSpPr>
        <p:spPr>
          <a:xfrm>
            <a:off x="6210300" y="2388989"/>
            <a:ext cx="5562600" cy="766762"/>
          </a:xfrm>
          <a:prstGeom prst="rect">
            <a:avLst/>
          </a:prstGeom>
          <a:solidFill>
            <a:srgbClr val="F2F7F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47" name="Connector 46"/>
          <p:cNvCxnSpPr/>
          <p:nvPr/>
        </p:nvCxnSpPr>
        <p:spPr>
          <a:xfrm>
            <a:off x="6210300" y="2388989"/>
            <a:ext cx="5562600" cy="0"/>
          </a:xfrm>
          <a:prstGeom prst="line">
            <a:avLst/>
          </a:prstGeom>
          <a:ln w="9525">
            <a:solidFill>
              <a:srgbClr val="9DC3E6"/>
            </a:solidFill>
          </a:ln>
          <a:effectLst/>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1772900" y="2388989"/>
            <a:ext cx="0" cy="766763"/>
          </a:xfrm>
          <a:prstGeom prst="line">
            <a:avLst/>
          </a:prstGeom>
          <a:ln w="9525">
            <a:solidFill>
              <a:srgbClr val="9DC3E6"/>
            </a:solidFill>
          </a:ln>
          <a:effectLst/>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210300" y="3155752"/>
            <a:ext cx="5562600" cy="0"/>
          </a:xfrm>
          <a:prstGeom prst="line">
            <a:avLst/>
          </a:prstGeom>
          <a:ln w="9525">
            <a:solidFill>
              <a:srgbClr val="9DC3E6"/>
            </a:solidFill>
          </a:ln>
          <a:effectLst/>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210300" y="2388989"/>
            <a:ext cx="0" cy="766763"/>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448425" y="2575203"/>
            <a:ext cx="792480" cy="413385"/>
          </a:xfrm>
          <a:prstGeom prst="rect">
            <a:avLst/>
          </a:prstGeom>
          <a:noFill/>
        </p:spPr>
        <p:txBody>
          <a:bodyPr wrap="none" anchor="ctr" lIns="0" rIns="0" tIns="0" bIns="0">
            <a:noAutofit/>
          </a:bodyPr>
          <a:lstStyle/>
          <a:p>
            <a:pPr algn="l">
              <a:lnSpc>
                <a:spcPts val="2475"/>
              </a:lnSpc>
              <a:spcBef>
                <a:spcPts val="0"/>
              </a:spcBef>
              <a:spcAft>
                <a:spcPts val="0"/>
              </a:spcAft>
            </a:pPr>
            <a:r>
              <a:rPr sz="1650" b="0">
                <a:solidFill>
                  <a:srgbClr val="0000EE"/>
                </a:solidFill>
                <a:latin typeface="맑은 고딕"/>
                <a:ea typeface="맑은 고딕"/>
                <a:cs typeface="맑은 고딕"/>
              </a:rPr>
              <a:t>🔗</a:t>
            </a:r>
          </a:p>
        </p:txBody>
      </p:sp>
      <p:sp>
        <p:nvSpPr>
          <p:cNvPr id="52" name="TextBox 51"/>
          <p:cNvSpPr txBox="1"/>
          <p:nvPr/>
        </p:nvSpPr>
        <p:spPr>
          <a:xfrm>
            <a:off x="6819900" y="2468523"/>
            <a:ext cx="3759756" cy="364808"/>
          </a:xfrm>
          <a:prstGeom prst="rect">
            <a:avLst/>
          </a:prstGeom>
          <a:noFill/>
        </p:spPr>
        <p:txBody>
          <a:bodyPr wrap="none" anchor="ctr" lIns="0" rIns="0" tIns="0" bIns="0">
            <a:noAutofit/>
          </a:bodyPr>
          <a:lstStyle/>
          <a:p>
            <a:pPr algn="l">
              <a:lnSpc>
                <a:spcPts val="2137"/>
              </a:lnSpc>
              <a:spcBef>
                <a:spcPts val="0"/>
              </a:spcBef>
              <a:spcAft>
                <a:spcPts val="0"/>
              </a:spcAft>
            </a:pPr>
            <a:r>
              <a:rPr sz="1425" b="1">
                <a:solidFill>
                  <a:srgbClr val="17365D"/>
                </a:solidFill>
                <a:latin typeface="맑은 고딕"/>
                <a:ea typeface="맑은 고딕"/>
                <a:cs typeface="맑은 고딕"/>
              </a:rPr>
              <a:t>고용24 직업심리검사 목록</a:t>
            </a:r>
          </a:p>
        </p:txBody>
      </p:sp>
      <p:sp>
        <p:nvSpPr>
          <p:cNvPr id="53" name="TextBox 52"/>
          <p:cNvSpPr txBox="1"/>
          <p:nvPr/>
        </p:nvSpPr>
        <p:spPr>
          <a:xfrm>
            <a:off x="6819900" y="2764274"/>
            <a:ext cx="7011829" cy="316230"/>
          </a:xfrm>
          <a:prstGeom prst="rect">
            <a:avLst/>
          </a:prstGeom>
          <a:noFill/>
        </p:spPr>
        <p:txBody>
          <a:bodyPr wrap="none" anchor="ctr" lIns="0" rIns="0" tIns="0" bIns="0">
            <a:noAutofit/>
          </a:bodyPr>
          <a:lstStyle/>
          <a:p>
            <a:pPr algn="l">
              <a:lnSpc>
                <a:spcPts val="1800"/>
              </a:lnSpc>
              <a:spcBef>
                <a:spcPts val="0"/>
              </a:spcBef>
              <a:spcAft>
                <a:spcPts val="0"/>
              </a:spcAft>
            </a:pPr>
            <a:r>
              <a:rPr sz="1200" b="1">
                <a:solidFill>
                  <a:srgbClr val="005BAC"/>
                </a:solidFill>
                <a:latin typeface="Arial"/>
                <a:ea typeface="맑은 고딕"/>
                <a:cs typeface="맑은 고딕"/>
              </a:rPr>
              <a:t>https://www.work24.go.kr/wk/r/c/1000/jobPsyExamList.do</a:t>
            </a:r>
          </a:p>
        </p:txBody>
      </p:sp>
      <p:sp>
        <p:nvSpPr>
          <p:cNvPr id="54" name="Rectangle 53"/>
          <p:cNvSpPr/>
          <p:nvPr/>
        </p:nvSpPr>
        <p:spPr>
          <a:xfrm>
            <a:off x="6210300" y="3431977"/>
            <a:ext cx="5562600" cy="77152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55" name="Connector 54"/>
          <p:cNvCxnSpPr/>
          <p:nvPr/>
        </p:nvCxnSpPr>
        <p:spPr>
          <a:xfrm>
            <a:off x="6210300" y="3431977"/>
            <a:ext cx="55626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1772900" y="3431977"/>
            <a:ext cx="0" cy="771525"/>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210300" y="4203502"/>
            <a:ext cx="55626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6210300" y="3431977"/>
            <a:ext cx="0" cy="771525"/>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419850" y="3469600"/>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60" name="TextBox 59"/>
          <p:cNvSpPr txBox="1"/>
          <p:nvPr/>
        </p:nvSpPr>
        <p:spPr>
          <a:xfrm>
            <a:off x="6810375" y="3555802"/>
            <a:ext cx="4800600" cy="571500"/>
          </a:xfrm>
          <a:prstGeom prst="rect">
            <a:avLst/>
          </a:prstGeom>
          <a:noFill/>
        </p:spPr>
        <p:txBody>
          <a:bodyPr wrap="square" anchor="t" lIns="0" rIns="0" tIns="0" bIns="0">
            <a:noAutofit/>
          </a:bodyPr>
          <a:lstStyle/>
          <a:p>
            <a:pPr algn="l">
              <a:lnSpc>
                <a:spcPts val="2137"/>
              </a:lnSpc>
              <a:spcBef>
                <a:spcPts val="0"/>
              </a:spcBef>
              <a:spcAft>
                <a:spcPts val="0"/>
              </a:spcAft>
            </a:pPr>
            <a:r>
              <a:rPr sz="1425" b="0">
                <a:solidFill>
                  <a:srgbClr val="3B3838"/>
                </a:solidFill>
                <a:latin typeface="맑은 고딕"/>
                <a:ea typeface="맑은 고딕"/>
                <a:cs typeface="맑은 고딕"/>
              </a:rPr>
              <a:t>검사 대상을 </a:t>
            </a:r>
            <a:r>
              <a:rPr sz="1425" b="1">
                <a:solidFill>
                  <a:srgbClr val="005BAC"/>
                </a:solidFill>
                <a:latin typeface="맑은 고딕"/>
                <a:ea typeface="맑은 고딕"/>
                <a:cs typeface="맑은 고딕"/>
              </a:rPr>
              <a:t>대학생</a:t>
            </a:r>
            <a:r>
              <a:rPr sz="1425" b="0">
                <a:solidFill>
                  <a:srgbClr val="3B3838"/>
                </a:solidFill>
                <a:latin typeface="맑은 고딕"/>
                <a:ea typeface="맑은 고딕"/>
                <a:cs typeface="맑은 고딕"/>
              </a:rPr>
              <a:t>으로 걸러 놓고 이름으로 찾으면 빠릅니다.</a:t>
            </a:r>
          </a:p>
        </p:txBody>
      </p:sp>
      <p:sp>
        <p:nvSpPr>
          <p:cNvPr id="61" name="Rectangle 60"/>
          <p:cNvSpPr/>
          <p:nvPr/>
        </p:nvSpPr>
        <p:spPr>
          <a:xfrm>
            <a:off x="6210300" y="4660702"/>
            <a:ext cx="5562600" cy="50006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62" name="Connector 61"/>
          <p:cNvCxnSpPr/>
          <p:nvPr/>
        </p:nvCxnSpPr>
        <p:spPr>
          <a:xfrm>
            <a:off x="6210300" y="4660702"/>
            <a:ext cx="55626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1772900" y="4660702"/>
            <a:ext cx="0" cy="500062"/>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6210300" y="5160764"/>
            <a:ext cx="55626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6210300" y="4660702"/>
            <a:ext cx="0" cy="500062"/>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6419850" y="4698325"/>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67" name="TextBox 66"/>
          <p:cNvSpPr txBox="1"/>
          <p:nvPr/>
        </p:nvSpPr>
        <p:spPr>
          <a:xfrm>
            <a:off x="6810375" y="4730710"/>
            <a:ext cx="8006477" cy="364808"/>
          </a:xfrm>
          <a:prstGeom prst="rect">
            <a:avLst/>
          </a:prstGeom>
          <a:noFill/>
        </p:spPr>
        <p:txBody>
          <a:bodyPr wrap="none" anchor="ctr" lIns="0" rIns="0" tIns="0" bIns="0">
            <a:noAutofit/>
          </a:bodyPr>
          <a:lstStyle/>
          <a:p>
            <a:pPr algn="l">
              <a:lnSpc>
                <a:spcPts val="2137"/>
              </a:lnSpc>
              <a:spcBef>
                <a:spcPts val="0"/>
              </a:spcBef>
              <a:spcAft>
                <a:spcPts val="0"/>
              </a:spcAft>
            </a:pPr>
            <a:r>
              <a:rPr sz="1425" b="0">
                <a:solidFill>
                  <a:srgbClr val="3B3838"/>
                </a:solidFill>
                <a:latin typeface="맑은 고딕"/>
                <a:ea typeface="맑은 고딕"/>
                <a:cs typeface="맑은 고딕"/>
              </a:rPr>
              <a:t>검사가 끝나면 결과 화면을 캡처해 </a:t>
            </a:r>
            <a:r>
              <a:rPr sz="1425" b="1">
                <a:solidFill>
                  <a:srgbClr val="C00000"/>
                </a:solidFill>
                <a:latin typeface="맑은 고딕"/>
                <a:ea typeface="맑은 고딕"/>
                <a:cs typeface="맑은 고딕"/>
              </a:rPr>
              <a:t>LMS 과제방</a:t>
            </a:r>
            <a:r>
              <a:rPr sz="1425" b="0">
                <a:solidFill>
                  <a:srgbClr val="3B3838"/>
                </a:solidFill>
                <a:latin typeface="맑은 고딕"/>
                <a:ea typeface="맑은 고딕"/>
                <a:cs typeface="맑은 고딕"/>
              </a:rPr>
              <a:t>에 올립니다.</a:t>
            </a:r>
          </a:p>
        </p:txBody>
      </p:sp>
      <p:sp>
        <p:nvSpPr>
          <p:cNvPr id="68" name="TextBox 67"/>
          <p:cNvSpPr txBox="1"/>
          <p:nvPr/>
        </p:nvSpPr>
        <p:spPr>
          <a:xfrm>
            <a:off x="5786720" y="6506528"/>
            <a:ext cx="618411"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1929110" cy="323850"/>
          </a:xfrm>
          <a:prstGeom prst="rect">
            <a:avLst/>
          </a:prstGeom>
          <a:solidFill>
            <a:srgbClr val="002A55"/>
          </a:solidFill>
          <a:ln w="19050">
            <a:solidFill>
              <a:srgbClr val="FFF100"/>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609600" y="103346"/>
            <a:ext cx="536019" cy="364808"/>
          </a:xfrm>
          <a:prstGeom prst="rect">
            <a:avLst/>
          </a:prstGeom>
          <a:noFill/>
        </p:spPr>
        <p:txBody>
          <a:bodyPr wrap="none" anchor="ctr" lIns="0" rIns="0" tIns="0" bIns="0">
            <a:noAutofit/>
          </a:bodyPr>
          <a:lstStyle/>
          <a:p>
            <a:pPr algn="l">
              <a:lnSpc>
                <a:spcPts val="1425"/>
              </a:lnSpc>
              <a:spcBef>
                <a:spcPts val="0"/>
              </a:spcBef>
              <a:spcAft>
                <a:spcPts val="0"/>
              </a:spcAft>
            </a:pPr>
            <a:r>
              <a:rPr sz="1425" b="1" spc="-30">
                <a:solidFill>
                  <a:srgbClr val="FFF100"/>
                </a:solidFill>
                <a:latin typeface="Arial"/>
                <a:ea typeface="맑은 고딕"/>
                <a:cs typeface="맑은 고딕"/>
              </a:rPr>
              <a:t>6</a:t>
            </a:r>
          </a:p>
        </p:txBody>
      </p:sp>
      <p:sp>
        <p:nvSpPr>
          <p:cNvPr id="7" name="TextBox 6"/>
          <p:cNvSpPr txBox="1"/>
          <p:nvPr/>
        </p:nvSpPr>
        <p:spPr>
          <a:xfrm>
            <a:off x="801737" y="85725"/>
            <a:ext cx="2550557"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FFF"/>
                </a:solidFill>
                <a:latin typeface="맑은 고딕"/>
                <a:ea typeface="맑은 고딕"/>
                <a:cs typeface="맑은 고딕"/>
              </a:rPr>
              <a:t>진로준비도 검사</a:t>
            </a:r>
          </a:p>
        </p:txBody>
      </p:sp>
      <p:sp>
        <p:nvSpPr>
          <p:cNvPr id="8" name="TextBox 7"/>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9" name="Oval 8"/>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100" y="852071"/>
            <a:ext cx="6815138" cy="494348"/>
          </a:xfrm>
          <a:prstGeom prst="rect">
            <a:avLst/>
          </a:prstGeom>
          <a:noFill/>
        </p:spPr>
        <p:txBody>
          <a:bodyPr wrap="none" anchor="ctr" lIns="0" rIns="0" tIns="0" bIns="0">
            <a:noAutofit/>
          </a:bodyPr>
          <a:lstStyle/>
          <a:p>
            <a:pPr algn="l">
              <a:lnSpc>
                <a:spcPts val="3037"/>
              </a:lnSpc>
              <a:spcBef>
                <a:spcPts val="0"/>
              </a:spcBef>
              <a:spcAft>
                <a:spcPts val="0"/>
              </a:spcAft>
            </a:pPr>
            <a:r>
              <a:rPr sz="2025" b="1" spc="-51">
                <a:solidFill>
                  <a:srgbClr val="17365D"/>
                </a:solidFill>
                <a:latin typeface="맑은 고딕"/>
                <a:ea typeface="맑은 고딕"/>
                <a:cs typeface="맑은 고딕"/>
              </a:rPr>
              <a:t>‘대학생진로준비도검사’를 고릅니다.</a:t>
            </a:r>
          </a:p>
        </p:txBody>
      </p:sp>
      <p:sp>
        <p:nvSpPr>
          <p:cNvPr id="11" name="Rectangle 10"/>
          <p:cNvSpPr/>
          <p:nvPr/>
        </p:nvSpPr>
        <p:spPr>
          <a:xfrm>
            <a:off x="472077" y="2754349"/>
            <a:ext cx="2631198" cy="1183156"/>
          </a:xfrm>
          <a:prstGeom prst="rect">
            <a:avLst/>
          </a:prstGeom>
          <a:solidFill>
            <a:srgbClr val="FFFFFF"/>
          </a:solidFill>
          <a:ln w="8830">
            <a:solidFill>
              <a:srgbClr val="D4DC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ounded Rectangle 11"/>
          <p:cNvSpPr/>
          <p:nvPr/>
        </p:nvSpPr>
        <p:spPr>
          <a:xfrm>
            <a:off x="613350" y="2895622"/>
            <a:ext cx="1386235" cy="229568"/>
          </a:xfrm>
          <a:prstGeom prst="roundRect">
            <a:avLst>
              <a:gd name="adj" fmla="val 50000"/>
            </a:avLst>
          </a:prstGeom>
          <a:solidFill>
            <a:srgbClr val="DEEBF7"/>
          </a:solidFill>
          <a:ln w="883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710474" y="2906615"/>
            <a:ext cx="1610342" cy="210143"/>
          </a:xfrm>
          <a:prstGeom prst="rect">
            <a:avLst/>
          </a:prstGeom>
          <a:noFill/>
        </p:spPr>
        <p:txBody>
          <a:bodyPr wrap="none" lIns="0" rIns="0" tIns="0" bIns="0" anchor="ctr">
            <a:noAutofit/>
          </a:bodyPr>
          <a:lstStyle/>
          <a:p>
            <a:pPr algn="l">
              <a:lnSpc>
                <a:spcPts val="1168"/>
              </a:lnSpc>
            </a:pPr>
            <a:r>
              <a:rPr sz="973" b="1">
                <a:solidFill>
                  <a:srgbClr val="005BAC"/>
                </a:solidFill>
                <a:latin typeface="맑은 고딕"/>
                <a:ea typeface="맑은 고딕"/>
                <a:cs typeface="맑은 고딕"/>
              </a:rPr>
              <a:t>진로(취업)준비도</a:t>
            </a:r>
          </a:p>
        </p:txBody>
      </p:sp>
      <p:sp>
        <p:nvSpPr>
          <p:cNvPr id="14" name="TextBox 13"/>
          <p:cNvSpPr txBox="1"/>
          <p:nvPr/>
        </p:nvSpPr>
        <p:spPr>
          <a:xfrm>
            <a:off x="613349" y="3172671"/>
            <a:ext cx="3928958" cy="285194"/>
          </a:xfrm>
          <a:prstGeom prst="rect">
            <a:avLst/>
          </a:prstGeom>
          <a:noFill/>
        </p:spPr>
        <p:txBody>
          <a:bodyPr wrap="none" lIns="0" rIns="0" tIns="0" bIns="0" anchor="ctr">
            <a:noAutofit/>
          </a:bodyPr>
          <a:lstStyle/>
          <a:p>
            <a:pPr algn="l">
              <a:lnSpc>
                <a:spcPts val="1585"/>
              </a:lnSpc>
            </a:pPr>
            <a:r>
              <a:rPr sz="1320" b="1">
                <a:solidFill>
                  <a:srgbClr val="17365D"/>
                </a:solidFill>
                <a:latin typeface="맑은 고딕"/>
                <a:ea typeface="맑은 고딕"/>
                <a:cs typeface="맑은 고딕"/>
              </a:rPr>
              <a:t>진로준비진단검사(찾아Dream)</a:t>
            </a:r>
          </a:p>
        </p:txBody>
      </p:sp>
      <p:sp>
        <p:nvSpPr>
          <p:cNvPr id="15" name="Rectangle 14"/>
          <p:cNvSpPr/>
          <p:nvPr/>
        </p:nvSpPr>
        <p:spPr>
          <a:xfrm>
            <a:off x="1743529" y="3566666"/>
            <a:ext cx="1236133" cy="264886"/>
          </a:xfrm>
          <a:prstGeom prst="rect">
            <a:avLst/>
          </a:prstGeom>
          <a:solidFill>
            <a:srgbClr val="0071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1599282" y="3583058"/>
            <a:ext cx="1524626" cy="225153"/>
          </a:xfrm>
          <a:prstGeom prst="rect">
            <a:avLst/>
          </a:prstGeom>
          <a:noFill/>
        </p:spPr>
        <p:txBody>
          <a:bodyPr wrap="none" lIns="0" rIns="0" tIns="0" bIns="0" anchor="ctr">
            <a:noAutofit/>
          </a:bodyPr>
          <a:lstStyle/>
          <a:p>
            <a:pPr algn="ctr">
              <a:lnSpc>
                <a:spcPts val="1251"/>
              </a:lnSpc>
            </a:pPr>
            <a:r>
              <a:rPr sz="1042" b="1">
                <a:solidFill>
                  <a:srgbClr val="FFFFFF"/>
                </a:solidFill>
                <a:latin typeface="맑은 고딕"/>
                <a:ea typeface="맑은 고딕"/>
                <a:cs typeface="맑은 고딕"/>
              </a:rPr>
              <a:t>검사 실시 (2분)</a:t>
            </a:r>
          </a:p>
        </p:txBody>
      </p:sp>
      <p:sp>
        <p:nvSpPr>
          <p:cNvPr id="17" name="Rectangle 16"/>
          <p:cNvSpPr/>
          <p:nvPr/>
        </p:nvSpPr>
        <p:spPr>
          <a:xfrm>
            <a:off x="3297525" y="2754349"/>
            <a:ext cx="2631198" cy="1183156"/>
          </a:xfrm>
          <a:prstGeom prst="rect">
            <a:avLst/>
          </a:prstGeom>
          <a:solidFill>
            <a:srgbClr val="F2F7FC"/>
          </a:solidFill>
          <a:ln w="22074">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ounded Rectangle 17"/>
          <p:cNvSpPr/>
          <p:nvPr/>
        </p:nvSpPr>
        <p:spPr>
          <a:xfrm>
            <a:off x="3438797" y="2895622"/>
            <a:ext cx="856464" cy="229568"/>
          </a:xfrm>
          <a:prstGeom prst="roundRect">
            <a:avLst>
              <a:gd name="adj" fmla="val 50000"/>
            </a:avLst>
          </a:prstGeom>
          <a:solidFill>
            <a:srgbClr val="DEEBF7"/>
          </a:solidFill>
          <a:ln w="883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3535922" y="2906615"/>
            <a:ext cx="1075134" cy="210143"/>
          </a:xfrm>
          <a:prstGeom prst="rect">
            <a:avLst/>
          </a:prstGeom>
          <a:noFill/>
        </p:spPr>
        <p:txBody>
          <a:bodyPr wrap="none" lIns="0" rIns="0" tIns="0" bIns="0" anchor="ctr">
            <a:noAutofit/>
          </a:bodyPr>
          <a:lstStyle/>
          <a:p>
            <a:pPr algn="l">
              <a:lnSpc>
                <a:spcPts val="1168"/>
              </a:lnSpc>
            </a:pPr>
            <a:r>
              <a:rPr sz="973" b="1">
                <a:solidFill>
                  <a:srgbClr val="005BAC"/>
                </a:solidFill>
                <a:latin typeface="맑은 고딕"/>
                <a:ea typeface="맑은 고딕"/>
                <a:cs typeface="맑은 고딕"/>
              </a:rPr>
              <a:t>진로준비도</a:t>
            </a:r>
          </a:p>
        </p:txBody>
      </p:sp>
      <p:sp>
        <p:nvSpPr>
          <p:cNvPr id="20" name="TextBox 19"/>
          <p:cNvSpPr txBox="1"/>
          <p:nvPr/>
        </p:nvSpPr>
        <p:spPr>
          <a:xfrm>
            <a:off x="3438797" y="3172671"/>
            <a:ext cx="2857723" cy="285194"/>
          </a:xfrm>
          <a:prstGeom prst="rect">
            <a:avLst/>
          </a:prstGeom>
          <a:noFill/>
        </p:spPr>
        <p:txBody>
          <a:bodyPr wrap="none" lIns="0" rIns="0" tIns="0" bIns="0" anchor="ctr">
            <a:noAutofit/>
          </a:bodyPr>
          <a:lstStyle/>
          <a:p>
            <a:pPr algn="l">
              <a:lnSpc>
                <a:spcPts val="1585"/>
              </a:lnSpc>
            </a:pPr>
            <a:r>
              <a:rPr sz="1320" b="1">
                <a:solidFill>
                  <a:srgbClr val="17365D"/>
                </a:solidFill>
                <a:latin typeface="맑은 고딕"/>
                <a:ea typeface="맑은 고딕"/>
                <a:cs typeface="맑은 고딕"/>
              </a:rPr>
              <a:t>대학생진로준비도검사</a:t>
            </a:r>
          </a:p>
        </p:txBody>
      </p:sp>
      <p:sp>
        <p:nvSpPr>
          <p:cNvPr id="21" name="Rectangle 20"/>
          <p:cNvSpPr/>
          <p:nvPr/>
        </p:nvSpPr>
        <p:spPr>
          <a:xfrm>
            <a:off x="4568976" y="3566666"/>
            <a:ext cx="1236133" cy="264886"/>
          </a:xfrm>
          <a:prstGeom prst="rect">
            <a:avLst/>
          </a:prstGeom>
          <a:solidFill>
            <a:srgbClr val="005BA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4362237" y="3583058"/>
            <a:ext cx="1649611" cy="225153"/>
          </a:xfrm>
          <a:prstGeom prst="rect">
            <a:avLst/>
          </a:prstGeom>
          <a:noFill/>
        </p:spPr>
        <p:txBody>
          <a:bodyPr wrap="none" lIns="0" rIns="0" tIns="0" bIns="0" anchor="ctr">
            <a:noAutofit/>
          </a:bodyPr>
          <a:lstStyle/>
          <a:p>
            <a:pPr algn="ctr">
              <a:lnSpc>
                <a:spcPts val="1251"/>
              </a:lnSpc>
            </a:pPr>
            <a:r>
              <a:rPr sz="1042" b="1">
                <a:solidFill>
                  <a:srgbClr val="FFFFFF"/>
                </a:solidFill>
                <a:latin typeface="맑은 고딕"/>
                <a:ea typeface="맑은 고딕"/>
                <a:cs typeface="맑은 고딕"/>
              </a:rPr>
              <a:t>검사 실시 (20분)</a:t>
            </a:r>
          </a:p>
        </p:txBody>
      </p:sp>
      <p:sp>
        <p:nvSpPr>
          <p:cNvPr id="23" name="Rectangle 22"/>
          <p:cNvSpPr/>
          <p:nvPr/>
        </p:nvSpPr>
        <p:spPr>
          <a:xfrm>
            <a:off x="472077" y="4096437"/>
            <a:ext cx="2631198" cy="1183156"/>
          </a:xfrm>
          <a:prstGeom prst="rect">
            <a:avLst/>
          </a:prstGeom>
          <a:solidFill>
            <a:srgbClr val="FFFFFF"/>
          </a:solidFill>
          <a:ln w="8830">
            <a:solidFill>
              <a:srgbClr val="D4DC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Rounded Rectangle 23"/>
          <p:cNvSpPr/>
          <p:nvPr/>
        </p:nvSpPr>
        <p:spPr>
          <a:xfrm>
            <a:off x="613350" y="4237709"/>
            <a:ext cx="459135" cy="229568"/>
          </a:xfrm>
          <a:prstGeom prst="roundRect">
            <a:avLst>
              <a:gd name="adj" fmla="val 50000"/>
            </a:avLst>
          </a:prstGeom>
          <a:solidFill>
            <a:srgbClr val="DEEBF7"/>
          </a:solidFill>
          <a:ln w="883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710474" y="4248709"/>
            <a:ext cx="704552" cy="210143"/>
          </a:xfrm>
          <a:prstGeom prst="rect">
            <a:avLst/>
          </a:prstGeom>
          <a:noFill/>
        </p:spPr>
        <p:txBody>
          <a:bodyPr wrap="none" lIns="0" rIns="0" tIns="0" bIns="0" anchor="ctr">
            <a:noAutofit/>
          </a:bodyPr>
          <a:lstStyle/>
          <a:p>
            <a:pPr algn="l">
              <a:lnSpc>
                <a:spcPts val="1168"/>
              </a:lnSpc>
            </a:pPr>
            <a:r>
              <a:rPr sz="973" b="1">
                <a:solidFill>
                  <a:srgbClr val="005BAC"/>
                </a:solidFill>
                <a:latin typeface="맑은 고딕"/>
                <a:ea typeface="맑은 고딕"/>
                <a:cs typeface="맑은 고딕"/>
              </a:rPr>
              <a:t>역량</a:t>
            </a:r>
          </a:p>
        </p:txBody>
      </p:sp>
      <p:sp>
        <p:nvSpPr>
          <p:cNvPr id="26" name="TextBox 25"/>
          <p:cNvSpPr txBox="1"/>
          <p:nvPr/>
        </p:nvSpPr>
        <p:spPr>
          <a:xfrm>
            <a:off x="613349" y="4514756"/>
            <a:ext cx="1717164" cy="285194"/>
          </a:xfrm>
          <a:prstGeom prst="rect">
            <a:avLst/>
          </a:prstGeom>
          <a:noFill/>
        </p:spPr>
        <p:txBody>
          <a:bodyPr wrap="none" lIns="0" rIns="0" tIns="0" bIns="0" anchor="ctr">
            <a:noAutofit/>
          </a:bodyPr>
          <a:lstStyle/>
          <a:p>
            <a:pPr algn="l">
              <a:lnSpc>
                <a:spcPts val="1585"/>
              </a:lnSpc>
            </a:pPr>
            <a:r>
              <a:rPr sz="1320" b="1">
                <a:solidFill>
                  <a:srgbClr val="17365D"/>
                </a:solidFill>
                <a:latin typeface="맑은 고딕"/>
                <a:ea typeface="맑은 고딕"/>
                <a:cs typeface="맑은 고딕"/>
              </a:rPr>
              <a:t>창업적성검사</a:t>
            </a:r>
          </a:p>
        </p:txBody>
      </p:sp>
      <p:sp>
        <p:nvSpPr>
          <p:cNvPr id="27" name="Rectangle 26"/>
          <p:cNvSpPr/>
          <p:nvPr/>
        </p:nvSpPr>
        <p:spPr>
          <a:xfrm>
            <a:off x="1743529" y="4908753"/>
            <a:ext cx="1236133" cy="264886"/>
          </a:xfrm>
          <a:prstGeom prst="rect">
            <a:avLst/>
          </a:prstGeom>
          <a:solidFill>
            <a:srgbClr val="0071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1536790" y="4925144"/>
            <a:ext cx="1649611" cy="225153"/>
          </a:xfrm>
          <a:prstGeom prst="rect">
            <a:avLst/>
          </a:prstGeom>
          <a:noFill/>
        </p:spPr>
        <p:txBody>
          <a:bodyPr wrap="none" lIns="0" rIns="0" tIns="0" bIns="0" anchor="ctr">
            <a:noAutofit/>
          </a:bodyPr>
          <a:lstStyle/>
          <a:p>
            <a:pPr algn="ctr">
              <a:lnSpc>
                <a:spcPts val="1251"/>
              </a:lnSpc>
            </a:pPr>
            <a:r>
              <a:rPr sz="1042" b="1">
                <a:solidFill>
                  <a:srgbClr val="FFFFFF"/>
                </a:solidFill>
                <a:latin typeface="맑은 고딕"/>
                <a:ea typeface="맑은 고딕"/>
                <a:cs typeface="맑은 고딕"/>
              </a:rPr>
              <a:t>검사 실시 (20분)</a:t>
            </a:r>
          </a:p>
        </p:txBody>
      </p:sp>
      <p:sp>
        <p:nvSpPr>
          <p:cNvPr id="29" name="Rectangle 28"/>
          <p:cNvSpPr/>
          <p:nvPr/>
        </p:nvSpPr>
        <p:spPr>
          <a:xfrm>
            <a:off x="3297525" y="4096437"/>
            <a:ext cx="2631198" cy="1183156"/>
          </a:xfrm>
          <a:prstGeom prst="rect">
            <a:avLst/>
          </a:prstGeom>
          <a:solidFill>
            <a:srgbClr val="FFFFFF"/>
          </a:solidFill>
          <a:ln w="8830">
            <a:solidFill>
              <a:srgbClr val="D4DC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Rounded Rectangle 29"/>
          <p:cNvSpPr/>
          <p:nvPr/>
        </p:nvSpPr>
        <p:spPr>
          <a:xfrm>
            <a:off x="3438797" y="4237709"/>
            <a:ext cx="459135" cy="229568"/>
          </a:xfrm>
          <a:prstGeom prst="roundRect">
            <a:avLst>
              <a:gd name="adj" fmla="val 50000"/>
            </a:avLst>
          </a:prstGeom>
          <a:solidFill>
            <a:srgbClr val="DEEBF7"/>
          </a:solidFill>
          <a:ln w="8830">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3535922" y="4248709"/>
            <a:ext cx="704255" cy="210143"/>
          </a:xfrm>
          <a:prstGeom prst="rect">
            <a:avLst/>
          </a:prstGeom>
          <a:noFill/>
        </p:spPr>
        <p:txBody>
          <a:bodyPr wrap="none" lIns="0" rIns="0" tIns="0" bIns="0" anchor="ctr">
            <a:noAutofit/>
          </a:bodyPr>
          <a:lstStyle/>
          <a:p>
            <a:pPr algn="l">
              <a:lnSpc>
                <a:spcPts val="1168"/>
              </a:lnSpc>
            </a:pPr>
            <a:r>
              <a:rPr sz="973" b="1">
                <a:solidFill>
                  <a:srgbClr val="005BAC"/>
                </a:solidFill>
                <a:latin typeface="맑은 고딕"/>
                <a:ea typeface="맑은 고딕"/>
                <a:cs typeface="맑은 고딕"/>
              </a:rPr>
              <a:t>흥미</a:t>
            </a:r>
          </a:p>
        </p:txBody>
      </p:sp>
      <p:sp>
        <p:nvSpPr>
          <p:cNvPr id="32" name="TextBox 31"/>
          <p:cNvSpPr txBox="1"/>
          <p:nvPr/>
        </p:nvSpPr>
        <p:spPr>
          <a:xfrm>
            <a:off x="3438797" y="4514756"/>
            <a:ext cx="3326547" cy="285194"/>
          </a:xfrm>
          <a:prstGeom prst="rect">
            <a:avLst/>
          </a:prstGeom>
          <a:noFill/>
        </p:spPr>
        <p:txBody>
          <a:bodyPr wrap="none" lIns="0" rIns="0" tIns="0" bIns="0" anchor="ctr">
            <a:noAutofit/>
          </a:bodyPr>
          <a:lstStyle/>
          <a:p>
            <a:pPr algn="l">
              <a:lnSpc>
                <a:spcPts val="1585"/>
              </a:lnSpc>
            </a:pPr>
            <a:r>
              <a:rPr sz="1320" b="1">
                <a:solidFill>
                  <a:srgbClr val="17365D"/>
                </a:solidFill>
                <a:latin typeface="맑은 고딕"/>
                <a:ea typeface="맑은 고딕"/>
                <a:cs typeface="맑은 고딕"/>
              </a:rPr>
              <a:t>직업흥미탐색검사(간편형)</a:t>
            </a:r>
          </a:p>
        </p:txBody>
      </p:sp>
      <p:sp>
        <p:nvSpPr>
          <p:cNvPr id="33" name="Rectangle 32"/>
          <p:cNvSpPr/>
          <p:nvPr/>
        </p:nvSpPr>
        <p:spPr>
          <a:xfrm>
            <a:off x="4568976" y="4908753"/>
            <a:ext cx="1236133" cy="264886"/>
          </a:xfrm>
          <a:prstGeom prst="rect">
            <a:avLst/>
          </a:prstGeom>
          <a:solidFill>
            <a:srgbClr val="0071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4424730" y="4925144"/>
            <a:ext cx="1524625" cy="225153"/>
          </a:xfrm>
          <a:prstGeom prst="rect">
            <a:avLst/>
          </a:prstGeom>
          <a:noFill/>
        </p:spPr>
        <p:txBody>
          <a:bodyPr wrap="none" lIns="0" rIns="0" tIns="0" bIns="0" anchor="ctr">
            <a:noAutofit/>
          </a:bodyPr>
          <a:lstStyle/>
          <a:p>
            <a:pPr algn="ctr">
              <a:lnSpc>
                <a:spcPts val="1251"/>
              </a:lnSpc>
            </a:pPr>
            <a:r>
              <a:rPr sz="1042" b="1">
                <a:solidFill>
                  <a:srgbClr val="FFFFFF"/>
                </a:solidFill>
                <a:latin typeface="맑은 고딕"/>
                <a:ea typeface="맑은 고딕"/>
                <a:cs typeface="맑은 고딕"/>
              </a:rPr>
              <a:t>검사 실시 (5분)</a:t>
            </a:r>
          </a:p>
        </p:txBody>
      </p:sp>
      <p:sp>
        <p:nvSpPr>
          <p:cNvPr id="35" name="Rectangle 34"/>
          <p:cNvSpPr/>
          <p:nvPr/>
        </p:nvSpPr>
        <p:spPr>
          <a:xfrm>
            <a:off x="6210300" y="1774627"/>
            <a:ext cx="5562600" cy="77152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36" name="Connector 35"/>
          <p:cNvCxnSpPr/>
          <p:nvPr/>
        </p:nvCxnSpPr>
        <p:spPr>
          <a:xfrm>
            <a:off x="6210300" y="1774627"/>
            <a:ext cx="55626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1772900" y="1774627"/>
            <a:ext cx="0" cy="771525"/>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210300" y="2546152"/>
            <a:ext cx="5562600"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210300" y="1774627"/>
            <a:ext cx="0" cy="771525"/>
          </a:xfrm>
          <a:prstGeom prst="line">
            <a:avLst/>
          </a:prstGeom>
          <a:ln w="6667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419850" y="1812250"/>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0">
                <a:solidFill>
                  <a:srgbClr val="3B3838"/>
                </a:solidFill>
                <a:latin typeface="맑은 고딕"/>
                <a:ea typeface="맑은 고딕"/>
                <a:cs typeface="맑은 고딕"/>
              </a:rPr>
              <a:t>✅</a:t>
            </a:r>
          </a:p>
        </p:txBody>
      </p:sp>
      <p:sp>
        <p:nvSpPr>
          <p:cNvPr id="41" name="TextBox 40"/>
          <p:cNvSpPr txBox="1"/>
          <p:nvPr/>
        </p:nvSpPr>
        <p:spPr>
          <a:xfrm>
            <a:off x="6810375" y="1898452"/>
            <a:ext cx="4800600" cy="571500"/>
          </a:xfrm>
          <a:prstGeom prst="rect">
            <a:avLst/>
          </a:prstGeom>
          <a:noFill/>
        </p:spPr>
        <p:txBody>
          <a:bodyPr wrap="square" anchor="t" lIns="0" rIns="0" tIns="0" bIns="0">
            <a:noAutofit/>
          </a:bodyPr>
          <a:lstStyle/>
          <a:p>
            <a:pPr algn="l">
              <a:lnSpc>
                <a:spcPts val="2137"/>
              </a:lnSpc>
              <a:spcBef>
                <a:spcPts val="0"/>
              </a:spcBef>
              <a:spcAft>
                <a:spcPts val="0"/>
              </a:spcAft>
            </a:pPr>
            <a:r>
              <a:rPr sz="1425" b="0">
                <a:solidFill>
                  <a:srgbClr val="3B3838"/>
                </a:solidFill>
                <a:latin typeface="맑은 고딕"/>
                <a:ea typeface="맑은 고딕"/>
                <a:cs typeface="맑은 고딕"/>
              </a:rPr>
              <a:t>우리가 볼 검사는 </a:t>
            </a:r>
            <a:r>
              <a:rPr sz="1425" b="1">
                <a:solidFill>
                  <a:srgbClr val="005BAC"/>
                </a:solidFill>
                <a:latin typeface="맑은 고딕"/>
                <a:ea typeface="맑은 고딕"/>
                <a:cs typeface="맑은 고딕"/>
              </a:rPr>
              <a:t>대학생진로준비도검사</a:t>
            </a:r>
            <a:r>
              <a:rPr sz="1425" b="0">
                <a:solidFill>
                  <a:srgbClr val="3B3838"/>
                </a:solidFill>
                <a:latin typeface="맑은 고딕"/>
                <a:ea typeface="맑은 고딕"/>
                <a:cs typeface="맑은 고딕"/>
              </a:rPr>
              <a:t> (검사 실시 20분) 입니다.</a:t>
            </a:r>
          </a:p>
        </p:txBody>
      </p:sp>
      <p:sp>
        <p:nvSpPr>
          <p:cNvPr id="42" name="TextBox 41"/>
          <p:cNvSpPr txBox="1"/>
          <p:nvPr/>
        </p:nvSpPr>
        <p:spPr>
          <a:xfrm>
            <a:off x="5981700" y="2780467"/>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43" name="TextBox 42"/>
          <p:cNvSpPr txBox="1"/>
          <p:nvPr/>
        </p:nvSpPr>
        <p:spPr>
          <a:xfrm>
            <a:off x="6467475" y="2781419"/>
            <a:ext cx="824507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진로발달수준과 취업준비 행동수준에 대한 객관적인 정보를 확인</a:t>
            </a:r>
          </a:p>
        </p:txBody>
      </p:sp>
      <p:sp>
        <p:nvSpPr>
          <p:cNvPr id="44" name="TextBox 43"/>
          <p:cNvSpPr txBox="1"/>
          <p:nvPr/>
        </p:nvSpPr>
        <p:spPr>
          <a:xfrm>
            <a:off x="5981700" y="3105210"/>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45" name="TextBox 44"/>
          <p:cNvSpPr txBox="1"/>
          <p:nvPr/>
        </p:nvSpPr>
        <p:spPr>
          <a:xfrm>
            <a:off x="6467475" y="3156645"/>
            <a:ext cx="5305425" cy="525661"/>
          </a:xfrm>
          <a:prstGeom prst="rect">
            <a:avLst/>
          </a:prstGeom>
          <a:noFill/>
        </p:spPr>
        <p:txBody>
          <a:bodyPr wrap="square" anchor="t"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진로탐색과 취업준비를 위해 좀 더 노력해야 할 점이 무엇인지 알아볼 수 있음</a:t>
            </a:r>
          </a:p>
        </p:txBody>
      </p:sp>
      <p:sp>
        <p:nvSpPr>
          <p:cNvPr id="46" name="TextBox 45"/>
          <p:cNvSpPr txBox="1"/>
          <p:nvPr/>
        </p:nvSpPr>
        <p:spPr>
          <a:xfrm>
            <a:off x="5981700" y="3678495"/>
            <a:ext cx="619125" cy="275272"/>
          </a:xfrm>
          <a:prstGeom prst="rect">
            <a:avLst/>
          </a:prstGeom>
          <a:noFill/>
        </p:spPr>
        <p:txBody>
          <a:bodyPr wrap="none" lIns="0" rIns="0" tIns="0" bIns="0" anchor="ctr">
            <a:noAutofit/>
          </a:bodyPr>
          <a:lstStyle/>
          <a:p>
            <a:pPr algn="ctr">
              <a:lnSpc>
                <a:spcPts val="1530"/>
              </a:lnSpc>
            </a:pPr>
            <a:r>
              <a:rPr sz="1275" b="1">
                <a:solidFill>
                  <a:srgbClr val="0071CE"/>
                </a:solidFill>
                <a:latin typeface="맑은 고딕"/>
                <a:ea typeface="맑은 고딕"/>
                <a:cs typeface="맑은 고딕"/>
              </a:rPr>
              <a:t>➢</a:t>
            </a:r>
          </a:p>
        </p:txBody>
      </p:sp>
      <p:sp>
        <p:nvSpPr>
          <p:cNvPr id="47" name="TextBox 46"/>
          <p:cNvSpPr txBox="1"/>
          <p:nvPr/>
        </p:nvSpPr>
        <p:spPr>
          <a:xfrm>
            <a:off x="6467475" y="3679448"/>
            <a:ext cx="2530078" cy="348615"/>
          </a:xfrm>
          <a:prstGeom prst="rect">
            <a:avLst/>
          </a:prstGeom>
          <a:noFill/>
        </p:spPr>
        <p:txBody>
          <a:bodyPr wrap="none" anchor="ctr" lIns="0" rIns="0" tIns="0" bIns="0">
            <a:noAutofit/>
          </a:bodyPr>
          <a:lstStyle/>
          <a:p>
            <a:pPr algn="l">
              <a:lnSpc>
                <a:spcPts val="1957"/>
              </a:lnSpc>
              <a:spcBef>
                <a:spcPts val="0"/>
              </a:spcBef>
              <a:spcAft>
                <a:spcPts val="0"/>
              </a:spcAft>
            </a:pPr>
            <a:r>
              <a:rPr sz="1350" b="0">
                <a:solidFill>
                  <a:srgbClr val="3B3838"/>
                </a:solidFill>
                <a:latin typeface="맑은 고딕"/>
                <a:ea typeface="맑은 고딕"/>
                <a:cs typeface="맑은 고딕"/>
              </a:rPr>
              <a:t>검사 대상: 대학생</a:t>
            </a:r>
          </a:p>
        </p:txBody>
      </p:sp>
      <p:sp>
        <p:nvSpPr>
          <p:cNvPr id="48" name="TextBox 47"/>
          <p:cNvSpPr txBox="1"/>
          <p:nvPr/>
        </p:nvSpPr>
        <p:spPr>
          <a:xfrm>
            <a:off x="6210300" y="4166592"/>
            <a:ext cx="6959918" cy="300038"/>
          </a:xfrm>
          <a:prstGeom prst="rect">
            <a:avLst/>
          </a:prstGeom>
          <a:noFill/>
        </p:spPr>
        <p:txBody>
          <a:bodyPr wrap="none" anchor="ctr" lIns="0" rIns="0" tIns="0" bIns="0">
            <a:noAutofit/>
          </a:bodyPr>
          <a:lstStyle/>
          <a:p>
            <a:pPr algn="l">
              <a:lnSpc>
                <a:spcPts val="1687"/>
              </a:lnSpc>
              <a:spcBef>
                <a:spcPts val="0"/>
              </a:spcBef>
              <a:spcAft>
                <a:spcPts val="0"/>
              </a:spcAft>
            </a:pPr>
            <a:r>
              <a:rPr sz="1125" b="0">
                <a:solidFill>
                  <a:srgbClr val="63666B"/>
                </a:solidFill>
                <a:latin typeface="맑은 고딕"/>
                <a:ea typeface="맑은 고딕"/>
                <a:cs typeface="맑은 고딕"/>
              </a:rPr>
              <a:t>※ 화면에는 다른 검사들도 함께 보입니다. 이름을 꼭 확인하세요.</a:t>
            </a:r>
          </a:p>
        </p:txBody>
      </p:sp>
      <p:sp>
        <p:nvSpPr>
          <p:cNvPr id="49" name="TextBox 48"/>
          <p:cNvSpPr txBox="1"/>
          <p:nvPr/>
        </p:nvSpPr>
        <p:spPr>
          <a:xfrm>
            <a:off x="5786720" y="6506528"/>
            <a:ext cx="618411"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band.jpg"/>
          <p:cNvPicPr>
            <a:picLocks noChangeAspect="1"/>
          </p:cNvPicPr>
          <p:nvPr/>
        </p:nvPicPr>
        <p:blipFill>
          <a:blip r:embed="rId2"/>
          <a:stretch>
            <a:fillRect/>
          </a:stretch>
        </p:blipFill>
        <p:spPr>
          <a:xfrm>
            <a:off x="0" y="0"/>
            <a:ext cx="12192000" cy="6858000"/>
          </a:xfrm>
          <a:prstGeom prst="rect">
            <a:avLst/>
          </a:prstGeom>
        </p:spPr>
      </p:pic>
      <p:sp>
        <p:nvSpPr>
          <p:cNvPr id="4" name="TextBox 3"/>
          <p:cNvSpPr txBox="1"/>
          <p:nvPr/>
        </p:nvSpPr>
        <p:spPr>
          <a:xfrm>
            <a:off x="4852392" y="2859405"/>
            <a:ext cx="4360545" cy="1158240"/>
          </a:xfrm>
          <a:prstGeom prst="rect">
            <a:avLst/>
          </a:prstGeom>
          <a:noFill/>
        </p:spPr>
        <p:txBody>
          <a:bodyPr wrap="none" anchor="ctr" lIns="0" rIns="0" tIns="0" bIns="0">
            <a:noAutofit/>
          </a:bodyPr>
          <a:lstStyle/>
          <a:p>
            <a:pPr algn="l">
              <a:lnSpc>
                <a:spcPts val="7650"/>
              </a:lnSpc>
              <a:spcBef>
                <a:spcPts val="0"/>
              </a:spcBef>
              <a:spcAft>
                <a:spcPts val="0"/>
              </a:spcAft>
            </a:pPr>
            <a:r>
              <a:rPr sz="5100" b="1" spc="-204">
                <a:solidFill>
                  <a:srgbClr val="FFFFFF"/>
                </a:solidFill>
                <a:latin typeface="맑은 고딕"/>
                <a:ea typeface="맑은 고딕"/>
                <a:cs typeface="맑은 고딕"/>
              </a:rPr>
              <a:t>질의응답</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campus.jpg"/>
          <p:cNvPicPr>
            <a:picLocks noChangeAspect="1"/>
          </p:cNvPicPr>
          <p:nvPr/>
        </p:nvPicPr>
        <p:blipFill>
          <a:blip r:embed="rId2">
            <a:alphaModFix amt="50000"/>
          </a:blip>
          <a:stretch>
            <a:fillRect/>
          </a:stretch>
        </p:blipFill>
        <p:spPr>
          <a:xfrm>
            <a:off x="0" y="533400"/>
            <a:ext cx="12192000" cy="6324600"/>
          </a:xfrm>
          <a:prstGeom prst="rect">
            <a:avLst/>
          </a:prstGeom>
        </p:spPr>
      </p:pic>
      <p:sp>
        <p:nvSpPr>
          <p:cNvPr id="4" name="Rectangle 3"/>
          <p:cNvSpPr/>
          <p:nvPr/>
        </p:nvSpPr>
        <p:spPr>
          <a:xfrm>
            <a:off x="0" y="0"/>
            <a:ext cx="12192000" cy="533400"/>
          </a:xfrm>
          <a:prstGeom prst="rect">
            <a:avLst/>
          </a:prstGeom>
          <a:ln>
            <a:noFill/>
          </a:ln>
          <a:effectLst/>
          <a:gradFill rotWithShape="1">
            <a:gsLst>
              <a:gs pos="0">
                <a:srgbClr val="00A5DE"/>
              </a:gs>
              <a:gs pos="52000">
                <a:srgbClr val="0071CE"/>
              </a:gs>
              <a:gs pos="100000">
                <a:srgbClr val="005BAC"/>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419100" y="104775"/>
            <a:ext cx="2018109" cy="323850"/>
          </a:xfrm>
          <a:prstGeom prst="rect">
            <a:avLst/>
          </a:prstGeom>
          <a:solidFill>
            <a:srgbClr val="002A55"/>
          </a:solidFill>
          <a:ln w="19050">
            <a:solidFill>
              <a:srgbClr val="FFF100"/>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609600" y="85725"/>
            <a:ext cx="3000375"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FFFFFF"/>
                </a:solidFill>
                <a:latin typeface="맑은 고딕"/>
                <a:ea typeface="맑은 고딕"/>
                <a:cs typeface="맑은 고딕"/>
              </a:rPr>
              <a:t>생성형 AI 사용 지침</a:t>
            </a:r>
          </a:p>
        </p:txBody>
      </p:sp>
      <p:sp>
        <p:nvSpPr>
          <p:cNvPr id="7" name="TextBox 6"/>
          <p:cNvSpPr txBox="1"/>
          <p:nvPr/>
        </p:nvSpPr>
        <p:spPr>
          <a:xfrm>
            <a:off x="11157793" y="-14288"/>
            <a:ext cx="1669971" cy="704850"/>
          </a:xfrm>
          <a:prstGeom prst="rect">
            <a:avLst/>
          </a:prstGeom>
          <a:noFill/>
        </p:spPr>
        <p:txBody>
          <a:bodyPr wrap="none" anchor="ctr" lIns="0" rIns="0" tIns="0" bIns="0">
            <a:noAutofit/>
          </a:bodyPr>
          <a:lstStyle/>
          <a:p>
            <a:pPr algn="l">
              <a:lnSpc>
                <a:spcPts val="3000"/>
              </a:lnSpc>
              <a:spcBef>
                <a:spcPts val="0"/>
              </a:spcBef>
              <a:spcAft>
                <a:spcPts val="0"/>
              </a:spcAft>
            </a:pPr>
            <a:r>
              <a:rPr sz="3000" b="1" spc="-165">
                <a:solidFill>
                  <a:srgbClr val="FFFFFF"/>
                </a:solidFill>
                <a:latin typeface="Arial"/>
                <a:ea typeface="맑은 고딕"/>
                <a:cs typeface="맑은 고딕"/>
              </a:rPr>
              <a:t>dima</a:t>
            </a:r>
          </a:p>
        </p:txBody>
      </p:sp>
      <p:sp>
        <p:nvSpPr>
          <p:cNvPr id="8" name="Oval 7"/>
          <p:cNvSpPr/>
          <p:nvPr/>
        </p:nvSpPr>
        <p:spPr>
          <a:xfrm>
            <a:off x="11375871" y="952"/>
            <a:ext cx="72390" cy="7239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9100" y="866775"/>
            <a:ext cx="11353800" cy="481012"/>
          </a:xfrm>
          <a:prstGeom prst="rect">
            <a:avLst/>
          </a:prstGeom>
          <a:solidFill>
            <a:srgbClr val="005BA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61975" y="894874"/>
            <a:ext cx="822960" cy="429578"/>
          </a:xfrm>
          <a:prstGeom prst="rect">
            <a:avLst/>
          </a:prstGeom>
          <a:noFill/>
        </p:spPr>
        <p:txBody>
          <a:bodyPr wrap="none" anchor="ctr" lIns="0" rIns="0" tIns="0" bIns="0">
            <a:noAutofit/>
          </a:bodyPr>
          <a:lstStyle/>
          <a:p>
            <a:pPr algn="l">
              <a:lnSpc>
                <a:spcPts val="1983"/>
              </a:lnSpc>
              <a:spcBef>
                <a:spcPts val="0"/>
              </a:spcBef>
              <a:spcAft>
                <a:spcPts val="0"/>
              </a:spcAft>
            </a:pPr>
            <a:r>
              <a:rPr sz="1725" b="1">
                <a:solidFill>
                  <a:srgbClr val="FFFFFF"/>
                </a:solidFill>
                <a:latin typeface="맑은 고딕"/>
                <a:ea typeface="맑은 고딕"/>
                <a:cs typeface="맑은 고딕"/>
              </a:rPr>
              <a:t>📚</a:t>
            </a:r>
          </a:p>
        </p:txBody>
      </p:sp>
      <p:sp>
        <p:nvSpPr>
          <p:cNvPr id="11" name="TextBox 10"/>
          <p:cNvSpPr txBox="1"/>
          <p:nvPr/>
        </p:nvSpPr>
        <p:spPr>
          <a:xfrm>
            <a:off x="952500" y="927259"/>
            <a:ext cx="6767751" cy="364808"/>
          </a:xfrm>
          <a:prstGeom prst="rect">
            <a:avLst/>
          </a:prstGeom>
          <a:noFill/>
        </p:spPr>
        <p:txBody>
          <a:bodyPr wrap="none" anchor="ctr" lIns="0" rIns="0" tIns="0" bIns="0">
            <a:noAutofit/>
          </a:bodyPr>
          <a:lstStyle/>
          <a:p>
            <a:pPr algn="l">
              <a:lnSpc>
                <a:spcPts val="2137"/>
              </a:lnSpc>
              <a:spcBef>
                <a:spcPts val="0"/>
              </a:spcBef>
              <a:spcAft>
                <a:spcPts val="0"/>
              </a:spcAft>
            </a:pPr>
            <a:r>
              <a:rPr sz="1425" b="1">
                <a:solidFill>
                  <a:srgbClr val="005BAC"/>
                </a:solidFill>
                <a:latin typeface="맑은 고딕"/>
                <a:ea typeface="맑은 고딕"/>
                <a:cs typeface="맑은 고딕"/>
              </a:rPr>
              <a:t>0. 모든 과제 및 발표자료, 팀프로젝트에 적용한다.</a:t>
            </a:r>
          </a:p>
        </p:txBody>
      </p:sp>
      <p:sp>
        <p:nvSpPr>
          <p:cNvPr id="12" name="Rectangle 11"/>
          <p:cNvSpPr/>
          <p:nvPr/>
        </p:nvSpPr>
        <p:spPr>
          <a:xfrm>
            <a:off x="419100" y="1624012"/>
            <a:ext cx="6230094" cy="6727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13" name="Connector 12"/>
          <p:cNvCxnSpPr/>
          <p:nvPr/>
        </p:nvCxnSpPr>
        <p:spPr>
          <a:xfrm>
            <a:off x="419100" y="1624012"/>
            <a:ext cx="6230094"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649194" y="1624012"/>
            <a:ext cx="0" cy="672704"/>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9100" y="2296716"/>
            <a:ext cx="6230094"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19100" y="1624012"/>
            <a:ext cx="0" cy="672704"/>
          </a:xfrm>
          <a:prstGeom prst="line">
            <a:avLst/>
          </a:prstGeom>
          <a:ln w="4762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533400" y="1728788"/>
            <a:ext cx="228600" cy="228600"/>
          </a:xfrm>
          <a:prstGeom prst="ellipse">
            <a:avLst/>
          </a:prstGeom>
          <a:solidFill>
            <a:srgbClr val="005B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4800" y="1728788"/>
            <a:ext cx="685800" cy="228600"/>
          </a:xfrm>
          <a:prstGeom prst="rect">
            <a:avLst/>
          </a:prstGeom>
          <a:noFill/>
        </p:spPr>
        <p:txBody>
          <a:bodyPr wrap="none" lIns="0" rIns="0" tIns="0" bIns="0" anchor="ctr">
            <a:noAutofit/>
          </a:bodyPr>
          <a:lstStyle/>
          <a:p>
            <a:pPr algn="ctr">
              <a:lnSpc>
                <a:spcPts val="1260"/>
              </a:lnSpc>
            </a:pPr>
            <a:r>
              <a:rPr sz="1050" b="1">
                <a:solidFill>
                  <a:srgbClr val="FFFFFF"/>
                </a:solidFill>
                <a:latin typeface="Arial"/>
                <a:ea typeface="맑은 고딕"/>
                <a:cs typeface="맑은 고딕"/>
              </a:rPr>
              <a:t>1</a:t>
            </a:r>
          </a:p>
        </p:txBody>
      </p:sp>
      <p:sp>
        <p:nvSpPr>
          <p:cNvPr id="19" name="TextBox 18"/>
          <p:cNvSpPr txBox="1"/>
          <p:nvPr/>
        </p:nvSpPr>
        <p:spPr>
          <a:xfrm>
            <a:off x="904875" y="1688306"/>
            <a:ext cx="1358979" cy="300038"/>
          </a:xfrm>
          <a:prstGeom prst="rect">
            <a:avLst/>
          </a:prstGeom>
          <a:noFill/>
        </p:spPr>
        <p:txBody>
          <a:bodyPr wrap="none" anchor="ctr" lIns="0" rIns="0" tIns="0" bIns="0">
            <a:noAutofit/>
          </a:bodyPr>
          <a:lstStyle/>
          <a:p>
            <a:pPr algn="l">
              <a:lnSpc>
                <a:spcPts val="1687"/>
              </a:lnSpc>
              <a:spcBef>
                <a:spcPts val="0"/>
              </a:spcBef>
              <a:spcAft>
                <a:spcPts val="0"/>
              </a:spcAft>
            </a:pPr>
            <a:r>
              <a:rPr sz="1125" b="1">
                <a:solidFill>
                  <a:srgbClr val="005BAC"/>
                </a:solidFill>
                <a:latin typeface="맑은 고딕"/>
                <a:ea typeface="맑은 고딕"/>
                <a:cs typeface="맑은 고딕"/>
              </a:rPr>
              <a:t>초안 작성</a:t>
            </a:r>
          </a:p>
        </p:txBody>
      </p:sp>
      <p:sp>
        <p:nvSpPr>
          <p:cNvPr id="20" name="TextBox 19"/>
          <p:cNvSpPr txBox="1"/>
          <p:nvPr/>
        </p:nvSpPr>
        <p:spPr>
          <a:xfrm>
            <a:off x="904875" y="1915001"/>
            <a:ext cx="5476637" cy="332422"/>
          </a:xfrm>
          <a:prstGeom prst="rect">
            <a:avLst/>
          </a:prstGeom>
          <a:noFill/>
        </p:spPr>
        <p:txBody>
          <a:bodyPr wrap="none" anchor="ctr" lIns="0" rIns="0" tIns="0" bIns="0">
            <a:noAutofit/>
          </a:bodyPr>
          <a:lstStyle/>
          <a:p>
            <a:pPr algn="l">
              <a:lnSpc>
                <a:spcPts val="1810"/>
              </a:lnSpc>
              <a:spcBef>
                <a:spcPts val="0"/>
              </a:spcBef>
              <a:spcAft>
                <a:spcPts val="0"/>
              </a:spcAft>
            </a:pPr>
            <a:r>
              <a:rPr sz="1275" b="0">
                <a:solidFill>
                  <a:srgbClr val="3B3838"/>
                </a:solidFill>
                <a:latin typeface="맑은 고딕"/>
                <a:ea typeface="맑은 고딕"/>
                <a:cs typeface="맑은 고딕"/>
              </a:rPr>
              <a:t>초안본 작성에는 </a:t>
            </a:r>
            <a:r>
              <a:rPr sz="1275" b="1">
                <a:solidFill>
                  <a:srgbClr val="005BAC"/>
                </a:solidFill>
                <a:latin typeface="맑은 고딕"/>
                <a:ea typeface="맑은 고딕"/>
                <a:cs typeface="맑은 고딕"/>
              </a:rPr>
              <a:t>생성형 AI 사용을 허용</a:t>
            </a:r>
            <a:r>
              <a:rPr sz="1275" b="0">
                <a:solidFill>
                  <a:srgbClr val="3B3838"/>
                </a:solidFill>
                <a:latin typeface="맑은 고딕"/>
                <a:ea typeface="맑은 고딕"/>
                <a:cs typeface="맑은 고딕"/>
              </a:rPr>
              <a:t>한다.</a:t>
            </a:r>
          </a:p>
        </p:txBody>
      </p:sp>
      <p:sp>
        <p:nvSpPr>
          <p:cNvPr id="21" name="TextBox 20"/>
          <p:cNvSpPr txBox="1"/>
          <p:nvPr/>
        </p:nvSpPr>
        <p:spPr>
          <a:xfrm>
            <a:off x="6268194" y="1690688"/>
            <a:ext cx="762000" cy="381000"/>
          </a:xfrm>
          <a:prstGeom prst="rect">
            <a:avLst/>
          </a:prstGeom>
          <a:noFill/>
        </p:spPr>
        <p:txBody>
          <a:bodyPr wrap="none" anchor="ctr" lIns="0" rIns="0" tIns="0" bIns="0">
            <a:noAutofit/>
          </a:bodyPr>
          <a:lstStyle/>
          <a:p>
            <a:pPr algn="l">
              <a:lnSpc>
                <a:spcPts val="2250"/>
              </a:lnSpc>
              <a:spcBef>
                <a:spcPts val="0"/>
              </a:spcBef>
              <a:spcAft>
                <a:spcPts val="0"/>
              </a:spcAft>
            </a:pPr>
            <a:r>
              <a:rPr sz="1500" b="0">
                <a:solidFill>
                  <a:srgbClr val="3B3838"/>
                </a:solidFill>
                <a:latin typeface="맑은 고딕"/>
                <a:ea typeface="맑은 고딕"/>
                <a:cs typeface="맑은 고딕"/>
              </a:rPr>
              <a:t>📝</a:t>
            </a:r>
          </a:p>
        </p:txBody>
      </p:sp>
      <p:sp>
        <p:nvSpPr>
          <p:cNvPr id="22" name="Rectangle 21"/>
          <p:cNvSpPr/>
          <p:nvPr/>
        </p:nvSpPr>
        <p:spPr>
          <a:xfrm>
            <a:off x="419100" y="2382441"/>
            <a:ext cx="6230094" cy="6727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23" name="Connector 22"/>
          <p:cNvCxnSpPr/>
          <p:nvPr/>
        </p:nvCxnSpPr>
        <p:spPr>
          <a:xfrm>
            <a:off x="419100" y="2382441"/>
            <a:ext cx="6230094"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649194" y="2382441"/>
            <a:ext cx="0" cy="672703"/>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19100" y="3055144"/>
            <a:ext cx="6230094"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19100" y="2382441"/>
            <a:ext cx="0" cy="672703"/>
          </a:xfrm>
          <a:prstGeom prst="line">
            <a:avLst/>
          </a:prstGeom>
          <a:ln w="4762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533400" y="2487216"/>
            <a:ext cx="228600" cy="228600"/>
          </a:xfrm>
          <a:prstGeom prst="ellipse">
            <a:avLst/>
          </a:prstGeom>
          <a:solidFill>
            <a:srgbClr val="005B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04800" y="2487216"/>
            <a:ext cx="685800" cy="228600"/>
          </a:xfrm>
          <a:prstGeom prst="rect">
            <a:avLst/>
          </a:prstGeom>
          <a:noFill/>
        </p:spPr>
        <p:txBody>
          <a:bodyPr wrap="none" lIns="0" rIns="0" tIns="0" bIns="0" anchor="ctr">
            <a:noAutofit/>
          </a:bodyPr>
          <a:lstStyle/>
          <a:p>
            <a:pPr algn="ctr">
              <a:lnSpc>
                <a:spcPts val="1260"/>
              </a:lnSpc>
            </a:pPr>
            <a:r>
              <a:rPr sz="1050" b="1">
                <a:solidFill>
                  <a:srgbClr val="FFFFFF"/>
                </a:solidFill>
                <a:latin typeface="Arial"/>
                <a:ea typeface="맑은 고딕"/>
                <a:cs typeface="맑은 고딕"/>
              </a:rPr>
              <a:t>2</a:t>
            </a:r>
          </a:p>
        </p:txBody>
      </p:sp>
      <p:sp>
        <p:nvSpPr>
          <p:cNvPr id="29" name="TextBox 28"/>
          <p:cNvSpPr txBox="1"/>
          <p:nvPr/>
        </p:nvSpPr>
        <p:spPr>
          <a:xfrm>
            <a:off x="904875" y="2446734"/>
            <a:ext cx="1358979" cy="300038"/>
          </a:xfrm>
          <a:prstGeom prst="rect">
            <a:avLst/>
          </a:prstGeom>
          <a:noFill/>
        </p:spPr>
        <p:txBody>
          <a:bodyPr wrap="none" anchor="ctr" lIns="0" rIns="0" tIns="0" bIns="0">
            <a:noAutofit/>
          </a:bodyPr>
          <a:lstStyle/>
          <a:p>
            <a:pPr algn="l">
              <a:lnSpc>
                <a:spcPts val="1687"/>
              </a:lnSpc>
              <a:spcBef>
                <a:spcPts val="0"/>
              </a:spcBef>
              <a:spcAft>
                <a:spcPts val="0"/>
              </a:spcAft>
            </a:pPr>
            <a:r>
              <a:rPr sz="1125" b="1">
                <a:solidFill>
                  <a:srgbClr val="005BAC"/>
                </a:solidFill>
                <a:latin typeface="맑은 고딕"/>
                <a:ea typeface="맑은 고딕"/>
                <a:cs typeface="맑은 고딕"/>
              </a:rPr>
              <a:t>사람의 몫</a:t>
            </a:r>
          </a:p>
        </p:txBody>
      </p:sp>
      <p:sp>
        <p:nvSpPr>
          <p:cNvPr id="30" name="TextBox 29"/>
          <p:cNvSpPr txBox="1"/>
          <p:nvPr/>
        </p:nvSpPr>
        <p:spPr>
          <a:xfrm>
            <a:off x="904875" y="2673429"/>
            <a:ext cx="8427244" cy="332422"/>
          </a:xfrm>
          <a:prstGeom prst="rect">
            <a:avLst/>
          </a:prstGeom>
          <a:noFill/>
        </p:spPr>
        <p:txBody>
          <a:bodyPr wrap="none" anchor="ctr" lIns="0" rIns="0" tIns="0" bIns="0">
            <a:noAutofit/>
          </a:bodyPr>
          <a:lstStyle/>
          <a:p>
            <a:pPr algn="l">
              <a:lnSpc>
                <a:spcPts val="1810"/>
              </a:lnSpc>
              <a:spcBef>
                <a:spcPts val="0"/>
              </a:spcBef>
              <a:spcAft>
                <a:spcPts val="0"/>
              </a:spcAft>
            </a:pPr>
            <a:r>
              <a:rPr sz="1275" b="1">
                <a:solidFill>
                  <a:srgbClr val="C00000"/>
                </a:solidFill>
                <a:latin typeface="맑은 고딕"/>
                <a:ea typeface="맑은 고딕"/>
                <a:cs typeface="맑은 고딕"/>
              </a:rPr>
              <a:t>핵심 아이디어, 최종 분석과 결론</a:t>
            </a:r>
            <a:r>
              <a:rPr sz="1275" b="0">
                <a:solidFill>
                  <a:srgbClr val="3B3838"/>
                </a:solidFill>
                <a:latin typeface="맑은 고딕"/>
                <a:ea typeface="맑은 고딕"/>
                <a:cs typeface="맑은 고딕"/>
              </a:rPr>
              <a:t>은 반드시 사람이 직접 작성해야 한다.</a:t>
            </a:r>
          </a:p>
        </p:txBody>
      </p:sp>
      <p:sp>
        <p:nvSpPr>
          <p:cNvPr id="31" name="TextBox 30"/>
          <p:cNvSpPr txBox="1"/>
          <p:nvPr/>
        </p:nvSpPr>
        <p:spPr>
          <a:xfrm>
            <a:off x="6268194" y="2449116"/>
            <a:ext cx="762000" cy="381000"/>
          </a:xfrm>
          <a:prstGeom prst="rect">
            <a:avLst/>
          </a:prstGeom>
          <a:noFill/>
        </p:spPr>
        <p:txBody>
          <a:bodyPr wrap="none" anchor="ctr" lIns="0" rIns="0" tIns="0" bIns="0">
            <a:noAutofit/>
          </a:bodyPr>
          <a:lstStyle/>
          <a:p>
            <a:pPr algn="l">
              <a:lnSpc>
                <a:spcPts val="2250"/>
              </a:lnSpc>
              <a:spcBef>
                <a:spcPts val="0"/>
              </a:spcBef>
              <a:spcAft>
                <a:spcPts val="0"/>
              </a:spcAft>
            </a:pPr>
            <a:r>
              <a:rPr sz="1500" b="0">
                <a:solidFill>
                  <a:srgbClr val="3B3838"/>
                </a:solidFill>
                <a:latin typeface="맑은 고딕"/>
                <a:ea typeface="맑은 고딕"/>
                <a:cs typeface="맑은 고딕"/>
              </a:rPr>
              <a:t>✍️</a:t>
            </a:r>
          </a:p>
        </p:txBody>
      </p:sp>
      <p:sp>
        <p:nvSpPr>
          <p:cNvPr id="32" name="Rectangle 31"/>
          <p:cNvSpPr/>
          <p:nvPr/>
        </p:nvSpPr>
        <p:spPr>
          <a:xfrm>
            <a:off x="419100" y="3140869"/>
            <a:ext cx="6230094" cy="11322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33" name="Connector 32"/>
          <p:cNvCxnSpPr/>
          <p:nvPr/>
        </p:nvCxnSpPr>
        <p:spPr>
          <a:xfrm>
            <a:off x="419100" y="3140869"/>
            <a:ext cx="6230094"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649194" y="3140869"/>
            <a:ext cx="0" cy="1132284"/>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19100" y="4273153"/>
            <a:ext cx="6230094"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19100" y="3140869"/>
            <a:ext cx="0" cy="1132284"/>
          </a:xfrm>
          <a:prstGeom prst="line">
            <a:avLst/>
          </a:prstGeom>
          <a:ln w="4762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533400" y="3245644"/>
            <a:ext cx="228600" cy="228600"/>
          </a:xfrm>
          <a:prstGeom prst="ellipse">
            <a:avLst/>
          </a:prstGeom>
          <a:solidFill>
            <a:srgbClr val="005B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4800" y="3245644"/>
            <a:ext cx="685800" cy="228600"/>
          </a:xfrm>
          <a:prstGeom prst="rect">
            <a:avLst/>
          </a:prstGeom>
          <a:noFill/>
        </p:spPr>
        <p:txBody>
          <a:bodyPr wrap="none" lIns="0" rIns="0" tIns="0" bIns="0" anchor="ctr">
            <a:noAutofit/>
          </a:bodyPr>
          <a:lstStyle/>
          <a:p>
            <a:pPr algn="ctr">
              <a:lnSpc>
                <a:spcPts val="1260"/>
              </a:lnSpc>
            </a:pPr>
            <a:r>
              <a:rPr sz="1050" b="1">
                <a:solidFill>
                  <a:srgbClr val="FFFFFF"/>
                </a:solidFill>
                <a:latin typeface="Arial"/>
                <a:ea typeface="맑은 고딕"/>
                <a:cs typeface="맑은 고딕"/>
              </a:rPr>
              <a:t>3</a:t>
            </a:r>
          </a:p>
        </p:txBody>
      </p:sp>
      <p:sp>
        <p:nvSpPr>
          <p:cNvPr id="39" name="TextBox 38"/>
          <p:cNvSpPr txBox="1"/>
          <p:nvPr/>
        </p:nvSpPr>
        <p:spPr>
          <a:xfrm>
            <a:off x="904875" y="3205162"/>
            <a:ext cx="1358979" cy="300038"/>
          </a:xfrm>
          <a:prstGeom prst="rect">
            <a:avLst/>
          </a:prstGeom>
          <a:noFill/>
        </p:spPr>
        <p:txBody>
          <a:bodyPr wrap="none" anchor="ctr" lIns="0" rIns="0" tIns="0" bIns="0">
            <a:noAutofit/>
          </a:bodyPr>
          <a:lstStyle/>
          <a:p>
            <a:pPr algn="l">
              <a:lnSpc>
                <a:spcPts val="1687"/>
              </a:lnSpc>
              <a:spcBef>
                <a:spcPts val="0"/>
              </a:spcBef>
              <a:spcAft>
                <a:spcPts val="0"/>
              </a:spcAft>
            </a:pPr>
            <a:r>
              <a:rPr sz="1125" b="1">
                <a:solidFill>
                  <a:srgbClr val="005BAC"/>
                </a:solidFill>
                <a:latin typeface="맑은 고딕"/>
                <a:ea typeface="맑은 고딕"/>
                <a:cs typeface="맑은 고딕"/>
              </a:rPr>
              <a:t>출처 표기</a:t>
            </a:r>
          </a:p>
        </p:txBody>
      </p:sp>
      <p:sp>
        <p:nvSpPr>
          <p:cNvPr id="40" name="TextBox 39"/>
          <p:cNvSpPr txBox="1"/>
          <p:nvPr/>
        </p:nvSpPr>
        <p:spPr>
          <a:xfrm>
            <a:off x="904875" y="3479006"/>
            <a:ext cx="5249019" cy="727472"/>
          </a:xfrm>
          <a:prstGeom prst="rect">
            <a:avLst/>
          </a:prstGeom>
          <a:noFill/>
        </p:spPr>
        <p:txBody>
          <a:bodyPr wrap="square" anchor="t" lIns="0" rIns="0" tIns="0" bIns="0">
            <a:noAutofit/>
          </a:bodyPr>
          <a:lstStyle/>
          <a:p>
            <a:pPr algn="l">
              <a:lnSpc>
                <a:spcPts val="1810"/>
              </a:lnSpc>
              <a:spcBef>
                <a:spcPts val="0"/>
              </a:spcBef>
              <a:spcAft>
                <a:spcPts val="0"/>
              </a:spcAft>
            </a:pPr>
            <a:r>
              <a:rPr sz="1275" b="0">
                <a:solidFill>
                  <a:srgbClr val="3B3838"/>
                </a:solidFill>
                <a:latin typeface="맑은 고딕"/>
                <a:ea typeface="맑은 고딕"/>
                <a:cs typeface="맑은 고딕"/>
              </a:rPr>
              <a:t>생성형 AI 사용 시 </a:t>
            </a:r>
            <a:r>
              <a:rPr sz="1275" b="1">
                <a:solidFill>
                  <a:srgbClr val="005BAC"/>
                </a:solidFill>
                <a:latin typeface="맑은 고딕"/>
                <a:ea typeface="맑은 고딕"/>
                <a:cs typeface="맑은 고딕"/>
              </a:rPr>
              <a:t>서비스 종류 · 활용 목적 · 활용 범위</a:t>
            </a:r>
            <a:r>
              <a:rPr sz="1275" b="0">
                <a:solidFill>
                  <a:srgbClr val="3B3838"/>
                </a:solidFill>
                <a:latin typeface="맑은 고딕"/>
                <a:ea typeface="맑은 고딕"/>
                <a:cs typeface="맑은 고딕"/>
              </a:rPr>
              <a:t>를 명시하고 출처를 표기한다.</a:t>
            </a:r>
            <a:r>
              <a:rPr sz="1275" b="0">
                <a:solidFill>
                  <a:srgbClr val="3B3838"/>
                </a:solidFill>
                <a:latin typeface="맑은 고딕"/>
                <a:ea typeface="맑은 고딕"/>
                <a:cs typeface="맑은 고딕"/>
              </a:rPr>
              <a:t/>
            </a:r>
          </a:p>
          <a:p>
            <a:pPr algn="l">
              <a:lnSpc>
                <a:spcPts val="1810"/>
              </a:lnSpc>
              <a:spcBef>
                <a:spcPts val="0"/>
              </a:spcBef>
              <a:spcAft>
                <a:spcPts val="0"/>
              </a:spcAft>
            </a:pPr>
            <a:r>
              <a:rPr sz="1275" b="0">
                <a:solidFill>
                  <a:srgbClr val="3B3838"/>
                </a:solidFill>
                <a:latin typeface="맑은 고딕"/>
                <a:ea typeface="맑은 고딕"/>
                <a:cs typeface="맑은 고딕"/>
              </a:rPr>
              <a:t/>
            </a:r>
            <a:r>
              <a:rPr sz="1275" b="0">
                <a:solidFill>
                  <a:srgbClr val="3B3838"/>
                </a:solidFill>
                <a:latin typeface="맑은 고딕"/>
                <a:ea typeface="맑은 고딕"/>
                <a:cs typeface="맑은 고딕"/>
              </a:rPr>
              <a:t>· 사용한 </a:t>
            </a:r>
            <a:r>
              <a:rPr sz="1275" b="1">
                <a:solidFill>
                  <a:srgbClr val="C00000"/>
                </a:solidFill>
                <a:latin typeface="맑은 고딕"/>
                <a:ea typeface="맑은 고딕"/>
                <a:cs typeface="맑은 고딕"/>
              </a:rPr>
              <a:t>프롬프트를 반드시 제시</a:t>
            </a:r>
            <a:r>
              <a:rPr sz="1275" b="0">
                <a:solidFill>
                  <a:srgbClr val="3B3838"/>
                </a:solidFill>
                <a:latin typeface="맑은 고딕"/>
                <a:ea typeface="맑은 고딕"/>
                <a:cs typeface="맑은 고딕"/>
              </a:rPr>
              <a:t>해야 한다 (메타 프롬프트 포함).</a:t>
            </a:r>
          </a:p>
        </p:txBody>
      </p:sp>
      <p:sp>
        <p:nvSpPr>
          <p:cNvPr id="41" name="TextBox 40"/>
          <p:cNvSpPr txBox="1"/>
          <p:nvPr/>
        </p:nvSpPr>
        <p:spPr>
          <a:xfrm>
            <a:off x="6268194" y="3207544"/>
            <a:ext cx="762000" cy="381000"/>
          </a:xfrm>
          <a:prstGeom prst="rect">
            <a:avLst/>
          </a:prstGeom>
          <a:noFill/>
        </p:spPr>
        <p:txBody>
          <a:bodyPr wrap="none" anchor="ctr" lIns="0" rIns="0" tIns="0" bIns="0">
            <a:noAutofit/>
          </a:bodyPr>
          <a:lstStyle/>
          <a:p>
            <a:pPr algn="l">
              <a:lnSpc>
                <a:spcPts val="2250"/>
              </a:lnSpc>
              <a:spcBef>
                <a:spcPts val="0"/>
              </a:spcBef>
              <a:spcAft>
                <a:spcPts val="0"/>
              </a:spcAft>
            </a:pPr>
            <a:r>
              <a:rPr sz="1500" b="0">
                <a:solidFill>
                  <a:srgbClr val="3B3838"/>
                </a:solidFill>
                <a:latin typeface="맑은 고딕"/>
                <a:ea typeface="맑은 고딕"/>
                <a:cs typeface="맑은 고딕"/>
              </a:rPr>
              <a:t>🔍</a:t>
            </a:r>
          </a:p>
        </p:txBody>
      </p:sp>
      <p:sp>
        <p:nvSpPr>
          <p:cNvPr id="42" name="Rectangle 41"/>
          <p:cNvSpPr/>
          <p:nvPr/>
        </p:nvSpPr>
        <p:spPr>
          <a:xfrm>
            <a:off x="419100" y="4358878"/>
            <a:ext cx="6230094" cy="6727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43" name="Connector 42"/>
          <p:cNvCxnSpPr/>
          <p:nvPr/>
        </p:nvCxnSpPr>
        <p:spPr>
          <a:xfrm>
            <a:off x="419100" y="4358878"/>
            <a:ext cx="6230094"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649194" y="4358878"/>
            <a:ext cx="0" cy="672703"/>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419100" y="5031581"/>
            <a:ext cx="6230094"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19100" y="4358878"/>
            <a:ext cx="0" cy="672703"/>
          </a:xfrm>
          <a:prstGeom prst="line">
            <a:avLst/>
          </a:prstGeom>
          <a:ln w="4762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47" name="Oval 46"/>
          <p:cNvSpPr/>
          <p:nvPr/>
        </p:nvSpPr>
        <p:spPr>
          <a:xfrm>
            <a:off x="533400" y="4463653"/>
            <a:ext cx="228600" cy="228600"/>
          </a:xfrm>
          <a:prstGeom prst="ellipse">
            <a:avLst/>
          </a:prstGeom>
          <a:solidFill>
            <a:srgbClr val="005B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04800" y="4463653"/>
            <a:ext cx="685800" cy="228600"/>
          </a:xfrm>
          <a:prstGeom prst="rect">
            <a:avLst/>
          </a:prstGeom>
          <a:noFill/>
        </p:spPr>
        <p:txBody>
          <a:bodyPr wrap="none" lIns="0" rIns="0" tIns="0" bIns="0" anchor="ctr">
            <a:noAutofit/>
          </a:bodyPr>
          <a:lstStyle/>
          <a:p>
            <a:pPr algn="ctr">
              <a:lnSpc>
                <a:spcPts val="1260"/>
              </a:lnSpc>
            </a:pPr>
            <a:r>
              <a:rPr sz="1050" b="1">
                <a:solidFill>
                  <a:srgbClr val="FFFFFF"/>
                </a:solidFill>
                <a:latin typeface="Arial"/>
                <a:ea typeface="맑은 고딕"/>
                <a:cs typeface="맑은 고딕"/>
              </a:rPr>
              <a:t>4</a:t>
            </a:r>
          </a:p>
        </p:txBody>
      </p:sp>
      <p:sp>
        <p:nvSpPr>
          <p:cNvPr id="49" name="TextBox 48"/>
          <p:cNvSpPr txBox="1"/>
          <p:nvPr/>
        </p:nvSpPr>
        <p:spPr>
          <a:xfrm>
            <a:off x="904875" y="4423172"/>
            <a:ext cx="1066800" cy="300038"/>
          </a:xfrm>
          <a:prstGeom prst="rect">
            <a:avLst/>
          </a:prstGeom>
          <a:noFill/>
        </p:spPr>
        <p:txBody>
          <a:bodyPr wrap="none" anchor="ctr" lIns="0" rIns="0" tIns="0" bIns="0">
            <a:noAutofit/>
          </a:bodyPr>
          <a:lstStyle/>
          <a:p>
            <a:pPr algn="l">
              <a:lnSpc>
                <a:spcPts val="1687"/>
              </a:lnSpc>
              <a:spcBef>
                <a:spcPts val="0"/>
              </a:spcBef>
              <a:spcAft>
                <a:spcPts val="0"/>
              </a:spcAft>
            </a:pPr>
            <a:r>
              <a:rPr sz="1125" b="1">
                <a:solidFill>
                  <a:srgbClr val="005BAC"/>
                </a:solidFill>
                <a:latin typeface="맑은 고딕"/>
                <a:ea typeface="맑은 고딕"/>
                <a:cs typeface="맑은 고딕"/>
              </a:rPr>
              <a:t>재해석</a:t>
            </a:r>
          </a:p>
        </p:txBody>
      </p:sp>
      <p:sp>
        <p:nvSpPr>
          <p:cNvPr id="50" name="TextBox 49"/>
          <p:cNvSpPr txBox="1"/>
          <p:nvPr/>
        </p:nvSpPr>
        <p:spPr>
          <a:xfrm>
            <a:off x="904875" y="4649867"/>
            <a:ext cx="7060168" cy="332422"/>
          </a:xfrm>
          <a:prstGeom prst="rect">
            <a:avLst/>
          </a:prstGeom>
          <a:noFill/>
        </p:spPr>
        <p:txBody>
          <a:bodyPr wrap="none" anchor="ctr" lIns="0" rIns="0" tIns="0" bIns="0">
            <a:noAutofit/>
          </a:bodyPr>
          <a:lstStyle/>
          <a:p>
            <a:pPr algn="l">
              <a:lnSpc>
                <a:spcPts val="1810"/>
              </a:lnSpc>
              <a:spcBef>
                <a:spcPts val="0"/>
              </a:spcBef>
              <a:spcAft>
                <a:spcPts val="0"/>
              </a:spcAft>
            </a:pPr>
            <a:r>
              <a:rPr sz="1275" b="0">
                <a:solidFill>
                  <a:srgbClr val="3B3838"/>
                </a:solidFill>
                <a:latin typeface="맑은 고딕"/>
                <a:ea typeface="맑은 고딕"/>
                <a:cs typeface="맑은 고딕"/>
              </a:rPr>
              <a:t>AI 답변을 그대로 쓰지 않고 </a:t>
            </a:r>
            <a:r>
              <a:rPr sz="1275" b="1">
                <a:solidFill>
                  <a:srgbClr val="005BAC"/>
                </a:solidFill>
                <a:latin typeface="맑은 고딕"/>
                <a:ea typeface="맑은 고딕"/>
                <a:cs typeface="맑은 고딕"/>
              </a:rPr>
              <a:t>재해석 · 변형하여 발전</a:t>
            </a:r>
            <a:r>
              <a:rPr sz="1275" b="0">
                <a:solidFill>
                  <a:srgbClr val="3B3838"/>
                </a:solidFill>
                <a:latin typeface="맑은 고딕"/>
                <a:ea typeface="맑은 고딕"/>
                <a:cs typeface="맑은 고딕"/>
              </a:rPr>
              <a:t>시킨다.</a:t>
            </a:r>
          </a:p>
        </p:txBody>
      </p:sp>
      <p:sp>
        <p:nvSpPr>
          <p:cNvPr id="51" name="TextBox 50"/>
          <p:cNvSpPr txBox="1"/>
          <p:nvPr/>
        </p:nvSpPr>
        <p:spPr>
          <a:xfrm>
            <a:off x="6268194" y="4425553"/>
            <a:ext cx="762000" cy="381000"/>
          </a:xfrm>
          <a:prstGeom prst="rect">
            <a:avLst/>
          </a:prstGeom>
          <a:noFill/>
        </p:spPr>
        <p:txBody>
          <a:bodyPr wrap="none" anchor="ctr" lIns="0" rIns="0" tIns="0" bIns="0">
            <a:noAutofit/>
          </a:bodyPr>
          <a:lstStyle/>
          <a:p>
            <a:pPr algn="l">
              <a:lnSpc>
                <a:spcPts val="2250"/>
              </a:lnSpc>
              <a:spcBef>
                <a:spcPts val="0"/>
              </a:spcBef>
              <a:spcAft>
                <a:spcPts val="0"/>
              </a:spcAft>
            </a:pPr>
            <a:r>
              <a:rPr sz="1500" b="0">
                <a:solidFill>
                  <a:srgbClr val="3B3838"/>
                </a:solidFill>
                <a:latin typeface="맑은 고딕"/>
                <a:ea typeface="맑은 고딕"/>
                <a:cs typeface="맑은 고딕"/>
              </a:rPr>
              <a:t>🔄</a:t>
            </a:r>
          </a:p>
        </p:txBody>
      </p:sp>
      <p:sp>
        <p:nvSpPr>
          <p:cNvPr id="52" name="Rectangle 51"/>
          <p:cNvSpPr/>
          <p:nvPr/>
        </p:nvSpPr>
        <p:spPr>
          <a:xfrm>
            <a:off x="419100" y="5117306"/>
            <a:ext cx="6230094" cy="6727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53" name="Connector 52"/>
          <p:cNvCxnSpPr/>
          <p:nvPr/>
        </p:nvCxnSpPr>
        <p:spPr>
          <a:xfrm>
            <a:off x="419100" y="5117306"/>
            <a:ext cx="6230094"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649194" y="5117306"/>
            <a:ext cx="0" cy="672703"/>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419100" y="5790009"/>
            <a:ext cx="6230094" cy="0"/>
          </a:xfrm>
          <a:prstGeom prst="line">
            <a:avLst/>
          </a:prstGeom>
          <a:ln w="9525">
            <a:solidFill>
              <a:srgbClr val="D4DCE6"/>
            </a:solidFill>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419100" y="5117306"/>
            <a:ext cx="0" cy="672703"/>
          </a:xfrm>
          <a:prstGeom prst="line">
            <a:avLst/>
          </a:prstGeom>
          <a:ln w="47625">
            <a:solidFill>
              <a:srgbClr val="005BAC"/>
            </a:solidFill>
          </a:ln>
          <a:effectLst/>
        </p:spPr>
        <p:style>
          <a:lnRef idx="2">
            <a:schemeClr val="accent1"/>
          </a:lnRef>
          <a:fillRef idx="0">
            <a:schemeClr val="accent1"/>
          </a:fillRef>
          <a:effectRef idx="1">
            <a:schemeClr val="accent1"/>
          </a:effectRef>
          <a:fontRef idx="minor">
            <a:schemeClr val="tx1"/>
          </a:fontRef>
        </p:style>
      </p:cxnSp>
      <p:sp>
        <p:nvSpPr>
          <p:cNvPr id="57" name="Oval 56"/>
          <p:cNvSpPr/>
          <p:nvPr/>
        </p:nvSpPr>
        <p:spPr>
          <a:xfrm>
            <a:off x="533400" y="5222081"/>
            <a:ext cx="228600" cy="228600"/>
          </a:xfrm>
          <a:prstGeom prst="ellipse">
            <a:avLst/>
          </a:prstGeom>
          <a:solidFill>
            <a:srgbClr val="005B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04800" y="5222081"/>
            <a:ext cx="685800" cy="228600"/>
          </a:xfrm>
          <a:prstGeom prst="rect">
            <a:avLst/>
          </a:prstGeom>
          <a:noFill/>
        </p:spPr>
        <p:txBody>
          <a:bodyPr wrap="none" lIns="0" rIns="0" tIns="0" bIns="0" anchor="ctr">
            <a:noAutofit/>
          </a:bodyPr>
          <a:lstStyle/>
          <a:p>
            <a:pPr algn="ctr">
              <a:lnSpc>
                <a:spcPts val="1260"/>
              </a:lnSpc>
            </a:pPr>
            <a:r>
              <a:rPr sz="1050" b="1">
                <a:solidFill>
                  <a:srgbClr val="FFFFFF"/>
                </a:solidFill>
                <a:latin typeface="Arial"/>
                <a:ea typeface="맑은 고딕"/>
                <a:cs typeface="맑은 고딕"/>
              </a:rPr>
              <a:t>5</a:t>
            </a:r>
          </a:p>
        </p:txBody>
      </p:sp>
      <p:sp>
        <p:nvSpPr>
          <p:cNvPr id="59" name="TextBox 58"/>
          <p:cNvSpPr txBox="1"/>
          <p:nvPr/>
        </p:nvSpPr>
        <p:spPr>
          <a:xfrm>
            <a:off x="904875" y="5181600"/>
            <a:ext cx="1358979" cy="300038"/>
          </a:xfrm>
          <a:prstGeom prst="rect">
            <a:avLst/>
          </a:prstGeom>
          <a:noFill/>
        </p:spPr>
        <p:txBody>
          <a:bodyPr wrap="none" anchor="ctr" lIns="0" rIns="0" tIns="0" bIns="0">
            <a:noAutofit/>
          </a:bodyPr>
          <a:lstStyle/>
          <a:p>
            <a:pPr algn="l">
              <a:lnSpc>
                <a:spcPts val="1687"/>
              </a:lnSpc>
              <a:spcBef>
                <a:spcPts val="0"/>
              </a:spcBef>
              <a:spcAft>
                <a:spcPts val="0"/>
              </a:spcAft>
            </a:pPr>
            <a:r>
              <a:rPr sz="1125" b="1">
                <a:solidFill>
                  <a:srgbClr val="005BAC"/>
                </a:solidFill>
                <a:latin typeface="맑은 고딕"/>
                <a:ea typeface="맑은 고딕"/>
                <a:cs typeface="맑은 고딕"/>
              </a:rPr>
              <a:t>책임 고지</a:t>
            </a:r>
          </a:p>
        </p:txBody>
      </p:sp>
      <p:sp>
        <p:nvSpPr>
          <p:cNvPr id="60" name="TextBox 59"/>
          <p:cNvSpPr txBox="1"/>
          <p:nvPr/>
        </p:nvSpPr>
        <p:spPr>
          <a:xfrm>
            <a:off x="904875" y="5408295"/>
            <a:ext cx="8024098" cy="332422"/>
          </a:xfrm>
          <a:prstGeom prst="rect">
            <a:avLst/>
          </a:prstGeom>
          <a:noFill/>
        </p:spPr>
        <p:txBody>
          <a:bodyPr wrap="none" anchor="ctr" lIns="0" rIns="0" tIns="0" bIns="0">
            <a:noAutofit/>
          </a:bodyPr>
          <a:lstStyle/>
          <a:p>
            <a:pPr algn="l">
              <a:lnSpc>
                <a:spcPts val="1810"/>
              </a:lnSpc>
              <a:spcBef>
                <a:spcPts val="0"/>
              </a:spcBef>
              <a:spcAft>
                <a:spcPts val="0"/>
              </a:spcAft>
            </a:pPr>
            <a:r>
              <a:rPr sz="1275" b="0">
                <a:solidFill>
                  <a:srgbClr val="3B3838"/>
                </a:solidFill>
                <a:latin typeface="맑은 고딕"/>
                <a:ea typeface="맑은 고딕"/>
                <a:cs typeface="맑은 고딕"/>
              </a:rPr>
              <a:t>지침 위반 시 </a:t>
            </a:r>
            <a:r>
              <a:rPr sz="1275" b="1">
                <a:solidFill>
                  <a:srgbClr val="C00000"/>
                </a:solidFill>
                <a:latin typeface="맑은 고딕"/>
                <a:ea typeface="맑은 고딕"/>
                <a:cs typeface="맑은 고딕"/>
              </a:rPr>
              <a:t>모든 불이익은 작성자인 담당자</a:t>
            </a:r>
            <a:r>
              <a:rPr sz="1275" b="0">
                <a:solidFill>
                  <a:srgbClr val="3B3838"/>
                </a:solidFill>
                <a:latin typeface="맑은 고딕"/>
                <a:ea typeface="맑은 고딕"/>
                <a:cs typeface="맑은 고딕"/>
              </a:rPr>
              <a:t>에게 있음을 고지한다.</a:t>
            </a:r>
          </a:p>
        </p:txBody>
      </p:sp>
      <p:sp>
        <p:nvSpPr>
          <p:cNvPr id="61" name="TextBox 60"/>
          <p:cNvSpPr txBox="1"/>
          <p:nvPr/>
        </p:nvSpPr>
        <p:spPr>
          <a:xfrm>
            <a:off x="6268194" y="5183981"/>
            <a:ext cx="762000" cy="381000"/>
          </a:xfrm>
          <a:prstGeom prst="rect">
            <a:avLst/>
          </a:prstGeom>
          <a:noFill/>
        </p:spPr>
        <p:txBody>
          <a:bodyPr wrap="none" anchor="ctr" lIns="0" rIns="0" tIns="0" bIns="0">
            <a:noAutofit/>
          </a:bodyPr>
          <a:lstStyle/>
          <a:p>
            <a:pPr algn="l">
              <a:lnSpc>
                <a:spcPts val="2250"/>
              </a:lnSpc>
              <a:spcBef>
                <a:spcPts val="0"/>
              </a:spcBef>
              <a:spcAft>
                <a:spcPts val="0"/>
              </a:spcAft>
            </a:pPr>
            <a:r>
              <a:rPr sz="1500" b="0">
                <a:solidFill>
                  <a:srgbClr val="3B3838"/>
                </a:solidFill>
                <a:latin typeface="맑은 고딕"/>
                <a:ea typeface="맑은 고딕"/>
                <a:cs typeface="맑은 고딕"/>
              </a:rPr>
              <a:t>⚠️</a:t>
            </a:r>
          </a:p>
        </p:txBody>
      </p:sp>
      <p:sp>
        <p:nvSpPr>
          <p:cNvPr id="62" name="TextBox 61"/>
          <p:cNvSpPr txBox="1"/>
          <p:nvPr/>
        </p:nvSpPr>
        <p:spPr>
          <a:xfrm>
            <a:off x="7145749" y="1661329"/>
            <a:ext cx="952203" cy="216364"/>
          </a:xfrm>
          <a:prstGeom prst="rect">
            <a:avLst/>
          </a:prstGeom>
          <a:noFill/>
        </p:spPr>
        <p:txBody>
          <a:bodyPr wrap="none" lIns="0" rIns="0" tIns="0" bIns="0" anchor="ctr">
            <a:noAutofit/>
          </a:bodyPr>
          <a:lstStyle/>
          <a:p>
            <a:pPr algn="ctr">
              <a:lnSpc>
                <a:spcPts val="1202"/>
              </a:lnSpc>
            </a:pPr>
            <a:r>
              <a:rPr sz="1002" b="1">
                <a:solidFill>
                  <a:srgbClr val="0071CE"/>
                </a:solidFill>
                <a:latin typeface="Arial"/>
                <a:ea typeface="맑은 고딕"/>
                <a:cs typeface="맑은 고딕"/>
              </a:rPr>
              <a:t>STEP 1</a:t>
            </a:r>
          </a:p>
        </p:txBody>
      </p:sp>
      <p:sp>
        <p:nvSpPr>
          <p:cNvPr id="63" name="Rectangle 62"/>
          <p:cNvSpPr/>
          <p:nvPr/>
        </p:nvSpPr>
        <p:spPr>
          <a:xfrm>
            <a:off x="6877794" y="1929851"/>
            <a:ext cx="1488112" cy="841958"/>
          </a:xfrm>
          <a:prstGeom prst="rect">
            <a:avLst/>
          </a:prstGeom>
          <a:solidFill>
            <a:srgbClr val="F2F7FC"/>
          </a:solidFill>
          <a:ln w="14685">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4" name="TextBox 63"/>
          <p:cNvSpPr txBox="1"/>
          <p:nvPr/>
        </p:nvSpPr>
        <p:spPr>
          <a:xfrm>
            <a:off x="7088525" y="1998761"/>
            <a:ext cx="1071118" cy="316224"/>
          </a:xfrm>
          <a:prstGeom prst="rect">
            <a:avLst/>
          </a:prstGeom>
          <a:noFill/>
        </p:spPr>
        <p:txBody>
          <a:bodyPr wrap="none" lIns="0" rIns="0" tIns="0" bIns="0" anchor="ctr">
            <a:noAutofit/>
          </a:bodyPr>
          <a:lstStyle/>
          <a:p>
            <a:pPr algn="ctr">
              <a:lnSpc>
                <a:spcPts val="1757"/>
              </a:lnSpc>
            </a:pPr>
            <a:r>
              <a:rPr sz="1464" b="1">
                <a:solidFill>
                  <a:srgbClr val="17365D"/>
                </a:solidFill>
                <a:latin typeface="맑은 고딕"/>
                <a:ea typeface="맑은 고딕"/>
                <a:cs typeface="맑은 고딕"/>
              </a:rPr>
              <a:t>AI 초안</a:t>
            </a:r>
          </a:p>
        </p:txBody>
      </p:sp>
      <p:sp>
        <p:nvSpPr>
          <p:cNvPr id="65" name="TextBox 64"/>
          <p:cNvSpPr txBox="1"/>
          <p:nvPr/>
        </p:nvSpPr>
        <p:spPr>
          <a:xfrm>
            <a:off x="6899810" y="2297681"/>
            <a:ext cx="1434555" cy="216364"/>
          </a:xfrm>
          <a:prstGeom prst="rect">
            <a:avLst/>
          </a:prstGeom>
          <a:noFill/>
        </p:spPr>
        <p:txBody>
          <a:bodyPr wrap="none" lIns="0" rIns="0" tIns="0" bIns="0" anchor="ctr">
            <a:noAutofit/>
          </a:bodyPr>
          <a:lstStyle/>
          <a:p>
            <a:pPr algn="ctr">
              <a:lnSpc>
                <a:spcPts val="1202"/>
              </a:lnSpc>
            </a:pPr>
            <a:r>
              <a:rPr sz="1002" b="1">
                <a:solidFill>
                  <a:srgbClr val="63666B"/>
                </a:solidFill>
                <a:latin typeface="맑은 고딕"/>
                <a:ea typeface="맑은 고딕"/>
                <a:cs typeface="맑은 고딕"/>
              </a:rPr>
              <a:t>생성형 AI 사용</a:t>
            </a:r>
          </a:p>
        </p:txBody>
      </p:sp>
      <p:sp>
        <p:nvSpPr>
          <p:cNvPr id="66" name="TextBox 65"/>
          <p:cNvSpPr txBox="1"/>
          <p:nvPr/>
        </p:nvSpPr>
        <p:spPr>
          <a:xfrm>
            <a:off x="7256329" y="2480398"/>
            <a:ext cx="731044" cy="233007"/>
          </a:xfrm>
          <a:prstGeom prst="rect">
            <a:avLst/>
          </a:prstGeom>
          <a:noFill/>
        </p:spPr>
        <p:txBody>
          <a:bodyPr wrap="none" lIns="0" rIns="0" tIns="0" bIns="0" anchor="ctr">
            <a:noAutofit/>
          </a:bodyPr>
          <a:lstStyle/>
          <a:p>
            <a:pPr algn="ctr">
              <a:lnSpc>
                <a:spcPts val="1295"/>
              </a:lnSpc>
            </a:pPr>
            <a:r>
              <a:rPr sz="1079" b="1">
                <a:solidFill>
                  <a:srgbClr val="005BAC"/>
                </a:solidFill>
                <a:latin typeface="맑은 고딕"/>
                <a:ea typeface="맑은 고딕"/>
                <a:cs typeface="맑은 고딕"/>
              </a:rPr>
              <a:t>허용</a:t>
            </a:r>
          </a:p>
        </p:txBody>
      </p:sp>
      <p:sp>
        <p:nvSpPr>
          <p:cNvPr id="67" name="Freeform 66"/>
          <p:cNvSpPr/>
          <p:nvPr/>
        </p:nvSpPr>
        <p:spPr>
          <a:xfrm>
            <a:off x="8405067" y="2282298"/>
            <a:ext cx="137063" cy="137063"/>
          </a:xfrm>
          <a:custGeom>
            <a:avLst/>
            <a:gdLst/>
            <a:ahLst/>
            <a:cxnLst/>
            <a:rect l="l" t="t" r="r" b="b"/>
            <a:pathLst>
              <a:path w="137063" h="137063">
                <a:moveTo>
                  <a:pt x="0" y="0"/>
                </a:moveTo>
                <a:lnTo>
                  <a:pt x="137063" y="68532"/>
                </a:lnTo>
                <a:lnTo>
                  <a:pt x="0" y="137063"/>
                </a:lnTo>
                <a:close/>
              </a:path>
            </a:pathLst>
          </a:custGeom>
          <a:solidFill>
            <a:srgbClr val="0071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Freeform 67"/>
          <p:cNvSpPr/>
          <p:nvPr/>
        </p:nvSpPr>
        <p:spPr>
          <a:xfrm>
            <a:off x="8365906" y="2350830"/>
            <a:ext cx="78322" cy="0"/>
          </a:xfrm>
          <a:custGeom>
            <a:avLst/>
            <a:gdLst/>
            <a:ahLst/>
            <a:cxnLst/>
            <a:rect l="l" t="t" r="r" b="b"/>
            <a:pathLst>
              <a:path w="78322" h="0">
                <a:moveTo>
                  <a:pt x="0" y="0"/>
                </a:moveTo>
                <a:lnTo>
                  <a:pt x="78322" y="0"/>
                </a:lnTo>
                <a:close/>
              </a:path>
            </a:pathLst>
          </a:custGeom>
          <a:noFill/>
          <a:ln w="29371">
            <a:solidFill>
              <a:srgbClr val="0071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829666" y="1661329"/>
            <a:ext cx="952202" cy="216364"/>
          </a:xfrm>
          <a:prstGeom prst="rect">
            <a:avLst/>
          </a:prstGeom>
          <a:noFill/>
        </p:spPr>
        <p:txBody>
          <a:bodyPr wrap="none" lIns="0" rIns="0" tIns="0" bIns="0" anchor="ctr">
            <a:noAutofit/>
          </a:bodyPr>
          <a:lstStyle/>
          <a:p>
            <a:pPr algn="ctr">
              <a:lnSpc>
                <a:spcPts val="1202"/>
              </a:lnSpc>
            </a:pPr>
            <a:r>
              <a:rPr sz="1002" b="1">
                <a:solidFill>
                  <a:srgbClr val="0071CE"/>
                </a:solidFill>
                <a:latin typeface="Arial"/>
                <a:ea typeface="맑은 고딕"/>
                <a:cs typeface="맑은 고딕"/>
              </a:rPr>
              <a:t>STEP 2</a:t>
            </a:r>
          </a:p>
        </p:txBody>
      </p:sp>
      <p:sp>
        <p:nvSpPr>
          <p:cNvPr id="70" name="Rectangle 69"/>
          <p:cNvSpPr/>
          <p:nvPr/>
        </p:nvSpPr>
        <p:spPr>
          <a:xfrm>
            <a:off x="8561711" y="1929851"/>
            <a:ext cx="1488112" cy="841958"/>
          </a:xfrm>
          <a:prstGeom prst="rect">
            <a:avLst/>
          </a:prstGeom>
          <a:solidFill>
            <a:srgbClr val="DEEBF7"/>
          </a:solidFill>
          <a:ln w="14685">
            <a:solidFill>
              <a:srgbClr val="9DC3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1" name="TextBox 70"/>
          <p:cNvSpPr txBox="1"/>
          <p:nvPr/>
        </p:nvSpPr>
        <p:spPr>
          <a:xfrm>
            <a:off x="8362472" y="1998761"/>
            <a:ext cx="1877065" cy="316224"/>
          </a:xfrm>
          <a:prstGeom prst="rect">
            <a:avLst/>
          </a:prstGeom>
          <a:noFill/>
        </p:spPr>
        <p:txBody>
          <a:bodyPr wrap="none" lIns="0" rIns="0" tIns="0" bIns="0" anchor="ctr">
            <a:noAutofit/>
          </a:bodyPr>
          <a:lstStyle/>
          <a:p>
            <a:pPr algn="ctr">
              <a:lnSpc>
                <a:spcPts val="1757"/>
              </a:lnSpc>
            </a:pPr>
            <a:r>
              <a:rPr sz="1464" b="1">
                <a:solidFill>
                  <a:srgbClr val="17365D"/>
                </a:solidFill>
                <a:latin typeface="맑은 고딕"/>
                <a:ea typeface="맑은 고딕"/>
                <a:cs typeface="맑은 고딕"/>
              </a:rPr>
              <a:t>재해석 · 변형</a:t>
            </a:r>
          </a:p>
        </p:txBody>
      </p:sp>
      <p:sp>
        <p:nvSpPr>
          <p:cNvPr id="72" name="TextBox 71"/>
          <p:cNvSpPr txBox="1"/>
          <p:nvPr/>
        </p:nvSpPr>
        <p:spPr>
          <a:xfrm>
            <a:off x="8378176" y="2297681"/>
            <a:ext cx="1861149" cy="216364"/>
          </a:xfrm>
          <a:prstGeom prst="rect">
            <a:avLst/>
          </a:prstGeom>
          <a:noFill/>
        </p:spPr>
        <p:txBody>
          <a:bodyPr wrap="none" lIns="0" rIns="0" tIns="0" bIns="0" anchor="ctr">
            <a:noAutofit/>
          </a:bodyPr>
          <a:lstStyle/>
          <a:p>
            <a:pPr algn="ctr">
              <a:lnSpc>
                <a:spcPts val="1202"/>
              </a:lnSpc>
            </a:pPr>
            <a:r>
              <a:rPr sz="1002" b="1">
                <a:solidFill>
                  <a:srgbClr val="63666B"/>
                </a:solidFill>
                <a:latin typeface="맑은 고딕"/>
                <a:ea typeface="맑은 고딕"/>
                <a:cs typeface="맑은 고딕"/>
              </a:rPr>
              <a:t>그대로 쓰지 않는다</a:t>
            </a:r>
          </a:p>
        </p:txBody>
      </p:sp>
      <p:sp>
        <p:nvSpPr>
          <p:cNvPr id="73" name="TextBox 72"/>
          <p:cNvSpPr txBox="1"/>
          <p:nvPr/>
        </p:nvSpPr>
        <p:spPr>
          <a:xfrm>
            <a:off x="8940245" y="2480398"/>
            <a:ext cx="731044" cy="233007"/>
          </a:xfrm>
          <a:prstGeom prst="rect">
            <a:avLst/>
          </a:prstGeom>
          <a:noFill/>
        </p:spPr>
        <p:txBody>
          <a:bodyPr wrap="none" lIns="0" rIns="0" tIns="0" bIns="0" anchor="ctr">
            <a:noAutofit/>
          </a:bodyPr>
          <a:lstStyle/>
          <a:p>
            <a:pPr algn="ctr">
              <a:lnSpc>
                <a:spcPts val="1295"/>
              </a:lnSpc>
            </a:pPr>
            <a:r>
              <a:rPr sz="1079" b="1">
                <a:solidFill>
                  <a:srgbClr val="005BAC"/>
                </a:solidFill>
                <a:latin typeface="맑은 고딕"/>
                <a:ea typeface="맑은 고딕"/>
                <a:cs typeface="맑은 고딕"/>
              </a:rPr>
              <a:t>필수</a:t>
            </a:r>
          </a:p>
        </p:txBody>
      </p:sp>
      <p:sp>
        <p:nvSpPr>
          <p:cNvPr id="74" name="Freeform 73"/>
          <p:cNvSpPr/>
          <p:nvPr/>
        </p:nvSpPr>
        <p:spPr>
          <a:xfrm>
            <a:off x="10088984" y="2282298"/>
            <a:ext cx="137063" cy="137063"/>
          </a:xfrm>
          <a:custGeom>
            <a:avLst/>
            <a:gdLst/>
            <a:ahLst/>
            <a:cxnLst/>
            <a:rect l="l" t="t" r="r" b="b"/>
            <a:pathLst>
              <a:path w="137063" h="137063">
                <a:moveTo>
                  <a:pt x="0" y="0"/>
                </a:moveTo>
                <a:lnTo>
                  <a:pt x="137063" y="68532"/>
                </a:lnTo>
                <a:lnTo>
                  <a:pt x="0" y="137063"/>
                </a:lnTo>
                <a:close/>
              </a:path>
            </a:pathLst>
          </a:custGeom>
          <a:solidFill>
            <a:srgbClr val="0071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Freeform 74"/>
          <p:cNvSpPr/>
          <p:nvPr/>
        </p:nvSpPr>
        <p:spPr>
          <a:xfrm>
            <a:off x="10049823" y="2350830"/>
            <a:ext cx="78321" cy="0"/>
          </a:xfrm>
          <a:custGeom>
            <a:avLst/>
            <a:gdLst/>
            <a:ahLst/>
            <a:cxnLst/>
            <a:rect l="l" t="t" r="r" b="b"/>
            <a:pathLst>
              <a:path w="78321" h="0">
                <a:moveTo>
                  <a:pt x="0" y="0"/>
                </a:moveTo>
                <a:lnTo>
                  <a:pt x="78321" y="0"/>
                </a:lnTo>
                <a:close/>
              </a:path>
            </a:pathLst>
          </a:custGeom>
          <a:noFill/>
          <a:ln w="29371">
            <a:solidFill>
              <a:srgbClr val="0071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0513582" y="1661329"/>
            <a:ext cx="952202" cy="216364"/>
          </a:xfrm>
          <a:prstGeom prst="rect">
            <a:avLst/>
          </a:prstGeom>
          <a:noFill/>
        </p:spPr>
        <p:txBody>
          <a:bodyPr wrap="none" lIns="0" rIns="0" tIns="0" bIns="0" anchor="ctr">
            <a:noAutofit/>
          </a:bodyPr>
          <a:lstStyle/>
          <a:p>
            <a:pPr algn="ctr">
              <a:lnSpc>
                <a:spcPts val="1202"/>
              </a:lnSpc>
            </a:pPr>
            <a:r>
              <a:rPr sz="1002" b="1">
                <a:solidFill>
                  <a:srgbClr val="0071CE"/>
                </a:solidFill>
                <a:latin typeface="Arial"/>
                <a:ea typeface="맑은 고딕"/>
                <a:cs typeface="맑은 고딕"/>
              </a:rPr>
              <a:t>STEP 3</a:t>
            </a:r>
          </a:p>
        </p:txBody>
      </p:sp>
      <p:sp>
        <p:nvSpPr>
          <p:cNvPr id="77" name="Rectangle 76"/>
          <p:cNvSpPr/>
          <p:nvPr/>
        </p:nvSpPr>
        <p:spPr>
          <a:xfrm>
            <a:off x="10245627" y="1929851"/>
            <a:ext cx="1488112" cy="841958"/>
          </a:xfrm>
          <a:prstGeom prst="rect">
            <a:avLst/>
          </a:prstGeom>
          <a:solidFill>
            <a:srgbClr val="005BAC"/>
          </a:solidFill>
          <a:ln w="14685">
            <a:solidFill>
              <a:srgbClr val="005BA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8" name="TextBox 77"/>
          <p:cNvSpPr txBox="1"/>
          <p:nvPr/>
        </p:nvSpPr>
        <p:spPr>
          <a:xfrm>
            <a:off x="10217250" y="1998761"/>
            <a:ext cx="1544866" cy="316224"/>
          </a:xfrm>
          <a:prstGeom prst="rect">
            <a:avLst/>
          </a:prstGeom>
          <a:noFill/>
        </p:spPr>
        <p:txBody>
          <a:bodyPr wrap="none" lIns="0" rIns="0" tIns="0" bIns="0" anchor="ctr">
            <a:noAutofit/>
          </a:bodyPr>
          <a:lstStyle/>
          <a:p>
            <a:pPr algn="ctr">
              <a:lnSpc>
                <a:spcPts val="1757"/>
              </a:lnSpc>
            </a:pPr>
            <a:r>
              <a:rPr sz="1464" b="1">
                <a:solidFill>
                  <a:srgbClr val="FFFFFF"/>
                </a:solidFill>
                <a:latin typeface="맑은 고딕"/>
                <a:ea typeface="맑은 고딕"/>
                <a:cs typeface="맑은 고딕"/>
              </a:rPr>
              <a:t>핵심 · 결론</a:t>
            </a:r>
          </a:p>
        </p:txBody>
      </p:sp>
      <p:sp>
        <p:nvSpPr>
          <p:cNvPr id="79" name="TextBox 78"/>
          <p:cNvSpPr txBox="1"/>
          <p:nvPr/>
        </p:nvSpPr>
        <p:spPr>
          <a:xfrm>
            <a:off x="9998145" y="2297681"/>
            <a:ext cx="1983075" cy="216364"/>
          </a:xfrm>
          <a:prstGeom prst="rect">
            <a:avLst/>
          </a:prstGeom>
          <a:noFill/>
        </p:spPr>
        <p:txBody>
          <a:bodyPr wrap="none" lIns="0" rIns="0" tIns="0" bIns="0" anchor="ctr">
            <a:noAutofit/>
          </a:bodyPr>
          <a:lstStyle/>
          <a:p>
            <a:pPr algn="ctr">
              <a:lnSpc>
                <a:spcPts val="1202"/>
              </a:lnSpc>
            </a:pPr>
            <a:r>
              <a:rPr sz="1002" b="1">
                <a:solidFill>
                  <a:srgbClr val="CFE6F7"/>
                </a:solidFill>
                <a:latin typeface="맑은 고딕"/>
                <a:ea typeface="맑은 고딕"/>
                <a:cs typeface="맑은 고딕"/>
              </a:rPr>
              <a:t>아이디어 · 최종 분석</a:t>
            </a:r>
          </a:p>
        </p:txBody>
      </p:sp>
      <p:sp>
        <p:nvSpPr>
          <p:cNvPr id="80" name="TextBox 79"/>
          <p:cNvSpPr txBox="1"/>
          <p:nvPr/>
        </p:nvSpPr>
        <p:spPr>
          <a:xfrm>
            <a:off x="10110228" y="2480398"/>
            <a:ext cx="1758910" cy="233007"/>
          </a:xfrm>
          <a:prstGeom prst="rect">
            <a:avLst/>
          </a:prstGeom>
          <a:noFill/>
        </p:spPr>
        <p:txBody>
          <a:bodyPr wrap="none" lIns="0" rIns="0" tIns="0" bIns="0" anchor="ctr">
            <a:noAutofit/>
          </a:bodyPr>
          <a:lstStyle/>
          <a:p>
            <a:pPr algn="ctr">
              <a:lnSpc>
                <a:spcPts val="1295"/>
              </a:lnSpc>
            </a:pPr>
            <a:r>
              <a:rPr sz="1079" b="1">
                <a:solidFill>
                  <a:srgbClr val="FFE14D"/>
                </a:solidFill>
                <a:latin typeface="맑은 고딕"/>
                <a:ea typeface="맑은 고딕"/>
                <a:cs typeface="맑은 고딕"/>
              </a:rPr>
              <a:t>사람이 직접 작성</a:t>
            </a:r>
          </a:p>
        </p:txBody>
      </p:sp>
      <p:sp>
        <p:nvSpPr>
          <p:cNvPr id="81" name="Rectangle 80"/>
          <p:cNvSpPr/>
          <p:nvPr/>
        </p:nvSpPr>
        <p:spPr>
          <a:xfrm>
            <a:off x="6877794" y="3119438"/>
            <a:ext cx="4895106" cy="1088827"/>
          </a:xfrm>
          <a:prstGeom prst="rect">
            <a:avLst/>
          </a:prstGeom>
          <a:solidFill>
            <a:srgbClr val="FFFFFF"/>
          </a:solidFill>
          <a:ln w="19050">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2" name="TextBox 81"/>
          <p:cNvSpPr txBox="1"/>
          <p:nvPr/>
        </p:nvSpPr>
        <p:spPr>
          <a:xfrm>
            <a:off x="7039719" y="3262312"/>
            <a:ext cx="4561731" cy="860227"/>
          </a:xfrm>
          <a:prstGeom prst="rect">
            <a:avLst/>
          </a:prstGeom>
          <a:noFill/>
        </p:spPr>
        <p:txBody>
          <a:bodyPr wrap="square" anchor="t" lIns="0" rIns="0" tIns="0" bIns="0">
            <a:noAutofit/>
          </a:bodyPr>
          <a:lstStyle/>
          <a:p>
            <a:pPr algn="ctr">
              <a:lnSpc>
                <a:spcPts val="2208"/>
              </a:lnSpc>
              <a:spcBef>
                <a:spcPts val="0"/>
              </a:spcBef>
              <a:spcAft>
                <a:spcPts val="0"/>
              </a:spcAft>
            </a:pPr>
            <a:r>
              <a:rPr sz="1425" b="1">
                <a:solidFill>
                  <a:srgbClr val="C00000"/>
                </a:solidFill>
                <a:latin typeface="맑은 고딕"/>
                <a:ea typeface="맑은 고딕"/>
                <a:cs typeface="맑은 고딕"/>
              </a:rPr>
              <a:t>전 과정 기록 · 출처 표기</a:t>
            </a:r>
            <a:r>
              <a:rPr sz="1425" b="0">
                <a:solidFill>
                  <a:srgbClr val="3B3838"/>
                </a:solidFill>
                <a:latin typeface="맑은 고딕"/>
                <a:ea typeface="맑은 고딕"/>
                <a:cs typeface="맑은 고딕"/>
              </a:rPr>
              <a:t/>
            </a:r>
          </a:p>
          <a:p>
            <a:pPr algn="ctr">
              <a:lnSpc>
                <a:spcPts val="2208"/>
              </a:lnSpc>
              <a:spcBef>
                <a:spcPts val="0"/>
              </a:spcBef>
              <a:spcAft>
                <a:spcPts val="0"/>
              </a:spcAft>
            </a:pPr>
            <a:r>
              <a:rPr sz="1425" b="0">
                <a:solidFill>
                  <a:srgbClr val="3B3838"/>
                </a:solidFill>
                <a:latin typeface="맑은 고딕"/>
                <a:ea typeface="맑은 고딕"/>
                <a:cs typeface="맑은 고딕"/>
              </a:rPr>
              <a:t/>
            </a:r>
            <a:r>
              <a:rPr sz="1425" b="0">
                <a:solidFill>
                  <a:srgbClr val="3B3838"/>
                </a:solidFill>
                <a:latin typeface="맑은 고딕"/>
                <a:ea typeface="맑은 고딕"/>
                <a:cs typeface="맑은 고딕"/>
              </a:rPr>
              <a:t>서비스 종류 · 활용 목적 · 활용 범위</a:t>
            </a:r>
            <a:r>
              <a:rPr sz="1425" b="0">
                <a:solidFill>
                  <a:srgbClr val="3B3838"/>
                </a:solidFill>
                <a:latin typeface="맑은 고딕"/>
                <a:ea typeface="맑은 고딕"/>
                <a:cs typeface="맑은 고딕"/>
              </a:rPr>
              <a:t/>
            </a:r>
          </a:p>
          <a:p>
            <a:pPr algn="ctr">
              <a:lnSpc>
                <a:spcPts val="2208"/>
              </a:lnSpc>
              <a:spcBef>
                <a:spcPts val="0"/>
              </a:spcBef>
              <a:spcAft>
                <a:spcPts val="0"/>
              </a:spcAft>
            </a:pPr>
            <a:r>
              <a:rPr sz="1425" b="0">
                <a:solidFill>
                  <a:srgbClr val="3B3838"/>
                </a:solidFill>
                <a:latin typeface="맑은 고딕"/>
                <a:ea typeface="맑은 고딕"/>
                <a:cs typeface="맑은 고딕"/>
              </a:rPr>
              <a:t/>
            </a:r>
            <a:r>
              <a:rPr sz="1425" b="1">
                <a:solidFill>
                  <a:srgbClr val="005BAC"/>
                </a:solidFill>
                <a:latin typeface="맑은 고딕"/>
                <a:ea typeface="맑은 고딕"/>
                <a:cs typeface="맑은 고딕"/>
              </a:rPr>
              <a:t>사용한 프롬프트 (메타 프롬프트 포함)</a:t>
            </a:r>
          </a:p>
        </p:txBody>
      </p:sp>
      <p:sp>
        <p:nvSpPr>
          <p:cNvPr id="83" name="Rectangle 82"/>
          <p:cNvSpPr/>
          <p:nvPr/>
        </p:nvSpPr>
        <p:spPr>
          <a:xfrm>
            <a:off x="6877794" y="4465439"/>
            <a:ext cx="4895106" cy="1889671"/>
          </a:xfrm>
          <a:prstGeom prst="rect">
            <a:avLst/>
          </a:prstGeom>
          <a:solidFill>
            <a:srgbClr val="FFFFFF"/>
          </a:solidFill>
          <a:ln w="9525">
            <a:solidFill>
              <a:srgbClr val="D4DCE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4" name="TextBox 83"/>
          <p:cNvSpPr txBox="1"/>
          <p:nvPr/>
        </p:nvSpPr>
        <p:spPr>
          <a:xfrm>
            <a:off x="7020669" y="4509254"/>
            <a:ext cx="838200" cy="445770"/>
          </a:xfrm>
          <a:prstGeom prst="rect">
            <a:avLst/>
          </a:prstGeom>
          <a:noFill/>
        </p:spPr>
        <p:txBody>
          <a:bodyPr wrap="none" anchor="ctr" lIns="0" rIns="0" tIns="0" bIns="0">
            <a:noAutofit/>
          </a:bodyPr>
          <a:lstStyle/>
          <a:p>
            <a:pPr algn="l">
              <a:lnSpc>
                <a:spcPts val="1800"/>
              </a:lnSpc>
              <a:spcBef>
                <a:spcPts val="0"/>
              </a:spcBef>
              <a:spcAft>
                <a:spcPts val="0"/>
              </a:spcAft>
            </a:pPr>
            <a:r>
              <a:rPr sz="1800" b="0">
                <a:solidFill>
                  <a:srgbClr val="3B3838"/>
                </a:solidFill>
                <a:latin typeface="맑은 고딕"/>
                <a:ea typeface="맑은 고딕"/>
                <a:cs typeface="맑은 고딕"/>
              </a:rPr>
              <a:t>📋</a:t>
            </a:r>
          </a:p>
        </p:txBody>
      </p:sp>
      <p:sp>
        <p:nvSpPr>
          <p:cNvPr id="85" name="TextBox 84"/>
          <p:cNvSpPr txBox="1"/>
          <p:nvPr/>
        </p:nvSpPr>
        <p:spPr>
          <a:xfrm>
            <a:off x="7020669" y="4817864"/>
            <a:ext cx="5225415" cy="381000"/>
          </a:xfrm>
          <a:prstGeom prst="rect">
            <a:avLst/>
          </a:prstGeom>
          <a:noFill/>
        </p:spPr>
        <p:txBody>
          <a:bodyPr wrap="none" anchor="ctr" lIns="0" rIns="0" tIns="0" bIns="0">
            <a:noAutofit/>
          </a:bodyPr>
          <a:lstStyle/>
          <a:p>
            <a:pPr algn="l">
              <a:lnSpc>
                <a:spcPts val="2250"/>
              </a:lnSpc>
              <a:spcBef>
                <a:spcPts val="0"/>
              </a:spcBef>
              <a:spcAft>
                <a:spcPts val="0"/>
              </a:spcAft>
            </a:pPr>
            <a:r>
              <a:rPr sz="1500" b="1" spc="-30">
                <a:solidFill>
                  <a:srgbClr val="17365D"/>
                </a:solidFill>
                <a:latin typeface="맑은 고딕"/>
                <a:ea typeface="맑은 고딕"/>
                <a:cs typeface="맑은 고딕"/>
              </a:rPr>
              <a:t>출처 표기 양식 (과제 끝에 붙여 제출)</a:t>
            </a:r>
          </a:p>
        </p:txBody>
      </p:sp>
      <p:sp>
        <p:nvSpPr>
          <p:cNvPr id="86" name="TextBox 85"/>
          <p:cNvSpPr txBox="1"/>
          <p:nvPr/>
        </p:nvSpPr>
        <p:spPr>
          <a:xfrm>
            <a:off x="7020669" y="5179814"/>
            <a:ext cx="4609356" cy="1089571"/>
          </a:xfrm>
          <a:prstGeom prst="rect">
            <a:avLst/>
          </a:prstGeom>
          <a:noFill/>
        </p:spPr>
        <p:txBody>
          <a:bodyPr wrap="square" anchor="t" lIns="0" rIns="0" tIns="0" bIns="0">
            <a:noAutofit/>
          </a:bodyPr>
          <a:lstStyle/>
          <a:p>
            <a:pPr algn="l">
              <a:lnSpc>
                <a:spcPts val="1655"/>
              </a:lnSpc>
              <a:spcBef>
                <a:spcPts val="0"/>
              </a:spcBef>
              <a:spcAft>
                <a:spcPts val="0"/>
              </a:spcAft>
            </a:pPr>
            <a:r>
              <a:rPr sz="1200" b="0">
                <a:solidFill>
                  <a:srgbClr val="3B3838"/>
                </a:solidFill>
                <a:latin typeface="맑은 고딕"/>
                <a:ea typeface="맑은 고딕"/>
                <a:cs typeface="맑은 고딕"/>
              </a:rPr>
              <a:t>[ 생성형 AI 활용 표기 ]</a:t>
            </a:r>
            <a:r>
              <a:rPr sz="1200" b="0">
                <a:solidFill>
                  <a:srgbClr val="3B3838"/>
                </a:solidFill>
                <a:latin typeface="맑은 고딕"/>
                <a:ea typeface="맑은 고딕"/>
                <a:cs typeface="맑은 고딕"/>
              </a:rPr>
              <a:t/>
            </a:r>
          </a:p>
          <a:p>
            <a:pPr algn="l">
              <a:lnSpc>
                <a:spcPts val="1655"/>
              </a:lnSpc>
              <a:spcBef>
                <a:spcPts val="0"/>
              </a:spcBef>
              <a:spcAft>
                <a:spcPts val="0"/>
              </a:spcAft>
            </a:pPr>
            <a:r>
              <a:rPr sz="1200" b="0">
                <a:solidFill>
                  <a:srgbClr val="3B3838"/>
                </a:solidFill>
                <a:latin typeface="맑은 고딕"/>
                <a:ea typeface="맑은 고딕"/>
                <a:cs typeface="맑은 고딕"/>
              </a:rPr>
              <a:t/>
            </a:r>
            <a:r>
              <a:rPr sz="1200" b="0">
                <a:solidFill>
                  <a:srgbClr val="3B3838"/>
                </a:solidFill>
                <a:latin typeface="맑은 고딕"/>
                <a:ea typeface="맑은 고딕"/>
                <a:cs typeface="맑은 고딕"/>
              </a:rPr>
              <a:t>· 사용 서비스 : [ 서비스명 / 모델명 ]</a:t>
            </a:r>
            <a:r>
              <a:rPr sz="1200" b="0">
                <a:solidFill>
                  <a:srgbClr val="3B3838"/>
                </a:solidFill>
                <a:latin typeface="맑은 고딕"/>
                <a:ea typeface="맑은 고딕"/>
                <a:cs typeface="맑은 고딕"/>
              </a:rPr>
              <a:t/>
            </a:r>
          </a:p>
          <a:p>
            <a:pPr algn="l">
              <a:lnSpc>
                <a:spcPts val="1655"/>
              </a:lnSpc>
              <a:spcBef>
                <a:spcPts val="0"/>
              </a:spcBef>
              <a:spcAft>
                <a:spcPts val="0"/>
              </a:spcAft>
            </a:pPr>
            <a:r>
              <a:rPr sz="1200" b="0">
                <a:solidFill>
                  <a:srgbClr val="3B3838"/>
                </a:solidFill>
                <a:latin typeface="맑은 고딕"/>
                <a:ea typeface="맑은 고딕"/>
                <a:cs typeface="맑은 고딕"/>
              </a:rPr>
              <a:t/>
            </a:r>
            <a:r>
              <a:rPr sz="1200" b="0">
                <a:solidFill>
                  <a:srgbClr val="3B3838"/>
                </a:solidFill>
                <a:latin typeface="맑은 고딕"/>
                <a:ea typeface="맑은 고딕"/>
                <a:cs typeface="맑은 고딕"/>
              </a:rPr>
              <a:t>· 활용 목적 : [ 자료 조사 · 초안 작성 · 문장 다듬기 … ]</a:t>
            </a:r>
            <a:r>
              <a:rPr sz="1200" b="0">
                <a:solidFill>
                  <a:srgbClr val="3B3838"/>
                </a:solidFill>
                <a:latin typeface="맑은 고딕"/>
                <a:ea typeface="맑은 고딕"/>
                <a:cs typeface="맑은 고딕"/>
              </a:rPr>
              <a:t/>
            </a:r>
          </a:p>
          <a:p>
            <a:pPr algn="l">
              <a:lnSpc>
                <a:spcPts val="1655"/>
              </a:lnSpc>
              <a:spcBef>
                <a:spcPts val="0"/>
              </a:spcBef>
              <a:spcAft>
                <a:spcPts val="0"/>
              </a:spcAft>
            </a:pPr>
            <a:r>
              <a:rPr sz="1200" b="0">
                <a:solidFill>
                  <a:srgbClr val="3B3838"/>
                </a:solidFill>
                <a:latin typeface="맑은 고딕"/>
                <a:ea typeface="맑은 고딕"/>
                <a:cs typeface="맑은 고딕"/>
              </a:rPr>
              <a:t/>
            </a:r>
            <a:r>
              <a:rPr sz="1200" b="0">
                <a:solidFill>
                  <a:srgbClr val="3B3838"/>
                </a:solidFill>
                <a:latin typeface="맑은 고딕"/>
                <a:ea typeface="맑은 고딕"/>
                <a:cs typeface="맑은 고딕"/>
              </a:rPr>
              <a:t>· 활용 범위 : [ 예: 2장 초안, 전체의 약 20% ]</a:t>
            </a:r>
            <a:r>
              <a:rPr sz="1200" b="0">
                <a:solidFill>
                  <a:srgbClr val="3B3838"/>
                </a:solidFill>
                <a:latin typeface="맑은 고딕"/>
                <a:ea typeface="맑은 고딕"/>
                <a:cs typeface="맑은 고딕"/>
              </a:rPr>
              <a:t/>
            </a:r>
          </a:p>
          <a:p>
            <a:pPr algn="l">
              <a:lnSpc>
                <a:spcPts val="1655"/>
              </a:lnSpc>
              <a:spcBef>
                <a:spcPts val="0"/>
              </a:spcBef>
              <a:spcAft>
                <a:spcPts val="0"/>
              </a:spcAft>
            </a:pPr>
            <a:r>
              <a:rPr sz="1200" b="0">
                <a:solidFill>
                  <a:srgbClr val="3B3838"/>
                </a:solidFill>
                <a:latin typeface="맑은 고딕"/>
                <a:ea typeface="맑은 고딕"/>
                <a:cs typeface="맑은 고딕"/>
              </a:rPr>
              <a:t/>
            </a:r>
            <a:r>
              <a:rPr sz="1200" b="0">
                <a:solidFill>
                  <a:srgbClr val="3B3838"/>
                </a:solidFill>
                <a:latin typeface="맑은 고딕"/>
                <a:ea typeface="맑은 고딕"/>
                <a:cs typeface="맑은 고딕"/>
              </a:rPr>
              <a:t>· 사용 프롬프트 : [ 입력한 프롬프트 전문 · 메타 프롬프트 포함 ]</a:t>
            </a:r>
          </a:p>
        </p:txBody>
      </p:sp>
      <p:sp>
        <p:nvSpPr>
          <p:cNvPr id="87" name="TextBox 86"/>
          <p:cNvSpPr txBox="1"/>
          <p:nvPr/>
        </p:nvSpPr>
        <p:spPr>
          <a:xfrm>
            <a:off x="5786720" y="6506528"/>
            <a:ext cx="618411" cy="283845"/>
          </a:xfrm>
          <a:prstGeom prst="rect">
            <a:avLst/>
          </a:prstGeom>
          <a:noFill/>
        </p:spPr>
        <p:txBody>
          <a:bodyPr wrap="none" anchor="ctr" lIns="0" rIns="0" tIns="0" bIns="0">
            <a:noAutofit/>
          </a:bodyPr>
          <a:lstStyle/>
          <a:p>
            <a:pPr algn="ctr">
              <a:lnSpc>
                <a:spcPts val="1575"/>
              </a:lnSpc>
              <a:spcBef>
                <a:spcPts val="0"/>
              </a:spcBef>
              <a:spcAft>
                <a:spcPts val="0"/>
              </a:spcAft>
            </a:pPr>
            <a:r>
              <a:rPr sz="1050" b="0">
                <a:solidFill>
                  <a:srgbClr val="8A8F96"/>
                </a:solidFill>
                <a:latin typeface="Arial"/>
                <a:ea typeface="맑은 고딕"/>
                <a:cs typeface="맑은 고딕"/>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FF0F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 name="Picture 2" descr="bg-band.jpg"/>
          <p:cNvPicPr>
            <a:picLocks noChangeAspect="1"/>
          </p:cNvPicPr>
          <p:nvPr/>
        </p:nvPicPr>
        <p:blipFill>
          <a:blip r:embed="rId2"/>
          <a:stretch>
            <a:fillRect/>
          </a:stretch>
        </p:blipFill>
        <p:spPr>
          <a:xfrm>
            <a:off x="0" y="0"/>
            <a:ext cx="12192000" cy="3566071"/>
          </a:xfrm>
          <a:prstGeom prst="rect">
            <a:avLst/>
          </a:prstGeom>
        </p:spPr>
      </p:pic>
      <p:sp>
        <p:nvSpPr>
          <p:cNvPr id="4" name="Rectangle 3"/>
          <p:cNvSpPr/>
          <p:nvPr/>
        </p:nvSpPr>
        <p:spPr>
          <a:xfrm>
            <a:off x="0" y="3547021"/>
            <a:ext cx="7071360" cy="38100"/>
          </a:xfrm>
          <a:prstGeom prst="rect">
            <a:avLst/>
          </a:prstGeom>
          <a:ln>
            <a:noFill/>
          </a:ln>
          <a:effectLst/>
          <a:gradFill rotWithShape="1">
            <a:gsLst>
              <a:gs pos="0">
                <a:srgbClr val="005BAC"/>
              </a:gs>
              <a:gs pos="100000">
                <a:srgbClr val="005BAC">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0" y="3623221"/>
            <a:ext cx="4876800" cy="38100"/>
          </a:xfrm>
          <a:prstGeom prst="rect">
            <a:avLst/>
          </a:prstGeom>
          <a:ln>
            <a:noFill/>
          </a:ln>
          <a:effectLst/>
          <a:gradFill rotWithShape="1">
            <a:gsLst>
              <a:gs pos="0">
                <a:srgbClr val="0071CE"/>
              </a:gs>
              <a:gs pos="100000">
                <a:srgbClr val="0071CE">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0" y="3699421"/>
            <a:ext cx="3413760" cy="38100"/>
          </a:xfrm>
          <a:prstGeom prst="rect">
            <a:avLst/>
          </a:prstGeom>
          <a:ln>
            <a:noFill/>
          </a:ln>
          <a:effectLst/>
          <a:gradFill rotWithShape="1">
            <a:gsLst>
              <a:gs pos="0">
                <a:srgbClr val="4BA3E3"/>
              </a:gs>
              <a:gs pos="100000">
                <a:srgbClr val="4BA3E3">
                  <a:alpha val="0"/>
                </a:srgbClr>
              </a:gs>
            </a:gsLst>
            <a:lin ang="0" scaled="0"/>
          </a:gradFill>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247650" y="3032671"/>
            <a:ext cx="1066800" cy="1066800"/>
          </a:xfrm>
          <a:prstGeom prst="ellipse">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rot="1873891">
            <a:off x="277468" y="2897338"/>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C</a:t>
            </a:r>
          </a:p>
        </p:txBody>
      </p:sp>
      <p:sp>
        <p:nvSpPr>
          <p:cNvPr id="9" name="TextBox 8"/>
          <p:cNvSpPr txBox="1"/>
          <p:nvPr/>
        </p:nvSpPr>
        <p:spPr>
          <a:xfrm rot="2597530">
            <a:off x="385778" y="2979733"/>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H</a:t>
            </a:r>
          </a:p>
        </p:txBody>
      </p:sp>
      <p:sp>
        <p:nvSpPr>
          <p:cNvPr id="10" name="TextBox 9"/>
          <p:cNvSpPr txBox="1"/>
          <p:nvPr/>
        </p:nvSpPr>
        <p:spPr>
          <a:xfrm rot="3289047">
            <a:off x="471016" y="3077979"/>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A</a:t>
            </a:r>
          </a:p>
        </p:txBody>
      </p:sp>
      <p:sp>
        <p:nvSpPr>
          <p:cNvPr id="11" name="TextBox 10"/>
          <p:cNvSpPr txBox="1"/>
          <p:nvPr/>
        </p:nvSpPr>
        <p:spPr>
          <a:xfrm rot="3979591">
            <a:off x="534833" y="3191105"/>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P</a:t>
            </a:r>
          </a:p>
        </p:txBody>
      </p:sp>
      <p:sp>
        <p:nvSpPr>
          <p:cNvPr id="12" name="TextBox 11"/>
          <p:cNvSpPr txBox="1"/>
          <p:nvPr/>
        </p:nvSpPr>
        <p:spPr>
          <a:xfrm rot="4647428">
            <a:off x="573879" y="3310511"/>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T</a:t>
            </a:r>
          </a:p>
        </p:txBody>
      </p:sp>
      <p:sp>
        <p:nvSpPr>
          <p:cNvPr id="13" name="TextBox 12"/>
          <p:cNvSpPr txBox="1"/>
          <p:nvPr/>
        </p:nvSpPr>
        <p:spPr>
          <a:xfrm rot="5322137">
            <a:off x="589171" y="3436504"/>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E</a:t>
            </a:r>
          </a:p>
        </p:txBody>
      </p:sp>
      <p:sp>
        <p:nvSpPr>
          <p:cNvPr id="14" name="TextBox 13"/>
          <p:cNvSpPr txBox="1"/>
          <p:nvPr/>
        </p:nvSpPr>
        <p:spPr>
          <a:xfrm rot="6029545">
            <a:off x="578507" y="3569122"/>
            <a:ext cx="687705" cy="230505"/>
          </a:xfrm>
          <a:prstGeom prst="rect">
            <a:avLst/>
          </a:prstGeom>
          <a:noFill/>
        </p:spPr>
        <p:txBody>
          <a:bodyPr wrap="none" lIns="0" rIns="0" tIns="0" bIns="0" anchor="ctr">
            <a:noAutofit/>
          </a:bodyPr>
          <a:lstStyle/>
          <a:p>
            <a:pPr algn="ctr">
              <a:lnSpc>
                <a:spcPts val="989"/>
              </a:lnSpc>
            </a:pPr>
            <a:r>
              <a:rPr sz="825" b="1">
                <a:solidFill>
                  <a:srgbClr val="FFFFFF"/>
                </a:solidFill>
                <a:latin typeface="Arial"/>
                <a:ea typeface="맑은 고딕"/>
                <a:cs typeface="맑은 고딕"/>
              </a:rPr>
              <a:t>R</a:t>
            </a:r>
          </a:p>
        </p:txBody>
      </p:sp>
      <p:sp>
        <p:nvSpPr>
          <p:cNvPr id="15" name="TextBox 14"/>
          <p:cNvSpPr txBox="1"/>
          <p:nvPr/>
        </p:nvSpPr>
        <p:spPr>
          <a:xfrm>
            <a:off x="-43532" y="3134588"/>
            <a:ext cx="658564" cy="615315"/>
          </a:xfrm>
          <a:prstGeom prst="rect">
            <a:avLst/>
          </a:prstGeom>
          <a:noFill/>
        </p:spPr>
        <p:txBody>
          <a:bodyPr wrap="none" lIns="0" rIns="0" tIns="0" bIns="0" anchor="ctr">
            <a:noAutofit/>
          </a:bodyPr>
          <a:lstStyle/>
          <a:p>
            <a:pPr algn="ctr">
              <a:lnSpc>
                <a:spcPts val="3420"/>
              </a:lnSpc>
            </a:pPr>
            <a:r>
              <a:rPr sz="2850" b="1">
                <a:solidFill>
                  <a:srgbClr val="17365D"/>
                </a:solidFill>
                <a:latin typeface="Arial"/>
                <a:ea typeface="맑은 고딕"/>
                <a:cs typeface="맑은 고딕"/>
              </a:rPr>
              <a:t>2</a:t>
            </a:r>
          </a:p>
        </p:txBody>
      </p:sp>
      <p:sp>
        <p:nvSpPr>
          <p:cNvPr id="16" name="TextBox 15"/>
          <p:cNvSpPr txBox="1"/>
          <p:nvPr/>
        </p:nvSpPr>
        <p:spPr>
          <a:xfrm>
            <a:off x="-123825" y="3674179"/>
            <a:ext cx="819150" cy="307658"/>
          </a:xfrm>
          <a:prstGeom prst="rect">
            <a:avLst/>
          </a:prstGeom>
          <a:noFill/>
        </p:spPr>
        <p:txBody>
          <a:bodyPr wrap="none" lIns="0" rIns="0" tIns="0" bIns="0" anchor="ctr">
            <a:noAutofit/>
          </a:bodyPr>
          <a:lstStyle/>
          <a:p>
            <a:pPr algn="ctr">
              <a:lnSpc>
                <a:spcPts val="1710"/>
              </a:lnSpc>
            </a:pPr>
            <a:r>
              <a:rPr sz="1425" b="1">
                <a:solidFill>
                  <a:srgbClr val="17365D"/>
                </a:solidFill>
                <a:latin typeface="맑은 고딕"/>
                <a:ea typeface="맑은 고딕"/>
                <a:cs typeface="맑은 고딕"/>
              </a:rPr>
              <a:t>차시</a:t>
            </a:r>
          </a:p>
        </p:txBody>
      </p:sp>
      <p:sp>
        <p:nvSpPr>
          <p:cNvPr id="17" name="TextBox 16"/>
          <p:cNvSpPr txBox="1"/>
          <p:nvPr/>
        </p:nvSpPr>
        <p:spPr>
          <a:xfrm>
            <a:off x="9502676" y="1114425"/>
            <a:ext cx="2270224" cy="809625"/>
          </a:xfrm>
          <a:prstGeom prst="rect">
            <a:avLst/>
          </a:prstGeom>
          <a:noFill/>
        </p:spPr>
        <p:txBody>
          <a:bodyPr wrap="square" anchor="t" lIns="0" rIns="0" tIns="0" bIns="0">
            <a:noAutofit/>
          </a:bodyPr>
          <a:lstStyle/>
          <a:p>
            <a:pPr algn="r">
              <a:lnSpc>
                <a:spcPts val="3300"/>
              </a:lnSpc>
              <a:spcBef>
                <a:spcPts val="0"/>
              </a:spcBef>
              <a:spcAft>
                <a:spcPts val="0"/>
              </a:spcAft>
            </a:pPr>
            <a:r>
              <a:rPr sz="1650" b="1">
                <a:solidFill>
                  <a:srgbClr val="FFFFFF"/>
                </a:solidFill>
                <a:latin typeface="맑은 고딕"/>
                <a:ea typeface="맑은 고딕"/>
                <a:cs typeface="맑은 고딕"/>
              </a:rPr>
              <a:t>자신의 삶과 진로에 대한</a:t>
            </a:r>
            <a:r>
              <a:rPr sz="1650" b="1">
                <a:solidFill>
                  <a:srgbClr val="FFFFFF"/>
                </a:solidFill>
                <a:latin typeface="맑은 고딕"/>
                <a:ea typeface="맑은 고딕"/>
                <a:cs typeface="맑은 고딕"/>
              </a:rPr>
              <a:t/>
            </a:r>
          </a:p>
          <a:p>
            <a:pPr algn="r">
              <a:lnSpc>
                <a:spcPts val="3300"/>
              </a:lnSpc>
              <a:spcBef>
                <a:spcPts val="0"/>
              </a:spcBef>
              <a:spcAft>
                <a:spcPts val="0"/>
              </a:spcAft>
            </a:pPr>
            <a:r>
              <a:rPr sz="1650" b="1">
                <a:solidFill>
                  <a:srgbClr val="FFFFFF"/>
                </a:solidFill>
                <a:latin typeface="맑은 고딕"/>
                <a:ea typeface="맑은 고딕"/>
                <a:cs typeface="맑은 고딕"/>
              </a:rPr>
              <a:t/>
            </a:r>
            <a:r>
              <a:rPr sz="1650" b="1">
                <a:solidFill>
                  <a:srgbClr val="FFFFFF"/>
                </a:solidFill>
                <a:latin typeface="맑은 고딕"/>
                <a:ea typeface="맑은 고딕"/>
                <a:cs typeface="맑은 고딕"/>
              </a:rPr>
              <a:t>탐색을 시작합니다.</a:t>
            </a:r>
          </a:p>
        </p:txBody>
      </p:sp>
      <p:sp>
        <p:nvSpPr>
          <p:cNvPr id="18" name="TextBox 17"/>
          <p:cNvSpPr txBox="1"/>
          <p:nvPr/>
        </p:nvSpPr>
        <p:spPr>
          <a:xfrm>
            <a:off x="7374969" y="4067651"/>
            <a:ext cx="4397931" cy="737235"/>
          </a:xfrm>
          <a:prstGeom prst="rect">
            <a:avLst/>
          </a:prstGeom>
          <a:noFill/>
        </p:spPr>
        <p:txBody>
          <a:bodyPr wrap="none" anchor="ctr" lIns="0" rIns="0" tIns="0" bIns="0">
            <a:noAutofit/>
          </a:bodyPr>
          <a:lstStyle/>
          <a:p>
            <a:pPr algn="r">
              <a:lnSpc>
                <a:spcPts val="4725"/>
              </a:lnSpc>
              <a:spcBef>
                <a:spcPts val="0"/>
              </a:spcBef>
              <a:spcAft>
                <a:spcPts val="0"/>
              </a:spcAft>
            </a:pPr>
            <a:r>
              <a:rPr sz="3150" b="1" spc="-110">
                <a:solidFill>
                  <a:srgbClr val="17365D"/>
                </a:solidFill>
                <a:latin typeface="맑은 고딕"/>
                <a:ea typeface="맑은 고딕"/>
                <a:cs typeface="맑은 고딕"/>
              </a:rPr>
              <a:t>다음 차시 안내</a:t>
            </a:r>
          </a:p>
        </p:txBody>
      </p:sp>
      <p:sp>
        <p:nvSpPr>
          <p:cNvPr id="19" name="TextBox 18"/>
          <p:cNvSpPr txBox="1"/>
          <p:nvPr/>
        </p:nvSpPr>
        <p:spPr>
          <a:xfrm>
            <a:off x="6497717" y="4632871"/>
            <a:ext cx="5275183" cy="381000"/>
          </a:xfrm>
          <a:prstGeom prst="rect">
            <a:avLst/>
          </a:prstGeom>
          <a:noFill/>
        </p:spPr>
        <p:txBody>
          <a:bodyPr wrap="none" anchor="ctr" lIns="0" rIns="0" tIns="0" bIns="0">
            <a:noAutofit/>
          </a:bodyPr>
          <a:lstStyle/>
          <a:p>
            <a:pPr algn="r">
              <a:lnSpc>
                <a:spcPts val="2250"/>
              </a:lnSpc>
              <a:spcBef>
                <a:spcPts val="0"/>
              </a:spcBef>
              <a:spcAft>
                <a:spcPts val="0"/>
              </a:spcAft>
            </a:pPr>
            <a:r>
              <a:rPr sz="1500" b="1">
                <a:solidFill>
                  <a:srgbClr val="63666B"/>
                </a:solidFill>
                <a:latin typeface="맑은 고딕"/>
                <a:ea typeface="맑은 고딕"/>
                <a:cs typeface="맑은 고딕"/>
              </a:rPr>
              <a:t>제2강  나의 삶, 나의 진로 / 나의 이해</a:t>
            </a:r>
          </a:p>
        </p:txBody>
      </p:sp>
      <p:sp>
        <p:nvSpPr>
          <p:cNvPr id="20" name="TextBox 19"/>
          <p:cNvSpPr txBox="1"/>
          <p:nvPr/>
        </p:nvSpPr>
        <p:spPr>
          <a:xfrm>
            <a:off x="10846296" y="5971222"/>
            <a:ext cx="1863566" cy="802005"/>
          </a:xfrm>
          <a:prstGeom prst="rect">
            <a:avLst/>
          </a:prstGeom>
          <a:noFill/>
        </p:spPr>
        <p:txBody>
          <a:bodyPr wrap="none" anchor="ctr" lIns="0" rIns="0" tIns="0" bIns="0">
            <a:noAutofit/>
          </a:bodyPr>
          <a:lstStyle/>
          <a:p>
            <a:pPr algn="l">
              <a:lnSpc>
                <a:spcPts val="3450"/>
              </a:lnSpc>
              <a:spcBef>
                <a:spcPts val="0"/>
              </a:spcBef>
              <a:spcAft>
                <a:spcPts val="0"/>
              </a:spcAft>
            </a:pPr>
            <a:r>
              <a:rPr sz="3450" b="1" spc="-190">
                <a:solidFill>
                  <a:srgbClr val="17365D"/>
                </a:solidFill>
                <a:latin typeface="Arial"/>
                <a:ea typeface="맑은 고딕"/>
                <a:cs typeface="맑은 고딕"/>
              </a:rPr>
              <a:t>dima</a:t>
            </a:r>
          </a:p>
        </p:txBody>
      </p:sp>
      <p:sp>
        <p:nvSpPr>
          <p:cNvPr id="21" name="Oval 20"/>
          <p:cNvSpPr/>
          <p:nvPr/>
        </p:nvSpPr>
        <p:spPr>
          <a:xfrm>
            <a:off x="11097194" y="6001131"/>
            <a:ext cx="83248" cy="83248"/>
          </a:xfrm>
          <a:prstGeom prst="ellipse">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