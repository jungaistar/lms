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성적 반영 비율</c:v>
                </c:pt>
              </c:strCache>
            </c:strRef>
          </c:tx>
          <c:spPr>
            <a:solidFill>
              <a:schemeClr val="accent1"/>
            </a:solidFill>
            <a:ln w="9525" cap="flat">
              <a:solidFill>
                <a:srgbClr val="F9F9F9"/>
              </a:solidFill>
              <a:prstDash val="solid"/>
              <a:round/>
            </a:ln>
            <a:effectLst/>
          </c:spPr>
          <c:dPt>
            <c:idx val="0"/>
            <c:bubble3D val="0"/>
            <c:spPr>
              <a:solidFill>
                <a:srgbClr val="005BAC"/>
              </a:solidFill>
              <a:ln w="9525" cap="flat">
                <a:solidFill>
                  <a:srgbClr val="FFFFFF"/>
                </a:solidFill>
                <a:prstDash val="solid"/>
                <a:round/>
              </a:ln>
              <a:effectLst/>
            </c:spPr>
          </c:dPt>
          <c:dPt>
            <c:idx val="1"/>
            <c:bubble3D val="0"/>
            <c:spPr>
              <a:solidFill>
                <a:srgbClr val="0071CE"/>
              </a:solidFill>
              <a:ln w="9525" cap="flat">
                <a:solidFill>
                  <a:srgbClr val="FFFFFF"/>
                </a:solidFill>
                <a:prstDash val="solid"/>
                <a:round/>
              </a:ln>
              <a:effectLst/>
            </c:spPr>
          </c:dPt>
          <c:dPt>
            <c:idx val="2"/>
            <c:bubble3D val="0"/>
            <c:spPr>
              <a:solidFill>
                <a:srgbClr val="4BA3E3"/>
              </a:solidFill>
              <a:ln w="9525" cap="flat">
                <a:solidFill>
                  <a:srgbClr val="FFFFFF"/>
                </a:solidFill>
                <a:prstDash val="solid"/>
                <a:round/>
              </a:ln>
              <a:effectLst/>
            </c:spPr>
          </c:dPt>
          <c:dPt>
            <c:idx val="3"/>
            <c:bubble3D val="0"/>
            <c:spPr>
              <a:solidFill>
                <a:srgbClr val="8FC7EC"/>
              </a:solidFill>
              <a:ln w="9525" cap="flat">
                <a:solidFill>
                  <a:srgbClr val="FFFFFF"/>
                </a:solidFill>
                <a:prstDash val="solid"/>
                <a:round/>
              </a:ln>
              <a:effectLst/>
            </c:spPr>
          </c:dPt>
          <c:dLbls>
            <c:dLbl>
              <c:idx val="0"/>
              <c:numFmt formatCode="0%" sourceLinked="0"/>
              <c:spPr/>
              <c:txPr>
                <a:bodyPr/>
                <a:lstStyle/>
                <a:p>
                  <a:pPr>
                    <a:defRPr sz="980" b="1" i="0" u="none" strike="noStrike">
                      <a:solidFill>
                        <a:srgbClr val="FFFFFF"/>
                      </a:solidFill>
                      <a:latin typeface="맑은 고딕"/>
                    </a:defRPr>
                  </a:pPr>
                </a:p>
              </c:txPr>
              <c:showLegendKey val="0"/>
              <c:showVal val="0"/>
              <c:showCatName val="1"/>
              <c:showSerName val="0"/>
              <c:showPercent val="1"/>
              <c:showBubbleSize val="0"/>
            </c:dLbl>
            <c:dLbl>
              <c:idx val="1"/>
              <c:numFmt formatCode="0%" sourceLinked="0"/>
              <c:spPr/>
              <c:txPr>
                <a:bodyPr/>
                <a:lstStyle/>
                <a:p>
                  <a:pPr>
                    <a:defRPr sz="980" b="1" i="0" u="none" strike="noStrike">
                      <a:solidFill>
                        <a:srgbClr val="FFFFFF"/>
                      </a:solidFill>
                      <a:latin typeface="맑은 고딕"/>
                    </a:defRPr>
                  </a:pPr>
                </a:p>
              </c:txPr>
              <c:showLegendKey val="0"/>
              <c:showVal val="0"/>
              <c:showCatName val="1"/>
              <c:showSerName val="0"/>
              <c:showPercent val="1"/>
              <c:showBubbleSize val="0"/>
            </c:dLbl>
            <c:dLbl>
              <c:idx val="2"/>
              <c:numFmt formatCode="0%" sourceLinked="0"/>
              <c:spPr/>
              <c:txPr>
                <a:bodyPr/>
                <a:lstStyle/>
                <a:p>
                  <a:pPr>
                    <a:defRPr sz="980" b="1" i="0" u="none" strike="noStrike">
                      <a:solidFill>
                        <a:srgbClr val="FFFFFF"/>
                      </a:solidFill>
                      <a:latin typeface="맑은 고딕"/>
                    </a:defRPr>
                  </a:pPr>
                </a:p>
              </c:txPr>
              <c:showLegendKey val="0"/>
              <c:showVal val="0"/>
              <c:showCatName val="1"/>
              <c:showSerName val="0"/>
              <c:showPercent val="1"/>
              <c:showBubbleSize val="0"/>
            </c:dLbl>
            <c:dLbl>
              <c:idx val="3"/>
              <c:numFmt formatCode="0%" sourceLinked="0"/>
              <c:spPr/>
              <c:txPr>
                <a:bodyPr/>
                <a:lstStyle/>
                <a:p>
                  <a:pPr>
                    <a:defRPr sz="980" b="1" i="0" u="none" strike="noStrike">
                      <a:solidFill>
                        <a:srgbClr val="FFFFFF"/>
                      </a:solidFill>
                      <a:latin typeface="맑은 고딕"/>
                    </a:defRPr>
                  </a:pPr>
                </a:p>
              </c:txPr>
              <c:showLegendKey val="0"/>
              <c:showVal val="0"/>
              <c:showCatName val="1"/>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출석</c:v>
                </c:pt>
                <c:pt idx="1">
                  <c:v>중간시험 개인별 발표</c:v>
                </c:pt>
                <c:pt idx="2">
                  <c:v>기말시험 (실기)</c:v>
                </c:pt>
                <c:pt idx="3">
                  <c:v>과제물, 수업태도</c:v>
                </c:pt>
              </c:strCache>
            </c:strRef>
          </c:cat>
          <c:val>
            <c:numRef>
              <c:f>Sheet1!$B$2:$B$5</c:f>
              <c:numCache>
                <c:ptCount val="4"/>
                <c:pt idx="0">
                  <c:v>20</c:v>
                </c:pt>
                <c:pt idx="1">
                  <c:v>30</c:v>
                </c:pt>
                <c:pt idx="2">
                  <c:v>30</c:v>
                </c:pt>
                <c:pt idx="3">
                  <c:v>20</c:v>
                </c:pt>
              </c:numCache>
            </c:numRef>
          </c:val>
        </c:ser>
        <c:firstSliceAng val="0"/>
        <c:holeSize val="40"/>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창업과 기업가 정신 제1강 오리엔테이션. 창의융합교양학부 정동엽 교수.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원본 1주차 자료에는 없던 신설 페이지. 학생 생성형 AI 사용 지침 6개 항(0~5)을 한 장에 담았다.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5" Type="http://schemas.openxmlformats.org/officeDocument/2006/relationships/hyperlink" Target="mailto:dimajob4u@gmail.com" TargetMode="External"/><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image" Target="../media/image-2-3.png"/><Relationship Id="rId4" Type="http://schemas.openxmlformats.org/officeDocument/2006/relationships/image" Target="../media/image-2-4.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jpe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9-1.jpeg"/><Relationship Id="rId2" Type="http://schemas.openxmlformats.org/officeDocument/2006/relationships/image" Target="../media/image-9-2.jpeg"/><Relationship Id="rId3" Type="http://schemas.openxmlformats.org/officeDocument/2006/relationships/image" Target="../media/image-9-3.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jpe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jpe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4" Type="http://schemas.openxmlformats.org/officeDocument/2006/relationships/hyperlink" Target="mailto:dimajob4u@gmail.com" TargetMode="External"/><Relationship Id="rId1" Type="http://schemas.openxmlformats.org/officeDocument/2006/relationships/image" Target="../media/image-13-1.jpeg"/><Relationship Id="rId2" Type="http://schemas.openxmlformats.org/officeDocument/2006/relationships/image" Target="../media/image-13-2.jpeg"/><Relationship Id="rId3" Type="http://schemas.openxmlformats.org/officeDocument/2006/relationships/image" Target="../media/image-13-3.png"/><Relationship Id="rId5" Type="http://schemas.openxmlformats.org/officeDocument/2006/relationships/image" Target="../media/image-13-4.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4" Type="http://schemas.openxmlformats.org/officeDocument/2006/relationships/hyperlink" Target="https://forms.gle/MFzxxUcyqWbqU7tr6" TargetMode="External"/><Relationship Id="rId1" Type="http://schemas.openxmlformats.org/officeDocument/2006/relationships/image" Target="../media/image-15-1.jpeg"/><Relationship Id="rId2" Type="http://schemas.openxmlformats.org/officeDocument/2006/relationships/image" Target="../media/image-15-2.jpeg"/><Relationship Id="rId3" Type="http://schemas.openxmlformats.org/officeDocument/2006/relationships/image" Target="../media/image-15-3.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4" Type="http://schemas.openxmlformats.org/officeDocument/2006/relationships/hyperlink" Target="mailto:careerdima@gmail.com" TargetMode="External"/><Relationship Id="rId1" Type="http://schemas.openxmlformats.org/officeDocument/2006/relationships/image" Target="../media/image-17-1.jpeg"/><Relationship Id="rId2" Type="http://schemas.openxmlformats.org/officeDocument/2006/relationships/image" Target="../media/image-17-2.jpeg"/><Relationship Id="rId3" Type="http://schemas.openxmlformats.org/officeDocument/2006/relationships/image" Target="../media/image-17-3.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5" Type="http://schemas.openxmlformats.org/officeDocument/2006/relationships/hyperlink" Target="https://forms.gle/puGT1NQXUyzc8ASeA" TargetMode="External"/><Relationship Id="rId1" Type="http://schemas.openxmlformats.org/officeDocument/2006/relationships/image" Target="../media/image-18-1.jpeg"/><Relationship Id="rId2" Type="http://schemas.openxmlformats.org/officeDocument/2006/relationships/image" Target="../media/image-18-2.jpeg"/><Relationship Id="rId3" Type="http://schemas.openxmlformats.org/officeDocument/2006/relationships/image" Target="../media/image-18-3.png"/><Relationship Id="rId4" Type="http://schemas.openxmlformats.org/officeDocument/2006/relationships/image" Target="../media/image-18-4.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jpe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FF0F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970" cy="4933920"/>
          </a:xfrm>
          <a:prstGeom prst="rect">
            <a:avLst/>
          </a:prstGeom>
        </p:spPr>
      </p:pic>
      <p:pic>
        <p:nvPicPr>
          <p:cNvPr id="3" name="Image 1" descr="preencoded.png">    </p:cNvPr>
          <p:cNvPicPr>
            <a:picLocks noChangeAspect="1"/>
          </p:cNvPicPr>
          <p:nvPr/>
        </p:nvPicPr>
        <p:blipFill>
          <a:blip r:embed="rId2"/>
          <a:stretch>
            <a:fillRect/>
          </a:stretch>
        </p:blipFill>
        <p:spPr>
          <a:xfrm>
            <a:off x="0" y="4391040"/>
            <a:ext cx="5333970" cy="438180"/>
          </a:xfrm>
          <a:prstGeom prst="rect">
            <a:avLst/>
          </a:prstGeom>
        </p:spPr>
      </p:pic>
      <p:pic>
        <p:nvPicPr>
          <p:cNvPr id="4" name="Image 2" descr="preencoded.png">    </p:cNvPr>
          <p:cNvPicPr>
            <a:picLocks noChangeAspect="1"/>
          </p:cNvPicPr>
          <p:nvPr/>
        </p:nvPicPr>
        <p:blipFill>
          <a:blip r:embed="rId3"/>
          <a:stretch>
            <a:fillRect/>
          </a:stretch>
        </p:blipFill>
        <p:spPr>
          <a:xfrm>
            <a:off x="8362920" y="2095530"/>
            <a:ext cx="3752880" cy="1343071"/>
          </a:xfrm>
          <a:prstGeom prst="rect">
            <a:avLst/>
          </a:prstGeom>
        </p:spPr>
      </p:pic>
      <p:sp>
        <p:nvSpPr>
          <p:cNvPr id="5" name="Text 0"/>
          <p:cNvSpPr/>
          <p:nvPr/>
        </p:nvSpPr>
        <p:spPr>
          <a:xfrm>
            <a:off x="533370" y="1809780"/>
            <a:ext cx="6667530" cy="361920"/>
          </a:xfrm>
          <a:prstGeom prst="rect">
            <a:avLst/>
          </a:prstGeom>
          <a:noFill/>
          <a:ln/>
        </p:spPr>
        <p:txBody>
          <a:bodyPr wrap="square" lIns="0" tIns="0" rIns="0" bIns="0" rtlCol="0" anchor="t"/>
          <a:lstStyle/>
          <a:p>
            <a:pPr indent="0" marL="0">
              <a:buNone/>
            </a:pPr>
            <a:r>
              <a:rPr lang="en-US" sz="1950" b="1" dirty="0">
                <a:solidFill>
                  <a:srgbClr val="D8ECF9"/>
                </a:solidFill>
                <a:latin typeface="맑은 고딕" pitchFamily="34" charset="0"/>
                <a:ea typeface="맑은 고딕" pitchFamily="34" charset="-122"/>
                <a:cs typeface="맑은 고딕" pitchFamily="34" charset="-120"/>
              </a:rPr>
              <a:t>창업과 기업가 정신</a:t>
            </a:r>
            <a:endParaRPr lang="en-US" sz="1950" dirty="0"/>
          </a:p>
        </p:txBody>
      </p:sp>
      <p:sp>
        <p:nvSpPr>
          <p:cNvPr id="6" name="Text 1"/>
          <p:cNvSpPr/>
          <p:nvPr/>
        </p:nvSpPr>
        <p:spPr>
          <a:xfrm>
            <a:off x="533370" y="2209830"/>
            <a:ext cx="7239030" cy="800100"/>
          </a:xfrm>
          <a:prstGeom prst="rect">
            <a:avLst/>
          </a:prstGeom>
          <a:noFill/>
          <a:ln/>
        </p:spPr>
        <p:txBody>
          <a:bodyPr wrap="square" lIns="0" tIns="0" rIns="0" bIns="0" rtlCol="0" anchor="t"/>
          <a:lstStyle/>
          <a:p>
            <a:pPr indent="0" marL="0">
              <a:buNone/>
            </a:pPr>
            <a:r>
              <a:rPr lang="en-US" sz="4500" b="1" dirty="0">
                <a:solidFill>
                  <a:srgbClr val="FFFFFF"/>
                </a:solidFill>
                <a:latin typeface="맑은 고딕" pitchFamily="34" charset="0"/>
                <a:ea typeface="맑은 고딕" pitchFamily="34" charset="-122"/>
                <a:cs typeface="맑은 고딕" pitchFamily="34" charset="-120"/>
              </a:rPr>
              <a:t>제1강  오리엔테이션</a:t>
            </a:r>
            <a:endParaRPr lang="en-US" sz="4500" dirty="0"/>
          </a:p>
        </p:txBody>
      </p:sp>
      <p:sp>
        <p:nvSpPr>
          <p:cNvPr id="7" name="Text 2"/>
          <p:cNvSpPr/>
          <p:nvPr/>
        </p:nvSpPr>
        <p:spPr>
          <a:xfrm>
            <a:off x="6667530" y="5391120"/>
            <a:ext cx="5200650" cy="304770"/>
          </a:xfrm>
          <a:prstGeom prst="rect">
            <a:avLst/>
          </a:prstGeom>
          <a:noFill/>
          <a:ln/>
        </p:spPr>
        <p:txBody>
          <a:bodyPr wrap="square" lIns="0" tIns="0" rIns="0" bIns="0" rtlCol="0" anchor="t"/>
          <a:lstStyle/>
          <a:p>
            <a:pPr algn="r" indent="0" marL="0">
              <a:buNone/>
            </a:pPr>
            <a:r>
              <a:rPr lang="en-US" sz="1650" b="1" dirty="0">
                <a:solidFill>
                  <a:srgbClr val="17365D"/>
                </a:solidFill>
                <a:latin typeface="맑은 고딕" pitchFamily="34" charset="0"/>
                <a:ea typeface="맑은 고딕" pitchFamily="34" charset="-122"/>
                <a:cs typeface="맑은 고딕" pitchFamily="34" charset="-120"/>
              </a:rPr>
              <a:t>창의융합교양학부</a:t>
            </a:r>
            <a:endParaRPr lang="en-US" sz="1650" dirty="0"/>
          </a:p>
        </p:txBody>
      </p:sp>
      <p:sp>
        <p:nvSpPr>
          <p:cNvPr id="8" name="Text 3"/>
          <p:cNvSpPr/>
          <p:nvPr/>
        </p:nvSpPr>
        <p:spPr>
          <a:xfrm>
            <a:off x="6667530" y="6000750"/>
            <a:ext cx="5200650" cy="304770"/>
          </a:xfrm>
          <a:prstGeom prst="rect">
            <a:avLst/>
          </a:prstGeom>
          <a:noFill/>
          <a:ln/>
        </p:spPr>
        <p:txBody>
          <a:bodyPr wrap="square" lIns="0" tIns="0" rIns="0" bIns="0" rtlCol="0" anchor="t"/>
          <a:lstStyle/>
          <a:p>
            <a:pPr algn="r" indent="0" marL="0">
              <a:buNone/>
            </a:pPr>
            <a:r>
              <a:rPr lang="en-US" sz="1650" b="1" dirty="0">
                <a:solidFill>
                  <a:srgbClr val="17365D"/>
                </a:solidFill>
                <a:latin typeface="맑은 고딕" pitchFamily="34" charset="0"/>
                <a:ea typeface="맑은 고딕" pitchFamily="34" charset="-122"/>
                <a:cs typeface="맑은 고딕" pitchFamily="34" charset="-120"/>
              </a:rPr>
              <a:t>정동엽 교수</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F0F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590520"/>
            <a:ext cx="12191970" cy="6267480"/>
          </a:xfrm>
          <a:prstGeom prst="rect">
            <a:avLst/>
          </a:prstGeom>
        </p:spPr>
      </p:pic>
      <p:pic>
        <p:nvPicPr>
          <p:cNvPr id="3" name="Image 1" descr="preencoded.png">    </p:cNvPr>
          <p:cNvPicPr>
            <a:picLocks noChangeAspect="1"/>
          </p:cNvPicPr>
          <p:nvPr/>
        </p:nvPicPr>
        <p:blipFill>
          <a:blip r:embed="rId2"/>
          <a:stretch>
            <a:fillRect/>
          </a:stretch>
        </p:blipFill>
        <p:spPr>
          <a:xfrm>
            <a:off x="0" y="0"/>
            <a:ext cx="12191970" cy="590520"/>
          </a:xfrm>
          <a:prstGeom prst="rect">
            <a:avLst/>
          </a:prstGeom>
        </p:spPr>
      </p:pic>
      <p:sp>
        <p:nvSpPr>
          <p:cNvPr id="4" name="Shape 0"/>
          <p:cNvSpPr/>
          <p:nvPr/>
        </p:nvSpPr>
        <p:spPr>
          <a:xfrm>
            <a:off x="438180" y="85771"/>
            <a:ext cx="3924330" cy="419070"/>
          </a:xfrm>
          <a:prstGeom prst="rect">
            <a:avLst/>
          </a:prstGeom>
          <a:solidFill>
            <a:srgbClr val="0B4E8A">
              <a:alpha val="66000"/>
            </a:srgbClr>
          </a:solidFill>
          <a:ln/>
        </p:spPr>
      </p:sp>
      <p:sp>
        <p:nvSpPr>
          <p:cNvPr id="5" name="Text 1"/>
          <p:cNvSpPr/>
          <p:nvPr/>
        </p:nvSpPr>
        <p:spPr>
          <a:xfrm>
            <a:off x="438180" y="85771"/>
            <a:ext cx="3924330" cy="419070"/>
          </a:xfrm>
          <a:prstGeom prst="rect">
            <a:avLst/>
          </a:prstGeom>
          <a:noFill/>
          <a:ln/>
        </p:spPr>
        <p:txBody>
          <a:bodyPr wrap="square" lIns="0" tIns="0" rIns="0" bIns="0" rtlCol="0" anchor="ctr"/>
          <a:lstStyle/>
          <a:p>
            <a:pPr algn="ctr" indent="0" marL="0">
              <a:buNone/>
            </a:pPr>
            <a:r>
              <a:rPr lang="en-US" sz="1950" b="1" dirty="0">
                <a:solidFill>
                  <a:srgbClr val="FFF100"/>
                </a:solidFill>
                <a:latin typeface="맑은 고딕" pitchFamily="34" charset="0"/>
                <a:ea typeface="맑은 고딕" pitchFamily="34" charset="-122"/>
                <a:cs typeface="맑은 고딕" pitchFamily="34" charset="-120"/>
              </a:rPr>
              <a:t>여러분과 함께 하는 저는?</a:t>
            </a:r>
            <a:endParaRPr lang="en-US" sz="1950" dirty="0"/>
          </a:p>
        </p:txBody>
      </p:sp>
      <p:pic>
        <p:nvPicPr>
          <p:cNvPr id="6" name="Image 2" descr="preencoded.png">    </p:cNvPr>
          <p:cNvPicPr>
            <a:picLocks noChangeAspect="1"/>
          </p:cNvPicPr>
          <p:nvPr/>
        </p:nvPicPr>
        <p:blipFill>
          <a:blip r:embed="rId3"/>
          <a:stretch>
            <a:fillRect/>
          </a:stretch>
        </p:blipFill>
        <p:spPr>
          <a:xfrm>
            <a:off x="10325130" y="76170"/>
            <a:ext cx="1619220" cy="438180"/>
          </a:xfrm>
          <a:prstGeom prst="rect">
            <a:avLst/>
          </a:prstGeom>
        </p:spPr>
      </p:pic>
      <p:sp>
        <p:nvSpPr>
          <p:cNvPr id="7" name="Text 2"/>
          <p:cNvSpPr/>
          <p:nvPr/>
        </p:nvSpPr>
        <p:spPr>
          <a:xfrm>
            <a:off x="0" y="6591270"/>
            <a:ext cx="12191970" cy="190470"/>
          </a:xfrm>
          <a:prstGeom prst="rect">
            <a:avLst/>
          </a:prstGeom>
          <a:noFill/>
          <a:ln/>
        </p:spPr>
        <p:txBody>
          <a:bodyPr wrap="square" lIns="0" tIns="0" rIns="0" bIns="0" rtlCol="0" anchor="t"/>
          <a:lstStyle/>
          <a:p>
            <a:pPr algn="ctr" indent="0" marL="0">
              <a:buNone/>
            </a:pPr>
            <a:r>
              <a:rPr lang="en-US" sz="1130" dirty="0">
                <a:solidFill>
                  <a:srgbClr val="8A8F96"/>
                </a:solidFill>
                <a:latin typeface="Arial" pitchFamily="34" charset="0"/>
                <a:ea typeface="Arial" pitchFamily="34" charset="-122"/>
                <a:cs typeface="Arial" pitchFamily="34" charset="-120"/>
              </a:rPr>
              <a:t>2</a:t>
            </a:r>
            <a:endParaRPr lang="en-US" sz="1130" dirty="0"/>
          </a:p>
        </p:txBody>
      </p:sp>
      <p:pic>
        <p:nvPicPr>
          <p:cNvPr id="8" name="Image 3" descr="preencoded.png">    </p:cNvPr>
          <p:cNvPicPr>
            <a:picLocks noChangeAspect="1"/>
          </p:cNvPicPr>
          <p:nvPr/>
        </p:nvPicPr>
        <p:blipFill>
          <a:blip r:embed="rId4"/>
          <a:stretch>
            <a:fillRect/>
          </a:stretch>
        </p:blipFill>
        <p:spPr>
          <a:xfrm>
            <a:off x="781080" y="781080"/>
            <a:ext cx="1676370" cy="1676370"/>
          </a:xfrm>
          <a:prstGeom prst="rect">
            <a:avLst/>
          </a:prstGeom>
        </p:spPr>
      </p:pic>
      <p:sp>
        <p:nvSpPr>
          <p:cNvPr id="9" name="Text 3"/>
          <p:cNvSpPr/>
          <p:nvPr/>
        </p:nvSpPr>
        <p:spPr>
          <a:xfrm>
            <a:off x="495330" y="2647920"/>
            <a:ext cx="2247870" cy="438180"/>
          </a:xfrm>
          <a:prstGeom prst="rect">
            <a:avLst/>
          </a:prstGeom>
          <a:noFill/>
          <a:ln/>
        </p:spPr>
        <p:txBody>
          <a:bodyPr wrap="square" lIns="0" tIns="0" rIns="0" bIns="0" rtlCol="0" anchor="t"/>
          <a:lstStyle/>
          <a:p>
            <a:pPr algn="ctr" indent="0" marL="0">
              <a:buNone/>
            </a:pPr>
            <a:r>
              <a:rPr lang="en-US" sz="2850" b="1" spc="800" kern="0" dirty="0">
                <a:solidFill>
                  <a:srgbClr val="17365D"/>
                </a:solidFill>
                <a:latin typeface="맑은 고딕" pitchFamily="34" charset="0"/>
                <a:ea typeface="맑은 고딕" pitchFamily="34" charset="-122"/>
                <a:cs typeface="맑은 고딕" pitchFamily="34" charset="-120"/>
              </a:rPr>
              <a:t>정 동 엽</a:t>
            </a:r>
            <a:endParaRPr lang="en-US" sz="2850" dirty="0"/>
          </a:p>
        </p:txBody>
      </p:sp>
      <p:sp>
        <p:nvSpPr>
          <p:cNvPr id="10" name="Text 4"/>
          <p:cNvSpPr/>
          <p:nvPr/>
        </p:nvSpPr>
        <p:spPr>
          <a:xfrm>
            <a:off x="495330" y="3105120"/>
            <a:ext cx="2247870" cy="228600"/>
          </a:xfrm>
          <a:prstGeom prst="rect">
            <a:avLst/>
          </a:prstGeom>
          <a:noFill/>
          <a:ln/>
        </p:spPr>
        <p:txBody>
          <a:bodyPr wrap="square" lIns="0" tIns="0" rIns="0" bIns="0" rtlCol="0" anchor="t"/>
          <a:lstStyle/>
          <a:p>
            <a:pPr algn="ctr" indent="0" marL="0">
              <a:buNone/>
            </a:pPr>
            <a:r>
              <a:rPr lang="en-US" sz="1280" b="1" dirty="0">
                <a:solidFill>
                  <a:srgbClr val="005BAC"/>
                </a:solidFill>
                <a:latin typeface="맑은 고딕" pitchFamily="34" charset="0"/>
                <a:ea typeface="맑은 고딕" pitchFamily="34" charset="-122"/>
                <a:cs typeface="맑은 고딕" pitchFamily="34" charset="-120"/>
              </a:rPr>
              <a:t>창의융합교양학부</a:t>
            </a:r>
            <a:endParaRPr lang="en-US" sz="1280" dirty="0"/>
          </a:p>
        </p:txBody>
      </p:sp>
      <p:sp>
        <p:nvSpPr>
          <p:cNvPr id="11" name="Text 5">
            <a:hlinkClick r:id="rId5" tooltip=""/>
          </p:cNvPr>
          <p:cNvSpPr/>
          <p:nvPr/>
        </p:nvSpPr>
        <p:spPr>
          <a:xfrm>
            <a:off x="495330" y="3409980"/>
            <a:ext cx="2247870" cy="209580"/>
          </a:xfrm>
          <a:prstGeom prst="rect">
            <a:avLst/>
          </a:prstGeom>
          <a:noFill/>
          <a:ln/>
        </p:spPr>
        <p:txBody>
          <a:bodyPr wrap="square" lIns="0" tIns="0" rIns="0" bIns="0" rtlCol="0" anchor="t"/>
          <a:lstStyle/>
          <a:p>
            <a:pPr algn="ctr" indent="0" marL="0">
              <a:buNone/>
            </a:pPr>
            <a:r>
              <a:rPr lang="en-US" sz="1130" u="sng" dirty="0">
                <a:solidFill>
                  <a:srgbClr val="005BAC"/>
                </a:solidFill>
                <a:latin typeface="맑은 고딕" pitchFamily="34" charset="0"/>
                <a:ea typeface="맑은 고딕" pitchFamily="34" charset="-122"/>
                <a:cs typeface="맑은 고딕" pitchFamily="34" charset="-120"/>
                <a:hlinkClick r:id="rId5" invalidUrl="" action="" tgtFrame="" tooltip="" history="1" highlightClick="0" endSnd="0">
                  <a:extLst>
                    <a:ext uri="{A12FA001-AC4F-418D-AE19-62706E023703}">
                      <ahyp:hlinkClr xmlns:ahyp="http://schemas.microsoft.com/office/drawing/2018/hyperlinkcolor" val="tx"/>
                    </a:ext>
                  </a:extLst>
                </a:hlinkClick>
              </a:rPr>
              <a:t>dimajob4u@gmail.com</a:t>
            </a:r>
            <a:endParaRPr lang="en-US" sz="1130" dirty="0"/>
          </a:p>
        </p:txBody>
      </p:sp>
      <p:sp>
        <p:nvSpPr>
          <p:cNvPr id="12" name="Text 6"/>
          <p:cNvSpPr/>
          <p:nvPr/>
        </p:nvSpPr>
        <p:spPr>
          <a:xfrm>
            <a:off x="3009930" y="800100"/>
            <a:ext cx="4305270" cy="5333970"/>
          </a:xfrm>
          <a:prstGeom prst="rect">
            <a:avLst/>
          </a:prstGeom>
          <a:noFill/>
          <a:ln/>
        </p:spPr>
        <p:txBody>
          <a:bodyPr wrap="square" lIns="0" tIns="0" rIns="0" bIns="0" rtlCol="0" anchor="t"/>
          <a:lstStyle/>
          <a:p>
            <a:pPr marL="342900" indent="-342900">
              <a:lnSpc>
                <a:spcPct val="130000"/>
              </a:lnSpc>
              <a:spcAft>
                <a:spcPts val="980"/>
              </a:spcAft>
              <a:buSzPct val="100000"/>
              <a:buChar char="•"/>
            </a:pPr>
            <a:r>
              <a:rPr lang="en-US" sz="1350" dirty="0">
                <a:solidFill>
                  <a:srgbClr val="3B3838"/>
                </a:solidFill>
                <a:latin typeface="맑은 고딕" pitchFamily="34" charset="0"/>
                <a:ea typeface="맑은 고딕" pitchFamily="34" charset="-122"/>
                <a:cs typeface="맑은 고딕" pitchFamily="34" charset="-120"/>
              </a:rPr>
              <a:t>아시아퓨처스그룹 사무국장</a:t>
            </a:r>
            <a:endParaRPr lang="en-US" sz="1350" dirty="0"/>
          </a:p>
          <a:p>
            <a:pPr marL="342900" indent="-342900">
              <a:lnSpc>
                <a:spcPct val="130000"/>
              </a:lnSpc>
              <a:spcAft>
                <a:spcPts val="980"/>
              </a:spcAft>
              <a:buSzPct val="100000"/>
              <a:buChar char="•"/>
            </a:pPr>
            <a:r>
              <a:rPr lang="en-US" sz="1350" dirty="0">
                <a:solidFill>
                  <a:srgbClr val="3B3838"/>
                </a:solidFill>
                <a:latin typeface="맑은 고딕" pitchFamily="34" charset="0"/>
                <a:ea typeface="맑은 고딕" pitchFamily="34" charset="-122"/>
                <a:cs typeface="맑은 고딕" pitchFamily="34" charset="-120"/>
              </a:rPr>
              <a:t>아시아미래인재연구소 (前)교육실장 및 전문연구원</a:t>
            </a:r>
            <a:endParaRPr lang="en-US" sz="1350" dirty="0"/>
          </a:p>
          <a:p>
            <a:pPr marL="342900" indent="-342900">
              <a:lnSpc>
                <a:spcPct val="130000"/>
              </a:lnSpc>
              <a:spcAft>
                <a:spcPts val="980"/>
              </a:spcAft>
              <a:buSzPct val="100000"/>
              <a:buChar char="•"/>
            </a:pPr>
            <a:r>
              <a:rPr lang="en-US" sz="1350" dirty="0">
                <a:solidFill>
                  <a:srgbClr val="3B3838"/>
                </a:solidFill>
                <a:latin typeface="맑은 고딕" pitchFamily="34" charset="0"/>
                <a:ea typeface="맑은 고딕" pitchFamily="34" charset="-122"/>
                <a:cs typeface="맑은 고딕" pitchFamily="34" charset="-120"/>
              </a:rPr>
              <a:t>경기대학교 일반대학원 직업학과 박사수료</a:t>
            </a:r>
            <a:endParaRPr lang="en-US" sz="1350" dirty="0"/>
          </a:p>
          <a:p>
            <a:pPr marL="342900" indent="-342900">
              <a:lnSpc>
                <a:spcPct val="130000"/>
              </a:lnSpc>
              <a:spcAft>
                <a:spcPts val="980"/>
              </a:spcAft>
              <a:buSzPct val="100000"/>
              <a:buChar char="•"/>
            </a:pPr>
            <a:r>
              <a:rPr lang="en-US" sz="1350" dirty="0">
                <a:solidFill>
                  <a:srgbClr val="3B3838"/>
                </a:solidFill>
                <a:latin typeface="맑은 고딕" pitchFamily="34" charset="0"/>
                <a:ea typeface="맑은 고딕" pitchFamily="34" charset="-122"/>
                <a:cs typeface="맑은 고딕" pitchFamily="34" charset="-120"/>
              </a:rPr>
              <a:t>가천대학교 경영대학원 고용 및 직업상담학과 석사</a:t>
            </a:r>
            <a:endParaRPr lang="en-US" sz="1350" dirty="0"/>
          </a:p>
          <a:p>
            <a:pPr marL="342900" indent="-342900">
              <a:lnSpc>
                <a:spcPct val="130000"/>
              </a:lnSpc>
              <a:spcAft>
                <a:spcPts val="980"/>
              </a:spcAft>
              <a:buSzPct val="100000"/>
              <a:buChar char="•"/>
            </a:pPr>
            <a:r>
              <a:rPr lang="en-US" sz="1350" dirty="0">
                <a:solidFill>
                  <a:srgbClr val="3B3838"/>
                </a:solidFill>
                <a:latin typeface="맑은 고딕" pitchFamily="34" charset="0"/>
                <a:ea typeface="맑은 고딕" pitchFamily="34" charset="-122"/>
                <a:cs typeface="맑은 고딕" pitchFamily="34" charset="-120"/>
              </a:rPr>
              <a:t>한국기술교육대학교 능력개발원 </a:t>
            </a:r>
            <a:pPr indent="0" marL="0">
              <a:lnSpc>
                <a:spcPct val="130000"/>
              </a:lnSpc>
              <a:spcAft>
                <a:spcPts val="980"/>
              </a:spcAft>
              <a:buNone/>
            </a:pPr>
            <a:r>
              <a:rPr lang="en-US" sz="1350" b="1" dirty="0">
                <a:solidFill>
                  <a:srgbClr val="3B3838"/>
                </a:solidFill>
                <a:latin typeface="맑은 고딕" pitchFamily="34" charset="0"/>
                <a:ea typeface="맑은 고딕" pitchFamily="34" charset="-122"/>
                <a:cs typeface="맑은 고딕" pitchFamily="34" charset="-120"/>
              </a:rPr>
              <a:t>4차 산업혁명과 일/직업의 변화</a:t>
            </a:r>
            <a:pPr indent="0" marL="0">
              <a:lnSpc>
                <a:spcPct val="130000"/>
              </a:lnSpc>
              <a:spcAft>
                <a:spcPts val="980"/>
              </a:spcAft>
              <a:buNone/>
            </a:pPr>
            <a:r>
              <a:rPr lang="en-US" sz="1350" dirty="0">
                <a:solidFill>
                  <a:srgbClr val="3B3838"/>
                </a:solidFill>
                <a:latin typeface="맑은 고딕" pitchFamily="34" charset="0"/>
                <a:ea typeface="맑은 고딕" pitchFamily="34" charset="-122"/>
                <a:cs typeface="맑은 고딕" pitchFamily="34" charset="-120"/>
              </a:rPr>
              <a:t> 교수</a:t>
            </a:r>
            <a:endParaRPr lang="en-US" sz="1350" dirty="0"/>
          </a:p>
          <a:p>
            <a:pPr marL="342900" indent="-342900">
              <a:lnSpc>
                <a:spcPct val="130000"/>
              </a:lnSpc>
              <a:spcAft>
                <a:spcPts val="980"/>
              </a:spcAft>
              <a:buSzPct val="100000"/>
              <a:buChar char="•"/>
            </a:pPr>
            <a:r>
              <a:rPr lang="en-US" sz="1350" b="1" dirty="0">
                <a:solidFill>
                  <a:srgbClr val="3B3838"/>
                </a:solidFill>
                <a:latin typeface="맑은 고딕" pitchFamily="34" charset="0"/>
                <a:ea typeface="맑은 고딕" pitchFamily="34" charset="-122"/>
                <a:cs typeface="맑은 고딕" pitchFamily="34" charset="-120"/>
              </a:rPr>
              <a:t>서울산업진흥원 신직업전문컨설턴트 및 자문위원, 창업 닥터(2013~2020년)</a:t>
            </a:r>
            <a:endParaRPr lang="en-US" sz="1350" dirty="0"/>
          </a:p>
          <a:p>
            <a:pPr marL="342900" indent="-342900">
              <a:lnSpc>
                <a:spcPct val="130000"/>
              </a:lnSpc>
              <a:spcAft>
                <a:spcPts val="980"/>
              </a:spcAft>
              <a:buSzPct val="100000"/>
              <a:buChar char="•"/>
            </a:pPr>
            <a:r>
              <a:rPr lang="en-US" sz="1350" dirty="0">
                <a:solidFill>
                  <a:srgbClr val="3B3838"/>
                </a:solidFill>
                <a:latin typeface="맑은 고딕" pitchFamily="34" charset="0"/>
                <a:ea typeface="맑은 고딕" pitchFamily="34" charset="-122"/>
                <a:cs typeface="맑은 고딕" pitchFamily="34" charset="-120"/>
              </a:rPr>
              <a:t>고용노동부 직업심리 전문가(성인, 청소년, 대학생)</a:t>
            </a:r>
            <a:endParaRPr lang="en-US" sz="1350" dirty="0"/>
          </a:p>
        </p:txBody>
      </p:sp>
      <p:sp>
        <p:nvSpPr>
          <p:cNvPr id="13" name="Text 7"/>
          <p:cNvSpPr/>
          <p:nvPr/>
        </p:nvSpPr>
        <p:spPr>
          <a:xfrm>
            <a:off x="7524780" y="800100"/>
            <a:ext cx="4343400" cy="5333970"/>
          </a:xfrm>
          <a:prstGeom prst="rect">
            <a:avLst/>
          </a:prstGeom>
          <a:noFill/>
          <a:ln/>
        </p:spPr>
        <p:txBody>
          <a:bodyPr wrap="square" lIns="0" tIns="0" rIns="0" bIns="0" rtlCol="0" anchor="t"/>
          <a:lstStyle/>
          <a:p>
            <a:pPr marL="342900" indent="-342900">
              <a:lnSpc>
                <a:spcPct val="130000"/>
              </a:lnSpc>
              <a:spcAft>
                <a:spcPts val="980"/>
              </a:spcAft>
              <a:buSzPct val="100000"/>
              <a:buChar char="•"/>
            </a:pPr>
            <a:r>
              <a:rPr lang="en-US" sz="1350" dirty="0">
                <a:solidFill>
                  <a:srgbClr val="3B3838"/>
                </a:solidFill>
                <a:latin typeface="맑은 고딕" pitchFamily="34" charset="0"/>
                <a:ea typeface="맑은 고딕" pitchFamily="34" charset="-122"/>
                <a:cs typeface="맑은 고딕" pitchFamily="34" charset="-120"/>
              </a:rPr>
              <a:t>고용노동부 온라인직업심리 전문가</a:t>
            </a:r>
            <a:pPr indent="0" marL="0">
              <a:lnSpc>
                <a:spcPct val="130000"/>
              </a:lnSpc>
              <a:spcAft>
                <a:spcPts val="980"/>
              </a:spcAft>
              <a:buNone/>
            </a:pPr>
            <a:r>
              <a:rPr lang="en-US" sz="1350" b="1" dirty="0">
                <a:solidFill>
                  <a:srgbClr val="3B3838"/>
                </a:solidFill>
                <a:latin typeface="맑은 고딕" pitchFamily="34" charset="0"/>
                <a:ea typeface="맑은 고딕" pitchFamily="34" charset="-122"/>
                <a:cs typeface="맑은 고딕" pitchFamily="34" charset="-120"/>
              </a:rPr>
              <a:t>(청소년)</a:t>
            </a:r>
            <a:endParaRPr lang="en-US" sz="1350" dirty="0"/>
          </a:p>
          <a:p>
            <a:pPr marL="342900" indent="-342900">
              <a:lnSpc>
                <a:spcPct val="130000"/>
              </a:lnSpc>
              <a:spcAft>
                <a:spcPts val="980"/>
              </a:spcAft>
              <a:buSzPct val="100000"/>
              <a:buChar char="•"/>
            </a:pPr>
            <a:r>
              <a:rPr lang="en-US" sz="1350" dirty="0">
                <a:solidFill>
                  <a:srgbClr val="3B3838"/>
                </a:solidFill>
                <a:latin typeface="맑은 고딕" pitchFamily="34" charset="0"/>
                <a:ea typeface="맑은 고딕" pitchFamily="34" charset="-122"/>
                <a:cs typeface="맑은 고딕" pitchFamily="34" charset="-120"/>
              </a:rPr>
              <a:t>미래학기반 커리어 컨설턴트</a:t>
            </a:r>
            <a:endParaRPr lang="en-US" sz="1350" dirty="0"/>
          </a:p>
          <a:p>
            <a:pPr marL="342900" indent="-342900">
              <a:lnSpc>
                <a:spcPct val="130000"/>
              </a:lnSpc>
              <a:spcAft>
                <a:spcPts val="980"/>
              </a:spcAft>
              <a:buSzPct val="100000"/>
              <a:buChar char="•"/>
            </a:pPr>
            <a:r>
              <a:rPr lang="en-US" sz="1350" dirty="0">
                <a:solidFill>
                  <a:srgbClr val="3B3838"/>
                </a:solidFill>
                <a:latin typeface="맑은 고딕" pitchFamily="34" charset="0"/>
                <a:ea typeface="맑은 고딕" pitchFamily="34" charset="-122"/>
                <a:cs typeface="맑은 고딕" pitchFamily="34" charset="-120"/>
              </a:rPr>
              <a:t>IT업계 20년 근무(교학사, 삼보컴퓨터 등에서 교육정보화 관련 컨설팅 업무 진행)</a:t>
            </a:r>
            <a:endParaRPr lang="en-US" sz="1350" dirty="0"/>
          </a:p>
          <a:p>
            <a:pPr marL="342900" indent="-342900">
              <a:lnSpc>
                <a:spcPct val="130000"/>
              </a:lnSpc>
              <a:spcAft>
                <a:spcPts val="980"/>
              </a:spcAft>
              <a:buSzPct val="100000"/>
              <a:buChar char="•"/>
            </a:pPr>
            <a:r>
              <a:rPr lang="en-US" sz="1350" b="1" dirty="0">
                <a:solidFill>
                  <a:srgbClr val="3B3838"/>
                </a:solidFill>
                <a:latin typeface="맑은 고딕" pitchFamily="34" charset="0"/>
                <a:ea typeface="맑은 고딕" pitchFamily="34" charset="-122"/>
                <a:cs typeface="맑은 고딕" pitchFamily="34" charset="-120"/>
              </a:rPr>
              <a:t>한국어교원 2급(문화체육관광부)</a:t>
            </a:r>
            <a:endParaRPr lang="en-US" sz="1350" dirty="0"/>
          </a:p>
          <a:p>
            <a:pPr marL="342900" indent="-342900">
              <a:lnSpc>
                <a:spcPct val="130000"/>
              </a:lnSpc>
              <a:spcAft>
                <a:spcPts val="980"/>
              </a:spcAft>
              <a:buSzPct val="100000"/>
              <a:buChar char="•"/>
            </a:pPr>
            <a:r>
              <a:rPr lang="en-US" sz="1350" b="1" dirty="0">
                <a:solidFill>
                  <a:srgbClr val="3B3838"/>
                </a:solidFill>
                <a:latin typeface="맑은 고딕" pitchFamily="34" charset="0"/>
                <a:ea typeface="맑은 고딕" pitchFamily="34" charset="-122"/>
                <a:cs typeface="맑은 고딕" pitchFamily="34" charset="-120"/>
              </a:rPr>
              <a:t>고용노동부 직업훈련교사 3급(마케팅, 정보기술전략·계획)</a:t>
            </a:r>
            <a:endParaRPr lang="en-US" sz="1350" dirty="0"/>
          </a:p>
          <a:p>
            <a:pPr marL="342900" indent="-342900">
              <a:lnSpc>
                <a:spcPct val="130000"/>
              </a:lnSpc>
              <a:spcAft>
                <a:spcPts val="980"/>
              </a:spcAft>
              <a:buSzPct val="100000"/>
              <a:buChar char="•"/>
            </a:pPr>
            <a:r>
              <a:rPr lang="en-US" sz="1350" dirty="0">
                <a:solidFill>
                  <a:srgbClr val="3B3838"/>
                </a:solidFill>
                <a:latin typeface="맑은 고딕" pitchFamily="34" charset="0"/>
                <a:ea typeface="맑은 고딕" pitchFamily="34" charset="-122"/>
                <a:cs typeface="맑은 고딕" pitchFamily="34" charset="-120"/>
              </a:rPr>
              <a:t>모금전문가, 평생교육사, 사회복지사</a:t>
            </a:r>
            <a:endParaRPr lang="en-US" sz="1350" dirty="0"/>
          </a:p>
          <a:p>
            <a:pPr marL="342900" indent="-342900">
              <a:lnSpc>
                <a:spcPct val="130000"/>
              </a:lnSpc>
              <a:spcAft>
                <a:spcPts val="980"/>
              </a:spcAft>
              <a:buSzPct val="100000"/>
              <a:buChar char="•"/>
            </a:pPr>
            <a:r>
              <a:rPr lang="en-US" sz="1350" dirty="0">
                <a:solidFill>
                  <a:srgbClr val="3B3838"/>
                </a:solidFill>
                <a:latin typeface="맑은 고딕" pitchFamily="34" charset="0"/>
                <a:ea typeface="맑은 고딕" pitchFamily="34" charset="-122"/>
                <a:cs typeface="맑은 고딕" pitchFamily="34" charset="-120"/>
              </a:rPr>
              <a:t>국제공인NLP Practitioner</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FF0F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970" cy="6858000"/>
          </a:xfrm>
          <a:prstGeom prst="rect">
            <a:avLst/>
          </a:prstGeom>
        </p:spPr>
      </p:pic>
      <p:pic>
        <p:nvPicPr>
          <p:cNvPr id="3" name="Image 1" descr="preencoded.png">    </p:cNvPr>
          <p:cNvPicPr>
            <a:picLocks noChangeAspect="1"/>
          </p:cNvPicPr>
          <p:nvPr/>
        </p:nvPicPr>
        <p:blipFill>
          <a:blip r:embed="rId2"/>
          <a:stretch>
            <a:fillRect/>
          </a:stretch>
        </p:blipFill>
        <p:spPr>
          <a:xfrm>
            <a:off x="0" y="0"/>
            <a:ext cx="12191970" cy="628650"/>
          </a:xfrm>
          <a:prstGeom prst="rect">
            <a:avLst/>
          </a:prstGeom>
        </p:spPr>
      </p:pic>
      <p:pic>
        <p:nvPicPr>
          <p:cNvPr id="4" name="Image 2" descr="preencoded.png">    </p:cNvPr>
          <p:cNvPicPr>
            <a:picLocks noChangeAspect="1"/>
          </p:cNvPicPr>
          <p:nvPr/>
        </p:nvPicPr>
        <p:blipFill>
          <a:blip r:embed="rId3"/>
          <a:stretch>
            <a:fillRect/>
          </a:stretch>
        </p:blipFill>
        <p:spPr>
          <a:xfrm>
            <a:off x="10325130" y="95280"/>
            <a:ext cx="1619220" cy="438180"/>
          </a:xfrm>
          <a:prstGeom prst="rect">
            <a:avLst/>
          </a:prstGeom>
        </p:spPr>
      </p:pic>
      <p:sp>
        <p:nvSpPr>
          <p:cNvPr id="5" name="Text 0"/>
          <p:cNvSpPr/>
          <p:nvPr/>
        </p:nvSpPr>
        <p:spPr>
          <a:xfrm>
            <a:off x="533370" y="914400"/>
            <a:ext cx="6667530" cy="457200"/>
          </a:xfrm>
          <a:prstGeom prst="rect">
            <a:avLst/>
          </a:prstGeom>
          <a:noFill/>
          <a:ln/>
        </p:spPr>
        <p:txBody>
          <a:bodyPr wrap="square" lIns="0" tIns="0" rIns="0" bIns="0" rtlCol="0" anchor="t"/>
          <a:lstStyle/>
          <a:p>
            <a:pPr indent="0" marL="0">
              <a:buNone/>
            </a:pPr>
            <a:r>
              <a:rPr lang="en-US" sz="2700" dirty="0">
                <a:solidFill>
                  <a:srgbClr val="63666B"/>
                </a:solidFill>
                <a:latin typeface="맑은 고딕" pitchFamily="34" charset="0"/>
                <a:ea typeface="맑은 고딕" pitchFamily="34" charset="-122"/>
                <a:cs typeface="맑은 고딕" pitchFamily="34" charset="-120"/>
              </a:rPr>
              <a:t>목차   </a:t>
            </a:r>
            <a:pPr indent="0" marL="0">
              <a:buNone/>
            </a:pPr>
            <a:r>
              <a:rPr lang="en-US" sz="2700" dirty="0">
                <a:solidFill>
                  <a:srgbClr val="9DC3E6"/>
                </a:solidFill>
                <a:latin typeface="맑은 고딕" pitchFamily="34" charset="0"/>
                <a:ea typeface="맑은 고딕" pitchFamily="34" charset="-122"/>
                <a:cs typeface="맑은 고딕" pitchFamily="34" charset="-120"/>
              </a:rPr>
              <a:t>|   </a:t>
            </a:r>
            <a:pPr indent="0" marL="0">
              <a:buNone/>
            </a:pPr>
            <a:r>
              <a:rPr lang="en-US" sz="1800" spc="300" kern="0" dirty="0">
                <a:solidFill>
                  <a:srgbClr val="63666B"/>
                </a:solidFill>
                <a:latin typeface="Arial" pitchFamily="34" charset="0"/>
                <a:ea typeface="Arial" pitchFamily="34" charset="-122"/>
                <a:cs typeface="Arial" pitchFamily="34" charset="-120"/>
              </a:rPr>
              <a:t>CONTENTS</a:t>
            </a:r>
            <a:endParaRPr lang="en-US" sz="2700" dirty="0"/>
          </a:p>
        </p:txBody>
      </p:sp>
      <p:sp>
        <p:nvSpPr>
          <p:cNvPr id="6" name="Text 1"/>
          <p:cNvSpPr/>
          <p:nvPr/>
        </p:nvSpPr>
        <p:spPr>
          <a:xfrm>
            <a:off x="533370" y="1600200"/>
            <a:ext cx="381030" cy="476220"/>
          </a:xfrm>
          <a:prstGeom prst="rect">
            <a:avLst/>
          </a:prstGeom>
          <a:noFill/>
          <a:ln/>
        </p:spPr>
        <p:txBody>
          <a:bodyPr wrap="square" lIns="0" tIns="0" rIns="0" bIns="0" rtlCol="0" anchor="t"/>
          <a:lstStyle/>
          <a:p>
            <a:pPr indent="0" marL="0">
              <a:buNone/>
            </a:pPr>
            <a:r>
              <a:rPr lang="en-US" sz="3150" dirty="0">
                <a:solidFill>
                  <a:srgbClr val="005BAC"/>
                </a:solidFill>
                <a:latin typeface="Arial" pitchFamily="34" charset="0"/>
                <a:ea typeface="Arial" pitchFamily="34" charset="-122"/>
                <a:cs typeface="Arial" pitchFamily="34" charset="-120"/>
              </a:rPr>
              <a:t>1</a:t>
            </a:r>
            <a:endParaRPr lang="en-US" sz="3150" dirty="0"/>
          </a:p>
        </p:txBody>
      </p:sp>
      <p:sp>
        <p:nvSpPr>
          <p:cNvPr id="7" name="Text 2"/>
          <p:cNvSpPr/>
          <p:nvPr/>
        </p:nvSpPr>
        <p:spPr>
          <a:xfrm>
            <a:off x="914400" y="1676370"/>
            <a:ext cx="6667530" cy="381030"/>
          </a:xfrm>
          <a:prstGeom prst="rect">
            <a:avLst/>
          </a:prstGeom>
          <a:noFill/>
          <a:ln/>
        </p:spPr>
        <p:txBody>
          <a:bodyPr wrap="square" lIns="0" tIns="0" rIns="0" bIns="0" rtlCol="0" anchor="t"/>
          <a:lstStyle/>
          <a:p>
            <a:pPr indent="0" marL="0">
              <a:buNone/>
            </a:pPr>
            <a:r>
              <a:rPr lang="en-US" sz="2180" b="1" dirty="0">
                <a:solidFill>
                  <a:srgbClr val="17365D"/>
                </a:solidFill>
                <a:latin typeface="맑은 고딕" pitchFamily="34" charset="0"/>
                <a:ea typeface="맑은 고딕" pitchFamily="34" charset="-122"/>
                <a:cs typeface="맑은 고딕" pitchFamily="34" charset="-120"/>
              </a:rPr>
              <a:t>강의 개요(강의계획서)</a:t>
            </a:r>
            <a:endParaRPr lang="en-US" sz="2180" dirty="0"/>
          </a:p>
        </p:txBody>
      </p:sp>
      <p:sp>
        <p:nvSpPr>
          <p:cNvPr id="8" name="Shape 3"/>
          <p:cNvSpPr/>
          <p:nvPr/>
        </p:nvSpPr>
        <p:spPr>
          <a:xfrm>
            <a:off x="533370" y="2133570"/>
            <a:ext cx="7239030" cy="0"/>
          </a:xfrm>
          <a:prstGeom prst="line">
            <a:avLst/>
          </a:prstGeom>
          <a:noFill/>
          <a:ln w="20320">
            <a:solidFill>
              <a:srgbClr val="9DC3E6"/>
            </a:solidFill>
            <a:prstDash val="solid"/>
          </a:ln>
        </p:spPr>
      </p:sp>
      <p:sp>
        <p:nvSpPr>
          <p:cNvPr id="9" name="Text 4"/>
          <p:cNvSpPr/>
          <p:nvPr/>
        </p:nvSpPr>
        <p:spPr>
          <a:xfrm>
            <a:off x="533370" y="2362170"/>
            <a:ext cx="381030" cy="476220"/>
          </a:xfrm>
          <a:prstGeom prst="rect">
            <a:avLst/>
          </a:prstGeom>
          <a:noFill/>
          <a:ln/>
        </p:spPr>
        <p:txBody>
          <a:bodyPr wrap="square" lIns="0" tIns="0" rIns="0" bIns="0" rtlCol="0" anchor="t"/>
          <a:lstStyle/>
          <a:p>
            <a:pPr indent="0" marL="0">
              <a:buNone/>
            </a:pPr>
            <a:r>
              <a:rPr lang="en-US" sz="3150" dirty="0">
                <a:solidFill>
                  <a:srgbClr val="005BAC"/>
                </a:solidFill>
                <a:latin typeface="Arial" pitchFamily="34" charset="0"/>
                <a:ea typeface="Arial" pitchFamily="34" charset="-122"/>
                <a:cs typeface="Arial" pitchFamily="34" charset="-120"/>
              </a:rPr>
              <a:t>2</a:t>
            </a:r>
            <a:endParaRPr lang="en-US" sz="3150" dirty="0"/>
          </a:p>
        </p:txBody>
      </p:sp>
      <p:sp>
        <p:nvSpPr>
          <p:cNvPr id="10" name="Text 5"/>
          <p:cNvSpPr/>
          <p:nvPr/>
        </p:nvSpPr>
        <p:spPr>
          <a:xfrm>
            <a:off x="914400" y="2438430"/>
            <a:ext cx="6667530" cy="381030"/>
          </a:xfrm>
          <a:prstGeom prst="rect">
            <a:avLst/>
          </a:prstGeom>
          <a:noFill/>
          <a:ln/>
        </p:spPr>
        <p:txBody>
          <a:bodyPr wrap="square" lIns="0" tIns="0" rIns="0" bIns="0" rtlCol="0" anchor="t"/>
          <a:lstStyle/>
          <a:p>
            <a:pPr indent="0" marL="0">
              <a:buNone/>
            </a:pPr>
            <a:r>
              <a:rPr lang="en-US" sz="2180" b="1" dirty="0">
                <a:solidFill>
                  <a:srgbClr val="17365D"/>
                </a:solidFill>
                <a:latin typeface="맑은 고딕" pitchFamily="34" charset="0"/>
                <a:ea typeface="맑은 고딕" pitchFamily="34" charset="-122"/>
                <a:cs typeface="맑은 고딕" pitchFamily="34" charset="-120"/>
              </a:rPr>
              <a:t>성적 평가</a:t>
            </a:r>
            <a:endParaRPr lang="en-US" sz="2180" dirty="0"/>
          </a:p>
        </p:txBody>
      </p:sp>
      <p:sp>
        <p:nvSpPr>
          <p:cNvPr id="11" name="Shape 6"/>
          <p:cNvSpPr/>
          <p:nvPr/>
        </p:nvSpPr>
        <p:spPr>
          <a:xfrm>
            <a:off x="533370" y="2895630"/>
            <a:ext cx="7239030" cy="0"/>
          </a:xfrm>
          <a:prstGeom prst="line">
            <a:avLst/>
          </a:prstGeom>
          <a:noFill/>
          <a:ln w="20320">
            <a:solidFill>
              <a:srgbClr val="9DC3E6"/>
            </a:solidFill>
            <a:prstDash val="solid"/>
          </a:ln>
        </p:spPr>
      </p:sp>
      <p:sp>
        <p:nvSpPr>
          <p:cNvPr id="12" name="Text 7"/>
          <p:cNvSpPr/>
          <p:nvPr/>
        </p:nvSpPr>
        <p:spPr>
          <a:xfrm>
            <a:off x="533370" y="3124230"/>
            <a:ext cx="381030" cy="476220"/>
          </a:xfrm>
          <a:prstGeom prst="rect">
            <a:avLst/>
          </a:prstGeom>
          <a:noFill/>
          <a:ln/>
        </p:spPr>
        <p:txBody>
          <a:bodyPr wrap="square" lIns="0" tIns="0" rIns="0" bIns="0" rtlCol="0" anchor="t"/>
          <a:lstStyle/>
          <a:p>
            <a:pPr indent="0" marL="0">
              <a:buNone/>
            </a:pPr>
            <a:r>
              <a:rPr lang="en-US" sz="3150" dirty="0">
                <a:solidFill>
                  <a:srgbClr val="005BAC"/>
                </a:solidFill>
                <a:latin typeface="Arial" pitchFamily="34" charset="0"/>
                <a:ea typeface="Arial" pitchFamily="34" charset="-122"/>
                <a:cs typeface="Arial" pitchFamily="34" charset="-120"/>
              </a:rPr>
              <a:t>3</a:t>
            </a:r>
            <a:endParaRPr lang="en-US" sz="3150" dirty="0"/>
          </a:p>
        </p:txBody>
      </p:sp>
      <p:sp>
        <p:nvSpPr>
          <p:cNvPr id="13" name="Text 8"/>
          <p:cNvSpPr/>
          <p:nvPr/>
        </p:nvSpPr>
        <p:spPr>
          <a:xfrm>
            <a:off x="914400" y="3200400"/>
            <a:ext cx="6667530" cy="381030"/>
          </a:xfrm>
          <a:prstGeom prst="rect">
            <a:avLst/>
          </a:prstGeom>
          <a:noFill/>
          <a:ln/>
        </p:spPr>
        <p:txBody>
          <a:bodyPr wrap="square" lIns="0" tIns="0" rIns="0" bIns="0" rtlCol="0" anchor="t"/>
          <a:lstStyle/>
          <a:p>
            <a:pPr indent="0" marL="0">
              <a:buNone/>
            </a:pPr>
            <a:r>
              <a:rPr lang="en-US" sz="2180" b="1" dirty="0">
                <a:solidFill>
                  <a:srgbClr val="17365D"/>
                </a:solidFill>
                <a:latin typeface="맑은 고딕" pitchFamily="34" charset="0"/>
                <a:ea typeface="맑은 고딕" pitchFamily="34" charset="-122"/>
                <a:cs typeface="맑은 고딕" pitchFamily="34" charset="-120"/>
              </a:rPr>
              <a:t>주 별 강의 계획</a:t>
            </a:r>
            <a:endParaRPr lang="en-US" sz="2180" dirty="0"/>
          </a:p>
        </p:txBody>
      </p:sp>
      <p:sp>
        <p:nvSpPr>
          <p:cNvPr id="14" name="Shape 9"/>
          <p:cNvSpPr/>
          <p:nvPr/>
        </p:nvSpPr>
        <p:spPr>
          <a:xfrm>
            <a:off x="533370" y="3657600"/>
            <a:ext cx="7239030" cy="0"/>
          </a:xfrm>
          <a:prstGeom prst="line">
            <a:avLst/>
          </a:prstGeom>
          <a:noFill/>
          <a:ln w="20320">
            <a:solidFill>
              <a:srgbClr val="9DC3E6"/>
            </a:solidFill>
            <a:prstDash val="solid"/>
          </a:ln>
        </p:spPr>
      </p:sp>
      <p:sp>
        <p:nvSpPr>
          <p:cNvPr id="15" name="Text 10"/>
          <p:cNvSpPr/>
          <p:nvPr/>
        </p:nvSpPr>
        <p:spPr>
          <a:xfrm>
            <a:off x="533370" y="3886200"/>
            <a:ext cx="381030" cy="476220"/>
          </a:xfrm>
          <a:prstGeom prst="rect">
            <a:avLst/>
          </a:prstGeom>
          <a:noFill/>
          <a:ln/>
        </p:spPr>
        <p:txBody>
          <a:bodyPr wrap="square" lIns="0" tIns="0" rIns="0" bIns="0" rtlCol="0" anchor="t"/>
          <a:lstStyle/>
          <a:p>
            <a:pPr indent="0" marL="0">
              <a:buNone/>
            </a:pPr>
            <a:r>
              <a:rPr lang="en-US" sz="3150" dirty="0">
                <a:solidFill>
                  <a:srgbClr val="005BAC"/>
                </a:solidFill>
                <a:latin typeface="Arial" pitchFamily="34" charset="0"/>
                <a:ea typeface="Arial" pitchFamily="34" charset="-122"/>
                <a:cs typeface="Arial" pitchFamily="34" charset="-120"/>
              </a:rPr>
              <a:t>4</a:t>
            </a:r>
            <a:endParaRPr lang="en-US" sz="3150" dirty="0"/>
          </a:p>
        </p:txBody>
      </p:sp>
      <p:sp>
        <p:nvSpPr>
          <p:cNvPr id="16" name="Text 11"/>
          <p:cNvSpPr/>
          <p:nvPr/>
        </p:nvSpPr>
        <p:spPr>
          <a:xfrm>
            <a:off x="914400" y="3962370"/>
            <a:ext cx="6667530" cy="381030"/>
          </a:xfrm>
          <a:prstGeom prst="rect">
            <a:avLst/>
          </a:prstGeom>
          <a:noFill/>
          <a:ln/>
        </p:spPr>
        <p:txBody>
          <a:bodyPr wrap="square" lIns="0" tIns="0" rIns="0" bIns="0" rtlCol="0" anchor="t"/>
          <a:lstStyle/>
          <a:p>
            <a:pPr indent="0" marL="0">
              <a:buNone/>
            </a:pPr>
            <a:r>
              <a:rPr lang="en-US" sz="2180" b="1" dirty="0">
                <a:solidFill>
                  <a:srgbClr val="17365D"/>
                </a:solidFill>
                <a:latin typeface="맑은 고딕" pitchFamily="34" charset="0"/>
                <a:ea typeface="맑은 고딕" pitchFamily="34" charset="-122"/>
                <a:cs typeface="맑은 고딕" pitchFamily="34" charset="-120"/>
              </a:rPr>
              <a:t>강의요구분석(설문)</a:t>
            </a:r>
            <a:endParaRPr lang="en-US" sz="2180" dirty="0"/>
          </a:p>
        </p:txBody>
      </p:sp>
      <p:sp>
        <p:nvSpPr>
          <p:cNvPr id="17" name="Shape 12"/>
          <p:cNvSpPr/>
          <p:nvPr/>
        </p:nvSpPr>
        <p:spPr>
          <a:xfrm>
            <a:off x="533370" y="4419570"/>
            <a:ext cx="7239030" cy="0"/>
          </a:xfrm>
          <a:prstGeom prst="line">
            <a:avLst/>
          </a:prstGeom>
          <a:noFill/>
          <a:ln w="20320">
            <a:solidFill>
              <a:srgbClr val="9DC3E6"/>
            </a:solidFill>
            <a:prstDash val="solid"/>
          </a:ln>
        </p:spPr>
      </p:sp>
      <p:sp>
        <p:nvSpPr>
          <p:cNvPr id="18" name="Text 13"/>
          <p:cNvSpPr/>
          <p:nvPr/>
        </p:nvSpPr>
        <p:spPr>
          <a:xfrm>
            <a:off x="533370" y="4648170"/>
            <a:ext cx="381030" cy="476220"/>
          </a:xfrm>
          <a:prstGeom prst="rect">
            <a:avLst/>
          </a:prstGeom>
          <a:noFill/>
          <a:ln/>
        </p:spPr>
        <p:txBody>
          <a:bodyPr wrap="square" lIns="0" tIns="0" rIns="0" bIns="0" rtlCol="0" anchor="t"/>
          <a:lstStyle/>
          <a:p>
            <a:pPr indent="0" marL="0">
              <a:buNone/>
            </a:pPr>
            <a:r>
              <a:rPr lang="en-US" sz="3150" dirty="0">
                <a:solidFill>
                  <a:srgbClr val="005BAC"/>
                </a:solidFill>
                <a:latin typeface="Arial" pitchFamily="34" charset="0"/>
                <a:ea typeface="Arial" pitchFamily="34" charset="-122"/>
                <a:cs typeface="Arial" pitchFamily="34" charset="-120"/>
              </a:rPr>
              <a:t>5</a:t>
            </a:r>
            <a:endParaRPr lang="en-US" sz="3150" dirty="0"/>
          </a:p>
        </p:txBody>
      </p:sp>
      <p:sp>
        <p:nvSpPr>
          <p:cNvPr id="19" name="Text 14"/>
          <p:cNvSpPr/>
          <p:nvPr/>
        </p:nvSpPr>
        <p:spPr>
          <a:xfrm>
            <a:off x="914400" y="4724430"/>
            <a:ext cx="6667530" cy="381030"/>
          </a:xfrm>
          <a:prstGeom prst="rect">
            <a:avLst/>
          </a:prstGeom>
          <a:noFill/>
          <a:ln/>
        </p:spPr>
        <p:txBody>
          <a:bodyPr wrap="square" lIns="0" tIns="0" rIns="0" bIns="0" rtlCol="0" anchor="t"/>
          <a:lstStyle/>
          <a:p>
            <a:pPr indent="0" marL="0">
              <a:buNone/>
            </a:pPr>
            <a:r>
              <a:rPr lang="en-US" sz="2180" b="1" dirty="0">
                <a:solidFill>
                  <a:srgbClr val="17365D"/>
                </a:solidFill>
                <a:latin typeface="맑은 고딕" pitchFamily="34" charset="0"/>
                <a:ea typeface="맑은 고딕" pitchFamily="34" charset="-122"/>
                <a:cs typeface="맑은 고딕" pitchFamily="34" charset="-120"/>
              </a:rPr>
              <a:t>창업 인식도 조사(설문)</a:t>
            </a:r>
            <a:endParaRPr lang="en-US" sz="2180" dirty="0"/>
          </a:p>
        </p:txBody>
      </p:sp>
      <p:sp>
        <p:nvSpPr>
          <p:cNvPr id="20" name="Shape 15"/>
          <p:cNvSpPr/>
          <p:nvPr/>
        </p:nvSpPr>
        <p:spPr>
          <a:xfrm>
            <a:off x="533370" y="5181630"/>
            <a:ext cx="7239030" cy="0"/>
          </a:xfrm>
          <a:prstGeom prst="line">
            <a:avLst/>
          </a:prstGeom>
          <a:noFill/>
          <a:ln w="20320">
            <a:solidFill>
              <a:srgbClr val="9DC3E6"/>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F0F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970" cy="3562320"/>
          </a:xfrm>
          <a:prstGeom prst="rect">
            <a:avLst/>
          </a:prstGeom>
        </p:spPr>
      </p:pic>
      <p:pic>
        <p:nvPicPr>
          <p:cNvPr id="3" name="Image 1" descr="preencoded.png">    </p:cNvPr>
          <p:cNvPicPr>
            <a:picLocks noChangeAspect="1"/>
          </p:cNvPicPr>
          <p:nvPr/>
        </p:nvPicPr>
        <p:blipFill>
          <a:blip r:embed="rId2"/>
          <a:stretch>
            <a:fillRect/>
          </a:stretch>
        </p:blipFill>
        <p:spPr>
          <a:xfrm>
            <a:off x="0" y="3581430"/>
            <a:ext cx="5333970" cy="438180"/>
          </a:xfrm>
          <a:prstGeom prst="rect">
            <a:avLst/>
          </a:prstGeom>
        </p:spPr>
      </p:pic>
      <p:pic>
        <p:nvPicPr>
          <p:cNvPr id="4" name="Image 2" descr="preencoded.png">    </p:cNvPr>
          <p:cNvPicPr>
            <a:picLocks noChangeAspect="1"/>
          </p:cNvPicPr>
          <p:nvPr/>
        </p:nvPicPr>
        <p:blipFill>
          <a:blip r:embed="rId3"/>
          <a:stretch>
            <a:fillRect/>
          </a:stretch>
        </p:blipFill>
        <p:spPr>
          <a:xfrm>
            <a:off x="-57150" y="2324130"/>
            <a:ext cx="1714500" cy="1904970"/>
          </a:xfrm>
          <a:prstGeom prst="rect">
            <a:avLst/>
          </a:prstGeom>
        </p:spPr>
      </p:pic>
      <p:sp>
        <p:nvSpPr>
          <p:cNvPr id="5" name="Text 0"/>
          <p:cNvSpPr/>
          <p:nvPr/>
        </p:nvSpPr>
        <p:spPr>
          <a:xfrm>
            <a:off x="4762470" y="3714750"/>
            <a:ext cx="6934170" cy="609630"/>
          </a:xfrm>
          <a:prstGeom prst="rect">
            <a:avLst/>
          </a:prstGeom>
          <a:noFill/>
          <a:ln/>
        </p:spPr>
        <p:txBody>
          <a:bodyPr wrap="square" lIns="0" tIns="0" rIns="0" bIns="0" rtlCol="0" anchor="t"/>
          <a:lstStyle/>
          <a:p>
            <a:pPr algn="r" indent="0" marL="0">
              <a:buNone/>
            </a:pPr>
            <a:r>
              <a:rPr lang="en-US" sz="3450" b="1" dirty="0">
                <a:solidFill>
                  <a:srgbClr val="17365D"/>
                </a:solidFill>
                <a:latin typeface="맑은 고딕" pitchFamily="34" charset="0"/>
                <a:ea typeface="맑은 고딕" pitchFamily="34" charset="-122"/>
                <a:cs typeface="맑은 고딕" pitchFamily="34" charset="-120"/>
              </a:rPr>
              <a:t>강의 개요(강의계획서)</a:t>
            </a:r>
            <a:endParaRPr lang="en-US" sz="3450" dirty="0"/>
          </a:p>
        </p:txBody>
      </p:sp>
      <p:sp>
        <p:nvSpPr>
          <p:cNvPr id="6" name="Text 1"/>
          <p:cNvSpPr/>
          <p:nvPr/>
        </p:nvSpPr>
        <p:spPr>
          <a:xfrm>
            <a:off x="3810030" y="4381530"/>
            <a:ext cx="7886700" cy="666780"/>
          </a:xfrm>
          <a:prstGeom prst="rect">
            <a:avLst/>
          </a:prstGeom>
          <a:noFill/>
          <a:ln/>
        </p:spPr>
        <p:txBody>
          <a:bodyPr wrap="square" lIns="0" tIns="0" rIns="0" bIns="0" rtlCol="0" anchor="t"/>
          <a:lstStyle/>
          <a:p>
            <a:pPr algn="r" indent="0" marL="0">
              <a:lnSpc>
                <a:spcPct val="140000"/>
              </a:lnSpc>
              <a:buNone/>
            </a:pPr>
            <a:r>
              <a:rPr lang="en-US" sz="1580" dirty="0">
                <a:solidFill>
                  <a:srgbClr val="63666B"/>
                </a:solidFill>
                <a:latin typeface="맑은 고딕" pitchFamily="34" charset="0"/>
                <a:ea typeface="맑은 고딕" pitchFamily="34" charset="-122"/>
                <a:cs typeface="맑은 고딕" pitchFamily="34" charset="-120"/>
              </a:rPr>
              <a:t>교과 목표 및 교재 등에 대한 소개</a:t>
            </a:r>
            <a:endParaRPr lang="en-US" sz="1580" dirty="0"/>
          </a:p>
        </p:txBody>
      </p:sp>
      <p:pic>
        <p:nvPicPr>
          <p:cNvPr id="7" name="Image 3" descr="preencoded.png">    </p:cNvPr>
          <p:cNvPicPr>
            <a:picLocks noChangeAspect="1"/>
          </p:cNvPicPr>
          <p:nvPr/>
        </p:nvPicPr>
        <p:blipFill>
          <a:blip r:embed="rId4"/>
          <a:stretch>
            <a:fillRect/>
          </a:stretch>
        </p:blipFill>
        <p:spPr>
          <a:xfrm>
            <a:off x="10668030" y="6191220"/>
            <a:ext cx="1162020" cy="41907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F0F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590520"/>
            <a:ext cx="12191970" cy="6267480"/>
          </a:xfrm>
          <a:prstGeom prst="rect">
            <a:avLst/>
          </a:prstGeom>
        </p:spPr>
      </p:pic>
      <p:pic>
        <p:nvPicPr>
          <p:cNvPr id="3" name="Image 1" descr="preencoded.png">    </p:cNvPr>
          <p:cNvPicPr>
            <a:picLocks noChangeAspect="1"/>
          </p:cNvPicPr>
          <p:nvPr/>
        </p:nvPicPr>
        <p:blipFill>
          <a:blip r:embed="rId2"/>
          <a:stretch>
            <a:fillRect/>
          </a:stretch>
        </p:blipFill>
        <p:spPr>
          <a:xfrm>
            <a:off x="0" y="0"/>
            <a:ext cx="12191970" cy="590520"/>
          </a:xfrm>
          <a:prstGeom prst="rect">
            <a:avLst/>
          </a:prstGeom>
        </p:spPr>
      </p:pic>
      <p:sp>
        <p:nvSpPr>
          <p:cNvPr id="4" name="Shape 0"/>
          <p:cNvSpPr/>
          <p:nvPr/>
        </p:nvSpPr>
        <p:spPr>
          <a:xfrm>
            <a:off x="438180" y="85771"/>
            <a:ext cx="1609710" cy="419070"/>
          </a:xfrm>
          <a:prstGeom prst="rect">
            <a:avLst/>
          </a:prstGeom>
          <a:solidFill>
            <a:srgbClr val="0B4E8A">
              <a:alpha val="66000"/>
            </a:srgbClr>
          </a:solidFill>
          <a:ln/>
        </p:spPr>
      </p:sp>
      <p:sp>
        <p:nvSpPr>
          <p:cNvPr id="5" name="Text 1"/>
          <p:cNvSpPr/>
          <p:nvPr/>
        </p:nvSpPr>
        <p:spPr>
          <a:xfrm>
            <a:off x="438180" y="85771"/>
            <a:ext cx="1609710" cy="419070"/>
          </a:xfrm>
          <a:prstGeom prst="rect">
            <a:avLst/>
          </a:prstGeom>
          <a:noFill/>
          <a:ln/>
        </p:spPr>
        <p:txBody>
          <a:bodyPr wrap="square" lIns="0" tIns="0" rIns="0" bIns="0" rtlCol="0" anchor="ctr"/>
          <a:lstStyle/>
          <a:p>
            <a:pPr algn="ctr" indent="0" marL="0">
              <a:buNone/>
            </a:pPr>
            <a:r>
              <a:rPr lang="en-US" sz="1950" b="1" dirty="0">
                <a:solidFill>
                  <a:srgbClr val="FFF100"/>
                </a:solidFill>
                <a:latin typeface="맑은 고딕" pitchFamily="34" charset="0"/>
                <a:ea typeface="맑은 고딕" pitchFamily="34" charset="-122"/>
                <a:cs typeface="맑은 고딕" pitchFamily="34" charset="-120"/>
              </a:rPr>
              <a:t>강의 개요</a:t>
            </a:r>
            <a:endParaRPr lang="en-US" sz="1950" dirty="0"/>
          </a:p>
        </p:txBody>
      </p:sp>
      <p:pic>
        <p:nvPicPr>
          <p:cNvPr id="6" name="Image 2" descr="preencoded.png">    </p:cNvPr>
          <p:cNvPicPr>
            <a:picLocks noChangeAspect="1"/>
          </p:cNvPicPr>
          <p:nvPr/>
        </p:nvPicPr>
        <p:blipFill>
          <a:blip r:embed="rId3"/>
          <a:stretch>
            <a:fillRect/>
          </a:stretch>
        </p:blipFill>
        <p:spPr>
          <a:xfrm>
            <a:off x="10325130" y="76170"/>
            <a:ext cx="1619220" cy="438180"/>
          </a:xfrm>
          <a:prstGeom prst="rect">
            <a:avLst/>
          </a:prstGeom>
        </p:spPr>
      </p:pic>
      <p:sp>
        <p:nvSpPr>
          <p:cNvPr id="7" name="Text 2"/>
          <p:cNvSpPr/>
          <p:nvPr/>
        </p:nvSpPr>
        <p:spPr>
          <a:xfrm>
            <a:off x="0" y="6591270"/>
            <a:ext cx="12191970" cy="190470"/>
          </a:xfrm>
          <a:prstGeom prst="rect">
            <a:avLst/>
          </a:prstGeom>
          <a:noFill/>
          <a:ln/>
        </p:spPr>
        <p:txBody>
          <a:bodyPr wrap="square" lIns="0" tIns="0" rIns="0" bIns="0" rtlCol="0" anchor="t"/>
          <a:lstStyle/>
          <a:p>
            <a:pPr algn="ctr" indent="0" marL="0">
              <a:buNone/>
            </a:pPr>
            <a:r>
              <a:rPr lang="en-US" sz="1130" dirty="0">
                <a:solidFill>
                  <a:srgbClr val="8A8F96"/>
                </a:solidFill>
                <a:latin typeface="Arial" pitchFamily="34" charset="0"/>
                <a:ea typeface="Arial" pitchFamily="34" charset="-122"/>
                <a:cs typeface="Arial" pitchFamily="34" charset="-120"/>
              </a:rPr>
              <a:t>5</a:t>
            </a:r>
            <a:endParaRPr lang="en-US" sz="1130" dirty="0"/>
          </a:p>
        </p:txBody>
      </p:sp>
      <p:sp>
        <p:nvSpPr>
          <p:cNvPr id="8" name="Text 3"/>
          <p:cNvSpPr/>
          <p:nvPr/>
        </p:nvSpPr>
        <p:spPr>
          <a:xfrm>
            <a:off x="495330" y="800100"/>
            <a:ext cx="5715000" cy="438180"/>
          </a:xfrm>
          <a:prstGeom prst="rect">
            <a:avLst/>
          </a:prstGeom>
          <a:noFill/>
          <a:ln/>
        </p:spPr>
        <p:txBody>
          <a:bodyPr wrap="square" lIns="0" tIns="0" rIns="0" bIns="0" rtlCol="0" anchor="t"/>
          <a:lstStyle/>
          <a:p>
            <a:pPr indent="0" marL="0">
              <a:buNone/>
            </a:pPr>
            <a:r>
              <a:rPr lang="en-US" sz="2550" b="1" dirty="0">
                <a:solidFill>
                  <a:srgbClr val="17365D"/>
                </a:solidFill>
                <a:latin typeface="맑은 고딕" pitchFamily="34" charset="0"/>
                <a:ea typeface="맑은 고딕" pitchFamily="34" charset="-122"/>
                <a:cs typeface="맑은 고딕" pitchFamily="34" charset="-120"/>
              </a:rPr>
              <a:t>교과 목표</a:t>
            </a:r>
            <a:endParaRPr lang="en-US" sz="2550" dirty="0"/>
          </a:p>
        </p:txBody>
      </p:sp>
      <p:sp>
        <p:nvSpPr>
          <p:cNvPr id="9" name="Text 4"/>
          <p:cNvSpPr/>
          <p:nvPr/>
        </p:nvSpPr>
        <p:spPr>
          <a:xfrm>
            <a:off x="495330" y="1390620"/>
            <a:ext cx="8572500" cy="323880"/>
          </a:xfrm>
          <a:prstGeom prst="rect">
            <a:avLst/>
          </a:prstGeom>
          <a:noFill/>
          <a:ln/>
        </p:spPr>
        <p:txBody>
          <a:bodyPr wrap="square" lIns="0" tIns="0" rIns="0" bIns="0" rtlCol="0" anchor="t"/>
          <a:lstStyle/>
          <a:p>
            <a:pPr indent="0" marL="0">
              <a:buNone/>
            </a:pPr>
            <a:r>
              <a:rPr lang="en-US" sz="1730" b="1" dirty="0">
                <a:solidFill>
                  <a:srgbClr val="0071CE"/>
                </a:solidFill>
                <a:latin typeface="맑은 고딕" pitchFamily="34" charset="0"/>
                <a:ea typeface="맑은 고딕" pitchFamily="34" charset="-122"/>
                <a:cs typeface="맑은 고딕" pitchFamily="34" charset="-120"/>
              </a:rPr>
              <a:t>• </a:t>
            </a:r>
            <a:pPr indent="0" marL="0">
              <a:buNone/>
            </a:pPr>
            <a:r>
              <a:rPr lang="en-US" sz="1730" b="1" dirty="0">
                <a:solidFill>
                  <a:srgbClr val="3B3838"/>
                </a:solidFill>
                <a:latin typeface="맑은 고딕" pitchFamily="34" charset="0"/>
                <a:ea typeface="맑은 고딕" pitchFamily="34" charset="-122"/>
                <a:cs typeface="맑은 고딕" pitchFamily="34" charset="-120"/>
              </a:rPr>
              <a:t>『창업과 기업가 정신』 한 학기 수업을 마치면…</a:t>
            </a:r>
            <a:endParaRPr lang="en-US" sz="1730" dirty="0"/>
          </a:p>
        </p:txBody>
      </p:sp>
      <p:sp>
        <p:nvSpPr>
          <p:cNvPr id="10" name="Shape 5"/>
          <p:cNvSpPr/>
          <p:nvPr/>
        </p:nvSpPr>
        <p:spPr>
          <a:xfrm>
            <a:off x="495330" y="1981230"/>
            <a:ext cx="5486400" cy="1200150"/>
          </a:xfrm>
          <a:prstGeom prst="rect">
            <a:avLst/>
          </a:prstGeom>
          <a:solidFill>
            <a:srgbClr val="F2F7FC"/>
          </a:solidFill>
          <a:ln w="12700">
            <a:solidFill>
              <a:srgbClr val="9DC3E6"/>
            </a:solidFill>
            <a:prstDash val="solid"/>
          </a:ln>
        </p:spPr>
      </p:sp>
      <p:sp>
        <p:nvSpPr>
          <p:cNvPr id="11" name="Text 6"/>
          <p:cNvSpPr/>
          <p:nvPr/>
        </p:nvSpPr>
        <p:spPr>
          <a:xfrm>
            <a:off x="647670" y="2362170"/>
            <a:ext cx="457200" cy="457200"/>
          </a:xfrm>
          <a:prstGeom prst="rect">
            <a:avLst/>
          </a:prstGeom>
          <a:noFill/>
          <a:ln/>
        </p:spPr>
        <p:txBody>
          <a:bodyPr wrap="square" lIns="0" tIns="0" rIns="0" bIns="0" rtlCol="0" anchor="t"/>
          <a:lstStyle/>
          <a:p>
            <a:pPr algn="ctr" indent="0" marL="0">
              <a:buNone/>
            </a:pPr>
            <a:r>
              <a:rPr lang="en-US" sz="2550" dirty="0">
                <a:solidFill>
                  <a:srgbClr val="3B3838"/>
                </a:solidFill>
                <a:latin typeface="맑은 고딕" pitchFamily="34" charset="0"/>
                <a:ea typeface="맑은 고딕" pitchFamily="34" charset="-122"/>
                <a:cs typeface="맑은 고딕" pitchFamily="34" charset="-120"/>
              </a:rPr>
              <a:t>🧩</a:t>
            </a:r>
            <a:endParaRPr lang="en-US" sz="2550" dirty="0"/>
          </a:p>
        </p:txBody>
      </p:sp>
      <p:sp>
        <p:nvSpPr>
          <p:cNvPr id="12" name="Text 7"/>
          <p:cNvSpPr/>
          <p:nvPr/>
        </p:nvSpPr>
        <p:spPr>
          <a:xfrm>
            <a:off x="1200150" y="2152680"/>
            <a:ext cx="4610130" cy="876270"/>
          </a:xfrm>
          <a:prstGeom prst="rect">
            <a:avLst/>
          </a:prstGeom>
          <a:noFill/>
          <a:ln/>
        </p:spPr>
        <p:txBody>
          <a:bodyPr wrap="square" lIns="0" tIns="0" rIns="0" bIns="0" rtlCol="0" anchor="ctr"/>
          <a:lstStyle/>
          <a:p>
            <a:pPr indent="0" marL="0">
              <a:lnSpc>
                <a:spcPct val="140000"/>
              </a:lnSpc>
              <a:buNone/>
            </a:pPr>
            <a:r>
              <a:rPr lang="en-US" sz="1460" dirty="0">
                <a:solidFill>
                  <a:srgbClr val="3B3838"/>
                </a:solidFill>
                <a:latin typeface="맑은 고딕" pitchFamily="34" charset="0"/>
                <a:ea typeface="맑은 고딕" pitchFamily="34" charset="-122"/>
                <a:cs typeface="맑은 고딕" pitchFamily="34" charset="-120"/>
              </a:rPr>
              <a:t>하나의 지식을 얻으면 </a:t>
            </a:r>
            <a:pPr indent="0" marL="0">
              <a:lnSpc>
                <a:spcPct val="140000"/>
              </a:lnSpc>
              <a:buNone/>
            </a:pPr>
            <a:r>
              <a:rPr lang="en-US" sz="1460" b="1" dirty="0">
                <a:solidFill>
                  <a:srgbClr val="005BAC"/>
                </a:solidFill>
                <a:latin typeface="맑은 고딕" pitchFamily="34" charset="0"/>
                <a:ea typeface="맑은 고딕" pitchFamily="34" charset="-122"/>
                <a:cs typeface="맑은 고딕" pitchFamily="34" charset="-120"/>
              </a:rPr>
              <a:t>응용하여 시도해 보지 않은 방식</a:t>
            </a:r>
            <a:pPr indent="0" marL="0">
              <a:lnSpc>
                <a:spcPct val="140000"/>
              </a:lnSpc>
              <a:buNone/>
            </a:pPr>
            <a:r>
              <a:rPr lang="en-US" sz="1460" dirty="0">
                <a:solidFill>
                  <a:srgbClr val="3B3838"/>
                </a:solidFill>
                <a:latin typeface="맑은 고딕" pitchFamily="34" charset="0"/>
                <a:ea typeface="맑은 고딕" pitchFamily="34" charset="-122"/>
                <a:cs typeface="맑은 고딕" pitchFamily="34" charset="-120"/>
              </a:rPr>
              <a:t>에 적용할 수 있다.</a:t>
            </a:r>
            <a:endParaRPr lang="en-US" sz="1460" dirty="0"/>
          </a:p>
        </p:txBody>
      </p:sp>
      <p:sp>
        <p:nvSpPr>
          <p:cNvPr id="13" name="Shape 8"/>
          <p:cNvSpPr/>
          <p:nvPr/>
        </p:nvSpPr>
        <p:spPr>
          <a:xfrm>
            <a:off x="6096030" y="1981230"/>
            <a:ext cx="5486400" cy="1200150"/>
          </a:xfrm>
          <a:prstGeom prst="rect">
            <a:avLst/>
          </a:prstGeom>
          <a:solidFill>
            <a:srgbClr val="F2F7FC"/>
          </a:solidFill>
          <a:ln w="12700">
            <a:solidFill>
              <a:srgbClr val="9DC3E6"/>
            </a:solidFill>
            <a:prstDash val="solid"/>
          </a:ln>
        </p:spPr>
      </p:sp>
      <p:sp>
        <p:nvSpPr>
          <p:cNvPr id="14" name="Text 9"/>
          <p:cNvSpPr/>
          <p:nvPr/>
        </p:nvSpPr>
        <p:spPr>
          <a:xfrm>
            <a:off x="6248370" y="2362170"/>
            <a:ext cx="457200" cy="457200"/>
          </a:xfrm>
          <a:prstGeom prst="rect">
            <a:avLst/>
          </a:prstGeom>
          <a:noFill/>
          <a:ln/>
        </p:spPr>
        <p:txBody>
          <a:bodyPr wrap="square" lIns="0" tIns="0" rIns="0" bIns="0" rtlCol="0" anchor="t"/>
          <a:lstStyle/>
          <a:p>
            <a:pPr algn="ctr" indent="0" marL="0">
              <a:buNone/>
            </a:pPr>
            <a:r>
              <a:rPr lang="en-US" sz="2550" dirty="0">
                <a:solidFill>
                  <a:srgbClr val="3B3838"/>
                </a:solidFill>
                <a:latin typeface="맑은 고딕" pitchFamily="34" charset="0"/>
                <a:ea typeface="맑은 고딕" pitchFamily="34" charset="-122"/>
                <a:cs typeface="맑은 고딕" pitchFamily="34" charset="-120"/>
              </a:rPr>
              <a:t>🔭</a:t>
            </a:r>
            <a:endParaRPr lang="en-US" sz="2550" dirty="0"/>
          </a:p>
        </p:txBody>
      </p:sp>
      <p:sp>
        <p:nvSpPr>
          <p:cNvPr id="15" name="Text 10"/>
          <p:cNvSpPr/>
          <p:nvPr/>
        </p:nvSpPr>
        <p:spPr>
          <a:xfrm>
            <a:off x="6800850" y="2152680"/>
            <a:ext cx="4610130" cy="876270"/>
          </a:xfrm>
          <a:prstGeom prst="rect">
            <a:avLst/>
          </a:prstGeom>
          <a:noFill/>
          <a:ln/>
        </p:spPr>
        <p:txBody>
          <a:bodyPr wrap="square" lIns="0" tIns="0" rIns="0" bIns="0" rtlCol="0" anchor="ctr"/>
          <a:lstStyle/>
          <a:p>
            <a:pPr indent="0" marL="0">
              <a:lnSpc>
                <a:spcPct val="140000"/>
              </a:lnSpc>
              <a:buNone/>
            </a:pPr>
            <a:r>
              <a:rPr lang="en-US" sz="1460" dirty="0">
                <a:solidFill>
                  <a:srgbClr val="3B3838"/>
                </a:solidFill>
                <a:latin typeface="맑은 고딕" pitchFamily="34" charset="0"/>
                <a:ea typeface="맑은 고딕" pitchFamily="34" charset="-122"/>
                <a:cs typeface="맑은 고딕" pitchFamily="34" charset="-120"/>
              </a:rPr>
              <a:t>주어진 상황을 여러 관점으로 바라보고 </a:t>
            </a:r>
            <a:pPr indent="0" marL="0">
              <a:lnSpc>
                <a:spcPct val="140000"/>
              </a:lnSpc>
              <a:buNone/>
            </a:pPr>
            <a:r>
              <a:rPr lang="en-US" sz="1460" b="1" dirty="0">
                <a:solidFill>
                  <a:srgbClr val="005BAC"/>
                </a:solidFill>
                <a:latin typeface="맑은 고딕" pitchFamily="34" charset="0"/>
                <a:ea typeface="맑은 고딕" pitchFamily="34" charset="-122"/>
                <a:cs typeface="맑은 고딕" pitchFamily="34" charset="-120"/>
              </a:rPr>
              <a:t>새롭고 독창적인 아이디어</a:t>
            </a:r>
            <a:pPr indent="0" marL="0">
              <a:lnSpc>
                <a:spcPct val="140000"/>
              </a:lnSpc>
              <a:buNone/>
            </a:pPr>
            <a:r>
              <a:rPr lang="en-US" sz="1460" dirty="0">
                <a:solidFill>
                  <a:srgbClr val="3B3838"/>
                </a:solidFill>
                <a:latin typeface="맑은 고딕" pitchFamily="34" charset="0"/>
                <a:ea typeface="맑은 고딕" pitchFamily="34" charset="-122"/>
                <a:cs typeface="맑은 고딕" pitchFamily="34" charset="-120"/>
              </a:rPr>
              <a:t>를 찾을 수 있다.</a:t>
            </a:r>
            <a:endParaRPr lang="en-US" sz="1460" dirty="0"/>
          </a:p>
        </p:txBody>
      </p:sp>
      <p:sp>
        <p:nvSpPr>
          <p:cNvPr id="16" name="Shape 11"/>
          <p:cNvSpPr/>
          <p:nvPr/>
        </p:nvSpPr>
        <p:spPr>
          <a:xfrm>
            <a:off x="495330" y="3409980"/>
            <a:ext cx="5486400" cy="1200150"/>
          </a:xfrm>
          <a:prstGeom prst="rect">
            <a:avLst/>
          </a:prstGeom>
          <a:solidFill>
            <a:srgbClr val="F2F7FC"/>
          </a:solidFill>
          <a:ln w="12700">
            <a:solidFill>
              <a:srgbClr val="9DC3E6"/>
            </a:solidFill>
            <a:prstDash val="solid"/>
          </a:ln>
        </p:spPr>
      </p:sp>
      <p:sp>
        <p:nvSpPr>
          <p:cNvPr id="17" name="Text 12"/>
          <p:cNvSpPr/>
          <p:nvPr/>
        </p:nvSpPr>
        <p:spPr>
          <a:xfrm>
            <a:off x="647670" y="3790920"/>
            <a:ext cx="457200" cy="457200"/>
          </a:xfrm>
          <a:prstGeom prst="rect">
            <a:avLst/>
          </a:prstGeom>
          <a:noFill/>
          <a:ln/>
        </p:spPr>
        <p:txBody>
          <a:bodyPr wrap="square" lIns="0" tIns="0" rIns="0" bIns="0" rtlCol="0" anchor="t"/>
          <a:lstStyle/>
          <a:p>
            <a:pPr algn="ctr" indent="0" marL="0">
              <a:buNone/>
            </a:pPr>
            <a:r>
              <a:rPr lang="en-US" sz="2550" dirty="0">
                <a:solidFill>
                  <a:srgbClr val="3B3838"/>
                </a:solidFill>
                <a:latin typeface="맑은 고딕" pitchFamily="34" charset="0"/>
                <a:ea typeface="맑은 고딕" pitchFamily="34" charset="-122"/>
                <a:cs typeface="맑은 고딕" pitchFamily="34" charset="-120"/>
              </a:rPr>
              <a:t>🛠️</a:t>
            </a:r>
            <a:endParaRPr lang="en-US" sz="2550" dirty="0"/>
          </a:p>
        </p:txBody>
      </p:sp>
      <p:sp>
        <p:nvSpPr>
          <p:cNvPr id="18" name="Text 13"/>
          <p:cNvSpPr/>
          <p:nvPr/>
        </p:nvSpPr>
        <p:spPr>
          <a:xfrm>
            <a:off x="1200150" y="3581430"/>
            <a:ext cx="4610130" cy="876270"/>
          </a:xfrm>
          <a:prstGeom prst="rect">
            <a:avLst/>
          </a:prstGeom>
          <a:noFill/>
          <a:ln/>
        </p:spPr>
        <p:txBody>
          <a:bodyPr wrap="square" lIns="0" tIns="0" rIns="0" bIns="0" rtlCol="0" anchor="ctr"/>
          <a:lstStyle/>
          <a:p>
            <a:pPr indent="0" marL="0">
              <a:lnSpc>
                <a:spcPct val="140000"/>
              </a:lnSpc>
              <a:buNone/>
            </a:pPr>
            <a:r>
              <a:rPr lang="en-US" sz="1460" dirty="0">
                <a:solidFill>
                  <a:srgbClr val="3B3838"/>
                </a:solidFill>
                <a:latin typeface="맑은 고딕" pitchFamily="34" charset="0"/>
                <a:ea typeface="맑은 고딕" pitchFamily="34" charset="-122"/>
                <a:cs typeface="맑은 고딕" pitchFamily="34" charset="-120"/>
              </a:rPr>
              <a:t>다양한 지식, 기술, 정보를 활용하여 </a:t>
            </a:r>
            <a:pPr indent="0" marL="0">
              <a:lnSpc>
                <a:spcPct val="140000"/>
              </a:lnSpc>
              <a:buNone/>
            </a:pPr>
            <a:r>
              <a:rPr lang="en-US" sz="1460" b="1" dirty="0">
                <a:solidFill>
                  <a:srgbClr val="005BAC"/>
                </a:solidFill>
                <a:latin typeface="맑은 고딕" pitchFamily="34" charset="0"/>
                <a:ea typeface="맑은 고딕" pitchFamily="34" charset="-122"/>
                <a:cs typeface="맑은 고딕" pitchFamily="34" charset="-120"/>
              </a:rPr>
              <a:t>자신만의 새로운 방식</a:t>
            </a:r>
            <a:pPr indent="0" marL="0">
              <a:lnSpc>
                <a:spcPct val="140000"/>
              </a:lnSpc>
              <a:buNone/>
            </a:pPr>
            <a:r>
              <a:rPr lang="en-US" sz="1460" dirty="0">
                <a:solidFill>
                  <a:srgbClr val="3B3838"/>
                </a:solidFill>
                <a:latin typeface="맑은 고딕" pitchFamily="34" charset="0"/>
                <a:ea typeface="맑은 고딕" pitchFamily="34" charset="-122"/>
                <a:cs typeface="맑은 고딕" pitchFamily="34" charset="-120"/>
              </a:rPr>
              <a:t>을 찾을 수 있다.</a:t>
            </a:r>
            <a:endParaRPr lang="en-US" sz="1460" dirty="0"/>
          </a:p>
        </p:txBody>
      </p:sp>
      <p:sp>
        <p:nvSpPr>
          <p:cNvPr id="19" name="Shape 14"/>
          <p:cNvSpPr/>
          <p:nvPr/>
        </p:nvSpPr>
        <p:spPr>
          <a:xfrm>
            <a:off x="6096030" y="3409980"/>
            <a:ext cx="5486400" cy="1200150"/>
          </a:xfrm>
          <a:prstGeom prst="rect">
            <a:avLst/>
          </a:prstGeom>
          <a:solidFill>
            <a:srgbClr val="F2F7FC"/>
          </a:solidFill>
          <a:ln w="12700">
            <a:solidFill>
              <a:srgbClr val="9DC3E6"/>
            </a:solidFill>
            <a:prstDash val="solid"/>
          </a:ln>
        </p:spPr>
      </p:sp>
      <p:sp>
        <p:nvSpPr>
          <p:cNvPr id="20" name="Text 15"/>
          <p:cNvSpPr/>
          <p:nvPr/>
        </p:nvSpPr>
        <p:spPr>
          <a:xfrm>
            <a:off x="6248370" y="3790920"/>
            <a:ext cx="457200" cy="457200"/>
          </a:xfrm>
          <a:prstGeom prst="rect">
            <a:avLst/>
          </a:prstGeom>
          <a:noFill/>
          <a:ln/>
        </p:spPr>
        <p:txBody>
          <a:bodyPr wrap="square" lIns="0" tIns="0" rIns="0" bIns="0" rtlCol="0" anchor="t"/>
          <a:lstStyle/>
          <a:p>
            <a:pPr algn="ctr" indent="0" marL="0">
              <a:buNone/>
            </a:pPr>
            <a:r>
              <a:rPr lang="en-US" sz="2550" dirty="0">
                <a:solidFill>
                  <a:srgbClr val="3B3838"/>
                </a:solidFill>
                <a:latin typeface="맑은 고딕" pitchFamily="34" charset="0"/>
                <a:ea typeface="맑은 고딕" pitchFamily="34" charset="-122"/>
                <a:cs typeface="맑은 고딕" pitchFamily="34" charset="-120"/>
              </a:rPr>
              <a:t>🔗</a:t>
            </a:r>
            <a:endParaRPr lang="en-US" sz="2550" dirty="0"/>
          </a:p>
        </p:txBody>
      </p:sp>
      <p:sp>
        <p:nvSpPr>
          <p:cNvPr id="21" name="Text 16"/>
          <p:cNvSpPr/>
          <p:nvPr/>
        </p:nvSpPr>
        <p:spPr>
          <a:xfrm>
            <a:off x="6800850" y="3581430"/>
            <a:ext cx="4610130" cy="876270"/>
          </a:xfrm>
          <a:prstGeom prst="rect">
            <a:avLst/>
          </a:prstGeom>
          <a:noFill/>
          <a:ln/>
        </p:spPr>
        <p:txBody>
          <a:bodyPr wrap="square" lIns="0" tIns="0" rIns="0" bIns="0" rtlCol="0" anchor="ctr"/>
          <a:lstStyle/>
          <a:p>
            <a:pPr indent="0" marL="0">
              <a:lnSpc>
                <a:spcPct val="140000"/>
              </a:lnSpc>
              <a:buNone/>
            </a:pPr>
            <a:r>
              <a:rPr lang="en-US" sz="1460" dirty="0">
                <a:solidFill>
                  <a:srgbClr val="3B3838"/>
                </a:solidFill>
                <a:latin typeface="맑은 고딕" pitchFamily="34" charset="0"/>
                <a:ea typeface="맑은 고딕" pitchFamily="34" charset="-122"/>
                <a:cs typeface="맑은 고딕" pitchFamily="34" charset="-120"/>
              </a:rPr>
              <a:t>서로 다른 분야의 지식 및 정보들을 연결하여 </a:t>
            </a:r>
            <a:pPr indent="0" marL="0">
              <a:lnSpc>
                <a:spcPct val="140000"/>
              </a:lnSpc>
              <a:buNone/>
            </a:pPr>
            <a:r>
              <a:rPr lang="en-US" sz="1460" b="1" dirty="0">
                <a:solidFill>
                  <a:srgbClr val="005BAC"/>
                </a:solidFill>
                <a:latin typeface="맑은 고딕" pitchFamily="34" charset="0"/>
                <a:ea typeface="맑은 고딕" pitchFamily="34" charset="-122"/>
                <a:cs typeface="맑은 고딕" pitchFamily="34" charset="-120"/>
              </a:rPr>
              <a:t>새로운 가치를 창출</a:t>
            </a:r>
            <a:pPr indent="0" marL="0">
              <a:lnSpc>
                <a:spcPct val="140000"/>
              </a:lnSpc>
              <a:buNone/>
            </a:pPr>
            <a:r>
              <a:rPr lang="en-US" sz="1460" dirty="0">
                <a:solidFill>
                  <a:srgbClr val="3B3838"/>
                </a:solidFill>
                <a:latin typeface="맑은 고딕" pitchFamily="34" charset="0"/>
                <a:ea typeface="맑은 고딕" pitchFamily="34" charset="-122"/>
                <a:cs typeface="맑은 고딕" pitchFamily="34" charset="-120"/>
              </a:rPr>
              <a:t>할 수 있다.</a:t>
            </a:r>
            <a:endParaRPr lang="en-US" sz="14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FF0F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590520"/>
            <a:ext cx="12191970" cy="6267480"/>
          </a:xfrm>
          <a:prstGeom prst="rect">
            <a:avLst/>
          </a:prstGeom>
        </p:spPr>
      </p:pic>
      <p:pic>
        <p:nvPicPr>
          <p:cNvPr id="3" name="Image 1" descr="preencoded.png">    </p:cNvPr>
          <p:cNvPicPr>
            <a:picLocks noChangeAspect="1"/>
          </p:cNvPicPr>
          <p:nvPr/>
        </p:nvPicPr>
        <p:blipFill>
          <a:blip r:embed="rId2"/>
          <a:stretch>
            <a:fillRect/>
          </a:stretch>
        </p:blipFill>
        <p:spPr>
          <a:xfrm>
            <a:off x="0" y="0"/>
            <a:ext cx="12191970" cy="590520"/>
          </a:xfrm>
          <a:prstGeom prst="rect">
            <a:avLst/>
          </a:prstGeom>
        </p:spPr>
      </p:pic>
      <p:sp>
        <p:nvSpPr>
          <p:cNvPr id="4" name="Shape 0"/>
          <p:cNvSpPr/>
          <p:nvPr/>
        </p:nvSpPr>
        <p:spPr>
          <a:xfrm>
            <a:off x="438180" y="85771"/>
            <a:ext cx="1609710" cy="419070"/>
          </a:xfrm>
          <a:prstGeom prst="rect">
            <a:avLst/>
          </a:prstGeom>
          <a:solidFill>
            <a:srgbClr val="0B4E8A">
              <a:alpha val="66000"/>
            </a:srgbClr>
          </a:solidFill>
          <a:ln/>
        </p:spPr>
      </p:sp>
      <p:sp>
        <p:nvSpPr>
          <p:cNvPr id="5" name="Text 1"/>
          <p:cNvSpPr/>
          <p:nvPr/>
        </p:nvSpPr>
        <p:spPr>
          <a:xfrm>
            <a:off x="438180" y="85771"/>
            <a:ext cx="1609710" cy="419070"/>
          </a:xfrm>
          <a:prstGeom prst="rect">
            <a:avLst/>
          </a:prstGeom>
          <a:noFill/>
          <a:ln/>
        </p:spPr>
        <p:txBody>
          <a:bodyPr wrap="square" lIns="0" tIns="0" rIns="0" bIns="0" rtlCol="0" anchor="ctr"/>
          <a:lstStyle/>
          <a:p>
            <a:pPr algn="ctr" indent="0" marL="0">
              <a:buNone/>
            </a:pPr>
            <a:r>
              <a:rPr lang="en-US" sz="1950" b="1" dirty="0">
                <a:solidFill>
                  <a:srgbClr val="FFF100"/>
                </a:solidFill>
                <a:latin typeface="맑은 고딕" pitchFamily="34" charset="0"/>
                <a:ea typeface="맑은 고딕" pitchFamily="34" charset="-122"/>
                <a:cs typeface="맑은 고딕" pitchFamily="34" charset="-120"/>
              </a:rPr>
              <a:t>강의 개요</a:t>
            </a:r>
            <a:endParaRPr lang="en-US" sz="1950" dirty="0"/>
          </a:p>
        </p:txBody>
      </p:sp>
      <p:pic>
        <p:nvPicPr>
          <p:cNvPr id="6" name="Image 2" descr="preencoded.png">    </p:cNvPr>
          <p:cNvPicPr>
            <a:picLocks noChangeAspect="1"/>
          </p:cNvPicPr>
          <p:nvPr/>
        </p:nvPicPr>
        <p:blipFill>
          <a:blip r:embed="rId3"/>
          <a:stretch>
            <a:fillRect/>
          </a:stretch>
        </p:blipFill>
        <p:spPr>
          <a:xfrm>
            <a:off x="10325130" y="76170"/>
            <a:ext cx="1619220" cy="438180"/>
          </a:xfrm>
          <a:prstGeom prst="rect">
            <a:avLst/>
          </a:prstGeom>
        </p:spPr>
      </p:pic>
      <p:sp>
        <p:nvSpPr>
          <p:cNvPr id="7" name="Text 2"/>
          <p:cNvSpPr/>
          <p:nvPr/>
        </p:nvSpPr>
        <p:spPr>
          <a:xfrm>
            <a:off x="0" y="6591270"/>
            <a:ext cx="12191970" cy="190470"/>
          </a:xfrm>
          <a:prstGeom prst="rect">
            <a:avLst/>
          </a:prstGeom>
          <a:noFill/>
          <a:ln/>
        </p:spPr>
        <p:txBody>
          <a:bodyPr wrap="square" lIns="0" tIns="0" rIns="0" bIns="0" rtlCol="0" anchor="t"/>
          <a:lstStyle/>
          <a:p>
            <a:pPr algn="ctr" indent="0" marL="0">
              <a:buNone/>
            </a:pPr>
            <a:r>
              <a:rPr lang="en-US" sz="1130" dirty="0">
                <a:solidFill>
                  <a:srgbClr val="8A8F96"/>
                </a:solidFill>
                <a:latin typeface="Arial" pitchFamily="34" charset="0"/>
                <a:ea typeface="Arial" pitchFamily="34" charset="-122"/>
                <a:cs typeface="Arial" pitchFamily="34" charset="-120"/>
              </a:rPr>
              <a:t>6</a:t>
            </a:r>
            <a:endParaRPr lang="en-US" sz="1130" dirty="0"/>
          </a:p>
        </p:txBody>
      </p:sp>
      <p:sp>
        <p:nvSpPr>
          <p:cNvPr id="8" name="Text 3"/>
          <p:cNvSpPr/>
          <p:nvPr/>
        </p:nvSpPr>
        <p:spPr>
          <a:xfrm>
            <a:off x="495330" y="800100"/>
            <a:ext cx="9525030" cy="438180"/>
          </a:xfrm>
          <a:prstGeom prst="rect">
            <a:avLst/>
          </a:prstGeom>
          <a:noFill/>
          <a:ln/>
        </p:spPr>
        <p:txBody>
          <a:bodyPr wrap="square" lIns="0" tIns="0" rIns="0" bIns="0" rtlCol="0" anchor="t"/>
          <a:lstStyle/>
          <a:p>
            <a:pPr indent="0" marL="0">
              <a:buNone/>
            </a:pPr>
            <a:r>
              <a:rPr lang="en-US" sz="2550" b="1" dirty="0">
                <a:solidFill>
                  <a:srgbClr val="17365D"/>
                </a:solidFill>
                <a:latin typeface="맑은 고딕" pitchFamily="34" charset="0"/>
                <a:ea typeface="맑은 고딕" pitchFamily="34" charset="-122"/>
                <a:cs typeface="맑은 고딕" pitchFamily="34" charset="-120"/>
              </a:rPr>
              <a:t>주 교재 </a:t>
            </a:r>
            <a:pPr indent="0" marL="0">
              <a:buNone/>
            </a:pPr>
            <a:r>
              <a:rPr lang="en-US" sz="2550" dirty="0">
                <a:solidFill>
                  <a:srgbClr val="9DC3E6"/>
                </a:solidFill>
                <a:latin typeface="맑은 고딕" pitchFamily="34" charset="0"/>
                <a:ea typeface="맑은 고딕" pitchFamily="34" charset="-122"/>
                <a:cs typeface="맑은 고딕" pitchFamily="34" charset="-120"/>
              </a:rPr>
              <a:t>| </a:t>
            </a:r>
            <a:pPr indent="0" marL="0">
              <a:buNone/>
            </a:pPr>
            <a:r>
              <a:rPr lang="en-US" sz="2550" b="1" dirty="0">
                <a:solidFill>
                  <a:srgbClr val="17365D"/>
                </a:solidFill>
                <a:latin typeface="맑은 고딕" pitchFamily="34" charset="0"/>
                <a:ea typeface="맑은 고딕" pitchFamily="34" charset="-122"/>
                <a:cs typeface="맑은 고딕" pitchFamily="34" charset="-120"/>
              </a:rPr>
              <a:t>창업과 기업가 정신(자체 교재)</a:t>
            </a:r>
            <a:endParaRPr lang="en-US" sz="2550" dirty="0"/>
          </a:p>
        </p:txBody>
      </p:sp>
      <p:sp>
        <p:nvSpPr>
          <p:cNvPr id="9" name="Shape 4"/>
          <p:cNvSpPr/>
          <p:nvPr/>
        </p:nvSpPr>
        <p:spPr>
          <a:xfrm>
            <a:off x="723930" y="1866930"/>
            <a:ext cx="1904970" cy="2857500"/>
          </a:xfrm>
          <a:prstGeom prst="rect">
            <a:avLst/>
          </a:prstGeom>
          <a:solidFill>
            <a:srgbClr val="005BAC"/>
          </a:solidFill>
          <a:ln/>
          <a:effectLst>
            <a:outerShdw sx="100000" sy="100000" kx="0" ky="0" algn="bl" rotWithShape="0" blurRad="177800" dist="76200" dir="5400000">
              <a:srgbClr val="002A55">
                <a:alpha val="25000"/>
              </a:srgbClr>
            </a:outerShdw>
          </a:effectLst>
        </p:spPr>
      </p:sp>
      <p:sp>
        <p:nvSpPr>
          <p:cNvPr id="10" name="Shape 5"/>
          <p:cNvSpPr/>
          <p:nvPr/>
        </p:nvSpPr>
        <p:spPr>
          <a:xfrm>
            <a:off x="723930" y="1866930"/>
            <a:ext cx="209580" cy="2857500"/>
          </a:xfrm>
          <a:prstGeom prst="rect">
            <a:avLst/>
          </a:prstGeom>
          <a:solidFill>
            <a:srgbClr val="003F7D"/>
          </a:solidFill>
          <a:ln/>
        </p:spPr>
      </p:sp>
      <p:sp>
        <p:nvSpPr>
          <p:cNvPr id="11" name="Shape 6"/>
          <p:cNvSpPr/>
          <p:nvPr/>
        </p:nvSpPr>
        <p:spPr>
          <a:xfrm>
            <a:off x="1219170" y="2266980"/>
            <a:ext cx="1143000" cy="0"/>
          </a:xfrm>
          <a:prstGeom prst="line">
            <a:avLst/>
          </a:prstGeom>
          <a:noFill/>
          <a:ln w="20320">
            <a:solidFill>
              <a:srgbClr val="FFFFFF">
                <a:alpha val="70000"/>
              </a:srgbClr>
            </a:solidFill>
            <a:prstDash val="solid"/>
          </a:ln>
        </p:spPr>
      </p:sp>
      <p:sp>
        <p:nvSpPr>
          <p:cNvPr id="12" name="Text 7"/>
          <p:cNvSpPr/>
          <p:nvPr/>
        </p:nvSpPr>
        <p:spPr>
          <a:xfrm>
            <a:off x="971550" y="2705070"/>
            <a:ext cx="1524030" cy="952530"/>
          </a:xfrm>
          <a:prstGeom prst="rect">
            <a:avLst/>
          </a:prstGeom>
          <a:noFill/>
          <a:ln/>
        </p:spPr>
        <p:txBody>
          <a:bodyPr wrap="square" lIns="0" tIns="0" rIns="0" bIns="0" rtlCol="0" anchor="t"/>
          <a:lstStyle/>
          <a:p>
            <a:pPr algn="ctr" indent="0" marL="0">
              <a:lnSpc>
                <a:spcPct val="140000"/>
              </a:lnSpc>
              <a:buNone/>
            </a:pPr>
            <a:r>
              <a:rPr lang="en-US" sz="1430" b="1" dirty="0">
                <a:solidFill>
                  <a:srgbClr val="FFFFFF"/>
                </a:solidFill>
                <a:latin typeface="맑은 고딕" pitchFamily="34" charset="0"/>
                <a:ea typeface="맑은 고딕" pitchFamily="34" charset="-122"/>
                <a:cs typeface="맑은 고딕" pitchFamily="34" charset="-120"/>
              </a:rPr>
              <a:t>창업과</a:t>
            </a:r>
            <a:endParaRPr lang="en-US" sz="1430" dirty="0"/>
          </a:p>
          <a:p>
            <a:pPr algn="ctr" indent="0" marL="0">
              <a:lnSpc>
                <a:spcPct val="140000"/>
              </a:lnSpc>
              <a:buNone/>
            </a:pPr>
            <a:r>
              <a:rPr lang="en-US" sz="1430" b="1" dirty="0">
                <a:solidFill>
                  <a:srgbClr val="FFFFFF"/>
                </a:solidFill>
                <a:latin typeface="맑은 고딕" pitchFamily="34" charset="0"/>
                <a:ea typeface="맑은 고딕" pitchFamily="34" charset="-122"/>
                <a:cs typeface="맑은 고딕" pitchFamily="34" charset="-120"/>
              </a:rPr>
              <a:t>기업가 정신</a:t>
            </a:r>
            <a:endParaRPr lang="en-US" sz="1430" dirty="0"/>
          </a:p>
        </p:txBody>
      </p:sp>
      <p:sp>
        <p:nvSpPr>
          <p:cNvPr id="13" name="Text 8"/>
          <p:cNvSpPr/>
          <p:nvPr/>
        </p:nvSpPr>
        <p:spPr>
          <a:xfrm>
            <a:off x="971550" y="4114800"/>
            <a:ext cx="1524030" cy="228600"/>
          </a:xfrm>
          <a:prstGeom prst="rect">
            <a:avLst/>
          </a:prstGeom>
          <a:noFill/>
          <a:ln/>
        </p:spPr>
        <p:txBody>
          <a:bodyPr wrap="square" lIns="0" tIns="0" rIns="0" bIns="0" rtlCol="0" anchor="t"/>
          <a:lstStyle/>
          <a:p>
            <a:pPr algn="ctr" indent="0" marL="0">
              <a:buNone/>
            </a:pPr>
            <a:r>
              <a:rPr lang="en-US" sz="980" dirty="0">
                <a:solidFill>
                  <a:srgbClr val="E4F0FA"/>
                </a:solidFill>
                <a:latin typeface="맑은 고딕" pitchFamily="34" charset="0"/>
                <a:ea typeface="맑은 고딕" pitchFamily="34" charset="-122"/>
                <a:cs typeface="맑은 고딕" pitchFamily="34" charset="-120"/>
              </a:rPr>
              <a:t>창의융합교양학부</a:t>
            </a:r>
            <a:endParaRPr lang="en-US" sz="980" dirty="0"/>
          </a:p>
        </p:txBody>
      </p:sp>
      <p:sp>
        <p:nvSpPr>
          <p:cNvPr id="14" name="Shape 9"/>
          <p:cNvSpPr/>
          <p:nvPr/>
        </p:nvSpPr>
        <p:spPr>
          <a:xfrm>
            <a:off x="1219170" y="4457700"/>
            <a:ext cx="1143000" cy="0"/>
          </a:xfrm>
          <a:prstGeom prst="line">
            <a:avLst/>
          </a:prstGeom>
          <a:noFill/>
          <a:ln w="15240">
            <a:solidFill>
              <a:srgbClr val="FFFFFF">
                <a:alpha val="50000"/>
              </a:srgbClr>
            </a:solidFill>
            <a:prstDash val="solid"/>
          </a:ln>
        </p:spPr>
      </p:sp>
      <p:sp>
        <p:nvSpPr>
          <p:cNvPr id="15" name="Shape 10"/>
          <p:cNvSpPr/>
          <p:nvPr/>
        </p:nvSpPr>
        <p:spPr>
          <a:xfrm>
            <a:off x="3238530" y="2000250"/>
            <a:ext cx="1809780" cy="495330"/>
          </a:xfrm>
          <a:prstGeom prst="roundRect">
            <a:avLst>
              <a:gd name="adj" fmla="val 47997"/>
            </a:avLst>
          </a:prstGeom>
          <a:solidFill>
            <a:srgbClr val="DEEBF7"/>
          </a:solidFill>
          <a:ln w="12700">
            <a:solidFill>
              <a:srgbClr val="9DC3E6"/>
            </a:solidFill>
            <a:prstDash val="solid"/>
          </a:ln>
        </p:spPr>
      </p:sp>
      <p:sp>
        <p:nvSpPr>
          <p:cNvPr id="16" name="Text 11"/>
          <p:cNvSpPr/>
          <p:nvPr/>
        </p:nvSpPr>
        <p:spPr>
          <a:xfrm>
            <a:off x="3238530" y="2000250"/>
            <a:ext cx="1809780" cy="495330"/>
          </a:xfrm>
          <a:prstGeom prst="rect">
            <a:avLst/>
          </a:prstGeom>
          <a:noFill/>
          <a:ln/>
        </p:spPr>
        <p:txBody>
          <a:bodyPr wrap="square" lIns="0" tIns="0" rIns="0" bIns="0" rtlCol="0" anchor="ctr"/>
          <a:lstStyle/>
          <a:p>
            <a:pPr algn="ctr" indent="0" marL="0">
              <a:buNone/>
            </a:pPr>
            <a:r>
              <a:rPr lang="en-US" sz="1730" b="1" dirty="0">
                <a:solidFill>
                  <a:srgbClr val="17365D"/>
                </a:solidFill>
                <a:latin typeface="맑은 고딕" pitchFamily="34" charset="0"/>
                <a:ea typeface="맑은 고딕" pitchFamily="34" charset="-122"/>
                <a:cs typeface="맑은 고딕" pitchFamily="34" charset="-120"/>
              </a:rPr>
              <a:t>주 교재</a:t>
            </a:r>
            <a:endParaRPr lang="en-US" sz="1730" dirty="0"/>
          </a:p>
        </p:txBody>
      </p:sp>
      <p:sp>
        <p:nvSpPr>
          <p:cNvPr id="17" name="Text 12"/>
          <p:cNvSpPr/>
          <p:nvPr/>
        </p:nvSpPr>
        <p:spPr>
          <a:xfrm>
            <a:off x="3238530" y="2781330"/>
            <a:ext cx="8001000" cy="1714500"/>
          </a:xfrm>
          <a:prstGeom prst="rect">
            <a:avLst/>
          </a:prstGeom>
          <a:noFill/>
          <a:ln/>
        </p:spPr>
        <p:txBody>
          <a:bodyPr wrap="square" lIns="0" tIns="0" rIns="0" bIns="0" rtlCol="0" anchor="t"/>
          <a:lstStyle/>
          <a:p>
            <a:pPr marL="342900" indent="-342900">
              <a:lnSpc>
                <a:spcPct val="135000"/>
              </a:lnSpc>
              <a:spcAft>
                <a:spcPts val="1350"/>
              </a:spcAft>
              <a:buSzPct val="100000"/>
              <a:buChar char="➢"/>
            </a:pPr>
            <a:r>
              <a:rPr lang="en-US" sz="1650" b="1" dirty="0">
                <a:solidFill>
                  <a:srgbClr val="005BAC"/>
                </a:solidFill>
                <a:latin typeface="맑은 고딕" pitchFamily="34" charset="0"/>
                <a:ea typeface="맑은 고딕" pitchFamily="34" charset="-122"/>
                <a:cs typeface="맑은 고딕" pitchFamily="34" charset="-120"/>
              </a:rPr>
              <a:t>『창업과 기업가 정신』</a:t>
            </a:r>
            <a:pPr indent="0" marL="0">
              <a:lnSpc>
                <a:spcPct val="135000"/>
              </a:lnSpc>
              <a:spcAft>
                <a:spcPts val="1350"/>
              </a:spcAft>
              <a:buNone/>
            </a:pPr>
            <a:r>
              <a:rPr lang="en-US" sz="1650" dirty="0">
                <a:solidFill>
                  <a:srgbClr val="3B3838"/>
                </a:solidFill>
                <a:latin typeface="맑은 고딕" pitchFamily="34" charset="0"/>
                <a:ea typeface="맑은 고딕" pitchFamily="34" charset="-122"/>
                <a:cs typeface="맑은 고딕" pitchFamily="34" charset="-120"/>
              </a:rPr>
              <a:t> — 자체 제작 교재</a:t>
            </a:r>
            <a:endParaRPr lang="en-US" sz="1650" dirty="0"/>
          </a:p>
          <a:p>
            <a:pPr marL="342900" indent="-342900">
              <a:lnSpc>
                <a:spcPct val="135000"/>
              </a:lnSpc>
              <a:spcAft>
                <a:spcPts val="1350"/>
              </a:spcAft>
              <a:buSzPct val="100000"/>
              <a:buChar char="➢"/>
            </a:pPr>
            <a:r>
              <a:rPr lang="en-US" sz="1650" dirty="0">
                <a:solidFill>
                  <a:srgbClr val="3B3838"/>
                </a:solidFill>
                <a:latin typeface="맑은 고딕" pitchFamily="34" charset="0"/>
                <a:ea typeface="맑은 고딕" pitchFamily="34" charset="-122"/>
                <a:cs typeface="맑은 고딕" pitchFamily="34" charset="-120"/>
              </a:rPr>
              <a:t>한 학기 강의 전 주차가 이 교재의 차례를 따라간다.</a:t>
            </a:r>
            <a:endParaRPr lang="en-US" sz="1650" dirty="0"/>
          </a:p>
          <a:p>
            <a:pPr marL="342900" indent="-342900">
              <a:lnSpc>
                <a:spcPct val="135000"/>
              </a:lnSpc>
              <a:spcAft>
                <a:spcPts val="1350"/>
              </a:spcAft>
              <a:buSzPct val="100000"/>
              <a:buChar char="➢"/>
            </a:pPr>
            <a:r>
              <a:rPr lang="en-US" sz="1650" dirty="0">
                <a:solidFill>
                  <a:srgbClr val="3B3838"/>
                </a:solidFill>
                <a:latin typeface="맑은 고딕" pitchFamily="34" charset="0"/>
                <a:ea typeface="맑은 고딕" pitchFamily="34" charset="-122"/>
                <a:cs typeface="맑은 고딕" pitchFamily="34" charset="-120"/>
              </a:rPr>
              <a:t>배포 방법과 일정은 </a:t>
            </a:r>
            <a:pPr indent="0" marL="0">
              <a:lnSpc>
                <a:spcPct val="135000"/>
              </a:lnSpc>
              <a:spcAft>
                <a:spcPts val="1350"/>
              </a:spcAft>
              <a:buNone/>
            </a:pPr>
            <a:r>
              <a:rPr lang="en-US" sz="1650" b="1" dirty="0">
                <a:solidFill>
                  <a:srgbClr val="C00000"/>
                </a:solidFill>
                <a:latin typeface="맑은 고딕" pitchFamily="34" charset="0"/>
                <a:ea typeface="맑은 고딕" pitchFamily="34" charset="-122"/>
                <a:cs typeface="맑은 고딕" pitchFamily="34" charset="-120"/>
              </a:rPr>
              <a:t>LMS 공지</a:t>
            </a:r>
            <a:pPr indent="0" marL="0">
              <a:lnSpc>
                <a:spcPct val="135000"/>
              </a:lnSpc>
              <a:spcAft>
                <a:spcPts val="1350"/>
              </a:spcAft>
              <a:buNone/>
            </a:pPr>
            <a:r>
              <a:rPr lang="en-US" sz="1650" dirty="0">
                <a:solidFill>
                  <a:srgbClr val="3B3838"/>
                </a:solidFill>
                <a:latin typeface="맑은 고딕" pitchFamily="34" charset="0"/>
                <a:ea typeface="맑은 고딕" pitchFamily="34" charset="-122"/>
                <a:cs typeface="맑은 고딕" pitchFamily="34" charset="-120"/>
              </a:rPr>
              <a:t>로 안내한다.</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F0F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590520"/>
            <a:ext cx="12191970" cy="6267480"/>
          </a:xfrm>
          <a:prstGeom prst="rect">
            <a:avLst/>
          </a:prstGeom>
        </p:spPr>
      </p:pic>
      <p:pic>
        <p:nvPicPr>
          <p:cNvPr id="3" name="Image 1" descr="preencoded.png">    </p:cNvPr>
          <p:cNvPicPr>
            <a:picLocks noChangeAspect="1"/>
          </p:cNvPicPr>
          <p:nvPr/>
        </p:nvPicPr>
        <p:blipFill>
          <a:blip r:embed="rId2"/>
          <a:stretch>
            <a:fillRect/>
          </a:stretch>
        </p:blipFill>
        <p:spPr>
          <a:xfrm>
            <a:off x="0" y="0"/>
            <a:ext cx="12191970" cy="590520"/>
          </a:xfrm>
          <a:prstGeom prst="rect">
            <a:avLst/>
          </a:prstGeom>
        </p:spPr>
      </p:pic>
      <p:sp>
        <p:nvSpPr>
          <p:cNvPr id="4" name="Shape 0"/>
          <p:cNvSpPr/>
          <p:nvPr/>
        </p:nvSpPr>
        <p:spPr>
          <a:xfrm>
            <a:off x="438180" y="85771"/>
            <a:ext cx="1609710" cy="419070"/>
          </a:xfrm>
          <a:prstGeom prst="rect">
            <a:avLst/>
          </a:prstGeom>
          <a:solidFill>
            <a:srgbClr val="0B4E8A">
              <a:alpha val="66000"/>
            </a:srgbClr>
          </a:solidFill>
          <a:ln/>
        </p:spPr>
      </p:sp>
      <p:sp>
        <p:nvSpPr>
          <p:cNvPr id="5" name="Text 1"/>
          <p:cNvSpPr/>
          <p:nvPr/>
        </p:nvSpPr>
        <p:spPr>
          <a:xfrm>
            <a:off x="438180" y="85771"/>
            <a:ext cx="1609710" cy="419070"/>
          </a:xfrm>
          <a:prstGeom prst="rect">
            <a:avLst/>
          </a:prstGeom>
          <a:noFill/>
          <a:ln/>
        </p:spPr>
        <p:txBody>
          <a:bodyPr wrap="square" lIns="0" tIns="0" rIns="0" bIns="0" rtlCol="0" anchor="ctr"/>
          <a:lstStyle/>
          <a:p>
            <a:pPr algn="ctr" indent="0" marL="0">
              <a:buNone/>
            </a:pPr>
            <a:r>
              <a:rPr lang="en-US" sz="1950" b="1" dirty="0">
                <a:solidFill>
                  <a:srgbClr val="FFF100"/>
                </a:solidFill>
                <a:latin typeface="맑은 고딕" pitchFamily="34" charset="0"/>
                <a:ea typeface="맑은 고딕" pitchFamily="34" charset="-122"/>
                <a:cs typeface="맑은 고딕" pitchFamily="34" charset="-120"/>
              </a:rPr>
              <a:t>강의 개요</a:t>
            </a:r>
            <a:endParaRPr lang="en-US" sz="1950" dirty="0"/>
          </a:p>
        </p:txBody>
      </p:sp>
      <p:pic>
        <p:nvPicPr>
          <p:cNvPr id="6" name="Image 2" descr="preencoded.png">    </p:cNvPr>
          <p:cNvPicPr>
            <a:picLocks noChangeAspect="1"/>
          </p:cNvPicPr>
          <p:nvPr/>
        </p:nvPicPr>
        <p:blipFill>
          <a:blip r:embed="rId3"/>
          <a:stretch>
            <a:fillRect/>
          </a:stretch>
        </p:blipFill>
        <p:spPr>
          <a:xfrm>
            <a:off x="10325130" y="76170"/>
            <a:ext cx="1619220" cy="438180"/>
          </a:xfrm>
          <a:prstGeom prst="rect">
            <a:avLst/>
          </a:prstGeom>
        </p:spPr>
      </p:pic>
      <p:sp>
        <p:nvSpPr>
          <p:cNvPr id="7" name="Text 2"/>
          <p:cNvSpPr/>
          <p:nvPr/>
        </p:nvSpPr>
        <p:spPr>
          <a:xfrm>
            <a:off x="0" y="6591270"/>
            <a:ext cx="12191970" cy="190470"/>
          </a:xfrm>
          <a:prstGeom prst="rect">
            <a:avLst/>
          </a:prstGeom>
          <a:noFill/>
          <a:ln/>
        </p:spPr>
        <p:txBody>
          <a:bodyPr wrap="square" lIns="0" tIns="0" rIns="0" bIns="0" rtlCol="0" anchor="t"/>
          <a:lstStyle/>
          <a:p>
            <a:pPr algn="ctr" indent="0" marL="0">
              <a:buNone/>
            </a:pPr>
            <a:r>
              <a:rPr lang="en-US" sz="1130" dirty="0">
                <a:solidFill>
                  <a:srgbClr val="8A8F96"/>
                </a:solidFill>
                <a:latin typeface="Arial" pitchFamily="34" charset="0"/>
                <a:ea typeface="Arial" pitchFamily="34" charset="-122"/>
                <a:cs typeface="Arial" pitchFamily="34" charset="-120"/>
              </a:rPr>
              <a:t>7</a:t>
            </a:r>
            <a:endParaRPr lang="en-US" sz="1130" dirty="0"/>
          </a:p>
        </p:txBody>
      </p:sp>
      <p:sp>
        <p:nvSpPr>
          <p:cNvPr id="8" name="Text 3"/>
          <p:cNvSpPr/>
          <p:nvPr/>
        </p:nvSpPr>
        <p:spPr>
          <a:xfrm>
            <a:off x="495330" y="800100"/>
            <a:ext cx="9525030" cy="438180"/>
          </a:xfrm>
          <a:prstGeom prst="rect">
            <a:avLst/>
          </a:prstGeom>
          <a:noFill/>
          <a:ln/>
        </p:spPr>
        <p:txBody>
          <a:bodyPr wrap="square" lIns="0" tIns="0" rIns="0" bIns="0" rtlCol="0" anchor="t"/>
          <a:lstStyle/>
          <a:p>
            <a:pPr indent="0" marL="0">
              <a:buNone/>
            </a:pPr>
            <a:r>
              <a:rPr lang="en-US" sz="2550" b="1" dirty="0">
                <a:solidFill>
                  <a:srgbClr val="17365D"/>
                </a:solidFill>
                <a:latin typeface="맑은 고딕" pitchFamily="34" charset="0"/>
                <a:ea typeface="맑은 고딕" pitchFamily="34" charset="-122"/>
                <a:cs typeface="맑은 고딕" pitchFamily="34" charset="-120"/>
              </a:rPr>
              <a:t>부 교재 </a:t>
            </a:r>
            <a:pPr indent="0" marL="0">
              <a:buNone/>
            </a:pPr>
            <a:r>
              <a:rPr lang="en-US" sz="2550" dirty="0">
                <a:solidFill>
                  <a:srgbClr val="9DC3E6"/>
                </a:solidFill>
                <a:latin typeface="맑은 고딕" pitchFamily="34" charset="0"/>
                <a:ea typeface="맑은 고딕" pitchFamily="34" charset="-122"/>
                <a:cs typeface="맑은 고딕" pitchFamily="34" charset="-120"/>
              </a:rPr>
              <a:t>| </a:t>
            </a:r>
            <a:pPr indent="0" marL="0">
              <a:buNone/>
            </a:pPr>
            <a:r>
              <a:rPr lang="en-US" sz="2550" b="1" dirty="0">
                <a:solidFill>
                  <a:srgbClr val="17365D"/>
                </a:solidFill>
                <a:latin typeface="맑은 고딕" pitchFamily="34" charset="0"/>
                <a:ea typeface="맑은 고딕" pitchFamily="34" charset="-122"/>
                <a:cs typeface="맑은 고딕" pitchFamily="34" charset="-120"/>
              </a:rPr>
              <a:t>밸류 프로포지션 디자인</a:t>
            </a:r>
            <a:endParaRPr lang="en-US" sz="2550" dirty="0"/>
          </a:p>
        </p:txBody>
      </p:sp>
      <p:sp>
        <p:nvSpPr>
          <p:cNvPr id="9" name="Shape 4"/>
          <p:cNvSpPr/>
          <p:nvPr/>
        </p:nvSpPr>
        <p:spPr>
          <a:xfrm>
            <a:off x="723930" y="1866930"/>
            <a:ext cx="1904970" cy="2857500"/>
          </a:xfrm>
          <a:prstGeom prst="rect">
            <a:avLst/>
          </a:prstGeom>
          <a:solidFill>
            <a:srgbClr val="00A5DE"/>
          </a:solidFill>
          <a:ln/>
          <a:effectLst>
            <a:outerShdw sx="100000" sy="100000" kx="0" ky="0" algn="bl" rotWithShape="0" blurRad="177800" dist="76200" dir="5400000">
              <a:srgbClr val="002A55">
                <a:alpha val="25000"/>
              </a:srgbClr>
            </a:outerShdw>
          </a:effectLst>
        </p:spPr>
      </p:sp>
      <p:sp>
        <p:nvSpPr>
          <p:cNvPr id="10" name="Shape 5"/>
          <p:cNvSpPr/>
          <p:nvPr/>
        </p:nvSpPr>
        <p:spPr>
          <a:xfrm>
            <a:off x="723930" y="1866930"/>
            <a:ext cx="209580" cy="2857500"/>
          </a:xfrm>
          <a:prstGeom prst="rect">
            <a:avLst/>
          </a:prstGeom>
          <a:solidFill>
            <a:srgbClr val="0071CE"/>
          </a:solidFill>
          <a:ln/>
        </p:spPr>
      </p:sp>
      <p:sp>
        <p:nvSpPr>
          <p:cNvPr id="11" name="Shape 6"/>
          <p:cNvSpPr/>
          <p:nvPr/>
        </p:nvSpPr>
        <p:spPr>
          <a:xfrm>
            <a:off x="1219170" y="2266980"/>
            <a:ext cx="1143000" cy="0"/>
          </a:xfrm>
          <a:prstGeom prst="line">
            <a:avLst/>
          </a:prstGeom>
          <a:noFill/>
          <a:ln w="20320">
            <a:solidFill>
              <a:srgbClr val="FFFFFF">
                <a:alpha val="70000"/>
              </a:srgbClr>
            </a:solidFill>
            <a:prstDash val="solid"/>
          </a:ln>
        </p:spPr>
      </p:sp>
      <p:sp>
        <p:nvSpPr>
          <p:cNvPr id="12" name="Text 7"/>
          <p:cNvSpPr/>
          <p:nvPr/>
        </p:nvSpPr>
        <p:spPr>
          <a:xfrm>
            <a:off x="971550" y="2705070"/>
            <a:ext cx="1524030" cy="952530"/>
          </a:xfrm>
          <a:prstGeom prst="rect">
            <a:avLst/>
          </a:prstGeom>
          <a:noFill/>
          <a:ln/>
        </p:spPr>
        <p:txBody>
          <a:bodyPr wrap="square" lIns="0" tIns="0" rIns="0" bIns="0" rtlCol="0" anchor="t"/>
          <a:lstStyle/>
          <a:p>
            <a:pPr algn="ctr" indent="0" marL="0">
              <a:lnSpc>
                <a:spcPct val="140000"/>
              </a:lnSpc>
              <a:buNone/>
            </a:pPr>
            <a:r>
              <a:rPr lang="en-US" sz="1430" b="1" dirty="0">
                <a:solidFill>
                  <a:srgbClr val="FFFFFF"/>
                </a:solidFill>
                <a:latin typeface="맑은 고딕" pitchFamily="34" charset="0"/>
                <a:ea typeface="맑은 고딕" pitchFamily="34" charset="-122"/>
                <a:cs typeface="맑은 고딕" pitchFamily="34" charset="-120"/>
              </a:rPr>
              <a:t>밸류</a:t>
            </a:r>
            <a:endParaRPr lang="en-US" sz="1430" dirty="0"/>
          </a:p>
          <a:p>
            <a:pPr algn="ctr" indent="0" marL="0">
              <a:lnSpc>
                <a:spcPct val="140000"/>
              </a:lnSpc>
              <a:buNone/>
            </a:pPr>
            <a:r>
              <a:rPr lang="en-US" sz="1430" b="1" dirty="0">
                <a:solidFill>
                  <a:srgbClr val="FFFFFF"/>
                </a:solidFill>
                <a:latin typeface="맑은 고딕" pitchFamily="34" charset="0"/>
                <a:ea typeface="맑은 고딕" pitchFamily="34" charset="-122"/>
                <a:cs typeface="맑은 고딕" pitchFamily="34" charset="-120"/>
              </a:rPr>
              <a:t>프로포지션</a:t>
            </a:r>
            <a:endParaRPr lang="en-US" sz="1430" dirty="0"/>
          </a:p>
          <a:p>
            <a:pPr algn="ctr" indent="0" marL="0">
              <a:lnSpc>
                <a:spcPct val="140000"/>
              </a:lnSpc>
              <a:buNone/>
            </a:pPr>
            <a:r>
              <a:rPr lang="en-US" sz="1430" b="1" dirty="0">
                <a:solidFill>
                  <a:srgbClr val="FFFFFF"/>
                </a:solidFill>
                <a:latin typeface="맑은 고딕" pitchFamily="34" charset="0"/>
                <a:ea typeface="맑은 고딕" pitchFamily="34" charset="-122"/>
                <a:cs typeface="맑은 고딕" pitchFamily="34" charset="-120"/>
              </a:rPr>
              <a:t>디자인</a:t>
            </a:r>
            <a:endParaRPr lang="en-US" sz="1430" dirty="0"/>
          </a:p>
        </p:txBody>
      </p:sp>
      <p:sp>
        <p:nvSpPr>
          <p:cNvPr id="13" name="Text 8"/>
          <p:cNvSpPr/>
          <p:nvPr/>
        </p:nvSpPr>
        <p:spPr>
          <a:xfrm>
            <a:off x="971550" y="4114800"/>
            <a:ext cx="1524030" cy="228600"/>
          </a:xfrm>
          <a:prstGeom prst="rect">
            <a:avLst/>
          </a:prstGeom>
          <a:noFill/>
          <a:ln/>
        </p:spPr>
        <p:txBody>
          <a:bodyPr wrap="square" lIns="0" tIns="0" rIns="0" bIns="0" rtlCol="0" anchor="t"/>
          <a:lstStyle/>
          <a:p>
            <a:pPr algn="ctr" indent="0" marL="0">
              <a:buNone/>
            </a:pPr>
            <a:r>
              <a:rPr lang="en-US" sz="980" dirty="0">
                <a:solidFill>
                  <a:srgbClr val="E4F0FA"/>
                </a:solidFill>
                <a:latin typeface="맑은 고딕" pitchFamily="34" charset="0"/>
                <a:ea typeface="맑은 고딕" pitchFamily="34" charset="-122"/>
                <a:cs typeface="맑은 고딕" pitchFamily="34" charset="-120"/>
              </a:rPr>
              <a:t>Value Proposition Design</a:t>
            </a:r>
            <a:endParaRPr lang="en-US" sz="980" dirty="0"/>
          </a:p>
        </p:txBody>
      </p:sp>
      <p:sp>
        <p:nvSpPr>
          <p:cNvPr id="14" name="Shape 9"/>
          <p:cNvSpPr/>
          <p:nvPr/>
        </p:nvSpPr>
        <p:spPr>
          <a:xfrm>
            <a:off x="1219170" y="4457700"/>
            <a:ext cx="1143000" cy="0"/>
          </a:xfrm>
          <a:prstGeom prst="line">
            <a:avLst/>
          </a:prstGeom>
          <a:noFill/>
          <a:ln w="15240">
            <a:solidFill>
              <a:srgbClr val="FFFFFF">
                <a:alpha val="50000"/>
              </a:srgbClr>
            </a:solidFill>
            <a:prstDash val="solid"/>
          </a:ln>
        </p:spPr>
      </p:sp>
      <p:sp>
        <p:nvSpPr>
          <p:cNvPr id="15" name="Shape 10"/>
          <p:cNvSpPr/>
          <p:nvPr/>
        </p:nvSpPr>
        <p:spPr>
          <a:xfrm>
            <a:off x="3238530" y="2000250"/>
            <a:ext cx="1809780" cy="495330"/>
          </a:xfrm>
          <a:prstGeom prst="roundRect">
            <a:avLst>
              <a:gd name="adj" fmla="val 47997"/>
            </a:avLst>
          </a:prstGeom>
          <a:solidFill>
            <a:srgbClr val="DEEBF7"/>
          </a:solidFill>
          <a:ln w="12700">
            <a:solidFill>
              <a:srgbClr val="9DC3E6"/>
            </a:solidFill>
            <a:prstDash val="solid"/>
          </a:ln>
        </p:spPr>
      </p:sp>
      <p:sp>
        <p:nvSpPr>
          <p:cNvPr id="16" name="Text 11"/>
          <p:cNvSpPr/>
          <p:nvPr/>
        </p:nvSpPr>
        <p:spPr>
          <a:xfrm>
            <a:off x="3238530" y="2000250"/>
            <a:ext cx="1809780" cy="495330"/>
          </a:xfrm>
          <a:prstGeom prst="rect">
            <a:avLst/>
          </a:prstGeom>
          <a:noFill/>
          <a:ln/>
        </p:spPr>
        <p:txBody>
          <a:bodyPr wrap="square" lIns="0" tIns="0" rIns="0" bIns="0" rtlCol="0" anchor="ctr"/>
          <a:lstStyle/>
          <a:p>
            <a:pPr algn="ctr" indent="0" marL="0">
              <a:buNone/>
            </a:pPr>
            <a:r>
              <a:rPr lang="en-US" sz="1730" b="1" dirty="0">
                <a:solidFill>
                  <a:srgbClr val="17365D"/>
                </a:solidFill>
                <a:latin typeface="맑은 고딕" pitchFamily="34" charset="0"/>
                <a:ea typeface="맑은 고딕" pitchFamily="34" charset="-122"/>
                <a:cs typeface="맑은 고딕" pitchFamily="34" charset="-120"/>
              </a:rPr>
              <a:t>부 교재</a:t>
            </a:r>
            <a:endParaRPr lang="en-US" sz="173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38530" y="2781330"/>
          <a:ext cx="6476970" cy="914400"/>
        </p:xfrm>
        <a:graphic>
          <a:graphicData uri="http://schemas.openxmlformats.org/drawingml/2006/table">
            <a:tbl>
              <a:tblPr/>
              <a:tblGrid>
                <a:gridCol w="1428750"/>
                <a:gridCol w="5048220"/>
              </a:tblGrid>
              <a:tr h="533370">
                <a:tc>
                  <a:txBody>
                    <a:bodyPr/>
                    <a:lstStyle/>
                    <a:p>
                      <a:pPr algn="ctr" indent="0" marL="0">
                        <a:buNone/>
                      </a:pPr>
                      <a:r>
                        <a:rPr lang="en-US" sz="1580" b="1" dirty="0">
                          <a:solidFill>
                            <a:srgbClr val="17365D"/>
                          </a:solidFill>
                          <a:latin typeface="맑은 고딕" pitchFamily="34" charset="0"/>
                          <a:ea typeface="맑은 고딕" pitchFamily="34" charset="-122"/>
                          <a:cs typeface="맑은 고딕" pitchFamily="34" charset="-120"/>
                        </a:rPr>
                        <a:t>도서명</a:t>
                      </a:r>
                      <a:endParaRPr lang="en-US" sz="1580" dirty="0">
                        <a:latin typeface="맑은 고딕" charset="0"/>
                        <a:ea typeface="맑은 고딕" charset="0"/>
                        <a:cs typeface="맑은 고딕" charset="0"/>
                      </a:endParaRPr>
                    </a:p>
                  </a:txBody>
                  <a:tcPr marL="133320" marR="133320"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DEEBF7"/>
                    </a:solidFill>
                  </a:tcPr>
                </a:tc>
                <a:tc>
                  <a:txBody>
                    <a:bodyPr/>
                    <a:lstStyle/>
                    <a:p>
                      <a:pPr algn="l" indent="0" marL="0">
                        <a:buNone/>
                      </a:pPr>
                      <a:r>
                        <a:rPr lang="en-US" sz="1580" dirty="0">
                          <a:solidFill>
                            <a:srgbClr val="3B3838"/>
                          </a:solidFill>
                          <a:latin typeface="맑은 고딕" pitchFamily="34" charset="0"/>
                          <a:ea typeface="맑은 고딕" pitchFamily="34" charset="-122"/>
                          <a:cs typeface="맑은 고딕" pitchFamily="34" charset="-120"/>
                        </a:rPr>
                        <a:t>밸류 프로포지션 디자인</a:t>
                      </a:r>
                      <a:endParaRPr lang="en-US" sz="1580" dirty="0">
                        <a:latin typeface="맑은 고딕" charset="0"/>
                        <a:ea typeface="맑은 고딕" charset="0"/>
                        <a:cs typeface="맑은 고딕" charset="0"/>
                      </a:endParaRPr>
                    </a:p>
                  </a:txBody>
                  <a:tcPr marL="133320" marR="133320"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FFFFF"/>
                    </a:solidFill>
                  </a:tcPr>
                </a:tc>
              </a:tr>
              <a:tr h="533370">
                <a:tc>
                  <a:txBody>
                    <a:bodyPr/>
                    <a:lstStyle/>
                    <a:p>
                      <a:pPr algn="ctr" indent="0" marL="0">
                        <a:buNone/>
                      </a:pPr>
                      <a:r>
                        <a:rPr lang="en-US" sz="1580" b="1" dirty="0">
                          <a:solidFill>
                            <a:srgbClr val="17365D"/>
                          </a:solidFill>
                          <a:latin typeface="맑은 고딕" pitchFamily="34" charset="0"/>
                          <a:ea typeface="맑은 고딕" pitchFamily="34" charset="-122"/>
                          <a:cs typeface="맑은 고딕" pitchFamily="34" charset="-120"/>
                        </a:rPr>
                        <a:t>저자</a:t>
                      </a:r>
                      <a:endParaRPr lang="en-US" sz="1580" dirty="0">
                        <a:latin typeface="맑은 고딕" charset="0"/>
                        <a:ea typeface="맑은 고딕" charset="0"/>
                        <a:cs typeface="맑은 고딕" charset="0"/>
                      </a:endParaRPr>
                    </a:p>
                  </a:txBody>
                  <a:tcPr marL="133320" marR="133320"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DEEBF7"/>
                    </a:solidFill>
                  </a:tcPr>
                </a:tc>
                <a:tc>
                  <a:txBody>
                    <a:bodyPr/>
                    <a:lstStyle/>
                    <a:p>
                      <a:pPr algn="l" indent="0" marL="0">
                        <a:buNone/>
                      </a:pPr>
                      <a:r>
                        <a:rPr lang="en-US" sz="1580" dirty="0">
                          <a:solidFill>
                            <a:srgbClr val="3B3838"/>
                          </a:solidFill>
                          <a:latin typeface="맑은 고딕" pitchFamily="34" charset="0"/>
                          <a:ea typeface="맑은 고딕" pitchFamily="34" charset="-122"/>
                          <a:cs typeface="맑은 고딕" pitchFamily="34" charset="-120"/>
                        </a:rPr>
                        <a:t>알렉스 오스터왈더 외</a:t>
                      </a:r>
                      <a:endParaRPr lang="en-US" sz="1580" dirty="0">
                        <a:latin typeface="맑은 고딕" charset="0"/>
                        <a:ea typeface="맑은 고딕" charset="0"/>
                        <a:cs typeface="맑은 고딕" charset="0"/>
                      </a:endParaRPr>
                    </a:p>
                  </a:txBody>
                  <a:tcPr marL="133320" marR="133320"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FFFFF"/>
                    </a:solidFill>
                  </a:tcPr>
                </a:tc>
              </a:tr>
              <a:tr h="533370">
                <a:tc>
                  <a:txBody>
                    <a:bodyPr/>
                    <a:lstStyle/>
                    <a:p>
                      <a:pPr algn="ctr" indent="0" marL="0">
                        <a:buNone/>
                      </a:pPr>
                      <a:r>
                        <a:rPr lang="en-US" sz="1580" b="1" dirty="0">
                          <a:solidFill>
                            <a:srgbClr val="17365D"/>
                          </a:solidFill>
                          <a:latin typeface="맑은 고딕" pitchFamily="34" charset="0"/>
                          <a:ea typeface="맑은 고딕" pitchFamily="34" charset="-122"/>
                          <a:cs typeface="맑은 고딕" pitchFamily="34" charset="-120"/>
                        </a:rPr>
                        <a:t>출판</a:t>
                      </a:r>
                      <a:endParaRPr lang="en-US" sz="1580" dirty="0">
                        <a:latin typeface="맑은 고딕" charset="0"/>
                        <a:ea typeface="맑은 고딕" charset="0"/>
                        <a:cs typeface="맑은 고딕" charset="0"/>
                      </a:endParaRPr>
                    </a:p>
                  </a:txBody>
                  <a:tcPr marL="133320" marR="133320"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DEEBF7"/>
                    </a:solidFill>
                  </a:tcPr>
                </a:tc>
                <a:tc>
                  <a:txBody>
                    <a:bodyPr/>
                    <a:lstStyle/>
                    <a:p>
                      <a:pPr algn="l" indent="0" marL="0">
                        <a:buNone/>
                      </a:pPr>
                      <a:r>
                        <a:rPr lang="en-US" sz="1580" dirty="0">
                          <a:solidFill>
                            <a:srgbClr val="3B3838"/>
                          </a:solidFill>
                          <a:latin typeface="맑은 고딕" pitchFamily="34" charset="0"/>
                          <a:ea typeface="맑은 고딕" pitchFamily="34" charset="-122"/>
                          <a:cs typeface="맑은 고딕" pitchFamily="34" charset="-120"/>
                        </a:rPr>
                        <a:t>아르고나인미디어 그룹</a:t>
                      </a:r>
                      <a:endParaRPr lang="en-US" sz="1580" dirty="0">
                        <a:latin typeface="맑은 고딕" charset="0"/>
                        <a:ea typeface="맑은 고딕" charset="0"/>
                        <a:cs typeface="맑은 고딕" charset="0"/>
                      </a:endParaRPr>
                    </a:p>
                  </a:txBody>
                  <a:tcPr marL="133320" marR="133320"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F0F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970" cy="3562320"/>
          </a:xfrm>
          <a:prstGeom prst="rect">
            <a:avLst/>
          </a:prstGeom>
        </p:spPr>
      </p:pic>
      <p:pic>
        <p:nvPicPr>
          <p:cNvPr id="3" name="Image 1" descr="preencoded.png">    </p:cNvPr>
          <p:cNvPicPr>
            <a:picLocks noChangeAspect="1"/>
          </p:cNvPicPr>
          <p:nvPr/>
        </p:nvPicPr>
        <p:blipFill>
          <a:blip r:embed="rId2"/>
          <a:stretch>
            <a:fillRect/>
          </a:stretch>
        </p:blipFill>
        <p:spPr>
          <a:xfrm>
            <a:off x="0" y="3581430"/>
            <a:ext cx="5333970" cy="438180"/>
          </a:xfrm>
          <a:prstGeom prst="rect">
            <a:avLst/>
          </a:prstGeom>
        </p:spPr>
      </p:pic>
      <p:pic>
        <p:nvPicPr>
          <p:cNvPr id="4" name="Image 2" descr="preencoded.png">    </p:cNvPr>
          <p:cNvPicPr>
            <a:picLocks noChangeAspect="1"/>
          </p:cNvPicPr>
          <p:nvPr/>
        </p:nvPicPr>
        <p:blipFill>
          <a:blip r:embed="rId3"/>
          <a:stretch>
            <a:fillRect/>
          </a:stretch>
        </p:blipFill>
        <p:spPr>
          <a:xfrm>
            <a:off x="-57150" y="2324130"/>
            <a:ext cx="1714500" cy="1904970"/>
          </a:xfrm>
          <a:prstGeom prst="rect">
            <a:avLst/>
          </a:prstGeom>
        </p:spPr>
      </p:pic>
      <p:sp>
        <p:nvSpPr>
          <p:cNvPr id="5" name="Text 0"/>
          <p:cNvSpPr/>
          <p:nvPr/>
        </p:nvSpPr>
        <p:spPr>
          <a:xfrm>
            <a:off x="4762470" y="3714750"/>
            <a:ext cx="6934170" cy="609630"/>
          </a:xfrm>
          <a:prstGeom prst="rect">
            <a:avLst/>
          </a:prstGeom>
          <a:noFill/>
          <a:ln/>
        </p:spPr>
        <p:txBody>
          <a:bodyPr wrap="square" lIns="0" tIns="0" rIns="0" bIns="0" rtlCol="0" anchor="t"/>
          <a:lstStyle/>
          <a:p>
            <a:pPr algn="r" indent="0" marL="0">
              <a:buNone/>
            </a:pPr>
            <a:r>
              <a:rPr lang="en-US" sz="3450" b="1" dirty="0">
                <a:solidFill>
                  <a:srgbClr val="17365D"/>
                </a:solidFill>
                <a:latin typeface="맑은 고딕" pitchFamily="34" charset="0"/>
                <a:ea typeface="맑은 고딕" pitchFamily="34" charset="-122"/>
                <a:cs typeface="맑은 고딕" pitchFamily="34" charset="-120"/>
              </a:rPr>
              <a:t>성적 평가</a:t>
            </a:r>
            <a:endParaRPr lang="en-US" sz="3450" dirty="0"/>
          </a:p>
        </p:txBody>
      </p:sp>
      <p:sp>
        <p:nvSpPr>
          <p:cNvPr id="6" name="Text 1"/>
          <p:cNvSpPr/>
          <p:nvPr/>
        </p:nvSpPr>
        <p:spPr>
          <a:xfrm>
            <a:off x="3810030" y="4381530"/>
            <a:ext cx="7886700" cy="666780"/>
          </a:xfrm>
          <a:prstGeom prst="rect">
            <a:avLst/>
          </a:prstGeom>
          <a:noFill/>
          <a:ln/>
        </p:spPr>
        <p:txBody>
          <a:bodyPr wrap="square" lIns="0" tIns="0" rIns="0" bIns="0" rtlCol="0" anchor="t"/>
          <a:lstStyle/>
          <a:p>
            <a:pPr algn="r" indent="0" marL="0">
              <a:lnSpc>
                <a:spcPct val="140000"/>
              </a:lnSpc>
              <a:buNone/>
            </a:pPr>
            <a:r>
              <a:rPr lang="en-US" sz="1580" dirty="0">
                <a:solidFill>
                  <a:srgbClr val="63666B"/>
                </a:solidFill>
                <a:latin typeface="맑은 고딕" pitchFamily="34" charset="0"/>
                <a:ea typeface="맑은 고딕" pitchFamily="34" charset="-122"/>
                <a:cs typeface="맑은 고딕" pitchFamily="34" charset="-120"/>
              </a:rPr>
              <a:t>출석, 중간고사, 기말고사, 과제물 등 성적 평가 방법 소개</a:t>
            </a:r>
            <a:endParaRPr lang="en-US" sz="1580" dirty="0"/>
          </a:p>
        </p:txBody>
      </p:sp>
      <p:pic>
        <p:nvPicPr>
          <p:cNvPr id="7" name="Image 3" descr="preencoded.png">    </p:cNvPr>
          <p:cNvPicPr>
            <a:picLocks noChangeAspect="1"/>
          </p:cNvPicPr>
          <p:nvPr/>
        </p:nvPicPr>
        <p:blipFill>
          <a:blip r:embed="rId4"/>
          <a:stretch>
            <a:fillRect/>
          </a:stretch>
        </p:blipFill>
        <p:spPr>
          <a:xfrm>
            <a:off x="10668030" y="6191220"/>
            <a:ext cx="1162020" cy="41907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FF0F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590520"/>
            <a:ext cx="12191970" cy="6267480"/>
          </a:xfrm>
          <a:prstGeom prst="rect">
            <a:avLst/>
          </a:prstGeom>
        </p:spPr>
      </p:pic>
      <p:pic>
        <p:nvPicPr>
          <p:cNvPr id="3" name="Image 1" descr="preencoded.png">    </p:cNvPr>
          <p:cNvPicPr>
            <a:picLocks noChangeAspect="1"/>
          </p:cNvPicPr>
          <p:nvPr/>
        </p:nvPicPr>
        <p:blipFill>
          <a:blip r:embed="rId2"/>
          <a:stretch>
            <a:fillRect/>
          </a:stretch>
        </p:blipFill>
        <p:spPr>
          <a:xfrm>
            <a:off x="0" y="0"/>
            <a:ext cx="12191970" cy="590520"/>
          </a:xfrm>
          <a:prstGeom prst="rect">
            <a:avLst/>
          </a:prstGeom>
        </p:spPr>
      </p:pic>
      <p:sp>
        <p:nvSpPr>
          <p:cNvPr id="4" name="Shape 0"/>
          <p:cNvSpPr/>
          <p:nvPr/>
        </p:nvSpPr>
        <p:spPr>
          <a:xfrm>
            <a:off x="438180" y="85771"/>
            <a:ext cx="1352580" cy="419070"/>
          </a:xfrm>
          <a:prstGeom prst="rect">
            <a:avLst/>
          </a:prstGeom>
          <a:solidFill>
            <a:srgbClr val="0B4E8A">
              <a:alpha val="66000"/>
            </a:srgbClr>
          </a:solidFill>
          <a:ln/>
        </p:spPr>
      </p:sp>
      <p:sp>
        <p:nvSpPr>
          <p:cNvPr id="5" name="Text 1"/>
          <p:cNvSpPr/>
          <p:nvPr/>
        </p:nvSpPr>
        <p:spPr>
          <a:xfrm>
            <a:off x="438180" y="85771"/>
            <a:ext cx="1352580" cy="419070"/>
          </a:xfrm>
          <a:prstGeom prst="rect">
            <a:avLst/>
          </a:prstGeom>
          <a:noFill/>
          <a:ln/>
        </p:spPr>
        <p:txBody>
          <a:bodyPr wrap="square" lIns="0" tIns="0" rIns="0" bIns="0" rtlCol="0" anchor="ctr"/>
          <a:lstStyle/>
          <a:p>
            <a:pPr algn="ctr" indent="0" marL="0">
              <a:buNone/>
            </a:pPr>
            <a:r>
              <a:rPr lang="en-US" sz="1950" b="1" dirty="0">
                <a:solidFill>
                  <a:srgbClr val="FFF100"/>
                </a:solidFill>
                <a:latin typeface="맑은 고딕" pitchFamily="34" charset="0"/>
                <a:ea typeface="맑은 고딕" pitchFamily="34" charset="-122"/>
                <a:cs typeface="맑은 고딕" pitchFamily="34" charset="-120"/>
              </a:rPr>
              <a:t>성적평가</a:t>
            </a:r>
            <a:endParaRPr lang="en-US" sz="1950" dirty="0"/>
          </a:p>
        </p:txBody>
      </p:sp>
      <p:pic>
        <p:nvPicPr>
          <p:cNvPr id="6" name="Image 2" descr="preencoded.png">    </p:cNvPr>
          <p:cNvPicPr>
            <a:picLocks noChangeAspect="1"/>
          </p:cNvPicPr>
          <p:nvPr/>
        </p:nvPicPr>
        <p:blipFill>
          <a:blip r:embed="rId3"/>
          <a:stretch>
            <a:fillRect/>
          </a:stretch>
        </p:blipFill>
        <p:spPr>
          <a:xfrm>
            <a:off x="10325130" y="76170"/>
            <a:ext cx="1619220" cy="438180"/>
          </a:xfrm>
          <a:prstGeom prst="rect">
            <a:avLst/>
          </a:prstGeom>
        </p:spPr>
      </p:pic>
      <p:sp>
        <p:nvSpPr>
          <p:cNvPr id="7" name="Text 2"/>
          <p:cNvSpPr/>
          <p:nvPr/>
        </p:nvSpPr>
        <p:spPr>
          <a:xfrm>
            <a:off x="0" y="6591270"/>
            <a:ext cx="12191970" cy="190470"/>
          </a:xfrm>
          <a:prstGeom prst="rect">
            <a:avLst/>
          </a:prstGeom>
          <a:noFill/>
          <a:ln/>
        </p:spPr>
        <p:txBody>
          <a:bodyPr wrap="square" lIns="0" tIns="0" rIns="0" bIns="0" rtlCol="0" anchor="t"/>
          <a:lstStyle/>
          <a:p>
            <a:pPr algn="ctr" indent="0" marL="0">
              <a:buNone/>
            </a:pPr>
            <a:r>
              <a:rPr lang="en-US" sz="1130" dirty="0">
                <a:solidFill>
                  <a:srgbClr val="8A8F96"/>
                </a:solidFill>
                <a:latin typeface="Arial" pitchFamily="34" charset="0"/>
                <a:ea typeface="Arial" pitchFamily="34" charset="-122"/>
                <a:cs typeface="Arial" pitchFamily="34" charset="-120"/>
              </a:rPr>
              <a:t>9</a:t>
            </a:r>
            <a:endParaRPr lang="en-US" sz="1130" dirty="0"/>
          </a:p>
        </p:txBody>
      </p:sp>
      <p:sp>
        <p:nvSpPr>
          <p:cNvPr id="8" name="Text 3"/>
          <p:cNvSpPr/>
          <p:nvPr/>
        </p:nvSpPr>
        <p:spPr>
          <a:xfrm>
            <a:off x="495330" y="781080"/>
            <a:ext cx="7619970" cy="438180"/>
          </a:xfrm>
          <a:prstGeom prst="rect">
            <a:avLst/>
          </a:prstGeom>
          <a:noFill/>
          <a:ln/>
        </p:spPr>
        <p:txBody>
          <a:bodyPr wrap="square" lIns="0" tIns="0" rIns="0" bIns="0" rtlCol="0" anchor="t"/>
          <a:lstStyle/>
          <a:p>
            <a:pPr indent="0" marL="0">
              <a:buNone/>
            </a:pPr>
            <a:r>
              <a:rPr lang="en-US" sz="2550" b="1" dirty="0">
                <a:solidFill>
                  <a:srgbClr val="17365D"/>
                </a:solidFill>
                <a:latin typeface="맑은 고딕" pitchFamily="34" charset="0"/>
                <a:ea typeface="맑은 고딕" pitchFamily="34" charset="-122"/>
                <a:cs typeface="맑은 고딕" pitchFamily="34" charset="-120"/>
              </a:rPr>
              <a:t>평가 기준에 따라 적용합니다.</a:t>
            </a:r>
            <a:endParaRPr lang="en-US" sz="2550" dirty="0"/>
          </a:p>
        </p:txBody>
      </p:sp>
      <p:sp>
        <p:nvSpPr>
          <p:cNvPr id="9" name="Text 4"/>
          <p:cNvSpPr/>
          <p:nvPr/>
        </p:nvSpPr>
        <p:spPr>
          <a:xfrm>
            <a:off x="495330" y="1352580"/>
            <a:ext cx="3810030" cy="285750"/>
          </a:xfrm>
          <a:prstGeom prst="rect">
            <a:avLst/>
          </a:prstGeom>
          <a:noFill/>
          <a:ln/>
        </p:spPr>
        <p:txBody>
          <a:bodyPr wrap="square" lIns="0" tIns="0" rIns="0" bIns="0" rtlCol="0" anchor="t"/>
          <a:lstStyle/>
          <a:p>
            <a:pPr indent="0" marL="0">
              <a:buNone/>
            </a:pPr>
            <a:r>
              <a:rPr lang="en-US" sz="1650" b="1" dirty="0">
                <a:solidFill>
                  <a:srgbClr val="005BAC"/>
                </a:solidFill>
                <a:latin typeface="맑은 고딕" pitchFamily="34" charset="0"/>
                <a:ea typeface="맑은 고딕" pitchFamily="34" charset="-122"/>
                <a:cs typeface="맑은 고딕" pitchFamily="34" charset="-120"/>
              </a:rPr>
              <a:t>1. 성적평가</a:t>
            </a:r>
            <a:endParaRPr lang="en-US" sz="16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95330" y="1733520"/>
          <a:ext cx="6762720" cy="914400"/>
        </p:xfrm>
        <a:graphic>
          <a:graphicData uri="http://schemas.openxmlformats.org/drawingml/2006/table">
            <a:tbl>
              <a:tblPr/>
              <a:tblGrid>
                <a:gridCol w="1409730"/>
                <a:gridCol w="1504920"/>
                <a:gridCol w="1504920"/>
                <a:gridCol w="2343150"/>
              </a:tblGrid>
              <a:tr h="552480">
                <a:tc>
                  <a:txBody>
                    <a:bodyPr/>
                    <a:lstStyle/>
                    <a:p>
                      <a:pPr algn="ctr" indent="0" marL="0">
                        <a:buNone/>
                      </a:pPr>
                      <a:r>
                        <a:rPr lang="en-US" sz="1280" b="1" dirty="0">
                          <a:solidFill>
                            <a:srgbClr val="17365D"/>
                          </a:solidFill>
                          <a:latin typeface="맑은 고딕" pitchFamily="34" charset="0"/>
                          <a:ea typeface="맑은 고딕" pitchFamily="34" charset="-122"/>
                          <a:cs typeface="맑은 고딕" pitchFamily="34" charset="-120"/>
                        </a:rPr>
                        <a:t>출석</a:t>
                      </a:r>
                      <a:endParaRPr lang="en-US" sz="1280" dirty="0">
                        <a:latin typeface="맑은 고딕" charset="0"/>
                        <a:ea typeface="맑은 고딕" charset="0"/>
                        <a:cs typeface="맑은 고딕" charset="0"/>
                      </a:endParaRPr>
                    </a:p>
                  </a:txBody>
                  <a:tcPr marL="91440" marR="91440" marT="45720" marB="4572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DEEBF7"/>
                    </a:solidFill>
                  </a:tcPr>
                </a:tc>
                <a:tc>
                  <a:txBody>
                    <a:bodyPr/>
                    <a:lstStyle/>
                    <a:p>
                      <a:pPr algn="ctr" indent="0" marL="0">
                        <a:buNone/>
                      </a:pPr>
                      <a:r>
                        <a:rPr lang="en-US" sz="1280" b="1" dirty="0">
                          <a:solidFill>
                            <a:srgbClr val="17365D"/>
                          </a:solidFill>
                          <a:latin typeface="맑은 고딕" pitchFamily="34" charset="0"/>
                          <a:ea typeface="맑은 고딕" pitchFamily="34" charset="-122"/>
                          <a:cs typeface="맑은 고딕" pitchFamily="34" charset="-120"/>
                        </a:rPr>
                        <a:t>중간시험</a:t>
                      </a:r>
                      <a:endParaRPr lang="en-US" sz="1280" dirty="0">
                        <a:latin typeface="맑은 고딕" charset="0"/>
                        <a:ea typeface="맑은 고딕" charset="0"/>
                        <a:cs typeface="맑은 고딕" charset="0"/>
                      </a:endParaRPr>
                    </a:p>
                  </a:txBody>
                  <a:tcPr marL="91440" marR="91440" marT="45720" marB="4572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DEEBF7"/>
                    </a:solidFill>
                  </a:tcPr>
                </a:tc>
                <a:tc>
                  <a:txBody>
                    <a:bodyPr/>
                    <a:lstStyle/>
                    <a:p>
                      <a:pPr algn="ctr" indent="0" marL="0">
                        <a:buNone/>
                      </a:pPr>
                      <a:r>
                        <a:rPr lang="en-US" sz="1280" b="1" dirty="0">
                          <a:solidFill>
                            <a:srgbClr val="17365D"/>
                          </a:solidFill>
                          <a:latin typeface="맑은 고딕" pitchFamily="34" charset="0"/>
                          <a:ea typeface="맑은 고딕" pitchFamily="34" charset="-122"/>
                          <a:cs typeface="맑은 고딕" pitchFamily="34" charset="-120"/>
                        </a:rPr>
                        <a:t>기말시험</a:t>
                      </a:r>
                      <a:endParaRPr lang="en-US" sz="1280" dirty="0">
                        <a:latin typeface="맑은 고딕" charset="0"/>
                        <a:ea typeface="맑은 고딕" charset="0"/>
                        <a:cs typeface="맑은 고딕" charset="0"/>
                      </a:endParaRPr>
                    </a:p>
                  </a:txBody>
                  <a:tcPr marL="91440" marR="91440" marT="45720" marB="4572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DEEBF7"/>
                    </a:solidFill>
                  </a:tcPr>
                </a:tc>
                <a:tc>
                  <a:txBody>
                    <a:bodyPr/>
                    <a:lstStyle/>
                    <a:p>
                      <a:pPr algn="ctr" indent="0" marL="0">
                        <a:buNone/>
                      </a:pPr>
                      <a:r>
                        <a:rPr lang="en-US" sz="1280" b="1" dirty="0">
                          <a:solidFill>
                            <a:srgbClr val="17365D"/>
                          </a:solidFill>
                          <a:latin typeface="맑은 고딕" pitchFamily="34" charset="0"/>
                          <a:ea typeface="맑은 고딕" pitchFamily="34" charset="-122"/>
                          <a:cs typeface="맑은 고딕" pitchFamily="34" charset="-120"/>
                        </a:rPr>
                        <a:t>과제물제출 및</a:t>
                      </a:r>
                      <a:endParaRPr lang="en-US" sz="1280" dirty="0">
                        <a:latin typeface="맑은 고딕" charset="0"/>
                        <a:ea typeface="맑은 고딕" charset="0"/>
                        <a:cs typeface="맑은 고딕" charset="0"/>
                      </a:endParaRPr>
                    </a:p>
                    <a:p>
                      <a:pPr algn="ctr" indent="0" marL="0">
                        <a:buNone/>
                      </a:pPr>
                      <a:r>
                        <a:rPr lang="en-US" sz="1280" b="1" dirty="0">
                          <a:solidFill>
                            <a:srgbClr val="17365D"/>
                          </a:solidFill>
                          <a:latin typeface="맑은 고딕" pitchFamily="34" charset="0"/>
                          <a:ea typeface="맑은 고딕" pitchFamily="34" charset="-122"/>
                          <a:cs typeface="맑은 고딕" pitchFamily="34" charset="-120"/>
                        </a:rPr>
                        <a:t>참여도(수업태도)</a:t>
                      </a:r>
                      <a:endParaRPr lang="en-US" sz="1280" dirty="0">
                        <a:latin typeface="맑은 고딕" charset="0"/>
                        <a:ea typeface="맑은 고딕" charset="0"/>
                        <a:cs typeface="맑은 고딕" charset="0"/>
                      </a:endParaRPr>
                    </a:p>
                  </a:txBody>
                  <a:tcPr marL="91440" marR="91440" marT="45720" marB="4572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DEEBF7"/>
                    </a:solidFill>
                  </a:tcPr>
                </a:tc>
              </a:tr>
              <a:tr h="495330">
                <a:tc>
                  <a:txBody>
                    <a:bodyPr/>
                    <a:lstStyle/>
                    <a:p>
                      <a:pPr algn="ctr" indent="0" marL="0">
                        <a:buNone/>
                      </a:pPr>
                      <a:r>
                        <a:rPr lang="en-US" sz="1580" b="1" dirty="0">
                          <a:solidFill>
                            <a:srgbClr val="005BAC"/>
                          </a:solidFill>
                          <a:latin typeface="Arial" pitchFamily="34" charset="0"/>
                          <a:ea typeface="Arial" pitchFamily="34" charset="-122"/>
                          <a:cs typeface="Arial" pitchFamily="34" charset="-120"/>
                        </a:rPr>
                        <a:t>20%</a:t>
                      </a:r>
                      <a:endParaRPr lang="en-US" sz="1580" dirty="0">
                        <a:latin typeface="Arial" charset="0"/>
                        <a:ea typeface="Arial" charset="0"/>
                        <a:cs typeface="Arial" charset="0"/>
                      </a:endParaRPr>
                    </a:p>
                  </a:txBody>
                  <a:tcPr marL="91440" marR="91440" marT="45720" marB="4572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FFFFF"/>
                    </a:solidFill>
                  </a:tcPr>
                </a:tc>
                <a:tc>
                  <a:txBody>
                    <a:bodyPr/>
                    <a:lstStyle/>
                    <a:p>
                      <a:pPr algn="ctr" indent="0" marL="0">
                        <a:buNone/>
                      </a:pPr>
                      <a:r>
                        <a:rPr lang="en-US" sz="1580" b="1" dirty="0">
                          <a:solidFill>
                            <a:srgbClr val="005BAC"/>
                          </a:solidFill>
                          <a:latin typeface="Arial" pitchFamily="34" charset="0"/>
                          <a:ea typeface="Arial" pitchFamily="34" charset="-122"/>
                          <a:cs typeface="Arial" pitchFamily="34" charset="-120"/>
                        </a:rPr>
                        <a:t>30%</a:t>
                      </a:r>
                      <a:endParaRPr lang="en-US" sz="1580" dirty="0">
                        <a:latin typeface="Arial" charset="0"/>
                        <a:ea typeface="Arial" charset="0"/>
                        <a:cs typeface="Arial" charset="0"/>
                      </a:endParaRPr>
                    </a:p>
                  </a:txBody>
                  <a:tcPr marL="91440" marR="91440" marT="45720" marB="4572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FFFFF"/>
                    </a:solidFill>
                  </a:tcPr>
                </a:tc>
                <a:tc>
                  <a:txBody>
                    <a:bodyPr/>
                    <a:lstStyle/>
                    <a:p>
                      <a:pPr algn="ctr" indent="0" marL="0">
                        <a:buNone/>
                      </a:pPr>
                      <a:r>
                        <a:rPr lang="en-US" sz="1580" b="1" dirty="0">
                          <a:solidFill>
                            <a:srgbClr val="005BAC"/>
                          </a:solidFill>
                          <a:latin typeface="Arial" pitchFamily="34" charset="0"/>
                          <a:ea typeface="Arial" pitchFamily="34" charset="-122"/>
                          <a:cs typeface="Arial" pitchFamily="34" charset="-120"/>
                        </a:rPr>
                        <a:t>30%</a:t>
                      </a:r>
                      <a:endParaRPr lang="en-US" sz="1580" dirty="0">
                        <a:latin typeface="Arial" charset="0"/>
                        <a:ea typeface="Arial" charset="0"/>
                        <a:cs typeface="Arial" charset="0"/>
                      </a:endParaRPr>
                    </a:p>
                  </a:txBody>
                  <a:tcPr marL="91440" marR="91440" marT="45720" marB="4572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FFFFF"/>
                    </a:solidFill>
                  </a:tcPr>
                </a:tc>
                <a:tc>
                  <a:txBody>
                    <a:bodyPr/>
                    <a:lstStyle/>
                    <a:p>
                      <a:pPr algn="ctr" indent="0" marL="0">
                        <a:buNone/>
                      </a:pPr>
                      <a:r>
                        <a:rPr lang="en-US" sz="1580" b="1" dirty="0">
                          <a:solidFill>
                            <a:srgbClr val="005BAC"/>
                          </a:solidFill>
                          <a:latin typeface="Arial" pitchFamily="34" charset="0"/>
                          <a:ea typeface="Arial" pitchFamily="34" charset="-122"/>
                          <a:cs typeface="Arial" pitchFamily="34" charset="-120"/>
                        </a:rPr>
                        <a:t>20%</a:t>
                      </a:r>
                      <a:endParaRPr lang="en-US" sz="1580" dirty="0">
                        <a:latin typeface="Arial" charset="0"/>
                        <a:ea typeface="Arial" charset="0"/>
                        <a:cs typeface="Arial" charset="0"/>
                      </a:endParaRPr>
                    </a:p>
                  </a:txBody>
                  <a:tcPr marL="91440" marR="91440" marT="45720" marB="4572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FFFFF"/>
                    </a:solidFill>
                  </a:tcPr>
                </a:tc>
              </a:tr>
            </a:tbl>
          </a:graphicData>
        </a:graphic>
      </p:graphicFrame>
      <p:sp>
        <p:nvSpPr>
          <p:cNvPr id="11" name="Shape 5"/>
          <p:cNvSpPr/>
          <p:nvPr/>
        </p:nvSpPr>
        <p:spPr>
          <a:xfrm>
            <a:off x="495330" y="2495580"/>
            <a:ext cx="6762720" cy="1447770"/>
          </a:xfrm>
          <a:prstGeom prst="rect">
            <a:avLst/>
          </a:prstGeom>
          <a:solidFill>
            <a:srgbClr val="F2F7FC"/>
          </a:solidFill>
          <a:ln w="12700">
            <a:solidFill>
              <a:srgbClr val="9DC3E6"/>
            </a:solidFill>
            <a:prstDash val="solid"/>
          </a:ln>
        </p:spPr>
      </p:sp>
      <p:sp>
        <p:nvSpPr>
          <p:cNvPr id="12" name="Text 6"/>
          <p:cNvSpPr/>
          <p:nvPr/>
        </p:nvSpPr>
        <p:spPr>
          <a:xfrm>
            <a:off x="685800" y="2647920"/>
            <a:ext cx="6286500" cy="285750"/>
          </a:xfrm>
          <a:prstGeom prst="rect">
            <a:avLst/>
          </a:prstGeom>
          <a:noFill/>
          <a:ln/>
        </p:spPr>
        <p:txBody>
          <a:bodyPr wrap="square" lIns="0" tIns="0" rIns="0" bIns="0" rtlCol="0" anchor="t"/>
          <a:lstStyle/>
          <a:p>
            <a:pPr indent="0" marL="0">
              <a:buNone/>
            </a:pPr>
            <a:r>
              <a:rPr lang="en-US" sz="1500" b="1" dirty="0">
                <a:solidFill>
                  <a:srgbClr val="17365D"/>
                </a:solidFill>
                <a:latin typeface="맑은 고딕" pitchFamily="34" charset="0"/>
                <a:ea typeface="맑은 고딕" pitchFamily="34" charset="-122"/>
                <a:cs typeface="맑은 고딕" pitchFamily="34" charset="-120"/>
              </a:rPr>
              <a:t>중간고사 : 개인별 과제 및 발표</a:t>
            </a:r>
            <a:endParaRPr lang="en-US" sz="1500" dirty="0"/>
          </a:p>
        </p:txBody>
      </p:sp>
      <p:sp>
        <p:nvSpPr>
          <p:cNvPr id="13" name="Text 7"/>
          <p:cNvSpPr/>
          <p:nvPr/>
        </p:nvSpPr>
        <p:spPr>
          <a:xfrm>
            <a:off x="685800" y="2952780"/>
            <a:ext cx="6286500" cy="285750"/>
          </a:xfrm>
          <a:prstGeom prst="rect">
            <a:avLst/>
          </a:prstGeom>
          <a:noFill/>
          <a:ln/>
        </p:spPr>
        <p:txBody>
          <a:bodyPr wrap="square" lIns="0" tIns="0" rIns="0" bIns="0" rtlCol="0" anchor="t"/>
          <a:lstStyle/>
          <a:p>
            <a:pPr indent="0" marL="0">
              <a:buNone/>
            </a:pPr>
            <a:r>
              <a:rPr lang="en-US" sz="1500" b="1" dirty="0">
                <a:solidFill>
                  <a:srgbClr val="17365D"/>
                </a:solidFill>
                <a:latin typeface="맑은 고딕" pitchFamily="34" charset="0"/>
                <a:ea typeface="맑은 고딕" pitchFamily="34" charset="-122"/>
                <a:cs typeface="맑은 고딕" pitchFamily="34" charset="-120"/>
              </a:rPr>
              <a:t>기말고사 : write-up</a:t>
            </a:r>
            <a:endParaRPr lang="en-US" sz="1500" dirty="0"/>
          </a:p>
        </p:txBody>
      </p:sp>
      <p:sp>
        <p:nvSpPr>
          <p:cNvPr id="14" name="Text 8"/>
          <p:cNvSpPr/>
          <p:nvPr/>
        </p:nvSpPr>
        <p:spPr>
          <a:xfrm>
            <a:off x="800100" y="3276570"/>
            <a:ext cx="6096030" cy="590520"/>
          </a:xfrm>
          <a:prstGeom prst="rect">
            <a:avLst/>
          </a:prstGeom>
          <a:noFill/>
          <a:ln/>
        </p:spPr>
        <p:txBody>
          <a:bodyPr wrap="square" lIns="0" tIns="0" rIns="0" bIns="0" rtlCol="0" anchor="t"/>
          <a:lstStyle/>
          <a:p>
            <a:pPr marL="342900" indent="-342900">
              <a:spcAft>
                <a:spcPts val="450"/>
              </a:spcAft>
              <a:buSzPct val="100000"/>
              <a:buChar char="•"/>
            </a:pPr>
            <a:r>
              <a:rPr lang="en-US" sz="1280" dirty="0">
                <a:solidFill>
                  <a:srgbClr val="3B3838"/>
                </a:solidFill>
                <a:latin typeface="맑은 고딕" pitchFamily="34" charset="0"/>
                <a:ea typeface="맑은 고딕" pitchFamily="34" charset="-122"/>
                <a:cs typeface="맑은 고딕" pitchFamily="34" charset="-120"/>
              </a:rPr>
              <a:t>아이디어의 독창성 : </a:t>
            </a:r>
            <a:pPr indent="0" marL="0">
              <a:spcAft>
                <a:spcPts val="450"/>
              </a:spcAft>
              <a:buNone/>
            </a:pPr>
            <a:r>
              <a:rPr lang="en-US" sz="1280" b="1" dirty="0">
                <a:solidFill>
                  <a:srgbClr val="C00000"/>
                </a:solidFill>
                <a:latin typeface="맑은 고딕" pitchFamily="34" charset="0"/>
                <a:ea typeface="맑은 고딕" pitchFamily="34" charset="-122"/>
                <a:cs typeface="맑은 고딕" pitchFamily="34" charset="-120"/>
              </a:rPr>
              <a:t>15점</a:t>
            </a:r>
            <a:endParaRPr lang="en-US" sz="1280" dirty="0"/>
          </a:p>
          <a:p>
            <a:pPr marL="342900" indent="-342900">
              <a:spcAft>
                <a:spcPts val="450"/>
              </a:spcAft>
              <a:buSzPct val="100000"/>
              <a:buChar char="•"/>
            </a:pPr>
            <a:r>
              <a:rPr lang="en-US" sz="1280" dirty="0">
                <a:solidFill>
                  <a:srgbClr val="3B3838"/>
                </a:solidFill>
                <a:latin typeface="맑은 고딕" pitchFamily="34" charset="0"/>
                <a:ea typeface="맑은 고딕" pitchFamily="34" charset="-122"/>
                <a:cs typeface="맑은 고딕" pitchFamily="34" charset="-120"/>
              </a:rPr>
              <a:t>비지니스의 성공가능성 : </a:t>
            </a:r>
            <a:pPr indent="0" marL="0">
              <a:spcAft>
                <a:spcPts val="450"/>
              </a:spcAft>
              <a:buNone/>
            </a:pPr>
            <a:r>
              <a:rPr lang="en-US" sz="1280" b="1" dirty="0">
                <a:solidFill>
                  <a:srgbClr val="C00000"/>
                </a:solidFill>
                <a:latin typeface="맑은 고딕" pitchFamily="34" charset="0"/>
                <a:ea typeface="맑은 고딕" pitchFamily="34" charset="-122"/>
                <a:cs typeface="맑은 고딕" pitchFamily="34" charset="-120"/>
              </a:rPr>
              <a:t>15점</a:t>
            </a:r>
            <a:endParaRPr lang="en-US" sz="1280" dirty="0"/>
          </a:p>
        </p:txBody>
      </p:sp>
      <p:sp>
        <p:nvSpPr>
          <p:cNvPr id="15" name="Shape 9"/>
          <p:cNvSpPr/>
          <p:nvPr/>
        </p:nvSpPr>
        <p:spPr>
          <a:xfrm>
            <a:off x="495330" y="4133820"/>
            <a:ext cx="6762720" cy="571500"/>
          </a:xfrm>
          <a:prstGeom prst="rect">
            <a:avLst/>
          </a:prstGeom>
          <a:solidFill>
            <a:srgbClr val="FFFFFF"/>
          </a:solidFill>
          <a:ln w="12700">
            <a:solidFill>
              <a:srgbClr val="D4DCE6"/>
            </a:solidFill>
            <a:prstDash val="solid"/>
          </a:ln>
        </p:spPr>
      </p:sp>
      <p:sp>
        <p:nvSpPr>
          <p:cNvPr id="16" name="Shape 10"/>
          <p:cNvSpPr/>
          <p:nvPr/>
        </p:nvSpPr>
        <p:spPr>
          <a:xfrm>
            <a:off x="495330" y="4133820"/>
            <a:ext cx="57150" cy="571500"/>
          </a:xfrm>
          <a:prstGeom prst="rect">
            <a:avLst/>
          </a:prstGeom>
          <a:solidFill>
            <a:srgbClr val="ED7D31"/>
          </a:solidFill>
          <a:ln/>
        </p:spPr>
      </p:sp>
      <p:sp>
        <p:nvSpPr>
          <p:cNvPr id="17" name="Text 11"/>
          <p:cNvSpPr/>
          <p:nvPr/>
        </p:nvSpPr>
        <p:spPr>
          <a:xfrm>
            <a:off x="666780" y="4286250"/>
            <a:ext cx="285750" cy="266730"/>
          </a:xfrm>
          <a:prstGeom prst="rect">
            <a:avLst/>
          </a:prstGeom>
          <a:noFill/>
          <a:ln/>
        </p:spPr>
        <p:txBody>
          <a:bodyPr wrap="square" lIns="0" tIns="0" rIns="0" bIns="0" rtlCol="0" anchor="t"/>
          <a:lstStyle/>
          <a:p>
            <a:pPr indent="0" marL="0">
              <a:buNone/>
            </a:pPr>
            <a:r>
              <a:rPr lang="en-US" sz="1500" dirty="0">
                <a:solidFill>
                  <a:srgbClr val="3B3838"/>
                </a:solidFill>
                <a:latin typeface="맑은 고딕" pitchFamily="34" charset="0"/>
                <a:ea typeface="맑은 고딕" pitchFamily="34" charset="-122"/>
                <a:cs typeface="맑은 고딕" pitchFamily="34" charset="-120"/>
              </a:rPr>
              <a:t>📍</a:t>
            </a:r>
            <a:endParaRPr lang="en-US" sz="1500" dirty="0"/>
          </a:p>
        </p:txBody>
      </p:sp>
      <p:sp>
        <p:nvSpPr>
          <p:cNvPr id="18" name="Text 12"/>
          <p:cNvSpPr/>
          <p:nvPr/>
        </p:nvSpPr>
        <p:spPr>
          <a:xfrm>
            <a:off x="1009680" y="4133820"/>
            <a:ext cx="6096030" cy="571500"/>
          </a:xfrm>
          <a:prstGeom prst="rect">
            <a:avLst/>
          </a:prstGeom>
          <a:noFill/>
          <a:ln/>
        </p:spPr>
        <p:txBody>
          <a:bodyPr wrap="square" lIns="0" tIns="0" rIns="0" bIns="0" rtlCol="0" anchor="ctr"/>
          <a:lstStyle/>
          <a:p>
            <a:pPr indent="0" marL="0">
              <a:buNone/>
            </a:pPr>
            <a:r>
              <a:rPr lang="en-US" sz="1280" b="1" dirty="0">
                <a:solidFill>
                  <a:srgbClr val="005BAC"/>
                </a:solidFill>
                <a:latin typeface="맑은 고딕" pitchFamily="34" charset="0"/>
                <a:ea typeface="맑은 고딕" pitchFamily="34" charset="-122"/>
                <a:cs typeface="맑은 고딕" pitchFamily="34" charset="-120"/>
              </a:rPr>
              <a:t>취·창업 및 진로상담</a:t>
            </a:r>
            <a:pPr indent="0" marL="0">
              <a:buNone/>
            </a:pPr>
            <a:r>
              <a:rPr lang="en-US" sz="1280" dirty="0">
                <a:solidFill>
                  <a:srgbClr val="3B3838"/>
                </a:solidFill>
                <a:latin typeface="맑은 고딕" pitchFamily="34" charset="0"/>
                <a:ea typeface="맑은 고딕" pitchFamily="34" charset="-122"/>
                <a:cs typeface="맑은 고딕" pitchFamily="34" charset="-120"/>
              </a:rPr>
              <a:t> 참여는 과제물·수업태도 영역에 가산한다.</a:t>
            </a:r>
            <a:endParaRPr lang="en-US" sz="1280" dirty="0"/>
          </a:p>
        </p:txBody>
      </p:sp>
      <p:sp>
        <p:nvSpPr>
          <p:cNvPr id="19" name="Shape 13"/>
          <p:cNvSpPr/>
          <p:nvPr/>
        </p:nvSpPr>
        <p:spPr>
          <a:xfrm>
            <a:off x="9810780" y="1295430"/>
            <a:ext cx="1904970" cy="419070"/>
          </a:xfrm>
          <a:prstGeom prst="rect">
            <a:avLst/>
          </a:prstGeom>
          <a:solidFill>
            <a:srgbClr val="005BAC"/>
          </a:solidFill>
          <a:ln/>
        </p:spPr>
      </p:sp>
      <p:sp>
        <p:nvSpPr>
          <p:cNvPr id="20" name="Text 14"/>
          <p:cNvSpPr/>
          <p:nvPr/>
        </p:nvSpPr>
        <p:spPr>
          <a:xfrm>
            <a:off x="9810780" y="1295430"/>
            <a:ext cx="1904970" cy="419070"/>
          </a:xfrm>
          <a:prstGeom prst="rect">
            <a:avLst/>
          </a:prstGeom>
          <a:noFill/>
          <a:ln/>
        </p:spPr>
        <p:txBody>
          <a:bodyPr wrap="square" lIns="0" tIns="0" rIns="0" bIns="0" rtlCol="0" anchor="ctr"/>
          <a:lstStyle/>
          <a:p>
            <a:pPr algn="ctr" indent="0" marL="0">
              <a:buNone/>
            </a:pPr>
            <a:r>
              <a:rPr lang="en-US" sz="1650" b="1" dirty="0">
                <a:solidFill>
                  <a:srgbClr val="FFFFFF"/>
                </a:solidFill>
                <a:latin typeface="Arial" pitchFamily="34" charset="0"/>
                <a:ea typeface="Arial" pitchFamily="34" charset="-122"/>
                <a:cs typeface="Arial" pitchFamily="34" charset="-120"/>
              </a:rPr>
              <a:t>+  </a:t>
            </a:r>
            <a:pPr algn="ctr" indent="0" marL="0">
              <a:buNone/>
            </a:pPr>
            <a:r>
              <a:rPr lang="en-US" sz="1200" b="1" dirty="0">
                <a:solidFill>
                  <a:srgbClr val="FFFFFF"/>
                </a:solidFill>
                <a:latin typeface="맑은 고딕" pitchFamily="34" charset="0"/>
                <a:ea typeface="맑은 고딕" pitchFamily="34" charset="-122"/>
                <a:cs typeface="맑은 고딕" pitchFamily="34" charset="-120"/>
              </a:rPr>
              <a:t>취·창업 및 진로상담</a:t>
            </a:r>
            <a:endParaRPr lang="en-US" sz="1650" dirty="0"/>
          </a:p>
        </p:txBody>
      </p:sp>
      <p:graphicFrame>
        <p:nvGraphicFramePr>
          <p:cNvPr id="21" name="Chart 0" descr=""/>
          <p:cNvGraphicFramePr/>
          <p:nvPr/>
        </p:nvGraphicFramePr>
        <p:xfrm>
          <a:off x="7810530" y="1904970"/>
          <a:ext cx="3810030" cy="3810030"/>
        </p:xfrm>
        <a:graphic xmlns:a="http://schemas.openxmlformats.org/drawingml/2006/main">
          <a:graphicData uri="http://schemas.openxmlformats.org/drawingml/2006/chart">
            <c:chart xmlns:c="http://schemas.openxmlformats.org/drawingml/2006/chart" r:id="rId4"/>
          </a:graphicData>
        </a:graphic>
      </p:graphicFrame>
      <p:sp>
        <p:nvSpPr>
          <p:cNvPr id="22" name="Text 15"/>
          <p:cNvSpPr/>
          <p:nvPr/>
        </p:nvSpPr>
        <p:spPr>
          <a:xfrm>
            <a:off x="8953530" y="3448020"/>
            <a:ext cx="1524030" cy="723930"/>
          </a:xfrm>
          <a:prstGeom prst="rect">
            <a:avLst/>
          </a:prstGeom>
          <a:noFill/>
          <a:ln/>
        </p:spPr>
        <p:txBody>
          <a:bodyPr wrap="square" lIns="0" tIns="0" rIns="0" bIns="0" rtlCol="0" anchor="t"/>
          <a:lstStyle/>
          <a:p>
            <a:pPr algn="ctr" indent="0" marL="0">
              <a:buNone/>
            </a:pPr>
            <a:r>
              <a:rPr lang="en-US" sz="2700" b="1" dirty="0">
                <a:solidFill>
                  <a:srgbClr val="17365D"/>
                </a:solidFill>
                <a:latin typeface="Arial" pitchFamily="34" charset="0"/>
                <a:ea typeface="Arial" pitchFamily="34" charset="-122"/>
                <a:cs typeface="Arial" pitchFamily="34" charset="-120"/>
              </a:rPr>
              <a:t>100
</a:t>
            </a:r>
            <a:pPr algn="ctr" indent="0" marL="0">
              <a:buNone/>
            </a:pPr>
            <a:r>
              <a:rPr lang="en-US" sz="1130" b="1" dirty="0">
                <a:solidFill>
                  <a:srgbClr val="63666B"/>
                </a:solidFill>
                <a:latin typeface="맑은 고딕" pitchFamily="34" charset="0"/>
                <a:ea typeface="맑은 고딕" pitchFamily="34" charset="-122"/>
                <a:cs typeface="맑은 고딕" pitchFamily="34" charset="-120"/>
              </a:rPr>
              <a:t>총점</a:t>
            </a:r>
            <a:endParaRPr lang="en-US" sz="2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FF0F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590520"/>
            <a:ext cx="12191970" cy="6267480"/>
          </a:xfrm>
          <a:prstGeom prst="rect">
            <a:avLst/>
          </a:prstGeom>
        </p:spPr>
      </p:pic>
      <p:pic>
        <p:nvPicPr>
          <p:cNvPr id="3" name="Image 1" descr="preencoded.png">    </p:cNvPr>
          <p:cNvPicPr>
            <a:picLocks noChangeAspect="1"/>
          </p:cNvPicPr>
          <p:nvPr/>
        </p:nvPicPr>
        <p:blipFill>
          <a:blip r:embed="rId2"/>
          <a:stretch>
            <a:fillRect/>
          </a:stretch>
        </p:blipFill>
        <p:spPr>
          <a:xfrm>
            <a:off x="0" y="0"/>
            <a:ext cx="12191970" cy="590520"/>
          </a:xfrm>
          <a:prstGeom prst="rect">
            <a:avLst/>
          </a:prstGeom>
        </p:spPr>
      </p:pic>
      <p:sp>
        <p:nvSpPr>
          <p:cNvPr id="4" name="Shape 0"/>
          <p:cNvSpPr/>
          <p:nvPr/>
        </p:nvSpPr>
        <p:spPr>
          <a:xfrm>
            <a:off x="438180" y="85771"/>
            <a:ext cx="1352580" cy="419070"/>
          </a:xfrm>
          <a:prstGeom prst="rect">
            <a:avLst/>
          </a:prstGeom>
          <a:solidFill>
            <a:srgbClr val="0B4E8A">
              <a:alpha val="66000"/>
            </a:srgbClr>
          </a:solidFill>
          <a:ln/>
        </p:spPr>
      </p:sp>
      <p:sp>
        <p:nvSpPr>
          <p:cNvPr id="5" name="Text 1"/>
          <p:cNvSpPr/>
          <p:nvPr/>
        </p:nvSpPr>
        <p:spPr>
          <a:xfrm>
            <a:off x="438180" y="85771"/>
            <a:ext cx="1352580" cy="419070"/>
          </a:xfrm>
          <a:prstGeom prst="rect">
            <a:avLst/>
          </a:prstGeom>
          <a:noFill/>
          <a:ln/>
        </p:spPr>
        <p:txBody>
          <a:bodyPr wrap="square" lIns="0" tIns="0" rIns="0" bIns="0" rtlCol="0" anchor="ctr"/>
          <a:lstStyle/>
          <a:p>
            <a:pPr algn="ctr" indent="0" marL="0">
              <a:buNone/>
            </a:pPr>
            <a:r>
              <a:rPr lang="en-US" sz="1950" b="1" dirty="0">
                <a:solidFill>
                  <a:srgbClr val="FFF100"/>
                </a:solidFill>
                <a:latin typeface="맑은 고딕" pitchFamily="34" charset="0"/>
                <a:ea typeface="맑은 고딕" pitchFamily="34" charset="-122"/>
                <a:cs typeface="맑은 고딕" pitchFamily="34" charset="-120"/>
              </a:rPr>
              <a:t>성적평가</a:t>
            </a:r>
            <a:endParaRPr lang="en-US" sz="1950" dirty="0"/>
          </a:p>
        </p:txBody>
      </p:sp>
      <p:pic>
        <p:nvPicPr>
          <p:cNvPr id="6" name="Image 2" descr="preencoded.png">    </p:cNvPr>
          <p:cNvPicPr>
            <a:picLocks noChangeAspect="1"/>
          </p:cNvPicPr>
          <p:nvPr/>
        </p:nvPicPr>
        <p:blipFill>
          <a:blip r:embed="rId3"/>
          <a:stretch>
            <a:fillRect/>
          </a:stretch>
        </p:blipFill>
        <p:spPr>
          <a:xfrm>
            <a:off x="10325130" y="76170"/>
            <a:ext cx="1619220" cy="438180"/>
          </a:xfrm>
          <a:prstGeom prst="rect">
            <a:avLst/>
          </a:prstGeom>
        </p:spPr>
      </p:pic>
      <p:sp>
        <p:nvSpPr>
          <p:cNvPr id="7" name="Text 2"/>
          <p:cNvSpPr/>
          <p:nvPr/>
        </p:nvSpPr>
        <p:spPr>
          <a:xfrm>
            <a:off x="0" y="6591270"/>
            <a:ext cx="12191970" cy="190470"/>
          </a:xfrm>
          <a:prstGeom prst="rect">
            <a:avLst/>
          </a:prstGeom>
          <a:noFill/>
          <a:ln/>
        </p:spPr>
        <p:txBody>
          <a:bodyPr wrap="square" lIns="0" tIns="0" rIns="0" bIns="0" rtlCol="0" anchor="t"/>
          <a:lstStyle/>
          <a:p>
            <a:pPr algn="ctr" indent="0" marL="0">
              <a:buNone/>
            </a:pPr>
            <a:r>
              <a:rPr lang="en-US" sz="1130" dirty="0">
                <a:solidFill>
                  <a:srgbClr val="8A8F96"/>
                </a:solidFill>
                <a:latin typeface="Arial" pitchFamily="34" charset="0"/>
                <a:ea typeface="Arial" pitchFamily="34" charset="-122"/>
                <a:cs typeface="Arial" pitchFamily="34" charset="-120"/>
              </a:rPr>
              <a:t>10</a:t>
            </a:r>
            <a:endParaRPr lang="en-US" sz="1130" dirty="0"/>
          </a:p>
        </p:txBody>
      </p:sp>
      <p:sp>
        <p:nvSpPr>
          <p:cNvPr id="8" name="Shape 3"/>
          <p:cNvSpPr/>
          <p:nvPr/>
        </p:nvSpPr>
        <p:spPr>
          <a:xfrm>
            <a:off x="495330" y="800100"/>
            <a:ext cx="11201400" cy="571500"/>
          </a:xfrm>
          <a:prstGeom prst="rect">
            <a:avLst/>
          </a:prstGeom>
          <a:solidFill>
            <a:srgbClr val="FFFFFF"/>
          </a:solidFill>
          <a:ln w="12700">
            <a:solidFill>
              <a:srgbClr val="D4DCE6"/>
            </a:solidFill>
            <a:prstDash val="solid"/>
          </a:ln>
        </p:spPr>
      </p:sp>
      <p:sp>
        <p:nvSpPr>
          <p:cNvPr id="9" name="Shape 4"/>
          <p:cNvSpPr/>
          <p:nvPr/>
        </p:nvSpPr>
        <p:spPr>
          <a:xfrm>
            <a:off x="495330" y="800100"/>
            <a:ext cx="57150" cy="571500"/>
          </a:xfrm>
          <a:prstGeom prst="rect">
            <a:avLst/>
          </a:prstGeom>
          <a:solidFill>
            <a:srgbClr val="005BAC"/>
          </a:solidFill>
          <a:ln/>
        </p:spPr>
      </p:sp>
      <p:sp>
        <p:nvSpPr>
          <p:cNvPr id="10" name="Text 5"/>
          <p:cNvSpPr/>
          <p:nvPr/>
        </p:nvSpPr>
        <p:spPr>
          <a:xfrm>
            <a:off x="685800" y="952530"/>
            <a:ext cx="304770" cy="285750"/>
          </a:xfrm>
          <a:prstGeom prst="rect">
            <a:avLst/>
          </a:prstGeom>
          <a:noFill/>
          <a:ln/>
        </p:spPr>
        <p:txBody>
          <a:bodyPr wrap="square" lIns="0" tIns="0" rIns="0" bIns="0" rtlCol="0" anchor="t"/>
          <a:lstStyle/>
          <a:p>
            <a:pPr indent="0" marL="0">
              <a:buNone/>
            </a:pPr>
            <a:r>
              <a:rPr lang="en-US" sz="1650" dirty="0">
                <a:solidFill>
                  <a:srgbClr val="3B3838"/>
                </a:solidFill>
                <a:latin typeface="맑은 고딕" pitchFamily="34" charset="0"/>
                <a:ea typeface="맑은 고딕" pitchFamily="34" charset="-122"/>
                <a:cs typeface="맑은 고딕" pitchFamily="34" charset="-120"/>
              </a:rPr>
              <a:t>📱</a:t>
            </a:r>
            <a:endParaRPr lang="en-US" sz="1650" dirty="0"/>
          </a:p>
        </p:txBody>
      </p:sp>
      <p:sp>
        <p:nvSpPr>
          <p:cNvPr id="11" name="Text 6"/>
          <p:cNvSpPr/>
          <p:nvPr/>
        </p:nvSpPr>
        <p:spPr>
          <a:xfrm>
            <a:off x="1066830" y="800100"/>
            <a:ext cx="10382280" cy="571500"/>
          </a:xfrm>
          <a:prstGeom prst="rect">
            <a:avLst/>
          </a:prstGeom>
          <a:noFill/>
          <a:ln/>
        </p:spPr>
        <p:txBody>
          <a:bodyPr wrap="square" lIns="0" tIns="0" rIns="0" bIns="0" rtlCol="0" anchor="ctr"/>
          <a:lstStyle/>
          <a:p>
            <a:pPr indent="0" marL="0">
              <a:buNone/>
            </a:pPr>
            <a:r>
              <a:rPr lang="en-US" sz="1580" b="1" dirty="0">
                <a:solidFill>
                  <a:srgbClr val="17365D"/>
                </a:solidFill>
                <a:latin typeface="맑은 고딕" pitchFamily="34" charset="0"/>
                <a:ea typeface="맑은 고딕" pitchFamily="34" charset="-122"/>
                <a:cs typeface="맑은 고딕" pitchFamily="34" charset="-120"/>
              </a:rPr>
              <a:t>출석 :</a:t>
            </a:r>
            <a:pPr indent="0" marL="0">
              <a:buNone/>
            </a:pPr>
            <a:r>
              <a:rPr lang="en-US" sz="1580" b="1" dirty="0">
                <a:solidFill>
                  <a:srgbClr val="17365D"/>
                </a:solidFill>
                <a:latin typeface="맑은 고딕" pitchFamily="34" charset="0"/>
                <a:ea typeface="맑은 고딕" pitchFamily="34" charset="-122"/>
                <a:cs typeface="맑은 고딕" pitchFamily="34" charset="-120"/>
              </a:rPr>
              <a:t>  1. 전자출결(</a:t>
            </a:r>
            <a:pPr indent="0" marL="0">
              <a:buNone/>
            </a:pPr>
            <a:r>
              <a:rPr lang="en-US" sz="1580" b="1" dirty="0">
                <a:solidFill>
                  <a:srgbClr val="005BAC"/>
                </a:solidFill>
                <a:latin typeface="맑은 고딕" pitchFamily="34" charset="0"/>
                <a:ea typeface="맑은 고딕" pitchFamily="34" charset="-122"/>
                <a:cs typeface="맑은 고딕" pitchFamily="34" charset="-120"/>
              </a:rPr>
              <a:t>헤이영</a:t>
            </a:r>
            <a:pPr indent="0" marL="0">
              <a:buNone/>
            </a:pPr>
            <a:r>
              <a:rPr lang="en-US" sz="1580" b="1" dirty="0">
                <a:solidFill>
                  <a:srgbClr val="17365D"/>
                </a:solidFill>
                <a:latin typeface="맑은 고딕" pitchFamily="34" charset="0"/>
                <a:ea typeface="맑은 고딕" pitchFamily="34" charset="-122"/>
                <a:cs typeface="맑은 고딕" pitchFamily="34" charset="-120"/>
              </a:rPr>
              <a:t>) — 유연한 출결 관리 불가</a:t>
            </a:r>
            <a:endParaRPr lang="en-US" sz="1580" dirty="0"/>
          </a:p>
        </p:txBody>
      </p:sp>
      <p:sp>
        <p:nvSpPr>
          <p:cNvPr id="12" name="Text 7"/>
          <p:cNvSpPr/>
          <p:nvPr/>
        </p:nvSpPr>
        <p:spPr>
          <a:xfrm>
            <a:off x="495330" y="1581180"/>
            <a:ext cx="8572500" cy="285750"/>
          </a:xfrm>
          <a:prstGeom prst="rect">
            <a:avLst/>
          </a:prstGeom>
          <a:noFill/>
          <a:ln/>
        </p:spPr>
        <p:txBody>
          <a:bodyPr wrap="square" lIns="0" tIns="0" rIns="0" bIns="0" rtlCol="0" anchor="t"/>
          <a:lstStyle/>
          <a:p>
            <a:pPr indent="0" marL="0">
              <a:buNone/>
            </a:pPr>
            <a:r>
              <a:rPr lang="en-US" sz="1650" b="1" dirty="0">
                <a:solidFill>
                  <a:srgbClr val="005BAC"/>
                </a:solidFill>
                <a:latin typeface="맑은 고딕" pitchFamily="34" charset="0"/>
                <a:ea typeface="맑은 고딕" pitchFamily="34" charset="-122"/>
                <a:cs typeface="맑은 고딕" pitchFamily="34" charset="-120"/>
              </a:rPr>
              <a:t>2. 공결 기준 </a:t>
            </a:r>
            <a:pPr indent="0" marL="0">
              <a:buNone/>
            </a:pPr>
            <a:r>
              <a:rPr lang="en-US" sz="1130" dirty="0">
                <a:solidFill>
                  <a:srgbClr val="63666B"/>
                </a:solidFill>
                <a:latin typeface="맑은 고딕" pitchFamily="34" charset="0"/>
                <a:ea typeface="맑은 고딕" pitchFamily="34" charset="-122"/>
                <a:cs typeface="맑은 고딕" pitchFamily="34" charset="-120"/>
              </a:rPr>
              <a:t>(* 자세한 내용은 학교 홈페이지 참조)</a:t>
            </a:r>
            <a:endParaRPr lang="en-US" sz="1650" dirty="0"/>
          </a:p>
        </p:txBody>
      </p:sp>
      <p:sp>
        <p:nvSpPr>
          <p:cNvPr id="13" name="Text 8"/>
          <p:cNvSpPr/>
          <p:nvPr/>
        </p:nvSpPr>
        <p:spPr>
          <a:xfrm>
            <a:off x="495330" y="1962120"/>
            <a:ext cx="11144250" cy="2190720"/>
          </a:xfrm>
          <a:prstGeom prst="rect">
            <a:avLst/>
          </a:prstGeom>
          <a:noFill/>
          <a:ln/>
        </p:spPr>
        <p:txBody>
          <a:bodyPr wrap="square" lIns="0" tIns="0" rIns="0" bIns="0" rtlCol="0" anchor="t"/>
          <a:lstStyle/>
          <a:p>
            <a:pPr marL="342900" indent="-342900">
              <a:spcAft>
                <a:spcPts val="680"/>
              </a:spcAft>
              <a:buSzPct val="100000"/>
              <a:buChar char="➢"/>
            </a:pPr>
            <a:r>
              <a:rPr lang="en-US" sz="1280" dirty="0">
                <a:solidFill>
                  <a:srgbClr val="3B3838"/>
                </a:solidFill>
                <a:latin typeface="맑은 고딕" pitchFamily="34" charset="0"/>
                <a:ea typeface="맑은 고딕" pitchFamily="34" charset="-122"/>
                <a:cs typeface="맑은 고딕" pitchFamily="34" charset="-120"/>
              </a:rPr>
              <a:t>국가에서 부과한 의무를 이행한 경우 (예: 병무 관련 신체검사, 예비군 훈련)</a:t>
            </a:r>
            <a:endParaRPr lang="en-US" sz="1280" dirty="0"/>
          </a:p>
          <a:p>
            <a:pPr marL="342900" indent="-342900">
              <a:spcAft>
                <a:spcPts val="680"/>
              </a:spcAft>
              <a:buSzPct val="100000"/>
              <a:buChar char="➢"/>
            </a:pPr>
            <a:r>
              <a:rPr lang="en-US" sz="1280" dirty="0">
                <a:solidFill>
                  <a:srgbClr val="3B3838"/>
                </a:solidFill>
                <a:latin typeface="맑은 고딕" pitchFamily="34" charset="0"/>
                <a:ea typeface="맑은 고딕" pitchFamily="34" charset="-122"/>
                <a:cs typeface="맑은 고딕" pitchFamily="34" charset="-120"/>
              </a:rPr>
              <a:t>총장이 인정한 국제 또는 국내 행사나 각종 대회에 참가한 경우</a:t>
            </a:r>
            <a:endParaRPr lang="en-US" sz="1280" dirty="0"/>
          </a:p>
          <a:p>
            <a:pPr marL="342900" indent="-342900">
              <a:spcAft>
                <a:spcPts val="680"/>
              </a:spcAft>
              <a:buSzPct val="100000"/>
              <a:buChar char="➢"/>
            </a:pPr>
            <a:r>
              <a:rPr lang="en-US" sz="1280" dirty="0">
                <a:solidFill>
                  <a:srgbClr val="3B3838"/>
                </a:solidFill>
                <a:latin typeface="맑은 고딕" pitchFamily="34" charset="0"/>
                <a:ea typeface="맑은 고딕" pitchFamily="34" charset="-122"/>
                <a:cs typeface="맑은 고딕" pitchFamily="34" charset="-120"/>
              </a:rPr>
              <a:t>정부기관의 요청에 의한 특별회합 참가의 경우</a:t>
            </a:r>
            <a:endParaRPr lang="en-US" sz="1280" dirty="0"/>
          </a:p>
          <a:p>
            <a:pPr marL="342900" indent="-342900">
              <a:spcAft>
                <a:spcPts val="680"/>
              </a:spcAft>
              <a:buSzPct val="100000"/>
              <a:buChar char="➢"/>
            </a:pPr>
            <a:r>
              <a:rPr lang="en-US" sz="1280" dirty="0">
                <a:solidFill>
                  <a:srgbClr val="3B3838"/>
                </a:solidFill>
                <a:latin typeface="맑은 고딕" pitchFamily="34" charset="0"/>
                <a:ea typeface="맑은 고딕" pitchFamily="34" charset="-122"/>
                <a:cs typeface="맑은 고딕" pitchFamily="34" charset="-120"/>
              </a:rPr>
              <a:t>경조사의 경우</a:t>
            </a:r>
            <a:endParaRPr lang="en-US" sz="1280" dirty="0"/>
          </a:p>
          <a:p>
            <a:pPr marL="342900" indent="-342900">
              <a:spcAft>
                <a:spcPts val="680"/>
              </a:spcAft>
              <a:buSzPct val="100000"/>
              <a:buChar char="➢"/>
            </a:pPr>
            <a:r>
              <a:rPr lang="en-US" sz="1280" dirty="0">
                <a:solidFill>
                  <a:srgbClr val="3B3838"/>
                </a:solidFill>
                <a:latin typeface="맑은 고딕" pitchFamily="34" charset="0"/>
                <a:ea typeface="맑은 고딕" pitchFamily="34" charset="-122"/>
                <a:cs typeface="맑은 고딕" pitchFamily="34" charset="-120"/>
              </a:rPr>
              <a:t>본인 질병(입원) 및 감염병의 예방 및 관리에 관한 법률에 따라 격리 수용이 필요한 경우</a:t>
            </a:r>
            <a:endParaRPr lang="en-US" sz="1280" dirty="0"/>
          </a:p>
          <a:p>
            <a:pPr marL="342900" indent="-342900">
              <a:spcAft>
                <a:spcPts val="680"/>
              </a:spcAft>
              <a:buSzPct val="100000"/>
              <a:buChar char="➢"/>
            </a:pPr>
            <a:r>
              <a:rPr lang="en-US" sz="1280" dirty="0">
                <a:solidFill>
                  <a:srgbClr val="3B3838"/>
                </a:solidFill>
                <a:latin typeface="맑은 고딕" pitchFamily="34" charset="0"/>
                <a:ea typeface="맑은 고딕" pitchFamily="34" charset="-122"/>
                <a:cs typeface="맑은 고딕" pitchFamily="34" charset="-120"/>
              </a:rPr>
              <a:t>단순질병 (</a:t>
            </a:r>
            <a:pPr indent="0" marL="0">
              <a:spcAft>
                <a:spcPts val="680"/>
              </a:spcAft>
              <a:buNone/>
            </a:pPr>
            <a:r>
              <a:rPr lang="en-US" sz="1280" b="1" dirty="0">
                <a:solidFill>
                  <a:srgbClr val="C00000"/>
                </a:solidFill>
                <a:latin typeface="맑은 고딕" pitchFamily="34" charset="0"/>
                <a:ea typeface="맑은 고딕" pitchFamily="34" charset="-122"/>
                <a:cs typeface="맑은 고딕" pitchFamily="34" charset="-120"/>
              </a:rPr>
              <a:t>1회만 인정 가능</a:t>
            </a:r>
            <a:pPr indent="0" marL="0">
              <a:spcAft>
                <a:spcPts val="680"/>
              </a:spcAft>
              <a:buNone/>
            </a:pPr>
            <a:r>
              <a:rPr lang="en-US" sz="1280" dirty="0">
                <a:solidFill>
                  <a:srgbClr val="3B3838"/>
                </a:solidFill>
                <a:latin typeface="맑은 고딕" pitchFamily="34" charset="0"/>
                <a:ea typeface="맑은 고딕" pitchFamily="34" charset="-122"/>
                <a:cs typeface="맑은 고딕" pitchFamily="34" charset="-120"/>
              </a:rPr>
              <a:t>)</a:t>
            </a:r>
            <a:endParaRPr lang="en-US" sz="1280" dirty="0"/>
          </a:p>
        </p:txBody>
      </p:sp>
      <p:sp>
        <p:nvSpPr>
          <p:cNvPr id="14" name="Shape 9"/>
          <p:cNvSpPr/>
          <p:nvPr/>
        </p:nvSpPr>
        <p:spPr>
          <a:xfrm>
            <a:off x="495330" y="4381530"/>
            <a:ext cx="5486400" cy="876270"/>
          </a:xfrm>
          <a:prstGeom prst="rect">
            <a:avLst/>
          </a:prstGeom>
          <a:solidFill>
            <a:srgbClr val="FFFFFF"/>
          </a:solidFill>
          <a:ln w="12700">
            <a:solidFill>
              <a:srgbClr val="D4DCE6"/>
            </a:solidFill>
            <a:prstDash val="solid"/>
          </a:ln>
        </p:spPr>
      </p:sp>
      <p:sp>
        <p:nvSpPr>
          <p:cNvPr id="15" name="Shape 10"/>
          <p:cNvSpPr/>
          <p:nvPr/>
        </p:nvSpPr>
        <p:spPr>
          <a:xfrm>
            <a:off x="495330" y="4381530"/>
            <a:ext cx="57150" cy="876270"/>
          </a:xfrm>
          <a:prstGeom prst="rect">
            <a:avLst/>
          </a:prstGeom>
          <a:solidFill>
            <a:srgbClr val="ED7D31"/>
          </a:solidFill>
          <a:ln/>
        </p:spPr>
      </p:sp>
      <p:sp>
        <p:nvSpPr>
          <p:cNvPr id="16" name="Text 11"/>
          <p:cNvSpPr/>
          <p:nvPr/>
        </p:nvSpPr>
        <p:spPr>
          <a:xfrm>
            <a:off x="704820" y="4686300"/>
            <a:ext cx="285750" cy="266730"/>
          </a:xfrm>
          <a:prstGeom prst="rect">
            <a:avLst/>
          </a:prstGeom>
          <a:noFill/>
          <a:ln/>
        </p:spPr>
        <p:txBody>
          <a:bodyPr wrap="square" lIns="0" tIns="0" rIns="0" bIns="0" rtlCol="0" anchor="t"/>
          <a:lstStyle/>
          <a:p>
            <a:pPr indent="0" marL="0">
              <a:buNone/>
            </a:pPr>
            <a:r>
              <a:rPr lang="en-US" sz="1500" dirty="0">
                <a:solidFill>
                  <a:srgbClr val="3B3838"/>
                </a:solidFill>
                <a:latin typeface="맑은 고딕" pitchFamily="34" charset="0"/>
                <a:ea typeface="맑은 고딕" pitchFamily="34" charset="-122"/>
                <a:cs typeface="맑은 고딕" pitchFamily="34" charset="-120"/>
              </a:rPr>
              <a:t>💼</a:t>
            </a:r>
            <a:endParaRPr lang="en-US" sz="1500" dirty="0"/>
          </a:p>
        </p:txBody>
      </p:sp>
      <p:sp>
        <p:nvSpPr>
          <p:cNvPr id="17" name="Text 12"/>
          <p:cNvSpPr/>
          <p:nvPr/>
        </p:nvSpPr>
        <p:spPr>
          <a:xfrm>
            <a:off x="1066830" y="4381530"/>
            <a:ext cx="4762470" cy="876270"/>
          </a:xfrm>
          <a:prstGeom prst="rect">
            <a:avLst/>
          </a:prstGeom>
          <a:noFill/>
          <a:ln/>
        </p:spPr>
        <p:txBody>
          <a:bodyPr wrap="square" lIns="0" tIns="0" rIns="0" bIns="0" rtlCol="0" anchor="ctr"/>
          <a:lstStyle/>
          <a:p>
            <a:pPr indent="0" marL="0">
              <a:buNone/>
            </a:pPr>
            <a:r>
              <a:rPr lang="en-US" sz="1310" dirty="0">
                <a:solidFill>
                  <a:srgbClr val="3B3838"/>
                </a:solidFill>
                <a:latin typeface="맑은 고딕" pitchFamily="34" charset="0"/>
                <a:ea typeface="맑은 고딕" pitchFamily="34" charset="-122"/>
                <a:cs typeface="맑은 고딕" pitchFamily="34" charset="-120"/>
              </a:rPr>
              <a:t>취업 관련 면접(</a:t>
            </a:r>
            <a:pPr indent="0" marL="0">
              <a:buNone/>
            </a:pPr>
            <a:r>
              <a:rPr lang="en-US" sz="1310" b="1" dirty="0">
                <a:solidFill>
                  <a:srgbClr val="3B3838"/>
                </a:solidFill>
                <a:latin typeface="맑은 고딕" pitchFamily="34" charset="0"/>
                <a:ea typeface="맑은 고딕" pitchFamily="34" charset="-122"/>
                <a:cs typeface="맑은 고딕" pitchFamily="34" charset="-120"/>
              </a:rPr>
              <a:t>면접확인서 필수</a:t>
            </a:r>
            <a:pPr indent="0" marL="0">
              <a:buNone/>
            </a:pPr>
            <a:r>
              <a:rPr lang="en-US" sz="1310" dirty="0">
                <a:solidFill>
                  <a:srgbClr val="3B3838"/>
                </a:solidFill>
                <a:latin typeface="맑은 고딕" pitchFamily="34" charset="0"/>
                <a:ea typeface="맑은 고딕" pitchFamily="34" charset="-122"/>
                <a:cs typeface="맑은 고딕" pitchFamily="34" charset="-120"/>
              </a:rPr>
              <a:t>)은 인정함.</a:t>
            </a:r>
            <a:endParaRPr lang="en-US" sz="1310" dirty="0"/>
          </a:p>
        </p:txBody>
      </p:sp>
      <p:sp>
        <p:nvSpPr>
          <p:cNvPr id="18" name="Shape 13"/>
          <p:cNvSpPr/>
          <p:nvPr/>
        </p:nvSpPr>
        <p:spPr>
          <a:xfrm>
            <a:off x="6210330" y="4381530"/>
            <a:ext cx="5486400" cy="876270"/>
          </a:xfrm>
          <a:prstGeom prst="rect">
            <a:avLst/>
          </a:prstGeom>
          <a:solidFill>
            <a:srgbClr val="FFFFFF"/>
          </a:solidFill>
          <a:ln w="12700">
            <a:solidFill>
              <a:srgbClr val="D4DCE6"/>
            </a:solidFill>
            <a:prstDash val="solid"/>
          </a:ln>
        </p:spPr>
      </p:sp>
      <p:sp>
        <p:nvSpPr>
          <p:cNvPr id="19" name="Shape 14"/>
          <p:cNvSpPr/>
          <p:nvPr/>
        </p:nvSpPr>
        <p:spPr>
          <a:xfrm>
            <a:off x="6210330" y="4381530"/>
            <a:ext cx="57150" cy="876270"/>
          </a:xfrm>
          <a:prstGeom prst="rect">
            <a:avLst/>
          </a:prstGeom>
          <a:solidFill>
            <a:srgbClr val="C00000"/>
          </a:solidFill>
          <a:ln/>
        </p:spPr>
      </p:sp>
      <p:sp>
        <p:nvSpPr>
          <p:cNvPr id="20" name="Text 15"/>
          <p:cNvSpPr/>
          <p:nvPr/>
        </p:nvSpPr>
        <p:spPr>
          <a:xfrm>
            <a:off x="6419820" y="4686300"/>
            <a:ext cx="285750" cy="266730"/>
          </a:xfrm>
          <a:prstGeom prst="rect">
            <a:avLst/>
          </a:prstGeom>
          <a:noFill/>
          <a:ln/>
        </p:spPr>
        <p:txBody>
          <a:bodyPr wrap="square" lIns="0" tIns="0" rIns="0" bIns="0" rtlCol="0" anchor="t"/>
          <a:lstStyle/>
          <a:p>
            <a:pPr indent="0" marL="0">
              <a:buNone/>
            </a:pPr>
            <a:r>
              <a:rPr lang="en-US" sz="1500" dirty="0">
                <a:solidFill>
                  <a:srgbClr val="3B3838"/>
                </a:solidFill>
                <a:latin typeface="맑은 고딕" pitchFamily="34" charset="0"/>
                <a:ea typeface="맑은 고딕" pitchFamily="34" charset="-122"/>
                <a:cs typeface="맑은 고딕" pitchFamily="34" charset="-120"/>
              </a:rPr>
              <a:t>⚠️</a:t>
            </a:r>
            <a:endParaRPr lang="en-US" sz="1500" dirty="0"/>
          </a:p>
        </p:txBody>
      </p:sp>
      <p:sp>
        <p:nvSpPr>
          <p:cNvPr id="21" name="Text 16"/>
          <p:cNvSpPr/>
          <p:nvPr/>
        </p:nvSpPr>
        <p:spPr>
          <a:xfrm>
            <a:off x="6781830" y="4381530"/>
            <a:ext cx="4762470" cy="876270"/>
          </a:xfrm>
          <a:prstGeom prst="rect">
            <a:avLst/>
          </a:prstGeom>
          <a:noFill/>
          <a:ln/>
        </p:spPr>
        <p:txBody>
          <a:bodyPr wrap="square" lIns="0" tIns="0" rIns="0" bIns="0" rtlCol="0" anchor="ctr"/>
          <a:lstStyle/>
          <a:p>
            <a:pPr indent="0" marL="0">
              <a:lnSpc>
                <a:spcPct val="130000"/>
              </a:lnSpc>
              <a:buNone/>
            </a:pPr>
            <a:r>
              <a:rPr lang="en-US" sz="1310" b="1" dirty="0">
                <a:solidFill>
                  <a:srgbClr val="C00000"/>
                </a:solidFill>
                <a:latin typeface="맑은 고딕" pitchFamily="34" charset="0"/>
                <a:ea typeface="맑은 고딕" pitchFamily="34" charset="-122"/>
                <a:cs typeface="맑은 고딕" pitchFamily="34" charset="-120"/>
              </a:rPr>
              <a:t>¼ 결석자 학점 미취득(F, 1주차 포함)</a:t>
            </a:r>
            <a:endParaRPr lang="en-US" sz="1310" dirty="0"/>
          </a:p>
          <a:p>
            <a:pPr indent="0" marL="0">
              <a:lnSpc>
                <a:spcPct val="130000"/>
              </a:lnSpc>
              <a:buNone/>
            </a:pPr>
            <a:r>
              <a:rPr lang="en-US" sz="1310" dirty="0">
                <a:solidFill>
                  <a:srgbClr val="3B3838"/>
                </a:solidFill>
                <a:latin typeface="맑은 고딕" pitchFamily="34" charset="0"/>
                <a:ea typeface="맑은 고딕" pitchFamily="34" charset="-122"/>
                <a:cs typeface="맑은 고딕" pitchFamily="34" charset="-120"/>
              </a:rPr>
              <a:t>진단서 </a:t>
            </a:r>
            <a:pPr indent="0" marL="0">
              <a:lnSpc>
                <a:spcPct val="130000"/>
              </a:lnSpc>
              <a:buNone/>
            </a:pPr>
            <a:r>
              <a:rPr lang="en-US" sz="1310" b="1" dirty="0">
                <a:solidFill>
                  <a:srgbClr val="C00000"/>
                </a:solidFill>
                <a:latin typeface="맑은 고딕" pitchFamily="34" charset="0"/>
                <a:ea typeface="맑은 고딕" pitchFamily="34" charset="-122"/>
                <a:cs typeface="맑은 고딕" pitchFamily="34" charset="-120"/>
              </a:rPr>
              <a:t>1주 이내 제출</a:t>
            </a:r>
            <a:pPr indent="0" marL="0">
              <a:lnSpc>
                <a:spcPct val="130000"/>
              </a:lnSpc>
              <a:buNone/>
            </a:pPr>
            <a:r>
              <a:rPr lang="en-US" sz="1310" dirty="0">
                <a:solidFill>
                  <a:srgbClr val="3B3838"/>
                </a:solidFill>
                <a:latin typeface="맑은 고딕" pitchFamily="34" charset="0"/>
                <a:ea typeface="맑은 고딕" pitchFamily="34" charset="-122"/>
                <a:cs typeface="맑은 고딕" pitchFamily="34" charset="-120"/>
              </a:rPr>
              <a:t>만 유효</a:t>
            </a:r>
            <a:endParaRPr lang="en-US" sz="131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FF0F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970" cy="3562320"/>
          </a:xfrm>
          <a:prstGeom prst="rect">
            <a:avLst/>
          </a:prstGeom>
        </p:spPr>
      </p:pic>
      <p:pic>
        <p:nvPicPr>
          <p:cNvPr id="3" name="Image 1" descr="preencoded.png">    </p:cNvPr>
          <p:cNvPicPr>
            <a:picLocks noChangeAspect="1"/>
          </p:cNvPicPr>
          <p:nvPr/>
        </p:nvPicPr>
        <p:blipFill>
          <a:blip r:embed="rId2"/>
          <a:stretch>
            <a:fillRect/>
          </a:stretch>
        </p:blipFill>
        <p:spPr>
          <a:xfrm>
            <a:off x="0" y="3581430"/>
            <a:ext cx="5333970" cy="438180"/>
          </a:xfrm>
          <a:prstGeom prst="rect">
            <a:avLst/>
          </a:prstGeom>
        </p:spPr>
      </p:pic>
      <p:pic>
        <p:nvPicPr>
          <p:cNvPr id="4" name="Image 2" descr="preencoded.png">    </p:cNvPr>
          <p:cNvPicPr>
            <a:picLocks noChangeAspect="1"/>
          </p:cNvPicPr>
          <p:nvPr/>
        </p:nvPicPr>
        <p:blipFill>
          <a:blip r:embed="rId3"/>
          <a:stretch>
            <a:fillRect/>
          </a:stretch>
        </p:blipFill>
        <p:spPr>
          <a:xfrm>
            <a:off x="-57150" y="2324130"/>
            <a:ext cx="1714500" cy="1904970"/>
          </a:xfrm>
          <a:prstGeom prst="rect">
            <a:avLst/>
          </a:prstGeom>
        </p:spPr>
      </p:pic>
      <p:sp>
        <p:nvSpPr>
          <p:cNvPr id="5" name="Text 0"/>
          <p:cNvSpPr/>
          <p:nvPr/>
        </p:nvSpPr>
        <p:spPr>
          <a:xfrm>
            <a:off x="4762470" y="3714750"/>
            <a:ext cx="6934170" cy="609630"/>
          </a:xfrm>
          <a:prstGeom prst="rect">
            <a:avLst/>
          </a:prstGeom>
          <a:noFill/>
          <a:ln/>
        </p:spPr>
        <p:txBody>
          <a:bodyPr wrap="square" lIns="0" tIns="0" rIns="0" bIns="0" rtlCol="0" anchor="t"/>
          <a:lstStyle/>
          <a:p>
            <a:pPr algn="r" indent="0" marL="0">
              <a:buNone/>
            </a:pPr>
            <a:r>
              <a:rPr lang="en-US" sz="3450" b="1" dirty="0">
                <a:solidFill>
                  <a:srgbClr val="17365D"/>
                </a:solidFill>
                <a:latin typeface="맑은 고딕" pitchFamily="34" charset="0"/>
                <a:ea typeface="맑은 고딕" pitchFamily="34" charset="-122"/>
                <a:cs typeface="맑은 고딕" pitchFamily="34" charset="-120"/>
              </a:rPr>
              <a:t>주차 별 강의 계획</a:t>
            </a:r>
            <a:endParaRPr lang="en-US" sz="3450" dirty="0"/>
          </a:p>
        </p:txBody>
      </p:sp>
      <p:sp>
        <p:nvSpPr>
          <p:cNvPr id="6" name="Text 1"/>
          <p:cNvSpPr/>
          <p:nvPr/>
        </p:nvSpPr>
        <p:spPr>
          <a:xfrm>
            <a:off x="3810030" y="4381530"/>
            <a:ext cx="7886700" cy="666780"/>
          </a:xfrm>
          <a:prstGeom prst="rect">
            <a:avLst/>
          </a:prstGeom>
          <a:noFill/>
          <a:ln/>
        </p:spPr>
        <p:txBody>
          <a:bodyPr wrap="square" lIns="0" tIns="0" rIns="0" bIns="0" rtlCol="0" anchor="t"/>
          <a:lstStyle/>
          <a:p>
            <a:pPr algn="r" indent="0" marL="0">
              <a:lnSpc>
                <a:spcPct val="140000"/>
              </a:lnSpc>
              <a:buNone/>
            </a:pPr>
            <a:r>
              <a:rPr lang="en-US" sz="1580" dirty="0">
                <a:solidFill>
                  <a:srgbClr val="63666B"/>
                </a:solidFill>
                <a:latin typeface="맑은 고딕" pitchFamily="34" charset="0"/>
                <a:ea typeface="맑은 고딕" pitchFamily="34" charset="-122"/>
                <a:cs typeface="맑은 고딕" pitchFamily="34" charset="-120"/>
              </a:rPr>
              <a:t>주차 별 강의 계획을 통해 한 학기 교수-학습의 흐름 파악</a:t>
            </a:r>
            <a:endParaRPr lang="en-US" sz="1580" dirty="0"/>
          </a:p>
        </p:txBody>
      </p:sp>
      <p:pic>
        <p:nvPicPr>
          <p:cNvPr id="7" name="Image 3" descr="preencoded.png">    </p:cNvPr>
          <p:cNvPicPr>
            <a:picLocks noChangeAspect="1"/>
          </p:cNvPicPr>
          <p:nvPr/>
        </p:nvPicPr>
        <p:blipFill>
          <a:blip r:embed="rId4"/>
          <a:stretch>
            <a:fillRect/>
          </a:stretch>
        </p:blipFill>
        <p:spPr>
          <a:xfrm>
            <a:off x="10668030" y="6191220"/>
            <a:ext cx="1162020" cy="4190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FF0F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590520"/>
            <a:ext cx="12191970" cy="6267480"/>
          </a:xfrm>
          <a:prstGeom prst="rect">
            <a:avLst/>
          </a:prstGeom>
        </p:spPr>
      </p:pic>
      <p:pic>
        <p:nvPicPr>
          <p:cNvPr id="3" name="Image 1" descr="preencoded.png">    </p:cNvPr>
          <p:cNvPicPr>
            <a:picLocks noChangeAspect="1"/>
          </p:cNvPicPr>
          <p:nvPr/>
        </p:nvPicPr>
        <p:blipFill>
          <a:blip r:embed="rId2"/>
          <a:stretch>
            <a:fillRect/>
          </a:stretch>
        </p:blipFill>
        <p:spPr>
          <a:xfrm>
            <a:off x="0" y="0"/>
            <a:ext cx="12191970" cy="590520"/>
          </a:xfrm>
          <a:prstGeom prst="rect">
            <a:avLst/>
          </a:prstGeom>
        </p:spPr>
      </p:pic>
      <p:sp>
        <p:nvSpPr>
          <p:cNvPr id="4" name="Shape 0"/>
          <p:cNvSpPr/>
          <p:nvPr/>
        </p:nvSpPr>
        <p:spPr>
          <a:xfrm>
            <a:off x="438180" y="85771"/>
            <a:ext cx="2895630" cy="419070"/>
          </a:xfrm>
          <a:prstGeom prst="rect">
            <a:avLst/>
          </a:prstGeom>
          <a:solidFill>
            <a:srgbClr val="0B4E8A">
              <a:alpha val="66000"/>
            </a:srgbClr>
          </a:solidFill>
          <a:ln/>
        </p:spPr>
      </p:sp>
      <p:sp>
        <p:nvSpPr>
          <p:cNvPr id="5" name="Text 1"/>
          <p:cNvSpPr/>
          <p:nvPr/>
        </p:nvSpPr>
        <p:spPr>
          <a:xfrm>
            <a:off x="438180" y="85771"/>
            <a:ext cx="2895630" cy="419070"/>
          </a:xfrm>
          <a:prstGeom prst="rect">
            <a:avLst/>
          </a:prstGeom>
          <a:noFill/>
          <a:ln/>
        </p:spPr>
        <p:txBody>
          <a:bodyPr wrap="square" lIns="0" tIns="0" rIns="0" bIns="0" rtlCol="0" anchor="ctr"/>
          <a:lstStyle/>
          <a:p>
            <a:pPr algn="ctr" indent="0" marL="0">
              <a:buNone/>
            </a:pPr>
            <a:r>
              <a:rPr lang="en-US" sz="1950" b="1" dirty="0">
                <a:solidFill>
                  <a:srgbClr val="FFF100"/>
                </a:solidFill>
                <a:latin typeface="맑은 고딕" pitchFamily="34" charset="0"/>
                <a:ea typeface="맑은 고딕" pitchFamily="34" charset="-122"/>
                <a:cs typeface="맑은 고딕" pitchFamily="34" charset="-120"/>
              </a:rPr>
              <a:t>주차 별 강의 계획</a:t>
            </a:r>
            <a:endParaRPr lang="en-US" sz="1950" dirty="0"/>
          </a:p>
        </p:txBody>
      </p:sp>
      <p:pic>
        <p:nvPicPr>
          <p:cNvPr id="6" name="Image 2" descr="preencoded.png">    </p:cNvPr>
          <p:cNvPicPr>
            <a:picLocks noChangeAspect="1"/>
          </p:cNvPicPr>
          <p:nvPr/>
        </p:nvPicPr>
        <p:blipFill>
          <a:blip r:embed="rId3"/>
          <a:stretch>
            <a:fillRect/>
          </a:stretch>
        </p:blipFill>
        <p:spPr>
          <a:xfrm>
            <a:off x="10325130" y="76170"/>
            <a:ext cx="1619220" cy="438180"/>
          </a:xfrm>
          <a:prstGeom prst="rect">
            <a:avLst/>
          </a:prstGeom>
        </p:spPr>
      </p:pic>
      <p:sp>
        <p:nvSpPr>
          <p:cNvPr id="7" name="Text 2"/>
          <p:cNvSpPr/>
          <p:nvPr/>
        </p:nvSpPr>
        <p:spPr>
          <a:xfrm>
            <a:off x="0" y="6591270"/>
            <a:ext cx="12191970" cy="190470"/>
          </a:xfrm>
          <a:prstGeom prst="rect">
            <a:avLst/>
          </a:prstGeom>
          <a:noFill/>
          <a:ln/>
        </p:spPr>
        <p:txBody>
          <a:bodyPr wrap="square" lIns="0" tIns="0" rIns="0" bIns="0" rtlCol="0" anchor="t"/>
          <a:lstStyle/>
          <a:p>
            <a:pPr algn="ctr" indent="0" marL="0">
              <a:buNone/>
            </a:pPr>
            <a:r>
              <a:rPr lang="en-US" sz="1130" dirty="0">
                <a:solidFill>
                  <a:srgbClr val="8A8F96"/>
                </a:solidFill>
                <a:latin typeface="Arial" pitchFamily="34" charset="0"/>
                <a:ea typeface="Arial" pitchFamily="34" charset="-122"/>
                <a:cs typeface="Arial" pitchFamily="34" charset="-120"/>
              </a:rPr>
              <a:t>12</a:t>
            </a:r>
            <a:endParaRPr lang="en-US" sz="1130" dirty="0"/>
          </a:p>
        </p:txBody>
      </p:sp>
      <p:sp>
        <p:nvSpPr>
          <p:cNvPr id="8" name="Text 3"/>
          <p:cNvSpPr/>
          <p:nvPr/>
        </p:nvSpPr>
        <p:spPr>
          <a:xfrm>
            <a:off x="438180" y="742950"/>
            <a:ext cx="6667530" cy="285750"/>
          </a:xfrm>
          <a:prstGeom prst="rect">
            <a:avLst/>
          </a:prstGeom>
          <a:noFill/>
          <a:ln/>
        </p:spPr>
        <p:txBody>
          <a:bodyPr wrap="square" lIns="0" tIns="0" rIns="0" bIns="0" rtlCol="0" anchor="t"/>
          <a:lstStyle/>
          <a:p>
            <a:pPr indent="0" marL="0">
              <a:buNone/>
            </a:pPr>
            <a:r>
              <a:rPr lang="en-US" sz="1500" dirty="0">
                <a:solidFill>
                  <a:srgbClr val="3B3838"/>
                </a:solidFill>
                <a:latin typeface="맑은 고딕" pitchFamily="34" charset="0"/>
                <a:ea typeface="맑은 고딕" pitchFamily="34" charset="-122"/>
                <a:cs typeface="맑은 고딕" pitchFamily="34" charset="-120"/>
              </a:rPr>
              <a:t>📅  </a:t>
            </a:r>
            <a:pPr indent="0" marL="0">
              <a:buNone/>
            </a:pPr>
            <a:r>
              <a:rPr lang="en-US" sz="1580" b="1" dirty="0">
                <a:solidFill>
                  <a:srgbClr val="17365D"/>
                </a:solidFill>
                <a:latin typeface="맑은 고딕" pitchFamily="34" charset="0"/>
                <a:ea typeface="맑은 고딕" pitchFamily="34" charset="-122"/>
                <a:cs typeface="맑은 고딕" pitchFamily="34" charset="-120"/>
              </a:rPr>
              <a:t>강의계획서에 따라 진행합니다.</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38180" y="1066830"/>
          <a:ext cx="11315700" cy="914400"/>
        </p:xfrm>
        <a:graphic>
          <a:graphicData uri="http://schemas.openxmlformats.org/drawingml/2006/table">
            <a:tbl>
              <a:tblPr/>
              <a:tblGrid>
                <a:gridCol w="457200"/>
                <a:gridCol w="8382030"/>
                <a:gridCol w="2476470"/>
              </a:tblGrid>
              <a:tr h="314371">
                <a:tc>
                  <a:txBody>
                    <a:bodyPr/>
                    <a:lstStyle/>
                    <a:p>
                      <a:pPr algn="ctr" indent="0" marL="0">
                        <a:buNone/>
                      </a:pPr>
                      <a:r>
                        <a:rPr lang="en-US" sz="1130" b="1" dirty="0">
                          <a:solidFill>
                            <a:srgbClr val="17365D"/>
                          </a:solidFill>
                          <a:latin typeface="맑은 고딕" pitchFamily="34" charset="0"/>
                          <a:ea typeface="맑은 고딕" pitchFamily="34" charset="-122"/>
                          <a:cs typeface="맑은 고딕" pitchFamily="34" charset="-120"/>
                        </a:rPr>
                        <a:t>주</a:t>
                      </a:r>
                      <a:endParaRPr lang="en-US" sz="113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DEEBF7"/>
                    </a:solidFill>
                  </a:tcPr>
                </a:tc>
                <a:tc>
                  <a:txBody>
                    <a:bodyPr/>
                    <a:lstStyle/>
                    <a:p>
                      <a:pPr algn="ctr" indent="0" marL="0">
                        <a:buNone/>
                      </a:pPr>
                      <a:r>
                        <a:rPr lang="en-US" sz="1130" b="1" dirty="0">
                          <a:solidFill>
                            <a:srgbClr val="17365D"/>
                          </a:solidFill>
                          <a:latin typeface="맑은 고딕" pitchFamily="34" charset="0"/>
                          <a:ea typeface="맑은 고딕" pitchFamily="34" charset="-122"/>
                          <a:cs typeface="맑은 고딕" pitchFamily="34" charset="-120"/>
                        </a:rPr>
                        <a:t>주차 별 강의 주제</a:t>
                      </a:r>
                      <a:endParaRPr lang="en-US" sz="113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DEEBF7"/>
                    </a:solidFill>
                  </a:tcPr>
                </a:tc>
                <a:tc>
                  <a:txBody>
                    <a:bodyPr/>
                    <a:lstStyle/>
                    <a:p>
                      <a:pPr algn="ctr" indent="0" marL="0">
                        <a:buNone/>
                      </a:pPr>
                      <a:r>
                        <a:rPr lang="en-US" sz="1130" b="1" dirty="0">
                          <a:solidFill>
                            <a:srgbClr val="17365D"/>
                          </a:solidFill>
                          <a:latin typeface="맑은 고딕" pitchFamily="34" charset="0"/>
                          <a:ea typeface="맑은 고딕" pitchFamily="34" charset="-122"/>
                          <a:cs typeface="맑은 고딕" pitchFamily="34" charset="-120"/>
                        </a:rPr>
                        <a:t>과제물</a:t>
                      </a:r>
                      <a:endParaRPr lang="en-US" sz="113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DEEBF7"/>
                    </a:solidFill>
                  </a:tcPr>
                </a:tc>
              </a:tr>
              <a:tr h="314371">
                <a:tc>
                  <a:txBody>
                    <a:bodyPr/>
                    <a:lstStyle/>
                    <a:p>
                      <a:pPr algn="ctr" indent="0" marL="0">
                        <a:buNone/>
                      </a:pPr>
                      <a:r>
                        <a:rPr lang="en-US" sz="1010" b="1" dirty="0">
                          <a:solidFill>
                            <a:srgbClr val="005BAC"/>
                          </a:solidFill>
                          <a:latin typeface="Arial" pitchFamily="34" charset="0"/>
                          <a:ea typeface="Arial" pitchFamily="34" charset="-122"/>
                          <a:cs typeface="Arial" pitchFamily="34" charset="-120"/>
                        </a:rPr>
                        <a:t>1</a:t>
                      </a:r>
                      <a:endParaRPr lang="en-US" sz="1010" dirty="0">
                        <a:latin typeface="Arial" charset="0"/>
                        <a:ea typeface="Arial" charset="0"/>
                        <a:cs typeface="Arial"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FFFFF"/>
                    </a:solidFill>
                  </a:tcPr>
                </a:tc>
                <a:tc>
                  <a:txBody>
                    <a:bodyPr/>
                    <a:lstStyle/>
                    <a:p>
                      <a:pPr indent="0" marL="0">
                        <a:buNone/>
                      </a:pPr>
                      <a:r>
                        <a:rPr lang="en-US" sz="1010" dirty="0">
                          <a:solidFill>
                            <a:srgbClr val="3B3838"/>
                          </a:solidFill>
                          <a:latin typeface="맑은 고딕" pitchFamily="34" charset="0"/>
                          <a:ea typeface="맑은 고딕" pitchFamily="34" charset="-122"/>
                          <a:cs typeface="맑은 고딕" pitchFamily="34" charset="-120"/>
                        </a:rPr>
                        <a:t>오리엔테이션</a:t>
                      </a: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FFFFF"/>
                    </a:solidFill>
                  </a:tcPr>
                </a:tc>
                <a:tc>
                  <a:txBody>
                    <a:bodyPr/>
                    <a:lstStyle/>
                    <a:p>
                      <a:pPr indent="0" marL="0">
                        <a:buNone/>
                      </a:pPr>
                      <a:r>
                        <a:rPr lang="en-US" sz="1010" b="1" dirty="0">
                          <a:solidFill>
                            <a:srgbClr val="C00000"/>
                          </a:solidFill>
                          <a:latin typeface="맑은 고딕" pitchFamily="34" charset="0"/>
                          <a:ea typeface="맑은 고딕" pitchFamily="34" charset="-122"/>
                          <a:cs typeface="맑은 고딕" pitchFamily="34" charset="-120"/>
                        </a:rPr>
                        <a:t>강좌요구분석, 창업교육영향조사</a:t>
                      </a: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FFFFF"/>
                    </a:solidFill>
                  </a:tcPr>
                </a:tc>
              </a:tr>
              <a:tr h="314371">
                <a:tc>
                  <a:txBody>
                    <a:bodyPr/>
                    <a:lstStyle/>
                    <a:p>
                      <a:pPr algn="ctr" indent="0" marL="0">
                        <a:buNone/>
                      </a:pPr>
                      <a:r>
                        <a:rPr lang="en-US" sz="1010" b="1" dirty="0">
                          <a:solidFill>
                            <a:srgbClr val="005BAC"/>
                          </a:solidFill>
                          <a:latin typeface="Arial" pitchFamily="34" charset="0"/>
                          <a:ea typeface="Arial" pitchFamily="34" charset="-122"/>
                          <a:cs typeface="Arial" pitchFamily="34" charset="-120"/>
                        </a:rPr>
                        <a:t>2</a:t>
                      </a:r>
                      <a:endParaRPr lang="en-US" sz="1010" dirty="0">
                        <a:latin typeface="Arial" charset="0"/>
                        <a:ea typeface="Arial" charset="0"/>
                        <a:cs typeface="Arial"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2F7FC"/>
                    </a:solidFill>
                  </a:tcPr>
                </a:tc>
                <a:tc>
                  <a:txBody>
                    <a:bodyPr/>
                    <a:lstStyle/>
                    <a:p>
                      <a:pPr indent="0" marL="0">
                        <a:buNone/>
                      </a:pPr>
                      <a:r>
                        <a:rPr lang="en-US" sz="1010" dirty="0">
                          <a:solidFill>
                            <a:srgbClr val="3B3838"/>
                          </a:solidFill>
                          <a:latin typeface="맑은 고딕" pitchFamily="34" charset="0"/>
                          <a:ea typeface="맑은 고딕" pitchFamily="34" charset="-122"/>
                          <a:cs typeface="맑은 고딕" pitchFamily="34" charset="-120"/>
                        </a:rPr>
                        <a:t>창업과 기업가 정신 (기업가정신의 개념, 기업가 정신의 구성요소)</a:t>
                      </a: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2F7FC"/>
                    </a:solidFill>
                  </a:tcPr>
                </a:tc>
                <a:tc>
                  <a:txBody>
                    <a:bodyPr/>
                    <a:lstStyle/>
                    <a:p>
                      <a:pPr indent="0" marL="0">
                        <a:buNone/>
                      </a:pP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2F7FC"/>
                    </a:solidFill>
                  </a:tcPr>
                </a:tc>
              </a:tr>
              <a:tr h="314371">
                <a:tc>
                  <a:txBody>
                    <a:bodyPr/>
                    <a:lstStyle/>
                    <a:p>
                      <a:pPr algn="ctr" indent="0" marL="0">
                        <a:buNone/>
                      </a:pPr>
                      <a:r>
                        <a:rPr lang="en-US" sz="1010" b="1" dirty="0">
                          <a:solidFill>
                            <a:srgbClr val="005BAC"/>
                          </a:solidFill>
                          <a:latin typeface="Arial" pitchFamily="34" charset="0"/>
                          <a:ea typeface="Arial" pitchFamily="34" charset="-122"/>
                          <a:cs typeface="Arial" pitchFamily="34" charset="-120"/>
                        </a:rPr>
                        <a:t>3</a:t>
                      </a:r>
                      <a:endParaRPr lang="en-US" sz="1010" dirty="0">
                        <a:latin typeface="Arial" charset="0"/>
                        <a:ea typeface="Arial" charset="0"/>
                        <a:cs typeface="Arial"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FFFFF"/>
                    </a:solidFill>
                  </a:tcPr>
                </a:tc>
                <a:tc>
                  <a:txBody>
                    <a:bodyPr/>
                    <a:lstStyle/>
                    <a:p>
                      <a:pPr indent="0" marL="0">
                        <a:buNone/>
                      </a:pPr>
                      <a:r>
                        <a:rPr lang="en-US" sz="1010" dirty="0">
                          <a:solidFill>
                            <a:srgbClr val="3B3838"/>
                          </a:solidFill>
                          <a:latin typeface="맑은 고딕" pitchFamily="34" charset="0"/>
                          <a:ea typeface="맑은 고딕" pitchFamily="34" charset="-122"/>
                          <a:cs typeface="맑은 고딕" pitchFamily="34" charset="-120"/>
                        </a:rPr>
                        <a:t>달라진 일자리 세계 이해 (인공지능 혁명의 시대와 일자리 변화, 미래 직업세계의 이해)</a:t>
                      </a: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FFFFF"/>
                    </a:solidFill>
                  </a:tcPr>
                </a:tc>
                <a:tc>
                  <a:txBody>
                    <a:bodyPr/>
                    <a:lstStyle/>
                    <a:p>
                      <a:pPr indent="0" marL="0">
                        <a:buNone/>
                      </a:pP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FFFFF"/>
                    </a:solidFill>
                  </a:tcPr>
                </a:tc>
              </a:tr>
              <a:tr h="314371">
                <a:tc>
                  <a:txBody>
                    <a:bodyPr/>
                    <a:lstStyle/>
                    <a:p>
                      <a:pPr algn="ctr" indent="0" marL="0">
                        <a:buNone/>
                      </a:pPr>
                      <a:r>
                        <a:rPr lang="en-US" sz="1010" b="1" dirty="0">
                          <a:solidFill>
                            <a:srgbClr val="005BAC"/>
                          </a:solidFill>
                          <a:latin typeface="Arial" pitchFamily="34" charset="0"/>
                          <a:ea typeface="Arial" pitchFamily="34" charset="-122"/>
                          <a:cs typeface="Arial" pitchFamily="34" charset="-120"/>
                        </a:rPr>
                        <a:t>4</a:t>
                      </a:r>
                      <a:endParaRPr lang="en-US" sz="1010" dirty="0">
                        <a:latin typeface="Arial" charset="0"/>
                        <a:ea typeface="Arial" charset="0"/>
                        <a:cs typeface="Arial"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2F7FC"/>
                    </a:solidFill>
                  </a:tcPr>
                </a:tc>
                <a:tc>
                  <a:txBody>
                    <a:bodyPr/>
                    <a:lstStyle/>
                    <a:p>
                      <a:pPr indent="0" marL="0">
                        <a:buNone/>
                      </a:pPr>
                      <a:r>
                        <a:rPr lang="en-US" sz="1010" dirty="0">
                          <a:solidFill>
                            <a:srgbClr val="3B3838"/>
                          </a:solidFill>
                          <a:latin typeface="맑은 고딕" pitchFamily="34" charset="0"/>
                          <a:ea typeface="맑은 고딕" pitchFamily="34" charset="-122"/>
                          <a:cs typeface="맑은 고딕" pitchFamily="34" charset="-120"/>
                        </a:rPr>
                        <a:t>새로운 미래 인재의 조건 (미래 인재의 조건, 자기다움의 발견)</a:t>
                      </a: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2F7FC"/>
                    </a:solidFill>
                  </a:tcPr>
                </a:tc>
                <a:tc>
                  <a:txBody>
                    <a:bodyPr/>
                    <a:lstStyle/>
                    <a:p>
                      <a:pPr indent="0" marL="0">
                        <a:buNone/>
                      </a:pPr>
                      <a:r>
                        <a:rPr lang="en-US" sz="1010" b="1" dirty="0">
                          <a:solidFill>
                            <a:srgbClr val="C00000"/>
                          </a:solidFill>
                          <a:latin typeface="맑은 고딕" pitchFamily="34" charset="0"/>
                          <a:ea typeface="맑은 고딕" pitchFamily="34" charset="-122"/>
                          <a:cs typeface="맑은 고딕" pitchFamily="34" charset="-120"/>
                        </a:rPr>
                        <a:t>창업적성검사 결과지 제출</a:t>
                      </a: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2F7FC"/>
                    </a:solidFill>
                  </a:tcPr>
                </a:tc>
              </a:tr>
              <a:tr h="314371">
                <a:tc>
                  <a:txBody>
                    <a:bodyPr/>
                    <a:lstStyle/>
                    <a:p>
                      <a:pPr algn="ctr" indent="0" marL="0">
                        <a:buNone/>
                      </a:pPr>
                      <a:r>
                        <a:rPr lang="en-US" sz="1010" b="1" dirty="0">
                          <a:solidFill>
                            <a:srgbClr val="005BAC"/>
                          </a:solidFill>
                          <a:latin typeface="Arial" pitchFamily="34" charset="0"/>
                          <a:ea typeface="Arial" pitchFamily="34" charset="-122"/>
                          <a:cs typeface="Arial" pitchFamily="34" charset="-120"/>
                        </a:rPr>
                        <a:t>5</a:t>
                      </a:r>
                      <a:endParaRPr lang="en-US" sz="1010" dirty="0">
                        <a:latin typeface="Arial" charset="0"/>
                        <a:ea typeface="Arial" charset="0"/>
                        <a:cs typeface="Arial"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FFFFF"/>
                    </a:solidFill>
                  </a:tcPr>
                </a:tc>
                <a:tc>
                  <a:txBody>
                    <a:bodyPr/>
                    <a:lstStyle/>
                    <a:p>
                      <a:pPr indent="0" marL="0">
                        <a:buNone/>
                      </a:pPr>
                      <a:r>
                        <a:rPr lang="en-US" sz="1010" dirty="0">
                          <a:solidFill>
                            <a:srgbClr val="3B3838"/>
                          </a:solidFill>
                          <a:latin typeface="맑은 고딕" pitchFamily="34" charset="0"/>
                          <a:ea typeface="맑은 고딕" pitchFamily="34" charset="-122"/>
                          <a:cs typeface="맑은 고딕" pitchFamily="34" charset="-120"/>
                        </a:rPr>
                        <a:t>창업과 창업절차 이해 (창업의 개념, 창업의 유형 및 절차)</a:t>
                      </a: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FFFFF"/>
                    </a:solidFill>
                  </a:tcPr>
                </a:tc>
                <a:tc>
                  <a:txBody>
                    <a:bodyPr/>
                    <a:lstStyle/>
                    <a:p>
                      <a:pPr indent="0" marL="0">
                        <a:buNone/>
                      </a:pP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FFFFF"/>
                    </a:solidFill>
                  </a:tcPr>
                </a:tc>
              </a:tr>
              <a:tr h="314371">
                <a:tc>
                  <a:txBody>
                    <a:bodyPr/>
                    <a:lstStyle/>
                    <a:p>
                      <a:pPr algn="ctr" indent="0" marL="0">
                        <a:buNone/>
                      </a:pPr>
                      <a:r>
                        <a:rPr lang="en-US" sz="1010" b="1" dirty="0">
                          <a:solidFill>
                            <a:srgbClr val="005BAC"/>
                          </a:solidFill>
                          <a:latin typeface="Arial" pitchFamily="34" charset="0"/>
                          <a:ea typeface="Arial" pitchFamily="34" charset="-122"/>
                          <a:cs typeface="Arial" pitchFamily="34" charset="-120"/>
                        </a:rPr>
                        <a:t>6</a:t>
                      </a:r>
                      <a:endParaRPr lang="en-US" sz="1010" dirty="0">
                        <a:latin typeface="Arial" charset="0"/>
                        <a:ea typeface="Arial" charset="0"/>
                        <a:cs typeface="Arial"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2F7FC"/>
                    </a:solidFill>
                  </a:tcPr>
                </a:tc>
                <a:tc>
                  <a:txBody>
                    <a:bodyPr/>
                    <a:lstStyle/>
                    <a:p>
                      <a:pPr indent="0" marL="0">
                        <a:buNone/>
                      </a:pPr>
                      <a:r>
                        <a:rPr lang="en-US" sz="1010" dirty="0">
                          <a:solidFill>
                            <a:srgbClr val="3B3838"/>
                          </a:solidFill>
                          <a:latin typeface="맑은 고딕" pitchFamily="34" charset="0"/>
                          <a:ea typeface="맑은 고딕" pitchFamily="34" charset="-122"/>
                          <a:cs typeface="맑은 고딕" pitchFamily="34" charset="-120"/>
                        </a:rPr>
                        <a:t>기업가정신의 경영관리 (창업경영의 성공 요인, 창업기업의 경영 관리)</a:t>
                      </a: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2F7FC"/>
                    </a:solidFill>
                  </a:tcPr>
                </a:tc>
                <a:tc>
                  <a:txBody>
                    <a:bodyPr/>
                    <a:lstStyle/>
                    <a:p>
                      <a:pPr indent="0" marL="0">
                        <a:buNone/>
                      </a:pP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2F7FC"/>
                    </a:solidFill>
                  </a:tcPr>
                </a:tc>
              </a:tr>
              <a:tr h="314371">
                <a:tc>
                  <a:txBody>
                    <a:bodyPr/>
                    <a:lstStyle/>
                    <a:p>
                      <a:pPr algn="ctr" indent="0" marL="0">
                        <a:buNone/>
                      </a:pPr>
                      <a:r>
                        <a:rPr lang="en-US" sz="1010" b="1" dirty="0">
                          <a:solidFill>
                            <a:srgbClr val="005BAC"/>
                          </a:solidFill>
                          <a:latin typeface="Arial" pitchFamily="34" charset="0"/>
                          <a:ea typeface="Arial" pitchFamily="34" charset="-122"/>
                          <a:cs typeface="Arial" pitchFamily="34" charset="-120"/>
                        </a:rPr>
                        <a:t>7</a:t>
                      </a:r>
                      <a:endParaRPr lang="en-US" sz="1010" dirty="0">
                        <a:latin typeface="Arial" charset="0"/>
                        <a:ea typeface="Arial" charset="0"/>
                        <a:cs typeface="Arial"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FFFFF"/>
                    </a:solidFill>
                  </a:tcPr>
                </a:tc>
                <a:tc>
                  <a:txBody>
                    <a:bodyPr/>
                    <a:lstStyle/>
                    <a:p>
                      <a:pPr indent="0" marL="0">
                        <a:buNone/>
                      </a:pPr>
                      <a:r>
                        <a:rPr lang="en-US" sz="1010" dirty="0">
                          <a:solidFill>
                            <a:srgbClr val="3B3838"/>
                          </a:solidFill>
                          <a:latin typeface="맑은 고딕" pitchFamily="34" charset="0"/>
                          <a:ea typeface="맑은 고딕" pitchFamily="34" charset="-122"/>
                          <a:cs typeface="맑은 고딕" pitchFamily="34" charset="-120"/>
                        </a:rPr>
                        <a:t>비즈니스 기회를 찾는 법 (창업 기회의 의미, 창업 기회의 원천 발견)</a:t>
                      </a: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FFFFF"/>
                    </a:solidFill>
                  </a:tcPr>
                </a:tc>
                <a:tc>
                  <a:txBody>
                    <a:bodyPr/>
                    <a:lstStyle/>
                    <a:p>
                      <a:pPr indent="0" marL="0">
                        <a:buNone/>
                      </a:pP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FFFFF"/>
                    </a:solidFill>
                  </a:tcPr>
                </a:tc>
              </a:tr>
              <a:tr h="314371">
                <a:tc>
                  <a:txBody>
                    <a:bodyPr/>
                    <a:lstStyle/>
                    <a:p>
                      <a:pPr algn="ctr" indent="0" marL="0">
                        <a:buNone/>
                      </a:pPr>
                      <a:r>
                        <a:rPr lang="en-US" sz="1010" b="1" dirty="0">
                          <a:solidFill>
                            <a:srgbClr val="005BAC"/>
                          </a:solidFill>
                          <a:latin typeface="Arial" pitchFamily="34" charset="0"/>
                          <a:ea typeface="Arial" pitchFamily="34" charset="-122"/>
                          <a:cs typeface="Arial" pitchFamily="34" charset="-120"/>
                        </a:rPr>
                        <a:t>8</a:t>
                      </a:r>
                      <a:endParaRPr lang="en-US" sz="1010" dirty="0">
                        <a:latin typeface="Arial" charset="0"/>
                        <a:ea typeface="Arial" charset="0"/>
                        <a:cs typeface="Arial"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DF3F3"/>
                    </a:solidFill>
                  </a:tcPr>
                </a:tc>
                <a:tc>
                  <a:txBody>
                    <a:bodyPr/>
                    <a:lstStyle/>
                    <a:p>
                      <a:pPr indent="0" marL="0">
                        <a:buNone/>
                      </a:pPr>
                      <a:r>
                        <a:rPr lang="en-US" sz="1010" b="1" dirty="0">
                          <a:solidFill>
                            <a:srgbClr val="3B3838"/>
                          </a:solidFill>
                          <a:latin typeface="맑은 고딕" pitchFamily="34" charset="0"/>
                          <a:ea typeface="맑은 고딕" pitchFamily="34" charset="-122"/>
                          <a:cs typeface="맑은 고딕" pitchFamily="34" charset="-120"/>
                        </a:rPr>
                        <a:t>중간고사 (과제물 발표 및 피드백)</a:t>
                      </a: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DF3F3"/>
                    </a:solidFill>
                  </a:tcPr>
                </a:tc>
                <a:tc>
                  <a:txBody>
                    <a:bodyPr/>
                    <a:lstStyle/>
                    <a:p>
                      <a:pPr indent="0" marL="0">
                        <a:buNone/>
                      </a:pP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DF3F3"/>
                    </a:solidFill>
                  </a:tcPr>
                </a:tc>
              </a:tr>
              <a:tr h="314371">
                <a:tc>
                  <a:txBody>
                    <a:bodyPr/>
                    <a:lstStyle/>
                    <a:p>
                      <a:pPr algn="ctr" indent="0" marL="0">
                        <a:buNone/>
                      </a:pPr>
                      <a:r>
                        <a:rPr lang="en-US" sz="1010" b="1" dirty="0">
                          <a:solidFill>
                            <a:srgbClr val="005BAC"/>
                          </a:solidFill>
                          <a:latin typeface="Arial" pitchFamily="34" charset="0"/>
                          <a:ea typeface="Arial" pitchFamily="34" charset="-122"/>
                          <a:cs typeface="Arial" pitchFamily="34" charset="-120"/>
                        </a:rPr>
                        <a:t>9</a:t>
                      </a:r>
                      <a:endParaRPr lang="en-US" sz="1010" dirty="0">
                        <a:latin typeface="Arial" charset="0"/>
                        <a:ea typeface="Arial" charset="0"/>
                        <a:cs typeface="Arial"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FFFFF"/>
                    </a:solidFill>
                  </a:tcPr>
                </a:tc>
                <a:tc>
                  <a:txBody>
                    <a:bodyPr/>
                    <a:lstStyle/>
                    <a:p>
                      <a:pPr indent="0" marL="0">
                        <a:buNone/>
                      </a:pPr>
                      <a:r>
                        <a:rPr lang="en-US" sz="1010" dirty="0">
                          <a:solidFill>
                            <a:srgbClr val="3B3838"/>
                          </a:solidFill>
                          <a:latin typeface="맑은 고딕" pitchFamily="34" charset="0"/>
                          <a:ea typeface="맑은 고딕" pitchFamily="34" charset="-122"/>
                          <a:cs typeface="맑은 고딕" pitchFamily="34" charset="-120"/>
                        </a:rPr>
                        <a:t>창업아이디어 발굴 (아이디어의 의미, 아이디어 발굴 방법)</a:t>
                      </a: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FFFFF"/>
                    </a:solidFill>
                  </a:tcPr>
                </a:tc>
                <a:tc>
                  <a:txBody>
                    <a:bodyPr/>
                    <a:lstStyle/>
                    <a:p>
                      <a:pPr indent="0" marL="0">
                        <a:buNone/>
                      </a:pP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FFFFF"/>
                    </a:solidFill>
                  </a:tcPr>
                </a:tc>
              </a:tr>
              <a:tr h="314371">
                <a:tc>
                  <a:txBody>
                    <a:bodyPr/>
                    <a:lstStyle/>
                    <a:p>
                      <a:pPr algn="ctr" indent="0" marL="0">
                        <a:buNone/>
                      </a:pPr>
                      <a:r>
                        <a:rPr lang="en-US" sz="1010" b="1" dirty="0">
                          <a:solidFill>
                            <a:srgbClr val="005BAC"/>
                          </a:solidFill>
                          <a:latin typeface="Arial" pitchFamily="34" charset="0"/>
                          <a:ea typeface="Arial" pitchFamily="34" charset="-122"/>
                          <a:cs typeface="Arial" pitchFamily="34" charset="-120"/>
                        </a:rPr>
                        <a:t>10</a:t>
                      </a:r>
                      <a:endParaRPr lang="en-US" sz="1010" dirty="0">
                        <a:latin typeface="Arial" charset="0"/>
                        <a:ea typeface="Arial" charset="0"/>
                        <a:cs typeface="Arial"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2F7FC"/>
                    </a:solidFill>
                  </a:tcPr>
                </a:tc>
                <a:tc>
                  <a:txBody>
                    <a:bodyPr/>
                    <a:lstStyle/>
                    <a:p>
                      <a:pPr indent="0" marL="0">
                        <a:buNone/>
                      </a:pPr>
                      <a:r>
                        <a:rPr lang="en-US" sz="1010" dirty="0">
                          <a:solidFill>
                            <a:srgbClr val="3B3838"/>
                          </a:solidFill>
                          <a:latin typeface="맑은 고딕" pitchFamily="34" charset="0"/>
                          <a:ea typeface="맑은 고딕" pitchFamily="34" charset="-122"/>
                          <a:cs typeface="맑은 고딕" pitchFamily="34" charset="-120"/>
                        </a:rPr>
                        <a:t>창업아이템 개발 (창업 아이템 선정, 창업 아이템 개발)</a:t>
                      </a: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2F7FC"/>
                    </a:solidFill>
                  </a:tcPr>
                </a:tc>
                <a:tc>
                  <a:txBody>
                    <a:bodyPr/>
                    <a:lstStyle/>
                    <a:p>
                      <a:pPr indent="0" marL="0">
                        <a:buNone/>
                      </a:pPr>
                      <a:r>
                        <a:rPr lang="en-US" sz="1010" b="1" dirty="0">
                          <a:solidFill>
                            <a:srgbClr val="C00000"/>
                          </a:solidFill>
                          <a:latin typeface="맑은 고딕" pitchFamily="34" charset="0"/>
                          <a:ea typeface="맑은 고딕" pitchFamily="34" charset="-122"/>
                          <a:cs typeface="맑은 고딕" pitchFamily="34" charset="-120"/>
                        </a:rPr>
                        <a:t>활동 결과물 제출</a:t>
                      </a: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2F7FC"/>
                    </a:solidFill>
                  </a:tcPr>
                </a:tc>
              </a:tr>
              <a:tr h="314371">
                <a:tc>
                  <a:txBody>
                    <a:bodyPr/>
                    <a:lstStyle/>
                    <a:p>
                      <a:pPr algn="ctr" indent="0" marL="0">
                        <a:buNone/>
                      </a:pPr>
                      <a:r>
                        <a:rPr lang="en-US" sz="1010" b="1" dirty="0">
                          <a:solidFill>
                            <a:srgbClr val="005BAC"/>
                          </a:solidFill>
                          <a:latin typeface="Arial" pitchFamily="34" charset="0"/>
                          <a:ea typeface="Arial" pitchFamily="34" charset="-122"/>
                          <a:cs typeface="Arial" pitchFamily="34" charset="-120"/>
                        </a:rPr>
                        <a:t>11</a:t>
                      </a:r>
                      <a:endParaRPr lang="en-US" sz="1010" dirty="0">
                        <a:latin typeface="Arial" charset="0"/>
                        <a:ea typeface="Arial" charset="0"/>
                        <a:cs typeface="Arial"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FFFFF"/>
                    </a:solidFill>
                  </a:tcPr>
                </a:tc>
                <a:tc>
                  <a:txBody>
                    <a:bodyPr/>
                    <a:lstStyle/>
                    <a:p>
                      <a:pPr indent="0" marL="0">
                        <a:buNone/>
                      </a:pPr>
                      <a:r>
                        <a:rPr lang="en-US" sz="1010" dirty="0">
                          <a:solidFill>
                            <a:srgbClr val="3B3838"/>
                          </a:solidFill>
                          <a:latin typeface="맑은 고딕" pitchFamily="34" charset="0"/>
                          <a:ea typeface="맑은 고딕" pitchFamily="34" charset="-122"/>
                          <a:cs typeface="맑은 고딕" pitchFamily="34" charset="-120"/>
                        </a:rPr>
                        <a:t>사업타당성 분석 (사업타당성의 개념, 사업타당성의 분석 방법)</a:t>
                      </a: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FFFFF"/>
                    </a:solidFill>
                  </a:tcPr>
                </a:tc>
                <a:tc>
                  <a:txBody>
                    <a:bodyPr/>
                    <a:lstStyle/>
                    <a:p>
                      <a:pPr indent="0" marL="0">
                        <a:buNone/>
                      </a:pPr>
                      <a:r>
                        <a:rPr lang="en-US" sz="1010" b="1" dirty="0">
                          <a:solidFill>
                            <a:srgbClr val="C00000"/>
                          </a:solidFill>
                          <a:latin typeface="맑은 고딕" pitchFamily="34" charset="0"/>
                          <a:ea typeface="맑은 고딕" pitchFamily="34" charset="-122"/>
                          <a:cs typeface="맑은 고딕" pitchFamily="34" charset="-120"/>
                        </a:rPr>
                        <a:t>활동 결과물 제출</a:t>
                      </a: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FFFFF"/>
                    </a:solidFill>
                  </a:tcPr>
                </a:tc>
              </a:tr>
              <a:tr h="314371">
                <a:tc>
                  <a:txBody>
                    <a:bodyPr/>
                    <a:lstStyle/>
                    <a:p>
                      <a:pPr algn="ctr" indent="0" marL="0">
                        <a:buNone/>
                      </a:pPr>
                      <a:r>
                        <a:rPr lang="en-US" sz="1010" b="1" dirty="0">
                          <a:solidFill>
                            <a:srgbClr val="005BAC"/>
                          </a:solidFill>
                          <a:latin typeface="Arial" pitchFamily="34" charset="0"/>
                          <a:ea typeface="Arial" pitchFamily="34" charset="-122"/>
                          <a:cs typeface="Arial" pitchFamily="34" charset="-120"/>
                        </a:rPr>
                        <a:t>12</a:t>
                      </a:r>
                      <a:endParaRPr lang="en-US" sz="1010" dirty="0">
                        <a:latin typeface="Arial" charset="0"/>
                        <a:ea typeface="Arial" charset="0"/>
                        <a:cs typeface="Arial"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2F7FC"/>
                    </a:solidFill>
                  </a:tcPr>
                </a:tc>
                <a:tc>
                  <a:txBody>
                    <a:bodyPr/>
                    <a:lstStyle/>
                    <a:p>
                      <a:pPr indent="0" marL="0">
                        <a:buNone/>
                      </a:pPr>
                      <a:r>
                        <a:rPr lang="en-US" sz="1010" dirty="0">
                          <a:solidFill>
                            <a:srgbClr val="3B3838"/>
                          </a:solidFill>
                          <a:latin typeface="맑은 고딕" pitchFamily="34" charset="0"/>
                          <a:ea typeface="맑은 고딕" pitchFamily="34" charset="-122"/>
                          <a:cs typeface="맑은 고딕" pitchFamily="34" charset="-120"/>
                        </a:rPr>
                        <a:t>비즈니스 모델과 린 스타트업 (비즈니스 모델의 개념, 린 스타트업의 이해)</a:t>
                      </a: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2F7FC"/>
                    </a:solidFill>
                  </a:tcPr>
                </a:tc>
                <a:tc>
                  <a:txBody>
                    <a:bodyPr/>
                    <a:lstStyle/>
                    <a:p>
                      <a:pPr indent="0" marL="0">
                        <a:buNone/>
                      </a:pP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2F7FC"/>
                    </a:solidFill>
                  </a:tcPr>
                </a:tc>
              </a:tr>
              <a:tr h="314371">
                <a:tc>
                  <a:txBody>
                    <a:bodyPr/>
                    <a:lstStyle/>
                    <a:p>
                      <a:pPr algn="ctr" indent="0" marL="0">
                        <a:buNone/>
                      </a:pPr>
                      <a:r>
                        <a:rPr lang="en-US" sz="1010" b="1" dirty="0">
                          <a:solidFill>
                            <a:srgbClr val="005BAC"/>
                          </a:solidFill>
                          <a:latin typeface="Arial" pitchFamily="34" charset="0"/>
                          <a:ea typeface="Arial" pitchFamily="34" charset="-122"/>
                          <a:cs typeface="Arial" pitchFamily="34" charset="-120"/>
                        </a:rPr>
                        <a:t>13</a:t>
                      </a:r>
                      <a:endParaRPr lang="en-US" sz="1010" dirty="0">
                        <a:latin typeface="Arial" charset="0"/>
                        <a:ea typeface="Arial" charset="0"/>
                        <a:cs typeface="Arial"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FFFFF"/>
                    </a:solidFill>
                  </a:tcPr>
                </a:tc>
                <a:tc>
                  <a:txBody>
                    <a:bodyPr/>
                    <a:lstStyle/>
                    <a:p>
                      <a:pPr indent="0" marL="0">
                        <a:buNone/>
                      </a:pPr>
                      <a:r>
                        <a:rPr lang="en-US" sz="1010" dirty="0">
                          <a:solidFill>
                            <a:srgbClr val="3B3838"/>
                          </a:solidFill>
                          <a:latin typeface="맑은 고딕" pitchFamily="34" charset="0"/>
                          <a:ea typeface="맑은 고딕" pitchFamily="34" charset="-122"/>
                          <a:cs typeface="맑은 고딕" pitchFamily="34" charset="-120"/>
                        </a:rPr>
                        <a:t>사업계획서 작성법 (사업계획서의 개념, 사업계획서 작성 방법)</a:t>
                      </a: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FFFFF"/>
                    </a:solidFill>
                  </a:tcPr>
                </a:tc>
                <a:tc>
                  <a:txBody>
                    <a:bodyPr/>
                    <a:lstStyle/>
                    <a:p>
                      <a:pPr indent="0" marL="0">
                        <a:buNone/>
                      </a:pP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FFFFF"/>
                    </a:solidFill>
                  </a:tcPr>
                </a:tc>
              </a:tr>
              <a:tr h="314371">
                <a:tc>
                  <a:txBody>
                    <a:bodyPr/>
                    <a:lstStyle/>
                    <a:p>
                      <a:pPr algn="ctr" indent="0" marL="0">
                        <a:buNone/>
                      </a:pPr>
                      <a:r>
                        <a:rPr lang="en-US" sz="1010" b="1" dirty="0">
                          <a:solidFill>
                            <a:srgbClr val="005BAC"/>
                          </a:solidFill>
                          <a:latin typeface="Arial" pitchFamily="34" charset="0"/>
                          <a:ea typeface="Arial" pitchFamily="34" charset="-122"/>
                          <a:cs typeface="Arial" pitchFamily="34" charset="-120"/>
                        </a:rPr>
                        <a:t>14</a:t>
                      </a:r>
                      <a:endParaRPr lang="en-US" sz="1010" dirty="0">
                        <a:latin typeface="Arial" charset="0"/>
                        <a:ea typeface="Arial" charset="0"/>
                        <a:cs typeface="Arial"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2F7FC"/>
                    </a:solidFill>
                  </a:tcPr>
                </a:tc>
                <a:tc>
                  <a:txBody>
                    <a:bodyPr/>
                    <a:lstStyle/>
                    <a:p>
                      <a:pPr indent="0" marL="0">
                        <a:buNone/>
                      </a:pPr>
                      <a:r>
                        <a:rPr lang="en-US" sz="1010" dirty="0">
                          <a:solidFill>
                            <a:srgbClr val="3B3838"/>
                          </a:solidFill>
                          <a:latin typeface="맑은 고딕" pitchFamily="34" charset="0"/>
                          <a:ea typeface="맑은 고딕" pitchFamily="34" charset="-122"/>
                          <a:cs typeface="맑은 고딕" pitchFamily="34" charset="-120"/>
                        </a:rPr>
                        <a:t>기업가정신의 현재와 미래 (기업가정신의 배경, 기업가정신의 유형)</a:t>
                      </a: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2F7FC"/>
                    </a:solidFill>
                  </a:tcPr>
                </a:tc>
                <a:tc>
                  <a:txBody>
                    <a:bodyPr/>
                    <a:lstStyle/>
                    <a:p>
                      <a:pPr indent="0" marL="0">
                        <a:buNone/>
                      </a:pP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2F7FC"/>
                    </a:solidFill>
                  </a:tcPr>
                </a:tc>
              </a:tr>
              <a:tr h="314371">
                <a:tc>
                  <a:txBody>
                    <a:bodyPr/>
                    <a:lstStyle/>
                    <a:p>
                      <a:pPr algn="ctr" indent="0" marL="0">
                        <a:buNone/>
                      </a:pPr>
                      <a:r>
                        <a:rPr lang="en-US" sz="1010" b="1" dirty="0">
                          <a:solidFill>
                            <a:srgbClr val="005BAC"/>
                          </a:solidFill>
                          <a:latin typeface="Arial" pitchFamily="34" charset="0"/>
                          <a:ea typeface="Arial" pitchFamily="34" charset="-122"/>
                          <a:cs typeface="Arial" pitchFamily="34" charset="-120"/>
                        </a:rPr>
                        <a:t>15</a:t>
                      </a:r>
                      <a:endParaRPr lang="en-US" sz="1010" dirty="0">
                        <a:latin typeface="Arial" charset="0"/>
                        <a:ea typeface="Arial" charset="0"/>
                        <a:cs typeface="Arial"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DF3F3"/>
                    </a:solidFill>
                  </a:tcPr>
                </a:tc>
                <a:tc>
                  <a:txBody>
                    <a:bodyPr/>
                    <a:lstStyle/>
                    <a:p>
                      <a:pPr indent="0" marL="0">
                        <a:buNone/>
                      </a:pPr>
                      <a:r>
                        <a:rPr lang="en-US" sz="1010" b="1" dirty="0">
                          <a:solidFill>
                            <a:srgbClr val="3B3838"/>
                          </a:solidFill>
                          <a:latin typeface="맑은 고딕" pitchFamily="34" charset="0"/>
                          <a:ea typeface="맑은 고딕" pitchFamily="34" charset="-122"/>
                          <a:cs typeface="맑은 고딕" pitchFamily="34" charset="-120"/>
                        </a:rPr>
                        <a:t>기말고사</a:t>
                      </a: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DF3F3"/>
                    </a:solidFill>
                  </a:tcPr>
                </a:tc>
                <a:tc>
                  <a:txBody>
                    <a:bodyPr/>
                    <a:lstStyle/>
                    <a:p>
                      <a:pPr indent="0" marL="0">
                        <a:buNone/>
                      </a:pPr>
                      <a:r>
                        <a:rPr lang="en-US" sz="1010" b="1" dirty="0">
                          <a:solidFill>
                            <a:srgbClr val="C00000"/>
                          </a:solidFill>
                          <a:latin typeface="맑은 고딕" pitchFamily="34" charset="0"/>
                          <a:ea typeface="맑은 고딕" pitchFamily="34" charset="-122"/>
                          <a:cs typeface="맑은 고딕" pitchFamily="34" charset="-120"/>
                        </a:rPr>
                        <a:t>창업 계획서 제출 및 발표</a:t>
                      </a:r>
                      <a:endParaRPr lang="en-US" sz="1010" dirty="0">
                        <a:latin typeface="맑은 고딕" charset="0"/>
                        <a:ea typeface="맑은 고딕" charset="0"/>
                        <a:cs typeface="맑은 고딕" charset="0"/>
                      </a:endParaRPr>
                    </a:p>
                  </a:txBody>
                  <a:tcPr marL="85771" marR="85771" marT="0" marB="0" anchor="ctr">
                    <a:lnL w="12700" cap="flat" cmpd="sng" algn="ctr">
                      <a:solidFill>
                        <a:srgbClr val="9DC3E6"/>
                      </a:solidFill>
                      <a:prstDash val="solid"/>
                      <a:round/>
                      <a:headEnd type="none" w="med" len="med"/>
                      <a:tailEnd type="none" w="med" len="med"/>
                    </a:lnL>
                    <a:lnR w="12700" cap="flat" cmpd="sng" algn="ctr">
                      <a:solidFill>
                        <a:srgbClr val="9DC3E6"/>
                      </a:solidFill>
                      <a:prstDash val="solid"/>
                      <a:round/>
                      <a:headEnd type="none" w="med" len="med"/>
                      <a:tailEnd type="none" w="med" len="med"/>
                    </a:lnR>
                    <a:lnT w="12700" cap="flat" cmpd="sng" algn="ctr">
                      <a:solidFill>
                        <a:srgbClr val="9DC3E6"/>
                      </a:solidFill>
                      <a:prstDash val="solid"/>
                      <a:round/>
                      <a:headEnd type="none" w="med" len="med"/>
                      <a:tailEnd type="none" w="med" len="med"/>
                    </a:lnT>
                    <a:lnB w="12700" cap="flat" cmpd="sng" algn="ctr">
                      <a:solidFill>
                        <a:srgbClr val="9DC3E6"/>
                      </a:solidFill>
                      <a:prstDash val="solid"/>
                      <a:round/>
                      <a:headEnd type="none" w="med" len="med"/>
                      <a:tailEnd type="none" w="med" len="med"/>
                    </a:lnB>
                    <a:solidFill>
                      <a:srgbClr val="FDF3F3"/>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FF0F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590520"/>
            <a:ext cx="12191970" cy="6267480"/>
          </a:xfrm>
          <a:prstGeom prst="rect">
            <a:avLst/>
          </a:prstGeom>
        </p:spPr>
      </p:pic>
      <p:pic>
        <p:nvPicPr>
          <p:cNvPr id="3" name="Image 1" descr="preencoded.png">    </p:cNvPr>
          <p:cNvPicPr>
            <a:picLocks noChangeAspect="1"/>
          </p:cNvPicPr>
          <p:nvPr/>
        </p:nvPicPr>
        <p:blipFill>
          <a:blip r:embed="rId2"/>
          <a:stretch>
            <a:fillRect/>
          </a:stretch>
        </p:blipFill>
        <p:spPr>
          <a:xfrm>
            <a:off x="0" y="0"/>
            <a:ext cx="12191970" cy="590520"/>
          </a:xfrm>
          <a:prstGeom prst="rect">
            <a:avLst/>
          </a:prstGeom>
        </p:spPr>
      </p:pic>
      <p:sp>
        <p:nvSpPr>
          <p:cNvPr id="4" name="Shape 0"/>
          <p:cNvSpPr/>
          <p:nvPr/>
        </p:nvSpPr>
        <p:spPr>
          <a:xfrm>
            <a:off x="438180" y="85771"/>
            <a:ext cx="1609710" cy="419070"/>
          </a:xfrm>
          <a:prstGeom prst="rect">
            <a:avLst/>
          </a:prstGeom>
          <a:solidFill>
            <a:srgbClr val="0B4E8A">
              <a:alpha val="66000"/>
            </a:srgbClr>
          </a:solidFill>
          <a:ln/>
        </p:spPr>
      </p:sp>
      <p:sp>
        <p:nvSpPr>
          <p:cNvPr id="5" name="Text 1"/>
          <p:cNvSpPr/>
          <p:nvPr/>
        </p:nvSpPr>
        <p:spPr>
          <a:xfrm>
            <a:off x="438180" y="85771"/>
            <a:ext cx="1609710" cy="419070"/>
          </a:xfrm>
          <a:prstGeom prst="rect">
            <a:avLst/>
          </a:prstGeom>
          <a:noFill/>
          <a:ln/>
        </p:spPr>
        <p:txBody>
          <a:bodyPr wrap="square" lIns="0" tIns="0" rIns="0" bIns="0" rtlCol="0" anchor="ctr"/>
          <a:lstStyle/>
          <a:p>
            <a:pPr algn="ctr" indent="0" marL="0">
              <a:buNone/>
            </a:pPr>
            <a:r>
              <a:rPr lang="en-US" sz="1950" b="1" dirty="0">
                <a:solidFill>
                  <a:srgbClr val="FFF100"/>
                </a:solidFill>
                <a:latin typeface="맑은 고딕" pitchFamily="34" charset="0"/>
                <a:ea typeface="맑은 고딕" pitchFamily="34" charset="-122"/>
                <a:cs typeface="맑은 고딕" pitchFamily="34" charset="-120"/>
              </a:rPr>
              <a:t>과제 제출</a:t>
            </a:r>
            <a:endParaRPr lang="en-US" sz="1950" dirty="0"/>
          </a:p>
        </p:txBody>
      </p:sp>
      <p:pic>
        <p:nvPicPr>
          <p:cNvPr id="6" name="Image 2" descr="preencoded.png">    </p:cNvPr>
          <p:cNvPicPr>
            <a:picLocks noChangeAspect="1"/>
          </p:cNvPicPr>
          <p:nvPr/>
        </p:nvPicPr>
        <p:blipFill>
          <a:blip r:embed="rId3"/>
          <a:stretch>
            <a:fillRect/>
          </a:stretch>
        </p:blipFill>
        <p:spPr>
          <a:xfrm>
            <a:off x="10325130" y="76170"/>
            <a:ext cx="1619220" cy="438180"/>
          </a:xfrm>
          <a:prstGeom prst="rect">
            <a:avLst/>
          </a:prstGeom>
        </p:spPr>
      </p:pic>
      <p:sp>
        <p:nvSpPr>
          <p:cNvPr id="7" name="Text 2"/>
          <p:cNvSpPr/>
          <p:nvPr/>
        </p:nvSpPr>
        <p:spPr>
          <a:xfrm>
            <a:off x="0" y="6591270"/>
            <a:ext cx="12191970" cy="190470"/>
          </a:xfrm>
          <a:prstGeom prst="rect">
            <a:avLst/>
          </a:prstGeom>
          <a:noFill/>
          <a:ln/>
        </p:spPr>
        <p:txBody>
          <a:bodyPr wrap="square" lIns="0" tIns="0" rIns="0" bIns="0" rtlCol="0" anchor="t"/>
          <a:lstStyle/>
          <a:p>
            <a:pPr algn="ctr" indent="0" marL="0">
              <a:buNone/>
            </a:pPr>
            <a:r>
              <a:rPr lang="en-US" sz="1130" dirty="0">
                <a:solidFill>
                  <a:srgbClr val="8A8F96"/>
                </a:solidFill>
                <a:latin typeface="Arial" pitchFamily="34" charset="0"/>
                <a:ea typeface="Arial" pitchFamily="34" charset="-122"/>
                <a:cs typeface="Arial" pitchFamily="34" charset="-120"/>
              </a:rPr>
              <a:t>13</a:t>
            </a:r>
            <a:endParaRPr lang="en-US" sz="1130" dirty="0"/>
          </a:p>
        </p:txBody>
      </p:sp>
      <p:sp>
        <p:nvSpPr>
          <p:cNvPr id="8" name="Text 3"/>
          <p:cNvSpPr/>
          <p:nvPr/>
        </p:nvSpPr>
        <p:spPr>
          <a:xfrm>
            <a:off x="495330" y="800100"/>
            <a:ext cx="6667530" cy="438180"/>
          </a:xfrm>
          <a:prstGeom prst="rect">
            <a:avLst/>
          </a:prstGeom>
          <a:noFill/>
          <a:ln/>
        </p:spPr>
        <p:txBody>
          <a:bodyPr wrap="square" lIns="0" tIns="0" rIns="0" bIns="0" rtlCol="0" anchor="t"/>
          <a:lstStyle/>
          <a:p>
            <a:pPr indent="0" marL="0">
              <a:buNone/>
            </a:pPr>
            <a:r>
              <a:rPr lang="en-US" sz="2550" b="1" dirty="0">
                <a:solidFill>
                  <a:srgbClr val="17365D"/>
                </a:solidFill>
                <a:latin typeface="맑은 고딕" pitchFamily="34" charset="0"/>
                <a:ea typeface="맑은 고딕" pitchFamily="34" charset="-122"/>
                <a:cs typeface="맑은 고딕" pitchFamily="34" charset="-120"/>
              </a:rPr>
              <a:t>과제물 제출 안내</a:t>
            </a:r>
            <a:endParaRPr lang="en-US" sz="2550" dirty="0"/>
          </a:p>
        </p:txBody>
      </p:sp>
      <p:sp>
        <p:nvSpPr>
          <p:cNvPr id="9" name="Shape 4"/>
          <p:cNvSpPr/>
          <p:nvPr/>
        </p:nvSpPr>
        <p:spPr>
          <a:xfrm>
            <a:off x="495330" y="1409730"/>
            <a:ext cx="9505920" cy="990570"/>
          </a:xfrm>
          <a:prstGeom prst="rect">
            <a:avLst/>
          </a:prstGeom>
          <a:solidFill>
            <a:srgbClr val="FFFFFF"/>
          </a:solidFill>
          <a:ln w="12700">
            <a:solidFill>
              <a:srgbClr val="D4DCE6"/>
            </a:solidFill>
            <a:prstDash val="solid"/>
          </a:ln>
        </p:spPr>
      </p:sp>
      <p:sp>
        <p:nvSpPr>
          <p:cNvPr id="10" name="Shape 5"/>
          <p:cNvSpPr/>
          <p:nvPr/>
        </p:nvSpPr>
        <p:spPr>
          <a:xfrm>
            <a:off x="495330" y="1409730"/>
            <a:ext cx="57150" cy="990570"/>
          </a:xfrm>
          <a:prstGeom prst="rect">
            <a:avLst/>
          </a:prstGeom>
          <a:solidFill>
            <a:srgbClr val="005BAC"/>
          </a:solidFill>
          <a:ln/>
        </p:spPr>
      </p:sp>
      <p:sp>
        <p:nvSpPr>
          <p:cNvPr id="11" name="Text 6"/>
          <p:cNvSpPr/>
          <p:nvPr/>
        </p:nvSpPr>
        <p:spPr>
          <a:xfrm>
            <a:off x="723930" y="1600200"/>
            <a:ext cx="304770" cy="285750"/>
          </a:xfrm>
          <a:prstGeom prst="rect">
            <a:avLst/>
          </a:prstGeom>
          <a:noFill/>
          <a:ln/>
        </p:spPr>
        <p:txBody>
          <a:bodyPr wrap="square" lIns="0" tIns="0" rIns="0" bIns="0" rtlCol="0" anchor="t"/>
          <a:lstStyle/>
          <a:p>
            <a:pPr indent="0" marL="0">
              <a:buNone/>
            </a:pPr>
            <a:r>
              <a:rPr lang="en-US" sz="1650" dirty="0">
                <a:solidFill>
                  <a:srgbClr val="3B3838"/>
                </a:solidFill>
                <a:latin typeface="맑은 고딕" pitchFamily="34" charset="0"/>
                <a:ea typeface="맑은 고딕" pitchFamily="34" charset="-122"/>
                <a:cs typeface="맑은 고딕" pitchFamily="34" charset="-120"/>
              </a:rPr>
              <a:t>📨</a:t>
            </a:r>
            <a:endParaRPr lang="en-US" sz="1650" dirty="0"/>
          </a:p>
        </p:txBody>
      </p:sp>
      <p:sp>
        <p:nvSpPr>
          <p:cNvPr id="12" name="Text 7"/>
          <p:cNvSpPr/>
          <p:nvPr/>
        </p:nvSpPr>
        <p:spPr>
          <a:xfrm>
            <a:off x="1085850" y="1409730"/>
            <a:ext cx="8743950" cy="990570"/>
          </a:xfrm>
          <a:prstGeom prst="rect">
            <a:avLst/>
          </a:prstGeom>
          <a:noFill/>
          <a:ln/>
        </p:spPr>
        <p:txBody>
          <a:bodyPr wrap="square" lIns="0" tIns="0" rIns="0" bIns="0" rtlCol="0" anchor="ctr"/>
          <a:lstStyle/>
          <a:p>
            <a:pPr indent="0" marL="0">
              <a:lnSpc>
                <a:spcPct val="135000"/>
              </a:lnSpc>
              <a:buNone/>
            </a:pPr>
            <a:r>
              <a:rPr lang="en-US" sz="1650" dirty="0">
                <a:solidFill>
                  <a:srgbClr val="3B3838"/>
                </a:solidFill>
                <a:latin typeface="맑은 고딕" pitchFamily="34" charset="0"/>
                <a:ea typeface="맑은 고딕" pitchFamily="34" charset="-122"/>
                <a:cs typeface="맑은 고딕" pitchFamily="34" charset="-120"/>
              </a:rPr>
              <a:t>과제물은 </a:t>
            </a:r>
            <a:pPr indent="0" marL="0">
              <a:lnSpc>
                <a:spcPct val="135000"/>
              </a:lnSpc>
              <a:buNone/>
            </a:pPr>
            <a:r>
              <a:rPr lang="en-US" sz="1650" b="1" dirty="0">
                <a:solidFill>
                  <a:srgbClr val="005BAC"/>
                </a:solidFill>
                <a:latin typeface="맑은 고딕" pitchFamily="34" charset="0"/>
                <a:ea typeface="맑은 고딕" pitchFamily="34" charset="-122"/>
                <a:cs typeface="맑은 고딕" pitchFamily="34" charset="-120"/>
              </a:rPr>
              <a:t>‘LMS’ 과제방</a:t>
            </a:r>
            <a:pPr indent="0" marL="0">
              <a:lnSpc>
                <a:spcPct val="135000"/>
              </a:lnSpc>
              <a:buNone/>
            </a:pPr>
            <a:r>
              <a:rPr lang="en-US" sz="1650" dirty="0">
                <a:solidFill>
                  <a:srgbClr val="3B3838"/>
                </a:solidFill>
                <a:latin typeface="맑은 고딕" pitchFamily="34" charset="0"/>
                <a:ea typeface="맑은 고딕" pitchFamily="34" charset="-122"/>
                <a:cs typeface="맑은 고딕" pitchFamily="34" charset="-120"/>
              </a:rPr>
              <a:t> 혹은 저의 메일로 해당 주차 </a:t>
            </a:r>
            <a:pPr indent="0" marL="0">
              <a:lnSpc>
                <a:spcPct val="135000"/>
              </a:lnSpc>
              <a:buNone/>
            </a:pPr>
            <a:r>
              <a:rPr lang="en-US" sz="1650" b="1" dirty="0">
                <a:solidFill>
                  <a:srgbClr val="3B3838"/>
                </a:solidFill>
                <a:latin typeface="맑은 고딕" pitchFamily="34" charset="0"/>
                <a:ea typeface="맑은 고딕" pitchFamily="34" charset="-122"/>
                <a:cs typeface="맑은 고딕" pitchFamily="34" charset="-120"/>
              </a:rPr>
              <a:t>강의일 하루 전 23:59:59</a:t>
            </a:r>
            <a:pPr indent="0" marL="0">
              <a:lnSpc>
                <a:spcPct val="135000"/>
              </a:lnSpc>
              <a:buNone/>
            </a:pPr>
            <a:r>
              <a:rPr lang="en-US" sz="1650" dirty="0">
                <a:solidFill>
                  <a:srgbClr val="3B3838"/>
                </a:solidFill>
                <a:latin typeface="맑은 고딕" pitchFamily="34" charset="0"/>
                <a:ea typeface="맑은 고딕" pitchFamily="34" charset="-122"/>
                <a:cs typeface="맑은 고딕" pitchFamily="34" charset="-120"/>
              </a:rPr>
              <a:t>까지 이 메일 주소로</a:t>
            </a:r>
            <a:endParaRPr lang="en-US" sz="1650" dirty="0"/>
          </a:p>
          <a:p>
            <a:pPr indent="0" marL="0">
              <a:lnSpc>
                <a:spcPct val="135000"/>
              </a:lnSpc>
              <a:buNone/>
            </a:pPr>
            <a:r>
              <a:rPr lang="en-US" sz="1650" b="1" u="sng" dirty="0">
                <a:solidFill>
                  <a:srgbClr val="005BAC"/>
                </a:solidFill>
                <a:latin typeface="맑은 고딕" pitchFamily="34" charset="0"/>
                <a:ea typeface="맑은 고딕" pitchFamily="34" charset="-122"/>
                <a:cs typeface="맑은 고딕" pitchFamily="34" charset="-120"/>
                <a:hlinkClick r:id="rId4" invalidUrl="" action="" tgtFrame="" tooltip="" history="1" highlightClick="0" endSnd="0">
                  <a:extLst>
                    <a:ext uri="{A12FA001-AC4F-418D-AE19-62706E023703}">
                      <ahyp:hlinkClr xmlns:ahyp="http://schemas.microsoft.com/office/drawing/2018/hyperlinkcolor" val="tx"/>
                    </a:ext>
                  </a:extLst>
                </a:hlinkClick>
              </a:rPr>
              <a:t>dimajob4u@gmail.com</a:t>
            </a:r>
            <a:pPr indent="0" marL="0">
              <a:lnSpc>
                <a:spcPct val="135000"/>
              </a:lnSpc>
              <a:buNone/>
            </a:pPr>
            <a:r>
              <a:rPr lang="en-US" sz="1650" dirty="0">
                <a:solidFill>
                  <a:srgbClr val="3B3838"/>
                </a:solidFill>
                <a:latin typeface="맑은 고딕" pitchFamily="34" charset="0"/>
                <a:ea typeface="맑은 고딕" pitchFamily="34" charset="-122"/>
                <a:cs typeface="맑은 고딕" pitchFamily="34" charset="-120"/>
              </a:rPr>
              <a:t> 으로 제출하시면 됩니다.</a:t>
            </a:r>
            <a:endParaRPr lang="en-US" sz="1650" dirty="0"/>
          </a:p>
        </p:txBody>
      </p:sp>
      <p:sp>
        <p:nvSpPr>
          <p:cNvPr id="13" name="Shape 8"/>
          <p:cNvSpPr/>
          <p:nvPr/>
        </p:nvSpPr>
        <p:spPr>
          <a:xfrm>
            <a:off x="2857500" y="3486150"/>
            <a:ext cx="6286500" cy="266730"/>
          </a:xfrm>
          <a:prstGeom prst="rightArrow">
            <a:avLst/>
          </a:prstGeom>
          <a:solidFill>
            <a:srgbClr val="DCE6F1"/>
          </a:solidFill>
          <a:ln/>
        </p:spPr>
      </p:sp>
      <p:sp>
        <p:nvSpPr>
          <p:cNvPr id="14" name="Shape 9"/>
          <p:cNvSpPr/>
          <p:nvPr/>
        </p:nvSpPr>
        <p:spPr>
          <a:xfrm>
            <a:off x="3810030" y="3438510"/>
            <a:ext cx="361920" cy="361920"/>
          </a:xfrm>
          <a:prstGeom prst="ellipse">
            <a:avLst/>
          </a:prstGeom>
          <a:solidFill>
            <a:srgbClr val="C0504D"/>
          </a:solidFill>
          <a:ln/>
        </p:spPr>
      </p:sp>
      <p:sp>
        <p:nvSpPr>
          <p:cNvPr id="15" name="Shape 10"/>
          <p:cNvSpPr/>
          <p:nvPr/>
        </p:nvSpPr>
        <p:spPr>
          <a:xfrm>
            <a:off x="8172450" y="3438510"/>
            <a:ext cx="361920" cy="361920"/>
          </a:xfrm>
          <a:prstGeom prst="ellipse">
            <a:avLst/>
          </a:prstGeom>
          <a:solidFill>
            <a:srgbClr val="D9A441"/>
          </a:solidFill>
          <a:ln/>
        </p:spPr>
      </p:sp>
      <p:sp>
        <p:nvSpPr>
          <p:cNvPr id="16" name="Text 11"/>
          <p:cNvSpPr/>
          <p:nvPr/>
        </p:nvSpPr>
        <p:spPr>
          <a:xfrm>
            <a:off x="2857500" y="2895630"/>
            <a:ext cx="2266980" cy="323880"/>
          </a:xfrm>
          <a:prstGeom prst="rect">
            <a:avLst/>
          </a:prstGeom>
          <a:noFill/>
          <a:ln/>
        </p:spPr>
        <p:txBody>
          <a:bodyPr wrap="square" lIns="0" tIns="0" rIns="0" bIns="0" rtlCol="0" anchor="t"/>
          <a:lstStyle/>
          <a:p>
            <a:pPr algn="ctr" indent="0" marL="0">
              <a:buNone/>
            </a:pPr>
            <a:r>
              <a:rPr lang="en-US" sz="1950" b="1" dirty="0">
                <a:solidFill>
                  <a:srgbClr val="C00000"/>
                </a:solidFill>
                <a:latin typeface="Arial" pitchFamily="34" charset="0"/>
                <a:ea typeface="Arial" pitchFamily="34" charset="-122"/>
                <a:cs typeface="Arial" pitchFamily="34" charset="-120"/>
              </a:rPr>
              <a:t>3.15, 23:59:59</a:t>
            </a:r>
            <a:endParaRPr lang="en-US" sz="1950" dirty="0"/>
          </a:p>
        </p:txBody>
      </p:sp>
      <p:sp>
        <p:nvSpPr>
          <p:cNvPr id="17" name="Text 12"/>
          <p:cNvSpPr/>
          <p:nvPr/>
        </p:nvSpPr>
        <p:spPr>
          <a:xfrm>
            <a:off x="7219920" y="2895630"/>
            <a:ext cx="2266980" cy="323880"/>
          </a:xfrm>
          <a:prstGeom prst="rect">
            <a:avLst/>
          </a:prstGeom>
          <a:noFill/>
          <a:ln/>
        </p:spPr>
        <p:txBody>
          <a:bodyPr wrap="square" lIns="0" tIns="0" rIns="0" bIns="0" rtlCol="0" anchor="t"/>
          <a:lstStyle/>
          <a:p>
            <a:pPr algn="ctr" indent="0" marL="0">
              <a:buNone/>
            </a:pPr>
            <a:r>
              <a:rPr lang="en-US" sz="1950" dirty="0">
                <a:solidFill>
                  <a:srgbClr val="3B3838"/>
                </a:solidFill>
                <a:latin typeface="Arial" pitchFamily="34" charset="0"/>
                <a:ea typeface="Arial" pitchFamily="34" charset="-122"/>
                <a:cs typeface="Arial" pitchFamily="34" charset="-120"/>
              </a:rPr>
              <a:t>3.16, 14:00</a:t>
            </a:r>
            <a:endParaRPr lang="en-US" sz="1950" dirty="0"/>
          </a:p>
        </p:txBody>
      </p:sp>
      <p:sp>
        <p:nvSpPr>
          <p:cNvPr id="18" name="Text 13"/>
          <p:cNvSpPr/>
          <p:nvPr/>
        </p:nvSpPr>
        <p:spPr>
          <a:xfrm>
            <a:off x="2857500" y="3943350"/>
            <a:ext cx="2266980" cy="304770"/>
          </a:xfrm>
          <a:prstGeom prst="rect">
            <a:avLst/>
          </a:prstGeom>
          <a:noFill/>
          <a:ln/>
        </p:spPr>
        <p:txBody>
          <a:bodyPr wrap="square" lIns="0" tIns="0" rIns="0" bIns="0" rtlCol="0" anchor="t"/>
          <a:lstStyle/>
          <a:p>
            <a:pPr algn="ctr" indent="0" marL="0">
              <a:buNone/>
            </a:pPr>
            <a:r>
              <a:rPr lang="en-US" sz="1730" b="1" dirty="0">
                <a:solidFill>
                  <a:srgbClr val="C00000"/>
                </a:solidFill>
                <a:latin typeface="맑은 고딕" pitchFamily="34" charset="0"/>
                <a:ea typeface="맑은 고딕" pitchFamily="34" charset="-122"/>
                <a:cs typeface="맑은 고딕" pitchFamily="34" charset="-120"/>
              </a:rPr>
              <a:t>과제물 제출 일시</a:t>
            </a:r>
            <a:endParaRPr lang="en-US" sz="1730" dirty="0"/>
          </a:p>
        </p:txBody>
      </p:sp>
      <p:sp>
        <p:nvSpPr>
          <p:cNvPr id="19" name="Text 14"/>
          <p:cNvSpPr/>
          <p:nvPr/>
        </p:nvSpPr>
        <p:spPr>
          <a:xfrm>
            <a:off x="7219920" y="3943350"/>
            <a:ext cx="2266980" cy="304770"/>
          </a:xfrm>
          <a:prstGeom prst="rect">
            <a:avLst/>
          </a:prstGeom>
          <a:noFill/>
          <a:ln/>
        </p:spPr>
        <p:txBody>
          <a:bodyPr wrap="square" lIns="0" tIns="0" rIns="0" bIns="0" rtlCol="0" anchor="t"/>
          <a:lstStyle/>
          <a:p>
            <a:pPr algn="ctr" indent="0" marL="0">
              <a:buNone/>
            </a:pPr>
            <a:r>
              <a:rPr lang="en-US" sz="1730" b="1" dirty="0">
                <a:solidFill>
                  <a:srgbClr val="3B3838"/>
                </a:solidFill>
                <a:latin typeface="맑은 고딕" pitchFamily="34" charset="0"/>
                <a:ea typeface="맑은 고딕" pitchFamily="34" charset="-122"/>
                <a:cs typeface="맑은 고딕" pitchFamily="34" charset="-120"/>
              </a:rPr>
              <a:t>본 강의</a:t>
            </a:r>
            <a:endParaRPr lang="en-US" sz="1730" dirty="0"/>
          </a:p>
        </p:txBody>
      </p:sp>
      <p:pic>
        <p:nvPicPr>
          <p:cNvPr id="20" name="Image 3" descr="preencoded.png">    </p:cNvPr>
          <p:cNvPicPr>
            <a:picLocks noChangeAspect="1"/>
          </p:cNvPicPr>
          <p:nvPr/>
        </p:nvPicPr>
        <p:blipFill>
          <a:blip r:embed="rId5"/>
          <a:stretch>
            <a:fillRect/>
          </a:stretch>
        </p:blipFill>
        <p:spPr>
          <a:xfrm>
            <a:off x="3733770" y="4362420"/>
            <a:ext cx="4762470" cy="1047720"/>
          </a:xfrm>
          <a:prstGeom prst="rect">
            <a:avLst/>
          </a:prstGeom>
        </p:spPr>
      </p:pic>
      <p:sp>
        <p:nvSpPr>
          <p:cNvPr id="21" name="Text 15"/>
          <p:cNvSpPr/>
          <p:nvPr/>
        </p:nvSpPr>
        <p:spPr>
          <a:xfrm>
            <a:off x="4762470" y="4533870"/>
            <a:ext cx="2667030" cy="247620"/>
          </a:xfrm>
          <a:prstGeom prst="rect">
            <a:avLst/>
          </a:prstGeom>
          <a:noFill/>
          <a:ln/>
        </p:spPr>
        <p:txBody>
          <a:bodyPr wrap="square" lIns="0" tIns="0" rIns="0" bIns="0" rtlCol="0" anchor="t"/>
          <a:lstStyle/>
          <a:p>
            <a:pPr algn="ctr" indent="0" marL="0">
              <a:buNone/>
            </a:pPr>
            <a:r>
              <a:rPr lang="en-US" sz="1350" b="1" dirty="0">
                <a:solidFill>
                  <a:srgbClr val="8A6C6A"/>
                </a:solidFill>
                <a:latin typeface="맑은 고딕" pitchFamily="34" charset="0"/>
                <a:ea typeface="맑은 고딕" pitchFamily="34" charset="-122"/>
                <a:cs typeface="맑은 고딕" pitchFamily="34" charset="-120"/>
              </a:rPr>
              <a:t>강의일 하루 전까지</a:t>
            </a:r>
            <a:endParaRPr lang="en-US" sz="1350" dirty="0"/>
          </a:p>
        </p:txBody>
      </p:sp>
      <p:sp>
        <p:nvSpPr>
          <p:cNvPr id="22" name="Shape 16"/>
          <p:cNvSpPr/>
          <p:nvPr/>
        </p:nvSpPr>
        <p:spPr>
          <a:xfrm>
            <a:off x="1809780" y="3238530"/>
            <a:ext cx="761970" cy="761970"/>
          </a:xfrm>
          <a:prstGeom prst="star12">
            <a:avLst/>
          </a:prstGeom>
          <a:solidFill>
            <a:srgbClr val="5B7FBF"/>
          </a:solidFill>
          <a:ln/>
        </p:spPr>
      </p:sp>
      <p:sp>
        <p:nvSpPr>
          <p:cNvPr id="23" name="Text 17"/>
          <p:cNvSpPr/>
          <p:nvPr/>
        </p:nvSpPr>
        <p:spPr>
          <a:xfrm>
            <a:off x="1809780" y="3238530"/>
            <a:ext cx="761970" cy="761970"/>
          </a:xfrm>
          <a:prstGeom prst="rect">
            <a:avLst/>
          </a:prstGeom>
          <a:noFill/>
          <a:ln/>
        </p:spPr>
        <p:txBody>
          <a:bodyPr wrap="square" lIns="0" tIns="0" rIns="0" bIns="0" rtlCol="0" anchor="ctr"/>
          <a:lstStyle/>
          <a:p>
            <a:pPr algn="ctr" indent="0" marL="0">
              <a:buNone/>
            </a:pPr>
            <a:r>
              <a:rPr lang="en-US" sz="1350" dirty="0">
                <a:solidFill>
                  <a:srgbClr val="FFFFFF"/>
                </a:solidFill>
                <a:latin typeface="Arial" pitchFamily="34" charset="0"/>
                <a:ea typeface="Arial" pitchFamily="34" charset="-122"/>
                <a:cs typeface="Arial" pitchFamily="34" charset="-120"/>
              </a:rPr>
              <a:t>ex</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FF0F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970" cy="3562320"/>
          </a:xfrm>
          <a:prstGeom prst="rect">
            <a:avLst/>
          </a:prstGeom>
        </p:spPr>
      </p:pic>
      <p:pic>
        <p:nvPicPr>
          <p:cNvPr id="3" name="Image 1" descr="preencoded.png">    </p:cNvPr>
          <p:cNvPicPr>
            <a:picLocks noChangeAspect="1"/>
          </p:cNvPicPr>
          <p:nvPr/>
        </p:nvPicPr>
        <p:blipFill>
          <a:blip r:embed="rId2"/>
          <a:stretch>
            <a:fillRect/>
          </a:stretch>
        </p:blipFill>
        <p:spPr>
          <a:xfrm>
            <a:off x="0" y="3581430"/>
            <a:ext cx="5333970" cy="438180"/>
          </a:xfrm>
          <a:prstGeom prst="rect">
            <a:avLst/>
          </a:prstGeom>
        </p:spPr>
      </p:pic>
      <p:pic>
        <p:nvPicPr>
          <p:cNvPr id="4" name="Image 2" descr="preencoded.png">    </p:cNvPr>
          <p:cNvPicPr>
            <a:picLocks noChangeAspect="1"/>
          </p:cNvPicPr>
          <p:nvPr/>
        </p:nvPicPr>
        <p:blipFill>
          <a:blip r:embed="rId3"/>
          <a:stretch>
            <a:fillRect/>
          </a:stretch>
        </p:blipFill>
        <p:spPr>
          <a:xfrm>
            <a:off x="-57150" y="2324130"/>
            <a:ext cx="1714500" cy="1904970"/>
          </a:xfrm>
          <a:prstGeom prst="rect">
            <a:avLst/>
          </a:prstGeom>
        </p:spPr>
      </p:pic>
      <p:sp>
        <p:nvSpPr>
          <p:cNvPr id="5" name="Text 0"/>
          <p:cNvSpPr/>
          <p:nvPr/>
        </p:nvSpPr>
        <p:spPr>
          <a:xfrm>
            <a:off x="4762470" y="3714750"/>
            <a:ext cx="6934170" cy="609630"/>
          </a:xfrm>
          <a:prstGeom prst="rect">
            <a:avLst/>
          </a:prstGeom>
          <a:noFill/>
          <a:ln/>
        </p:spPr>
        <p:txBody>
          <a:bodyPr wrap="square" lIns="0" tIns="0" rIns="0" bIns="0" rtlCol="0" anchor="t"/>
          <a:lstStyle/>
          <a:p>
            <a:pPr algn="r" indent="0" marL="0">
              <a:buNone/>
            </a:pPr>
            <a:r>
              <a:rPr lang="en-US" sz="3450" b="1" dirty="0">
                <a:solidFill>
                  <a:srgbClr val="17365D"/>
                </a:solidFill>
                <a:latin typeface="맑은 고딕" pitchFamily="34" charset="0"/>
                <a:ea typeface="맑은 고딕" pitchFamily="34" charset="-122"/>
                <a:cs typeface="맑은 고딕" pitchFamily="34" charset="-120"/>
              </a:rPr>
              <a:t>강의 요구 분석</a:t>
            </a:r>
            <a:endParaRPr lang="en-US" sz="3450" dirty="0"/>
          </a:p>
        </p:txBody>
      </p:sp>
      <p:sp>
        <p:nvSpPr>
          <p:cNvPr id="6" name="Text 1"/>
          <p:cNvSpPr/>
          <p:nvPr/>
        </p:nvSpPr>
        <p:spPr>
          <a:xfrm>
            <a:off x="3810030" y="4381530"/>
            <a:ext cx="7886700" cy="666780"/>
          </a:xfrm>
          <a:prstGeom prst="rect">
            <a:avLst/>
          </a:prstGeom>
          <a:noFill/>
          <a:ln/>
        </p:spPr>
        <p:txBody>
          <a:bodyPr wrap="square" lIns="0" tIns="0" rIns="0" bIns="0" rtlCol="0" anchor="t"/>
          <a:lstStyle/>
          <a:p>
            <a:pPr algn="r" indent="0" marL="0">
              <a:lnSpc>
                <a:spcPct val="140000"/>
              </a:lnSpc>
              <a:buNone/>
            </a:pPr>
            <a:r>
              <a:rPr lang="en-US" sz="1580" dirty="0">
                <a:solidFill>
                  <a:srgbClr val="63666B"/>
                </a:solidFill>
                <a:latin typeface="맑은 고딕" pitchFamily="34" charset="0"/>
                <a:ea typeface="맑은 고딕" pitchFamily="34" charset="-122"/>
                <a:cs typeface="맑은 고딕" pitchFamily="34" charset="-120"/>
              </a:rPr>
              <a:t>강의를 통해 무엇을 얻고자 하는지 설문조사로 알아보기</a:t>
            </a:r>
            <a:endParaRPr lang="en-US" sz="1580" dirty="0"/>
          </a:p>
        </p:txBody>
      </p:sp>
      <p:pic>
        <p:nvPicPr>
          <p:cNvPr id="7" name="Image 3" descr="preencoded.png">    </p:cNvPr>
          <p:cNvPicPr>
            <a:picLocks noChangeAspect="1"/>
          </p:cNvPicPr>
          <p:nvPr/>
        </p:nvPicPr>
        <p:blipFill>
          <a:blip r:embed="rId4"/>
          <a:stretch>
            <a:fillRect/>
          </a:stretch>
        </p:blipFill>
        <p:spPr>
          <a:xfrm>
            <a:off x="10668030" y="6191220"/>
            <a:ext cx="1162020" cy="41907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FF0F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590520"/>
            <a:ext cx="12191970" cy="6267480"/>
          </a:xfrm>
          <a:prstGeom prst="rect">
            <a:avLst/>
          </a:prstGeom>
        </p:spPr>
      </p:pic>
      <p:pic>
        <p:nvPicPr>
          <p:cNvPr id="3" name="Image 1" descr="preencoded.png">    </p:cNvPr>
          <p:cNvPicPr>
            <a:picLocks noChangeAspect="1"/>
          </p:cNvPicPr>
          <p:nvPr/>
        </p:nvPicPr>
        <p:blipFill>
          <a:blip r:embed="rId2"/>
          <a:stretch>
            <a:fillRect/>
          </a:stretch>
        </p:blipFill>
        <p:spPr>
          <a:xfrm>
            <a:off x="0" y="0"/>
            <a:ext cx="12191970" cy="590520"/>
          </a:xfrm>
          <a:prstGeom prst="rect">
            <a:avLst/>
          </a:prstGeom>
        </p:spPr>
      </p:pic>
      <p:sp>
        <p:nvSpPr>
          <p:cNvPr id="4" name="Shape 0"/>
          <p:cNvSpPr/>
          <p:nvPr/>
        </p:nvSpPr>
        <p:spPr>
          <a:xfrm>
            <a:off x="438180" y="85771"/>
            <a:ext cx="2381280" cy="419070"/>
          </a:xfrm>
          <a:prstGeom prst="rect">
            <a:avLst/>
          </a:prstGeom>
          <a:solidFill>
            <a:srgbClr val="0B4E8A">
              <a:alpha val="66000"/>
            </a:srgbClr>
          </a:solidFill>
          <a:ln/>
        </p:spPr>
      </p:sp>
      <p:sp>
        <p:nvSpPr>
          <p:cNvPr id="5" name="Text 1"/>
          <p:cNvSpPr/>
          <p:nvPr/>
        </p:nvSpPr>
        <p:spPr>
          <a:xfrm>
            <a:off x="438180" y="85771"/>
            <a:ext cx="2381280" cy="419070"/>
          </a:xfrm>
          <a:prstGeom prst="rect">
            <a:avLst/>
          </a:prstGeom>
          <a:noFill/>
          <a:ln/>
        </p:spPr>
        <p:txBody>
          <a:bodyPr wrap="square" lIns="0" tIns="0" rIns="0" bIns="0" rtlCol="0" anchor="ctr"/>
          <a:lstStyle/>
          <a:p>
            <a:pPr algn="ctr" indent="0" marL="0">
              <a:buNone/>
            </a:pPr>
            <a:r>
              <a:rPr lang="en-US" sz="1950" b="1" dirty="0">
                <a:solidFill>
                  <a:srgbClr val="FFF100"/>
                </a:solidFill>
                <a:latin typeface="맑은 고딕" pitchFamily="34" charset="0"/>
                <a:ea typeface="맑은 고딕" pitchFamily="34" charset="-122"/>
                <a:cs typeface="맑은 고딕" pitchFamily="34" charset="-120"/>
              </a:rPr>
              <a:t>강의 요구 분석</a:t>
            </a:r>
            <a:endParaRPr lang="en-US" sz="1950" dirty="0"/>
          </a:p>
        </p:txBody>
      </p:sp>
      <p:pic>
        <p:nvPicPr>
          <p:cNvPr id="6" name="Image 2" descr="preencoded.png">    </p:cNvPr>
          <p:cNvPicPr>
            <a:picLocks noChangeAspect="1"/>
          </p:cNvPicPr>
          <p:nvPr/>
        </p:nvPicPr>
        <p:blipFill>
          <a:blip r:embed="rId3"/>
          <a:stretch>
            <a:fillRect/>
          </a:stretch>
        </p:blipFill>
        <p:spPr>
          <a:xfrm>
            <a:off x="10325130" y="76170"/>
            <a:ext cx="1619220" cy="438180"/>
          </a:xfrm>
          <a:prstGeom prst="rect">
            <a:avLst/>
          </a:prstGeom>
        </p:spPr>
      </p:pic>
      <p:sp>
        <p:nvSpPr>
          <p:cNvPr id="7" name="Text 2"/>
          <p:cNvSpPr/>
          <p:nvPr/>
        </p:nvSpPr>
        <p:spPr>
          <a:xfrm>
            <a:off x="0" y="6591270"/>
            <a:ext cx="12191970" cy="190470"/>
          </a:xfrm>
          <a:prstGeom prst="rect">
            <a:avLst/>
          </a:prstGeom>
          <a:noFill/>
          <a:ln/>
        </p:spPr>
        <p:txBody>
          <a:bodyPr wrap="square" lIns="0" tIns="0" rIns="0" bIns="0" rtlCol="0" anchor="t"/>
          <a:lstStyle/>
          <a:p>
            <a:pPr algn="ctr" indent="0" marL="0">
              <a:buNone/>
            </a:pPr>
            <a:r>
              <a:rPr lang="en-US" sz="1130" dirty="0">
                <a:solidFill>
                  <a:srgbClr val="8A8F96"/>
                </a:solidFill>
                <a:latin typeface="Arial" pitchFamily="34" charset="0"/>
                <a:ea typeface="Arial" pitchFamily="34" charset="-122"/>
                <a:cs typeface="Arial" pitchFamily="34" charset="-120"/>
              </a:rPr>
              <a:t>15</a:t>
            </a:r>
            <a:endParaRPr lang="en-US" sz="1130" dirty="0"/>
          </a:p>
        </p:txBody>
      </p:sp>
      <p:sp>
        <p:nvSpPr>
          <p:cNvPr id="8" name="Text 3"/>
          <p:cNvSpPr/>
          <p:nvPr/>
        </p:nvSpPr>
        <p:spPr>
          <a:xfrm>
            <a:off x="495330" y="781080"/>
            <a:ext cx="8572500" cy="438180"/>
          </a:xfrm>
          <a:prstGeom prst="rect">
            <a:avLst/>
          </a:prstGeom>
          <a:noFill/>
          <a:ln/>
        </p:spPr>
        <p:txBody>
          <a:bodyPr wrap="square" lIns="0" tIns="0" rIns="0" bIns="0" rtlCol="0" anchor="t"/>
          <a:lstStyle/>
          <a:p>
            <a:pPr indent="0" marL="0">
              <a:buNone/>
            </a:pPr>
            <a:r>
              <a:rPr lang="en-US" sz="2550" b="1" dirty="0">
                <a:solidFill>
                  <a:srgbClr val="17365D"/>
                </a:solidFill>
                <a:latin typeface="맑은 고딕" pitchFamily="34" charset="0"/>
                <a:ea typeface="맑은 고딕" pitchFamily="34" charset="-122"/>
                <a:cs typeface="맑은 고딕" pitchFamily="34" charset="-120"/>
              </a:rPr>
              <a:t>이번 강의를 통해 무엇을 얻고 싶은가요?</a:t>
            </a:r>
            <a:endParaRPr lang="en-US" sz="2550" dirty="0"/>
          </a:p>
        </p:txBody>
      </p:sp>
      <p:sp>
        <p:nvSpPr>
          <p:cNvPr id="9" name="Shape 4"/>
          <p:cNvSpPr/>
          <p:nvPr/>
        </p:nvSpPr>
        <p:spPr>
          <a:xfrm>
            <a:off x="495330" y="1409730"/>
            <a:ext cx="5486400" cy="1123980"/>
          </a:xfrm>
          <a:prstGeom prst="rect">
            <a:avLst/>
          </a:prstGeom>
          <a:solidFill>
            <a:srgbClr val="F2F7FC"/>
          </a:solidFill>
          <a:ln w="12700">
            <a:solidFill>
              <a:srgbClr val="9DC3E6"/>
            </a:solidFill>
            <a:prstDash val="solid"/>
          </a:ln>
        </p:spPr>
      </p:sp>
      <p:sp>
        <p:nvSpPr>
          <p:cNvPr id="10" name="Text 5"/>
          <p:cNvSpPr/>
          <p:nvPr/>
        </p:nvSpPr>
        <p:spPr>
          <a:xfrm>
            <a:off x="647670" y="1790670"/>
            <a:ext cx="419070" cy="381030"/>
          </a:xfrm>
          <a:prstGeom prst="rect">
            <a:avLst/>
          </a:prstGeom>
          <a:noFill/>
          <a:ln/>
        </p:spPr>
        <p:txBody>
          <a:bodyPr wrap="square" lIns="0" tIns="0" rIns="0" bIns="0" rtlCol="0" anchor="t"/>
          <a:lstStyle/>
          <a:p>
            <a:pPr algn="ctr" indent="0" marL="0">
              <a:buNone/>
            </a:pPr>
            <a:r>
              <a:rPr lang="en-US" sz="2250" dirty="0">
                <a:solidFill>
                  <a:srgbClr val="3B3838"/>
                </a:solidFill>
                <a:latin typeface="맑은 고딕" pitchFamily="34" charset="0"/>
                <a:ea typeface="맑은 고딕" pitchFamily="34" charset="-122"/>
                <a:cs typeface="맑은 고딕" pitchFamily="34" charset="-120"/>
              </a:rPr>
              <a:t>🧭</a:t>
            </a:r>
            <a:endParaRPr lang="en-US" sz="2250" dirty="0"/>
          </a:p>
        </p:txBody>
      </p:sp>
      <p:sp>
        <p:nvSpPr>
          <p:cNvPr id="11" name="Text 6"/>
          <p:cNvSpPr/>
          <p:nvPr/>
        </p:nvSpPr>
        <p:spPr>
          <a:xfrm>
            <a:off x="1162020" y="1524030"/>
            <a:ext cx="4667280" cy="895380"/>
          </a:xfrm>
          <a:prstGeom prst="rect">
            <a:avLst/>
          </a:prstGeom>
          <a:noFill/>
          <a:ln/>
        </p:spPr>
        <p:txBody>
          <a:bodyPr wrap="square" lIns="0" tIns="0" rIns="0" bIns="0" rtlCol="0" anchor="ctr"/>
          <a:lstStyle/>
          <a:p>
            <a:pPr indent="0" marL="0">
              <a:lnSpc>
                <a:spcPct val="135000"/>
              </a:lnSpc>
              <a:buNone/>
            </a:pPr>
            <a:r>
              <a:rPr lang="en-US" sz="1390" dirty="0">
                <a:solidFill>
                  <a:srgbClr val="3B3838"/>
                </a:solidFill>
                <a:latin typeface="맑은 고딕" pitchFamily="34" charset="0"/>
                <a:ea typeface="맑은 고딕" pitchFamily="34" charset="-122"/>
                <a:cs typeface="맑은 고딕" pitchFamily="34" charset="-120"/>
              </a:rPr>
              <a:t>나의 진로 및 취업/창업 준비 정도는?</a:t>
            </a:r>
            <a:endParaRPr lang="en-US" sz="1390" dirty="0"/>
          </a:p>
        </p:txBody>
      </p:sp>
      <p:sp>
        <p:nvSpPr>
          <p:cNvPr id="12" name="Shape 7"/>
          <p:cNvSpPr/>
          <p:nvPr/>
        </p:nvSpPr>
        <p:spPr>
          <a:xfrm>
            <a:off x="6096030" y="1409730"/>
            <a:ext cx="5486400" cy="1123980"/>
          </a:xfrm>
          <a:prstGeom prst="rect">
            <a:avLst/>
          </a:prstGeom>
          <a:solidFill>
            <a:srgbClr val="F2F7FC"/>
          </a:solidFill>
          <a:ln w="12700">
            <a:solidFill>
              <a:srgbClr val="9DC3E6"/>
            </a:solidFill>
            <a:prstDash val="solid"/>
          </a:ln>
        </p:spPr>
      </p:sp>
      <p:sp>
        <p:nvSpPr>
          <p:cNvPr id="13" name="Text 8"/>
          <p:cNvSpPr/>
          <p:nvPr/>
        </p:nvSpPr>
        <p:spPr>
          <a:xfrm>
            <a:off x="6248370" y="1790670"/>
            <a:ext cx="419070" cy="381030"/>
          </a:xfrm>
          <a:prstGeom prst="rect">
            <a:avLst/>
          </a:prstGeom>
          <a:noFill/>
          <a:ln/>
        </p:spPr>
        <p:txBody>
          <a:bodyPr wrap="square" lIns="0" tIns="0" rIns="0" bIns="0" rtlCol="0" anchor="t"/>
          <a:lstStyle/>
          <a:p>
            <a:pPr algn="ctr" indent="0" marL="0">
              <a:buNone/>
            </a:pPr>
            <a:r>
              <a:rPr lang="en-US" sz="2250" dirty="0">
                <a:solidFill>
                  <a:srgbClr val="3B3838"/>
                </a:solidFill>
                <a:latin typeface="맑은 고딕" pitchFamily="34" charset="0"/>
                <a:ea typeface="맑은 고딕" pitchFamily="34" charset="-122"/>
                <a:cs typeface="맑은 고딕" pitchFamily="34" charset="-120"/>
              </a:rPr>
              <a:t>❓</a:t>
            </a:r>
            <a:endParaRPr lang="en-US" sz="2250" dirty="0"/>
          </a:p>
        </p:txBody>
      </p:sp>
      <p:sp>
        <p:nvSpPr>
          <p:cNvPr id="14" name="Text 9"/>
          <p:cNvSpPr/>
          <p:nvPr/>
        </p:nvSpPr>
        <p:spPr>
          <a:xfrm>
            <a:off x="6762720" y="1524030"/>
            <a:ext cx="4667280" cy="895380"/>
          </a:xfrm>
          <a:prstGeom prst="rect">
            <a:avLst/>
          </a:prstGeom>
          <a:noFill/>
          <a:ln/>
        </p:spPr>
        <p:txBody>
          <a:bodyPr wrap="square" lIns="0" tIns="0" rIns="0" bIns="0" rtlCol="0" anchor="ctr"/>
          <a:lstStyle/>
          <a:p>
            <a:pPr indent="0" marL="0">
              <a:lnSpc>
                <a:spcPct val="135000"/>
              </a:lnSpc>
              <a:buNone/>
            </a:pPr>
            <a:r>
              <a:rPr lang="en-US" sz="1390" dirty="0">
                <a:solidFill>
                  <a:srgbClr val="3B3838"/>
                </a:solidFill>
                <a:latin typeface="맑은 고딕" pitchFamily="34" charset="0"/>
                <a:ea typeface="맑은 고딕" pitchFamily="34" charset="-122"/>
                <a:cs typeface="맑은 고딕" pitchFamily="34" charset="-120"/>
              </a:rPr>
              <a:t>‘창업과 기업가정신’ 교과목을 수강하게 된 이유는? (중복응답 가능)</a:t>
            </a:r>
            <a:endParaRPr lang="en-US" sz="1390" dirty="0"/>
          </a:p>
        </p:txBody>
      </p:sp>
      <p:sp>
        <p:nvSpPr>
          <p:cNvPr id="15" name="Shape 10"/>
          <p:cNvSpPr/>
          <p:nvPr/>
        </p:nvSpPr>
        <p:spPr>
          <a:xfrm>
            <a:off x="495330" y="2743200"/>
            <a:ext cx="5486400" cy="1123980"/>
          </a:xfrm>
          <a:prstGeom prst="rect">
            <a:avLst/>
          </a:prstGeom>
          <a:solidFill>
            <a:srgbClr val="F2F7FC"/>
          </a:solidFill>
          <a:ln w="12700">
            <a:solidFill>
              <a:srgbClr val="9DC3E6"/>
            </a:solidFill>
            <a:prstDash val="solid"/>
          </a:ln>
        </p:spPr>
      </p:sp>
      <p:sp>
        <p:nvSpPr>
          <p:cNvPr id="16" name="Text 11"/>
          <p:cNvSpPr/>
          <p:nvPr/>
        </p:nvSpPr>
        <p:spPr>
          <a:xfrm>
            <a:off x="647670" y="3124230"/>
            <a:ext cx="419070" cy="381030"/>
          </a:xfrm>
          <a:prstGeom prst="rect">
            <a:avLst/>
          </a:prstGeom>
          <a:noFill/>
          <a:ln/>
        </p:spPr>
        <p:txBody>
          <a:bodyPr wrap="square" lIns="0" tIns="0" rIns="0" bIns="0" rtlCol="0" anchor="t"/>
          <a:lstStyle/>
          <a:p>
            <a:pPr algn="ctr" indent="0" marL="0">
              <a:buNone/>
            </a:pPr>
            <a:r>
              <a:rPr lang="en-US" sz="2250" dirty="0">
                <a:solidFill>
                  <a:srgbClr val="3B3838"/>
                </a:solidFill>
                <a:latin typeface="맑은 고딕" pitchFamily="34" charset="0"/>
                <a:ea typeface="맑은 고딕" pitchFamily="34" charset="-122"/>
                <a:cs typeface="맑은 고딕" pitchFamily="34" charset="-120"/>
              </a:rPr>
              <a:t>📚</a:t>
            </a:r>
            <a:endParaRPr lang="en-US" sz="2250" dirty="0"/>
          </a:p>
        </p:txBody>
      </p:sp>
      <p:sp>
        <p:nvSpPr>
          <p:cNvPr id="17" name="Text 12"/>
          <p:cNvSpPr/>
          <p:nvPr/>
        </p:nvSpPr>
        <p:spPr>
          <a:xfrm>
            <a:off x="1162020" y="2857500"/>
            <a:ext cx="4667280" cy="895380"/>
          </a:xfrm>
          <a:prstGeom prst="rect">
            <a:avLst/>
          </a:prstGeom>
          <a:noFill/>
          <a:ln/>
        </p:spPr>
        <p:txBody>
          <a:bodyPr wrap="square" lIns="0" tIns="0" rIns="0" bIns="0" rtlCol="0" anchor="ctr"/>
          <a:lstStyle/>
          <a:p>
            <a:pPr indent="0" marL="0">
              <a:lnSpc>
                <a:spcPct val="135000"/>
              </a:lnSpc>
              <a:buNone/>
            </a:pPr>
            <a:r>
              <a:rPr lang="en-US" sz="1390" dirty="0">
                <a:solidFill>
                  <a:srgbClr val="3B3838"/>
                </a:solidFill>
                <a:latin typeface="맑은 고딕" pitchFamily="34" charset="0"/>
                <a:ea typeface="맑은 고딕" pitchFamily="34" charset="-122"/>
                <a:cs typeface="맑은 고딕" pitchFamily="34" charset="-120"/>
              </a:rPr>
              <a:t>‘창업과 기업가정신’ 교과목을 통해 배웠으면 하는 내용은 무엇인가요?</a:t>
            </a:r>
            <a:endParaRPr lang="en-US" sz="1390" dirty="0"/>
          </a:p>
        </p:txBody>
      </p:sp>
      <p:sp>
        <p:nvSpPr>
          <p:cNvPr id="18" name="Shape 13"/>
          <p:cNvSpPr/>
          <p:nvPr/>
        </p:nvSpPr>
        <p:spPr>
          <a:xfrm>
            <a:off x="6096030" y="2743200"/>
            <a:ext cx="5486400" cy="1123980"/>
          </a:xfrm>
          <a:prstGeom prst="rect">
            <a:avLst/>
          </a:prstGeom>
          <a:solidFill>
            <a:srgbClr val="F2F7FC"/>
          </a:solidFill>
          <a:ln w="12700">
            <a:solidFill>
              <a:srgbClr val="9DC3E6"/>
            </a:solidFill>
            <a:prstDash val="solid"/>
          </a:ln>
        </p:spPr>
      </p:sp>
      <p:sp>
        <p:nvSpPr>
          <p:cNvPr id="19" name="Text 14"/>
          <p:cNvSpPr/>
          <p:nvPr/>
        </p:nvSpPr>
        <p:spPr>
          <a:xfrm>
            <a:off x="6248370" y="3124230"/>
            <a:ext cx="419070" cy="381030"/>
          </a:xfrm>
          <a:prstGeom prst="rect">
            <a:avLst/>
          </a:prstGeom>
          <a:noFill/>
          <a:ln/>
        </p:spPr>
        <p:txBody>
          <a:bodyPr wrap="square" lIns="0" tIns="0" rIns="0" bIns="0" rtlCol="0" anchor="t"/>
          <a:lstStyle/>
          <a:p>
            <a:pPr algn="ctr" indent="0" marL="0">
              <a:buNone/>
            </a:pPr>
            <a:r>
              <a:rPr lang="en-US" sz="2250" dirty="0">
                <a:solidFill>
                  <a:srgbClr val="3B3838"/>
                </a:solidFill>
                <a:latin typeface="맑은 고딕" pitchFamily="34" charset="0"/>
                <a:ea typeface="맑은 고딕" pitchFamily="34" charset="-122"/>
                <a:cs typeface="맑은 고딕" pitchFamily="34" charset="-120"/>
              </a:rPr>
              <a:t>💬</a:t>
            </a:r>
            <a:endParaRPr lang="en-US" sz="2250" dirty="0"/>
          </a:p>
        </p:txBody>
      </p:sp>
      <p:sp>
        <p:nvSpPr>
          <p:cNvPr id="20" name="Text 15"/>
          <p:cNvSpPr/>
          <p:nvPr/>
        </p:nvSpPr>
        <p:spPr>
          <a:xfrm>
            <a:off x="6762720" y="2857500"/>
            <a:ext cx="4667280" cy="895380"/>
          </a:xfrm>
          <a:prstGeom prst="rect">
            <a:avLst/>
          </a:prstGeom>
          <a:noFill/>
          <a:ln/>
        </p:spPr>
        <p:txBody>
          <a:bodyPr wrap="square" lIns="0" tIns="0" rIns="0" bIns="0" rtlCol="0" anchor="ctr"/>
          <a:lstStyle/>
          <a:p>
            <a:pPr indent="0" marL="0">
              <a:lnSpc>
                <a:spcPct val="135000"/>
              </a:lnSpc>
              <a:buNone/>
            </a:pPr>
            <a:r>
              <a:rPr lang="en-US" sz="1390" dirty="0">
                <a:solidFill>
                  <a:srgbClr val="3B3838"/>
                </a:solidFill>
                <a:latin typeface="맑은 고딕" pitchFamily="34" charset="0"/>
                <a:ea typeface="맑은 고딕" pitchFamily="34" charset="-122"/>
                <a:cs typeface="맑은 고딕" pitchFamily="34" charset="-120"/>
              </a:rPr>
              <a:t>‘창업과 기업가정신’ 교과목 담당 교수에게 바라는 점이 있다면?</a:t>
            </a:r>
            <a:endParaRPr lang="en-US" sz="1390" dirty="0"/>
          </a:p>
        </p:txBody>
      </p:sp>
      <p:sp>
        <p:nvSpPr>
          <p:cNvPr id="21" name="Shape 16"/>
          <p:cNvSpPr/>
          <p:nvPr/>
        </p:nvSpPr>
        <p:spPr>
          <a:xfrm>
            <a:off x="495330" y="4152930"/>
            <a:ext cx="11201400" cy="952530"/>
          </a:xfrm>
          <a:prstGeom prst="rect">
            <a:avLst/>
          </a:prstGeom>
          <a:solidFill>
            <a:srgbClr val="FFFFFF"/>
          </a:solidFill>
          <a:ln w="12700">
            <a:solidFill>
              <a:srgbClr val="D4DCE6"/>
            </a:solidFill>
            <a:prstDash val="solid"/>
          </a:ln>
        </p:spPr>
      </p:sp>
      <p:sp>
        <p:nvSpPr>
          <p:cNvPr id="22" name="Shape 17"/>
          <p:cNvSpPr/>
          <p:nvPr/>
        </p:nvSpPr>
        <p:spPr>
          <a:xfrm>
            <a:off x="495330" y="4152930"/>
            <a:ext cx="57150" cy="952530"/>
          </a:xfrm>
          <a:prstGeom prst="rect">
            <a:avLst/>
          </a:prstGeom>
          <a:solidFill>
            <a:srgbClr val="005BAC"/>
          </a:solidFill>
          <a:ln/>
        </p:spPr>
      </p:sp>
      <p:sp>
        <p:nvSpPr>
          <p:cNvPr id="23" name="Text 18"/>
          <p:cNvSpPr/>
          <p:nvPr/>
        </p:nvSpPr>
        <p:spPr>
          <a:xfrm>
            <a:off x="761970" y="4305270"/>
            <a:ext cx="4762470" cy="285750"/>
          </a:xfrm>
          <a:prstGeom prst="rect">
            <a:avLst/>
          </a:prstGeom>
          <a:noFill/>
          <a:ln/>
        </p:spPr>
        <p:txBody>
          <a:bodyPr wrap="square" lIns="0" tIns="0" rIns="0" bIns="0" rtlCol="0" anchor="t"/>
          <a:lstStyle/>
          <a:p>
            <a:pPr indent="0" marL="0">
              <a:buNone/>
            </a:pPr>
            <a:r>
              <a:rPr lang="en-US" sz="1500" b="1" dirty="0">
                <a:solidFill>
                  <a:srgbClr val="005BAC"/>
                </a:solidFill>
                <a:latin typeface="맑은 고딕" pitchFamily="34" charset="0"/>
                <a:ea typeface="맑은 고딕" pitchFamily="34" charset="-122"/>
                <a:cs typeface="맑은 고딕" pitchFamily="34" charset="-120"/>
              </a:rPr>
              <a:t>설문 방법 안내</a:t>
            </a:r>
            <a:endParaRPr lang="en-US" sz="1500" dirty="0"/>
          </a:p>
        </p:txBody>
      </p:sp>
      <p:sp>
        <p:nvSpPr>
          <p:cNvPr id="24" name="Text 19"/>
          <p:cNvSpPr/>
          <p:nvPr/>
        </p:nvSpPr>
        <p:spPr>
          <a:xfrm>
            <a:off x="761970" y="4648170"/>
            <a:ext cx="5715000" cy="285750"/>
          </a:xfrm>
          <a:prstGeom prst="rect">
            <a:avLst/>
          </a:prstGeom>
          <a:noFill/>
          <a:ln/>
        </p:spPr>
        <p:txBody>
          <a:bodyPr wrap="square" lIns="0" tIns="0" rIns="0" bIns="0" rtlCol="0" anchor="t"/>
          <a:lstStyle/>
          <a:p>
            <a:pPr indent="0" marL="0">
              <a:buNone/>
            </a:pPr>
            <a:r>
              <a:rPr lang="en-US" sz="1200" dirty="0">
                <a:solidFill>
                  <a:srgbClr val="3B3838"/>
                </a:solidFill>
                <a:latin typeface="맑은 고딕" pitchFamily="34" charset="0"/>
                <a:ea typeface="맑은 고딕" pitchFamily="34" charset="-122"/>
                <a:cs typeface="맑은 고딕" pitchFamily="34" charset="-120"/>
              </a:rPr>
              <a:t>✅  </a:t>
            </a:r>
            <a:pPr indent="0" marL="0">
              <a:buNone/>
            </a:pPr>
            <a:r>
              <a:rPr lang="en-US" sz="1280" dirty="0">
                <a:solidFill>
                  <a:srgbClr val="3B3838"/>
                </a:solidFill>
                <a:latin typeface="맑은 고딕" pitchFamily="34" charset="0"/>
                <a:ea typeface="맑은 고딕" pitchFamily="34" charset="-122"/>
                <a:cs typeface="맑은 고딕" pitchFamily="34" charset="-120"/>
              </a:rPr>
              <a:t>구글 설문지 링크 주소는 </a:t>
            </a:r>
            <a:pPr indent="0" marL="0">
              <a:buNone/>
            </a:pPr>
            <a:r>
              <a:rPr lang="en-US" sz="1280" b="1" dirty="0">
                <a:solidFill>
                  <a:srgbClr val="005BAC"/>
                </a:solidFill>
                <a:latin typeface="맑은 고딕" pitchFamily="34" charset="0"/>
                <a:ea typeface="맑은 고딕" pitchFamily="34" charset="-122"/>
                <a:cs typeface="맑은 고딕" pitchFamily="34" charset="-120"/>
              </a:rPr>
              <a:t>‘LMS의 과제방’</a:t>
            </a:r>
            <a:pPr indent="0" marL="0">
              <a:buNone/>
            </a:pPr>
            <a:r>
              <a:rPr lang="en-US" sz="1280" dirty="0">
                <a:solidFill>
                  <a:srgbClr val="3B3838"/>
                </a:solidFill>
                <a:latin typeface="맑은 고딕" pitchFamily="34" charset="0"/>
                <a:ea typeface="맑은 고딕" pitchFamily="34" charset="-122"/>
                <a:cs typeface="맑은 고딕" pitchFamily="34" charset="-120"/>
              </a:rPr>
              <a:t>에 게시함</a:t>
            </a:r>
            <a:endParaRPr lang="en-US" sz="1200" dirty="0"/>
          </a:p>
        </p:txBody>
      </p:sp>
      <p:sp>
        <p:nvSpPr>
          <p:cNvPr id="25" name="Text 20"/>
          <p:cNvSpPr/>
          <p:nvPr/>
        </p:nvSpPr>
        <p:spPr>
          <a:xfrm>
            <a:off x="6286500" y="4495830"/>
            <a:ext cx="5257800" cy="285750"/>
          </a:xfrm>
          <a:prstGeom prst="rect">
            <a:avLst/>
          </a:prstGeom>
          <a:noFill/>
          <a:ln/>
        </p:spPr>
        <p:txBody>
          <a:bodyPr wrap="square" lIns="0" tIns="0" rIns="0" bIns="0" rtlCol="0" anchor="t"/>
          <a:lstStyle/>
          <a:p>
            <a:pPr algn="r" indent="0" marL="0">
              <a:buNone/>
            </a:pPr>
            <a:r>
              <a:rPr lang="en-US" sz="1200" dirty="0">
                <a:solidFill>
                  <a:srgbClr val="3B3838"/>
                </a:solidFill>
                <a:latin typeface="맑은 고딕" pitchFamily="34" charset="0"/>
                <a:ea typeface="맑은 고딕" pitchFamily="34" charset="-122"/>
                <a:cs typeface="맑은 고딕" pitchFamily="34" charset="-120"/>
              </a:rPr>
              <a:t>강의 요구 분석 구글 설문지 주소  </a:t>
            </a:r>
            <a:pPr algn="r" indent="0" marL="0">
              <a:buNone/>
            </a:pPr>
            <a:r>
              <a:rPr lang="en-US" sz="1200" b="1" u="sng" dirty="0">
                <a:solidFill>
                  <a:srgbClr val="005BAC"/>
                </a:solidFill>
                <a:latin typeface="맑은 고딕" pitchFamily="34" charset="0"/>
                <a:ea typeface="맑은 고딕" pitchFamily="34" charset="-122"/>
                <a:cs typeface="맑은 고딕"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https://forms.gle/MFzxxUcyqWbqU7tr6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FF0F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970" cy="3562320"/>
          </a:xfrm>
          <a:prstGeom prst="rect">
            <a:avLst/>
          </a:prstGeom>
        </p:spPr>
      </p:pic>
      <p:pic>
        <p:nvPicPr>
          <p:cNvPr id="3" name="Image 1" descr="preencoded.png">    </p:cNvPr>
          <p:cNvPicPr>
            <a:picLocks noChangeAspect="1"/>
          </p:cNvPicPr>
          <p:nvPr/>
        </p:nvPicPr>
        <p:blipFill>
          <a:blip r:embed="rId2"/>
          <a:stretch>
            <a:fillRect/>
          </a:stretch>
        </p:blipFill>
        <p:spPr>
          <a:xfrm>
            <a:off x="0" y="3581430"/>
            <a:ext cx="5333970" cy="438180"/>
          </a:xfrm>
          <a:prstGeom prst="rect">
            <a:avLst/>
          </a:prstGeom>
        </p:spPr>
      </p:pic>
      <p:pic>
        <p:nvPicPr>
          <p:cNvPr id="4" name="Image 2" descr="preencoded.png">    </p:cNvPr>
          <p:cNvPicPr>
            <a:picLocks noChangeAspect="1"/>
          </p:cNvPicPr>
          <p:nvPr/>
        </p:nvPicPr>
        <p:blipFill>
          <a:blip r:embed="rId3"/>
          <a:stretch>
            <a:fillRect/>
          </a:stretch>
        </p:blipFill>
        <p:spPr>
          <a:xfrm>
            <a:off x="-57150" y="2324130"/>
            <a:ext cx="1714500" cy="1904970"/>
          </a:xfrm>
          <a:prstGeom prst="rect">
            <a:avLst/>
          </a:prstGeom>
        </p:spPr>
      </p:pic>
      <p:sp>
        <p:nvSpPr>
          <p:cNvPr id="5" name="Text 0"/>
          <p:cNvSpPr/>
          <p:nvPr/>
        </p:nvSpPr>
        <p:spPr>
          <a:xfrm>
            <a:off x="4762470" y="3714750"/>
            <a:ext cx="6934170" cy="609630"/>
          </a:xfrm>
          <a:prstGeom prst="rect">
            <a:avLst/>
          </a:prstGeom>
          <a:noFill/>
          <a:ln/>
        </p:spPr>
        <p:txBody>
          <a:bodyPr wrap="square" lIns="0" tIns="0" rIns="0" bIns="0" rtlCol="0" anchor="t"/>
          <a:lstStyle/>
          <a:p>
            <a:pPr algn="r" indent="0" marL="0">
              <a:buNone/>
            </a:pPr>
            <a:r>
              <a:rPr lang="en-US" sz="3450" b="1" dirty="0">
                <a:solidFill>
                  <a:srgbClr val="17365D"/>
                </a:solidFill>
                <a:latin typeface="맑은 고딕" pitchFamily="34" charset="0"/>
                <a:ea typeface="맑은 고딕" pitchFamily="34" charset="-122"/>
                <a:cs typeface="맑은 고딕" pitchFamily="34" charset="-120"/>
              </a:rPr>
              <a:t>창업 인식도 조사</a:t>
            </a:r>
            <a:endParaRPr lang="en-US" sz="3450" dirty="0"/>
          </a:p>
        </p:txBody>
      </p:sp>
      <p:sp>
        <p:nvSpPr>
          <p:cNvPr id="6" name="Text 1"/>
          <p:cNvSpPr/>
          <p:nvPr/>
        </p:nvSpPr>
        <p:spPr>
          <a:xfrm>
            <a:off x="3810030" y="4381530"/>
            <a:ext cx="7886700" cy="666780"/>
          </a:xfrm>
          <a:prstGeom prst="rect">
            <a:avLst/>
          </a:prstGeom>
          <a:noFill/>
          <a:ln/>
        </p:spPr>
        <p:txBody>
          <a:bodyPr wrap="square" lIns="0" tIns="0" rIns="0" bIns="0" rtlCol="0" anchor="t"/>
          <a:lstStyle/>
          <a:p>
            <a:pPr algn="r" indent="0" marL="0">
              <a:lnSpc>
                <a:spcPct val="140000"/>
              </a:lnSpc>
              <a:buNone/>
            </a:pPr>
            <a:r>
              <a:rPr lang="en-US" sz="1580" dirty="0">
                <a:solidFill>
                  <a:srgbClr val="63666B"/>
                </a:solidFill>
                <a:latin typeface="맑은 고딕" pitchFamily="34" charset="0"/>
                <a:ea typeface="맑은 고딕" pitchFamily="34" charset="-122"/>
                <a:cs typeface="맑은 고딕" pitchFamily="34" charset="-120"/>
              </a:rPr>
              <a:t>창업에 대한 학습자들의 인식 정도를 파악하여 수업에 반영</a:t>
            </a:r>
            <a:endParaRPr lang="en-US" sz="1580" dirty="0"/>
          </a:p>
        </p:txBody>
      </p:sp>
      <p:pic>
        <p:nvPicPr>
          <p:cNvPr id="7" name="Image 3" descr="preencoded.png">    </p:cNvPr>
          <p:cNvPicPr>
            <a:picLocks noChangeAspect="1"/>
          </p:cNvPicPr>
          <p:nvPr/>
        </p:nvPicPr>
        <p:blipFill>
          <a:blip r:embed="rId4"/>
          <a:stretch>
            <a:fillRect/>
          </a:stretch>
        </p:blipFill>
        <p:spPr>
          <a:xfrm>
            <a:off x="10668030" y="6191220"/>
            <a:ext cx="1162020" cy="41907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FF0F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590520"/>
            <a:ext cx="12191970" cy="6267480"/>
          </a:xfrm>
          <a:prstGeom prst="rect">
            <a:avLst/>
          </a:prstGeom>
        </p:spPr>
      </p:pic>
      <p:pic>
        <p:nvPicPr>
          <p:cNvPr id="3" name="Image 1" descr="preencoded.png">    </p:cNvPr>
          <p:cNvPicPr>
            <a:picLocks noChangeAspect="1"/>
          </p:cNvPicPr>
          <p:nvPr/>
        </p:nvPicPr>
        <p:blipFill>
          <a:blip r:embed="rId2"/>
          <a:stretch>
            <a:fillRect/>
          </a:stretch>
        </p:blipFill>
        <p:spPr>
          <a:xfrm>
            <a:off x="0" y="0"/>
            <a:ext cx="12191970" cy="590520"/>
          </a:xfrm>
          <a:prstGeom prst="rect">
            <a:avLst/>
          </a:prstGeom>
        </p:spPr>
      </p:pic>
      <p:sp>
        <p:nvSpPr>
          <p:cNvPr id="4" name="Shape 0"/>
          <p:cNvSpPr/>
          <p:nvPr/>
        </p:nvSpPr>
        <p:spPr>
          <a:xfrm>
            <a:off x="438180" y="85771"/>
            <a:ext cx="2638410" cy="419070"/>
          </a:xfrm>
          <a:prstGeom prst="rect">
            <a:avLst/>
          </a:prstGeom>
          <a:solidFill>
            <a:srgbClr val="0B4E8A">
              <a:alpha val="66000"/>
            </a:srgbClr>
          </a:solidFill>
          <a:ln/>
        </p:spPr>
      </p:sp>
      <p:sp>
        <p:nvSpPr>
          <p:cNvPr id="5" name="Text 1"/>
          <p:cNvSpPr/>
          <p:nvPr/>
        </p:nvSpPr>
        <p:spPr>
          <a:xfrm>
            <a:off x="438180" y="85771"/>
            <a:ext cx="2638410" cy="419070"/>
          </a:xfrm>
          <a:prstGeom prst="rect">
            <a:avLst/>
          </a:prstGeom>
          <a:noFill/>
          <a:ln/>
        </p:spPr>
        <p:txBody>
          <a:bodyPr wrap="square" lIns="0" tIns="0" rIns="0" bIns="0" rtlCol="0" anchor="ctr"/>
          <a:lstStyle/>
          <a:p>
            <a:pPr algn="ctr" indent="0" marL="0">
              <a:buNone/>
            </a:pPr>
            <a:r>
              <a:rPr lang="en-US" sz="1950" b="1" dirty="0">
                <a:solidFill>
                  <a:srgbClr val="FFF100"/>
                </a:solidFill>
                <a:latin typeface="맑은 고딕" pitchFamily="34" charset="0"/>
                <a:ea typeface="맑은 고딕" pitchFamily="34" charset="-122"/>
                <a:cs typeface="맑은 고딕" pitchFamily="34" charset="-120"/>
              </a:rPr>
              <a:t>창업 인식도 조사</a:t>
            </a:r>
            <a:endParaRPr lang="en-US" sz="1950" dirty="0"/>
          </a:p>
        </p:txBody>
      </p:sp>
      <p:pic>
        <p:nvPicPr>
          <p:cNvPr id="6" name="Image 2" descr="preencoded.png">    </p:cNvPr>
          <p:cNvPicPr>
            <a:picLocks noChangeAspect="1"/>
          </p:cNvPicPr>
          <p:nvPr/>
        </p:nvPicPr>
        <p:blipFill>
          <a:blip r:embed="rId3"/>
          <a:stretch>
            <a:fillRect/>
          </a:stretch>
        </p:blipFill>
        <p:spPr>
          <a:xfrm>
            <a:off x="10325130" y="76170"/>
            <a:ext cx="1619220" cy="438180"/>
          </a:xfrm>
          <a:prstGeom prst="rect">
            <a:avLst/>
          </a:prstGeom>
        </p:spPr>
      </p:pic>
      <p:sp>
        <p:nvSpPr>
          <p:cNvPr id="7" name="Text 2"/>
          <p:cNvSpPr/>
          <p:nvPr/>
        </p:nvSpPr>
        <p:spPr>
          <a:xfrm>
            <a:off x="0" y="6591270"/>
            <a:ext cx="12191970" cy="190470"/>
          </a:xfrm>
          <a:prstGeom prst="rect">
            <a:avLst/>
          </a:prstGeom>
          <a:noFill/>
          <a:ln/>
        </p:spPr>
        <p:txBody>
          <a:bodyPr wrap="square" lIns="0" tIns="0" rIns="0" bIns="0" rtlCol="0" anchor="t"/>
          <a:lstStyle/>
          <a:p>
            <a:pPr algn="ctr" indent="0" marL="0">
              <a:buNone/>
            </a:pPr>
            <a:r>
              <a:rPr lang="en-US" sz="1130" dirty="0">
                <a:solidFill>
                  <a:srgbClr val="8A8F96"/>
                </a:solidFill>
                <a:latin typeface="Arial" pitchFamily="34" charset="0"/>
                <a:ea typeface="Arial" pitchFamily="34" charset="-122"/>
                <a:cs typeface="Arial" pitchFamily="34" charset="-120"/>
              </a:rPr>
              <a:t>17</a:t>
            </a:r>
            <a:endParaRPr lang="en-US" sz="1130" dirty="0"/>
          </a:p>
        </p:txBody>
      </p:sp>
      <p:sp>
        <p:nvSpPr>
          <p:cNvPr id="8" name="Text 3"/>
          <p:cNvSpPr/>
          <p:nvPr/>
        </p:nvSpPr>
        <p:spPr>
          <a:xfrm>
            <a:off x="495330" y="781080"/>
            <a:ext cx="8572500" cy="400050"/>
          </a:xfrm>
          <a:prstGeom prst="rect">
            <a:avLst/>
          </a:prstGeom>
          <a:noFill/>
          <a:ln/>
        </p:spPr>
        <p:txBody>
          <a:bodyPr wrap="square" lIns="0" tIns="0" rIns="0" bIns="0" rtlCol="0" anchor="t"/>
          <a:lstStyle/>
          <a:p>
            <a:pPr indent="0" marL="0">
              <a:buNone/>
            </a:pPr>
            <a:r>
              <a:rPr lang="en-US" sz="2250" b="1" dirty="0">
                <a:solidFill>
                  <a:srgbClr val="17365D"/>
                </a:solidFill>
                <a:latin typeface="맑은 고딕" pitchFamily="34" charset="0"/>
                <a:ea typeface="맑은 고딕" pitchFamily="34" charset="-122"/>
                <a:cs typeface="맑은 고딕" pitchFamily="34" charset="-120"/>
              </a:rPr>
              <a:t>창업교육 정책에 반영하고자 합니다.</a:t>
            </a:r>
            <a:endParaRPr lang="en-US" sz="2250" dirty="0"/>
          </a:p>
        </p:txBody>
      </p:sp>
      <p:sp>
        <p:nvSpPr>
          <p:cNvPr id="9" name="Text 4"/>
          <p:cNvSpPr/>
          <p:nvPr/>
        </p:nvSpPr>
        <p:spPr>
          <a:xfrm>
            <a:off x="495330" y="1219170"/>
            <a:ext cx="9525030" cy="266730"/>
          </a:xfrm>
          <a:prstGeom prst="rect">
            <a:avLst/>
          </a:prstGeom>
          <a:noFill/>
          <a:ln/>
        </p:spPr>
        <p:txBody>
          <a:bodyPr wrap="square" lIns="0" tIns="0" rIns="0" bIns="0" rtlCol="0" anchor="t"/>
          <a:lstStyle/>
          <a:p>
            <a:pPr indent="0" marL="0">
              <a:buNone/>
            </a:pPr>
            <a:r>
              <a:rPr lang="en-US" sz="1430" b="1" dirty="0">
                <a:solidFill>
                  <a:srgbClr val="005BAC"/>
                </a:solidFill>
                <a:latin typeface="맑은 고딕" pitchFamily="34" charset="0"/>
                <a:ea typeface="맑은 고딕" pitchFamily="34" charset="-122"/>
                <a:cs typeface="맑은 고딕" pitchFamily="34" charset="-120"/>
              </a:rPr>
              <a:t>대학생 창업교육이 창업가 정신 및 진로준비행동에 미치는 영향에 대한 조사</a:t>
            </a:r>
            <a:endParaRPr lang="en-US" sz="1430" dirty="0"/>
          </a:p>
        </p:txBody>
      </p:sp>
      <p:sp>
        <p:nvSpPr>
          <p:cNvPr id="10" name="Text 5"/>
          <p:cNvSpPr/>
          <p:nvPr/>
        </p:nvSpPr>
        <p:spPr>
          <a:xfrm>
            <a:off x="495330" y="1562070"/>
            <a:ext cx="9525030" cy="228600"/>
          </a:xfrm>
          <a:prstGeom prst="rect">
            <a:avLst/>
          </a:prstGeom>
          <a:noFill/>
          <a:ln/>
        </p:spPr>
        <p:txBody>
          <a:bodyPr wrap="square" lIns="0" tIns="0" rIns="0" bIns="0" rtlCol="0" anchor="t"/>
          <a:lstStyle/>
          <a:p>
            <a:pPr indent="0" marL="0">
              <a:buNone/>
            </a:pPr>
            <a:r>
              <a:rPr lang="en-US" sz="1130" dirty="0">
                <a:solidFill>
                  <a:srgbClr val="C00000"/>
                </a:solidFill>
                <a:latin typeface="맑은 고딕" pitchFamily="34" charset="0"/>
                <a:ea typeface="맑은 고딕" pitchFamily="34" charset="-122"/>
                <a:cs typeface="맑은 고딕" pitchFamily="34" charset="-120"/>
              </a:rPr>
              <a:t>* 본 설문은 통계법 33조(비밀의 보호)에 따라 개인정보는 통계목적으로만 사용·보호됩니다.</a:t>
            </a:r>
            <a:endParaRPr lang="en-US" sz="1130" dirty="0"/>
          </a:p>
        </p:txBody>
      </p:sp>
      <p:sp>
        <p:nvSpPr>
          <p:cNvPr id="11" name="Shape 6"/>
          <p:cNvSpPr/>
          <p:nvPr/>
        </p:nvSpPr>
        <p:spPr>
          <a:xfrm>
            <a:off x="10915650" y="1524030"/>
            <a:ext cx="781080" cy="266730"/>
          </a:xfrm>
          <a:prstGeom prst="rect">
            <a:avLst/>
          </a:prstGeom>
          <a:solidFill>
            <a:srgbClr val="FFFFFF"/>
          </a:solidFill>
          <a:ln w="12700">
            <a:solidFill>
              <a:srgbClr val="9DC3E6"/>
            </a:solidFill>
            <a:prstDash val="solid"/>
          </a:ln>
        </p:spPr>
      </p:sp>
      <p:sp>
        <p:nvSpPr>
          <p:cNvPr id="12" name="Text 7"/>
          <p:cNvSpPr/>
          <p:nvPr/>
        </p:nvSpPr>
        <p:spPr>
          <a:xfrm>
            <a:off x="10915650" y="1524030"/>
            <a:ext cx="781080" cy="266730"/>
          </a:xfrm>
          <a:prstGeom prst="rect">
            <a:avLst/>
          </a:prstGeom>
          <a:noFill/>
          <a:ln/>
        </p:spPr>
        <p:txBody>
          <a:bodyPr wrap="square" lIns="0" tIns="0" rIns="0" bIns="0" rtlCol="0" anchor="ctr"/>
          <a:lstStyle/>
          <a:p>
            <a:pPr algn="ctr" indent="0" marL="0">
              <a:buNone/>
            </a:pPr>
            <a:r>
              <a:rPr lang="en-US" sz="1130" spc="200" kern="0" dirty="0">
                <a:solidFill>
                  <a:srgbClr val="63666B"/>
                </a:solidFill>
                <a:latin typeface="Arial" pitchFamily="34" charset="0"/>
                <a:ea typeface="Arial" pitchFamily="34" charset="-122"/>
                <a:cs typeface="Arial" pitchFamily="34" charset="-120"/>
              </a:rPr>
              <a:t>ID</a:t>
            </a:r>
            <a:endParaRPr lang="en-US" sz="1130" dirty="0"/>
          </a:p>
        </p:txBody>
      </p:sp>
      <p:sp>
        <p:nvSpPr>
          <p:cNvPr id="13" name="Shape 8"/>
          <p:cNvSpPr/>
          <p:nvPr/>
        </p:nvSpPr>
        <p:spPr>
          <a:xfrm>
            <a:off x="495330" y="1904970"/>
            <a:ext cx="11201400" cy="3047970"/>
          </a:xfrm>
          <a:prstGeom prst="rect">
            <a:avLst/>
          </a:prstGeom>
          <a:solidFill>
            <a:srgbClr val="FFFFFF"/>
          </a:solidFill>
          <a:ln w="12700">
            <a:solidFill>
              <a:srgbClr val="D4DCE6"/>
            </a:solidFill>
            <a:prstDash val="solid"/>
          </a:ln>
        </p:spPr>
      </p:sp>
      <p:sp>
        <p:nvSpPr>
          <p:cNvPr id="14" name="Text 9"/>
          <p:cNvSpPr/>
          <p:nvPr/>
        </p:nvSpPr>
        <p:spPr>
          <a:xfrm>
            <a:off x="704820" y="2057400"/>
            <a:ext cx="10782330" cy="2781330"/>
          </a:xfrm>
          <a:prstGeom prst="rect">
            <a:avLst/>
          </a:prstGeom>
          <a:noFill/>
          <a:ln/>
        </p:spPr>
        <p:txBody>
          <a:bodyPr wrap="square" lIns="0" tIns="0" rIns="0" bIns="0" rtlCol="0" anchor="t"/>
          <a:lstStyle/>
          <a:p>
            <a:pPr indent="0" marL="0">
              <a:lnSpc>
                <a:spcPct val="150000"/>
              </a:lnSpc>
              <a:spcAft>
                <a:spcPts val="750"/>
              </a:spcAft>
              <a:buNone/>
            </a:pPr>
            <a:r>
              <a:rPr lang="en-US" sz="1240" dirty="0">
                <a:solidFill>
                  <a:srgbClr val="3B3838"/>
                </a:solidFill>
                <a:latin typeface="맑은 고딕" pitchFamily="34" charset="0"/>
                <a:ea typeface="맑은 고딕" pitchFamily="34" charset="-122"/>
                <a:cs typeface="맑은 고딕" pitchFamily="34" charset="-120"/>
              </a:rPr>
              <a:t>안녕하십니까? 귀하의 행복과 발전을 기원합니다.</a:t>
            </a:r>
            <a:endParaRPr lang="en-US" sz="1240" dirty="0"/>
          </a:p>
          <a:p>
            <a:pPr indent="0" marL="0">
              <a:lnSpc>
                <a:spcPct val="150000"/>
              </a:lnSpc>
              <a:spcAft>
                <a:spcPts val="750"/>
              </a:spcAft>
              <a:buNone/>
            </a:pPr>
            <a:r>
              <a:rPr lang="en-US" sz="1240" dirty="0">
                <a:solidFill>
                  <a:srgbClr val="3B3838"/>
                </a:solidFill>
                <a:latin typeface="맑은 고딕" pitchFamily="34" charset="0"/>
                <a:ea typeface="맑은 고딕" pitchFamily="34" charset="-122"/>
                <a:cs typeface="맑은 고딕" pitchFamily="34" charset="-120"/>
              </a:rPr>
              <a:t>4차 산업혁명시대의 도래와 함께 방송·예술분야에 대한 사회적 관심이 날로 확대되고 있습니다. 특히 4차 산업혁명은 방송(미디어)기술과 예술콘텐츠의 결합을 통한 신산업 창출을 가속화 할 것으로 예상됩니다.</a:t>
            </a:r>
            <a:endParaRPr lang="en-US" sz="1240" dirty="0"/>
          </a:p>
          <a:p>
            <a:pPr indent="0" marL="0">
              <a:lnSpc>
                <a:spcPct val="150000"/>
              </a:lnSpc>
              <a:spcAft>
                <a:spcPts val="750"/>
              </a:spcAft>
              <a:buNone/>
            </a:pPr>
            <a:r>
              <a:rPr lang="en-US" sz="1240" dirty="0">
                <a:solidFill>
                  <a:srgbClr val="3B3838"/>
                </a:solidFill>
                <a:latin typeface="맑은 고딕" pitchFamily="34" charset="0"/>
                <a:ea typeface="맑은 고딕" pitchFamily="34" charset="-122"/>
                <a:cs typeface="맑은 고딕" pitchFamily="34" charset="-120"/>
              </a:rPr>
              <a:t>이에 본교에서는 학생들의 취업 및 창업역량강화를 위해 LINC+ 사업의 일환으로 다양한 창업교육지원사업(방송예술 창업가 양성특강, 방송예술 창업가 양성 캠프, 지적재산권반 운영, 1인 예술가 양성 강좌 운영 등)과 창업보육지원사업(문화콘텐츠창업가육성, 창업교육센터 구축, 창업경진대회 등), 창업사업화지원사업(창업가 양성 정부사업 참여지원, 1인 예술가 벤치마킹지원, 창업교육센터활성화 등), 취업교육 및 취업지원사업(문화예술인 양성 강좌운영, 1인 예술가 채용오디션 등)을 전개하고 있습니다.</a:t>
            </a:r>
            <a:endParaRPr lang="en-US" sz="1240" dirty="0"/>
          </a:p>
          <a:p>
            <a:pPr indent="0" marL="0">
              <a:lnSpc>
                <a:spcPct val="150000"/>
              </a:lnSpc>
              <a:spcAft>
                <a:spcPts val="750"/>
              </a:spcAft>
              <a:buNone/>
            </a:pPr>
            <a:r>
              <a:rPr lang="en-US" sz="1240" dirty="0">
                <a:solidFill>
                  <a:srgbClr val="3B3838"/>
                </a:solidFill>
                <a:latin typeface="맑은 고딕" pitchFamily="34" charset="0"/>
                <a:ea typeface="맑은 고딕" pitchFamily="34" charset="-122"/>
                <a:cs typeface="맑은 고딕" pitchFamily="34" charset="-120"/>
              </a:rPr>
              <a:t>이에 본 설문은 창업 교과목이 창업가 정신 및 진로역량 강화에 미치는 효과를 측정하기 위해 작성되었습니다. 본 연구를 통해 도출된 결과물은 학생들의 창업교육 정책 결정에 의미 있게 활용될 것입니다. 여러분의 소중한 의견 주시면 감사하겠습니다.</a:t>
            </a:r>
            <a:endParaRPr lang="en-US" sz="1240" dirty="0"/>
          </a:p>
        </p:txBody>
      </p:sp>
      <p:sp>
        <p:nvSpPr>
          <p:cNvPr id="15" name="Text 10"/>
          <p:cNvSpPr/>
          <p:nvPr/>
        </p:nvSpPr>
        <p:spPr>
          <a:xfrm>
            <a:off x="3810030" y="5067330"/>
            <a:ext cx="7886700" cy="266730"/>
          </a:xfrm>
          <a:prstGeom prst="rect">
            <a:avLst/>
          </a:prstGeom>
          <a:noFill/>
          <a:ln/>
        </p:spPr>
        <p:txBody>
          <a:bodyPr wrap="square" lIns="0" tIns="0" rIns="0" bIns="0" rtlCol="0" anchor="t"/>
          <a:lstStyle/>
          <a:p>
            <a:pPr algn="r" indent="0" marL="0">
              <a:buNone/>
            </a:pPr>
            <a:r>
              <a:rPr lang="en-US" sz="1240" b="1" dirty="0">
                <a:solidFill>
                  <a:srgbClr val="17365D"/>
                </a:solidFill>
                <a:latin typeface="맑은 고딕" pitchFamily="34" charset="0"/>
                <a:ea typeface="맑은 고딕" pitchFamily="34" charset="-122"/>
                <a:cs typeface="맑은 고딕" pitchFamily="34" charset="-120"/>
              </a:rPr>
              <a:t>연구책임자 : 동아방송예술대학교 김성길 교수  </a:t>
            </a:r>
            <a:pPr algn="r" indent="0" marL="0">
              <a:buNone/>
            </a:pPr>
            <a:r>
              <a:rPr lang="en-US" sz="1240" u="sng" dirty="0">
                <a:solidFill>
                  <a:srgbClr val="005BAC"/>
                </a:solidFill>
                <a:latin typeface="맑은 고딕" pitchFamily="34" charset="0"/>
                <a:ea typeface="맑은 고딕" pitchFamily="34" charset="-122"/>
                <a:cs typeface="맑은 고딕" pitchFamily="34" charset="-120"/>
                <a:hlinkClick r:id="rId4" invalidUrl="" action="" tgtFrame="" tooltip="" history="1" highlightClick="0" endSnd="0">
                  <a:extLst>
                    <a:ext uri="{A12FA001-AC4F-418D-AE19-62706E023703}">
                      <ahyp:hlinkClr xmlns:ahyp="http://schemas.microsoft.com/office/drawing/2018/hyperlinkcolor" val="tx"/>
                    </a:ext>
                  </a:extLst>
                </a:hlinkClick>
              </a:rPr>
              <a:t>careerdima@gmail.com</a:t>
            </a:r>
            <a:endParaRPr lang="en-US" sz="124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FF0F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590520"/>
            <a:ext cx="12191970" cy="6267480"/>
          </a:xfrm>
          <a:prstGeom prst="rect">
            <a:avLst/>
          </a:prstGeom>
        </p:spPr>
      </p:pic>
      <p:pic>
        <p:nvPicPr>
          <p:cNvPr id="3" name="Image 1" descr="preencoded.png">    </p:cNvPr>
          <p:cNvPicPr>
            <a:picLocks noChangeAspect="1"/>
          </p:cNvPicPr>
          <p:nvPr/>
        </p:nvPicPr>
        <p:blipFill>
          <a:blip r:embed="rId2"/>
          <a:stretch>
            <a:fillRect/>
          </a:stretch>
        </p:blipFill>
        <p:spPr>
          <a:xfrm>
            <a:off x="0" y="0"/>
            <a:ext cx="12191970" cy="590520"/>
          </a:xfrm>
          <a:prstGeom prst="rect">
            <a:avLst/>
          </a:prstGeom>
        </p:spPr>
      </p:pic>
      <p:sp>
        <p:nvSpPr>
          <p:cNvPr id="4" name="Shape 0"/>
          <p:cNvSpPr/>
          <p:nvPr/>
        </p:nvSpPr>
        <p:spPr>
          <a:xfrm>
            <a:off x="438180" y="85771"/>
            <a:ext cx="2638410" cy="419070"/>
          </a:xfrm>
          <a:prstGeom prst="rect">
            <a:avLst/>
          </a:prstGeom>
          <a:solidFill>
            <a:srgbClr val="0B4E8A">
              <a:alpha val="66000"/>
            </a:srgbClr>
          </a:solidFill>
          <a:ln/>
        </p:spPr>
      </p:sp>
      <p:sp>
        <p:nvSpPr>
          <p:cNvPr id="5" name="Text 1"/>
          <p:cNvSpPr/>
          <p:nvPr/>
        </p:nvSpPr>
        <p:spPr>
          <a:xfrm>
            <a:off x="438180" y="85771"/>
            <a:ext cx="2638410" cy="419070"/>
          </a:xfrm>
          <a:prstGeom prst="rect">
            <a:avLst/>
          </a:prstGeom>
          <a:noFill/>
          <a:ln/>
        </p:spPr>
        <p:txBody>
          <a:bodyPr wrap="square" lIns="0" tIns="0" rIns="0" bIns="0" rtlCol="0" anchor="ctr"/>
          <a:lstStyle/>
          <a:p>
            <a:pPr algn="ctr" indent="0" marL="0">
              <a:buNone/>
            </a:pPr>
            <a:r>
              <a:rPr lang="en-US" sz="1950" b="1" dirty="0">
                <a:solidFill>
                  <a:srgbClr val="FFF100"/>
                </a:solidFill>
                <a:latin typeface="맑은 고딕" pitchFamily="34" charset="0"/>
                <a:ea typeface="맑은 고딕" pitchFamily="34" charset="-122"/>
                <a:cs typeface="맑은 고딕" pitchFamily="34" charset="-120"/>
              </a:rPr>
              <a:t>창업 인식도 조사</a:t>
            </a:r>
            <a:endParaRPr lang="en-US" sz="1950" dirty="0"/>
          </a:p>
        </p:txBody>
      </p:sp>
      <p:pic>
        <p:nvPicPr>
          <p:cNvPr id="6" name="Image 2" descr="preencoded.png">    </p:cNvPr>
          <p:cNvPicPr>
            <a:picLocks noChangeAspect="1"/>
          </p:cNvPicPr>
          <p:nvPr/>
        </p:nvPicPr>
        <p:blipFill>
          <a:blip r:embed="rId3"/>
          <a:stretch>
            <a:fillRect/>
          </a:stretch>
        </p:blipFill>
        <p:spPr>
          <a:xfrm>
            <a:off x="10325130" y="76170"/>
            <a:ext cx="1619220" cy="438180"/>
          </a:xfrm>
          <a:prstGeom prst="rect">
            <a:avLst/>
          </a:prstGeom>
        </p:spPr>
      </p:pic>
      <p:sp>
        <p:nvSpPr>
          <p:cNvPr id="7" name="Text 2"/>
          <p:cNvSpPr/>
          <p:nvPr/>
        </p:nvSpPr>
        <p:spPr>
          <a:xfrm>
            <a:off x="0" y="6591270"/>
            <a:ext cx="12191970" cy="190470"/>
          </a:xfrm>
          <a:prstGeom prst="rect">
            <a:avLst/>
          </a:prstGeom>
          <a:noFill/>
          <a:ln/>
        </p:spPr>
        <p:txBody>
          <a:bodyPr wrap="square" lIns="0" tIns="0" rIns="0" bIns="0" rtlCol="0" anchor="t"/>
          <a:lstStyle/>
          <a:p>
            <a:pPr algn="ctr" indent="0" marL="0">
              <a:buNone/>
            </a:pPr>
            <a:r>
              <a:rPr lang="en-US" sz="1130" dirty="0">
                <a:solidFill>
                  <a:srgbClr val="8A8F96"/>
                </a:solidFill>
                <a:latin typeface="Arial" pitchFamily="34" charset="0"/>
                <a:ea typeface="Arial" pitchFamily="34" charset="-122"/>
                <a:cs typeface="Arial" pitchFamily="34" charset="-120"/>
              </a:rPr>
              <a:t>18</a:t>
            </a:r>
            <a:endParaRPr lang="en-US" sz="1130" dirty="0"/>
          </a:p>
        </p:txBody>
      </p:sp>
      <p:sp>
        <p:nvSpPr>
          <p:cNvPr id="8" name="Text 3"/>
          <p:cNvSpPr/>
          <p:nvPr/>
        </p:nvSpPr>
        <p:spPr>
          <a:xfrm>
            <a:off x="495330" y="838230"/>
            <a:ext cx="6667530" cy="438180"/>
          </a:xfrm>
          <a:prstGeom prst="rect">
            <a:avLst/>
          </a:prstGeom>
          <a:noFill/>
          <a:ln/>
        </p:spPr>
        <p:txBody>
          <a:bodyPr wrap="square" lIns="0" tIns="0" rIns="0" bIns="0" rtlCol="0" anchor="t"/>
          <a:lstStyle/>
          <a:p>
            <a:pPr indent="0" marL="0">
              <a:buNone/>
            </a:pPr>
            <a:r>
              <a:rPr lang="en-US" sz="2550" b="1" dirty="0">
                <a:solidFill>
                  <a:srgbClr val="17365D"/>
                </a:solidFill>
                <a:latin typeface="맑은 고딕" pitchFamily="34" charset="0"/>
                <a:ea typeface="맑은 고딕" pitchFamily="34" charset="-122"/>
                <a:cs typeface="맑은 고딕" pitchFamily="34" charset="-120"/>
              </a:rPr>
              <a:t>설문 방법 안내</a:t>
            </a:r>
            <a:endParaRPr lang="en-US" sz="2550" dirty="0"/>
          </a:p>
        </p:txBody>
      </p:sp>
      <p:pic>
        <p:nvPicPr>
          <p:cNvPr id="9" name="Image 3" descr="preencoded.png">    </p:cNvPr>
          <p:cNvPicPr>
            <a:picLocks noChangeAspect="1"/>
          </p:cNvPicPr>
          <p:nvPr/>
        </p:nvPicPr>
        <p:blipFill>
          <a:blip r:embed="rId4"/>
          <a:stretch>
            <a:fillRect/>
          </a:stretch>
        </p:blipFill>
        <p:spPr>
          <a:xfrm>
            <a:off x="495330" y="1562070"/>
            <a:ext cx="304770" cy="304770"/>
          </a:xfrm>
          <a:prstGeom prst="rect">
            <a:avLst/>
          </a:prstGeom>
        </p:spPr>
      </p:pic>
      <p:sp>
        <p:nvSpPr>
          <p:cNvPr id="10" name="Text 4"/>
          <p:cNvSpPr/>
          <p:nvPr/>
        </p:nvSpPr>
        <p:spPr>
          <a:xfrm>
            <a:off x="933420" y="1504920"/>
            <a:ext cx="10477470" cy="381030"/>
          </a:xfrm>
          <a:prstGeom prst="rect">
            <a:avLst/>
          </a:prstGeom>
          <a:noFill/>
          <a:ln/>
        </p:spPr>
        <p:txBody>
          <a:bodyPr wrap="square" lIns="0" tIns="0" rIns="0" bIns="0" rtlCol="0" anchor="t"/>
          <a:lstStyle/>
          <a:p>
            <a:pPr indent="0" marL="0">
              <a:buNone/>
            </a:pPr>
            <a:r>
              <a:rPr lang="en-US" sz="1730" b="1" dirty="0">
                <a:solidFill>
                  <a:srgbClr val="3B3838"/>
                </a:solidFill>
                <a:latin typeface="맑은 고딕" pitchFamily="34" charset="0"/>
                <a:ea typeface="맑은 고딕" pitchFamily="34" charset="-122"/>
                <a:cs typeface="맑은 고딕" pitchFamily="34" charset="-120"/>
              </a:rPr>
              <a:t>구글 설문지 링크 주소는 </a:t>
            </a:r>
            <a:pPr indent="0" marL="0">
              <a:buNone/>
            </a:pPr>
            <a:r>
              <a:rPr lang="en-US" sz="1730" b="1" dirty="0">
                <a:solidFill>
                  <a:srgbClr val="005BAC"/>
                </a:solidFill>
                <a:latin typeface="맑은 고딕" pitchFamily="34" charset="0"/>
                <a:ea typeface="맑은 고딕" pitchFamily="34" charset="-122"/>
                <a:cs typeface="맑은 고딕" pitchFamily="34" charset="-120"/>
              </a:rPr>
              <a:t>‘LMS의 과제방’</a:t>
            </a:r>
            <a:pPr indent="0" marL="0">
              <a:buNone/>
            </a:pPr>
            <a:r>
              <a:rPr lang="en-US" sz="1730" b="1" dirty="0">
                <a:solidFill>
                  <a:srgbClr val="3B3838"/>
                </a:solidFill>
                <a:latin typeface="맑은 고딕" pitchFamily="34" charset="0"/>
                <a:ea typeface="맑은 고딕" pitchFamily="34" charset="-122"/>
                <a:cs typeface="맑은 고딕" pitchFamily="34" charset="-120"/>
              </a:rPr>
              <a:t>에 게시함 </a:t>
            </a:r>
            <a:pPr indent="0" marL="0">
              <a:buNone/>
            </a:pPr>
            <a:r>
              <a:rPr lang="en-US" sz="1130" dirty="0">
                <a:solidFill>
                  <a:srgbClr val="63666B"/>
                </a:solidFill>
                <a:latin typeface="맑은 고딕" pitchFamily="34" charset="0"/>
                <a:ea typeface="맑은 고딕" pitchFamily="34" charset="-122"/>
                <a:cs typeface="맑은 고딕" pitchFamily="34" charset="-120"/>
              </a:rPr>
              <a:t>(OT 종결 후 업로드)</a:t>
            </a:r>
            <a:endParaRPr lang="en-US" sz="1730" dirty="0"/>
          </a:p>
        </p:txBody>
      </p:sp>
      <p:sp>
        <p:nvSpPr>
          <p:cNvPr id="11" name="Shape 5"/>
          <p:cNvSpPr/>
          <p:nvPr/>
        </p:nvSpPr>
        <p:spPr>
          <a:xfrm>
            <a:off x="495330" y="2381280"/>
            <a:ext cx="8953530" cy="1104870"/>
          </a:xfrm>
          <a:prstGeom prst="rect">
            <a:avLst/>
          </a:prstGeom>
          <a:solidFill>
            <a:srgbClr val="FFFFFF"/>
          </a:solidFill>
          <a:ln w="12700">
            <a:solidFill>
              <a:srgbClr val="D4DCE6"/>
            </a:solidFill>
            <a:prstDash val="solid"/>
          </a:ln>
        </p:spPr>
      </p:sp>
      <p:sp>
        <p:nvSpPr>
          <p:cNvPr id="12" name="Shape 6"/>
          <p:cNvSpPr/>
          <p:nvPr/>
        </p:nvSpPr>
        <p:spPr>
          <a:xfrm>
            <a:off x="495330" y="2381280"/>
            <a:ext cx="57150" cy="1104870"/>
          </a:xfrm>
          <a:prstGeom prst="rect">
            <a:avLst/>
          </a:prstGeom>
          <a:solidFill>
            <a:srgbClr val="005BAC"/>
          </a:solidFill>
          <a:ln/>
        </p:spPr>
      </p:sp>
      <p:sp>
        <p:nvSpPr>
          <p:cNvPr id="13" name="Text 7"/>
          <p:cNvSpPr/>
          <p:nvPr/>
        </p:nvSpPr>
        <p:spPr>
          <a:xfrm>
            <a:off x="761970" y="2743200"/>
            <a:ext cx="457200" cy="419070"/>
          </a:xfrm>
          <a:prstGeom prst="rect">
            <a:avLst/>
          </a:prstGeom>
          <a:noFill/>
          <a:ln/>
        </p:spPr>
        <p:txBody>
          <a:bodyPr wrap="square" lIns="0" tIns="0" rIns="0" bIns="0" rtlCol="0" anchor="t"/>
          <a:lstStyle/>
          <a:p>
            <a:pPr indent="0" marL="0">
              <a:buNone/>
            </a:pPr>
            <a:r>
              <a:rPr lang="en-US" sz="2250" dirty="0">
                <a:solidFill>
                  <a:srgbClr val="3B3838"/>
                </a:solidFill>
                <a:latin typeface="맑은 고딕" pitchFamily="34" charset="0"/>
                <a:ea typeface="맑은 고딕" pitchFamily="34" charset="-122"/>
                <a:cs typeface="맑은 고딕" pitchFamily="34" charset="-120"/>
              </a:rPr>
              <a:t>📝</a:t>
            </a:r>
            <a:endParaRPr lang="en-US" sz="2250" dirty="0"/>
          </a:p>
        </p:txBody>
      </p:sp>
      <p:sp>
        <p:nvSpPr>
          <p:cNvPr id="14" name="Text 8"/>
          <p:cNvSpPr/>
          <p:nvPr/>
        </p:nvSpPr>
        <p:spPr>
          <a:xfrm>
            <a:off x="1390620" y="2590770"/>
            <a:ext cx="7619970" cy="285750"/>
          </a:xfrm>
          <a:prstGeom prst="rect">
            <a:avLst/>
          </a:prstGeom>
          <a:noFill/>
          <a:ln/>
        </p:spPr>
        <p:txBody>
          <a:bodyPr wrap="square" lIns="0" tIns="0" rIns="0" bIns="0" rtlCol="0" anchor="t"/>
          <a:lstStyle/>
          <a:p>
            <a:pPr indent="0" marL="0">
              <a:buNone/>
            </a:pPr>
            <a:r>
              <a:rPr lang="en-US" sz="1500" b="1" dirty="0">
                <a:solidFill>
                  <a:srgbClr val="17365D"/>
                </a:solidFill>
                <a:latin typeface="맑은 고딕" pitchFamily="34" charset="0"/>
                <a:ea typeface="맑은 고딕" pitchFamily="34" charset="-122"/>
                <a:cs typeface="맑은 고딕" pitchFamily="34" charset="-120"/>
              </a:rPr>
              <a:t>Y4반 창업교육 영향 조사 구글 설문지 주소</a:t>
            </a:r>
            <a:endParaRPr lang="en-US" sz="1500" dirty="0"/>
          </a:p>
        </p:txBody>
      </p:sp>
      <p:sp>
        <p:nvSpPr>
          <p:cNvPr id="15" name="Text 9">
            <a:hlinkClick r:id="rId5" tooltip=""/>
          </p:cNvPr>
          <p:cNvSpPr/>
          <p:nvPr/>
        </p:nvSpPr>
        <p:spPr>
          <a:xfrm>
            <a:off x="1390620" y="2952780"/>
            <a:ext cx="7619970" cy="285750"/>
          </a:xfrm>
          <a:prstGeom prst="rect">
            <a:avLst/>
          </a:prstGeom>
          <a:noFill/>
          <a:ln/>
        </p:spPr>
        <p:txBody>
          <a:bodyPr wrap="square" lIns="0" tIns="0" rIns="0" bIns="0" rtlCol="0" anchor="t"/>
          <a:lstStyle/>
          <a:p>
            <a:pPr indent="0" marL="0">
              <a:buNone/>
            </a:pPr>
            <a:r>
              <a:rPr lang="en-US" sz="1350" b="1" u="sng" dirty="0">
                <a:solidFill>
                  <a:srgbClr val="005BAC"/>
                </a:solidFill>
                <a:latin typeface="맑은 고딕" pitchFamily="34" charset="0"/>
                <a:ea typeface="맑은 고딕" pitchFamily="34" charset="-122"/>
                <a:cs typeface="맑은 고딕"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https://forms.gle/puGT1NQXUyzc8ASeA</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FF0F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590520"/>
            <a:ext cx="12191970" cy="6267480"/>
          </a:xfrm>
          <a:prstGeom prst="rect">
            <a:avLst/>
          </a:prstGeom>
        </p:spPr>
      </p:pic>
      <p:pic>
        <p:nvPicPr>
          <p:cNvPr id="3" name="Image 1" descr="preencoded.png">    </p:cNvPr>
          <p:cNvPicPr>
            <a:picLocks noChangeAspect="1"/>
          </p:cNvPicPr>
          <p:nvPr/>
        </p:nvPicPr>
        <p:blipFill>
          <a:blip r:embed="rId2"/>
          <a:stretch>
            <a:fillRect/>
          </a:stretch>
        </p:blipFill>
        <p:spPr>
          <a:xfrm>
            <a:off x="0" y="0"/>
            <a:ext cx="12191970" cy="590520"/>
          </a:xfrm>
          <a:prstGeom prst="rect">
            <a:avLst/>
          </a:prstGeom>
        </p:spPr>
      </p:pic>
      <p:sp>
        <p:nvSpPr>
          <p:cNvPr id="4" name="Shape 0"/>
          <p:cNvSpPr/>
          <p:nvPr/>
        </p:nvSpPr>
        <p:spPr>
          <a:xfrm>
            <a:off x="438180" y="85771"/>
            <a:ext cx="3409980" cy="419070"/>
          </a:xfrm>
          <a:prstGeom prst="rect">
            <a:avLst/>
          </a:prstGeom>
          <a:solidFill>
            <a:srgbClr val="0B4E8A">
              <a:alpha val="66000"/>
            </a:srgbClr>
          </a:solidFill>
          <a:ln/>
        </p:spPr>
      </p:sp>
      <p:sp>
        <p:nvSpPr>
          <p:cNvPr id="5" name="Text 1"/>
          <p:cNvSpPr/>
          <p:nvPr/>
        </p:nvSpPr>
        <p:spPr>
          <a:xfrm>
            <a:off x="438180" y="85771"/>
            <a:ext cx="3409980" cy="419070"/>
          </a:xfrm>
          <a:prstGeom prst="rect">
            <a:avLst/>
          </a:prstGeom>
          <a:noFill/>
          <a:ln/>
        </p:spPr>
        <p:txBody>
          <a:bodyPr wrap="square" lIns="0" tIns="0" rIns="0" bIns="0" rtlCol="0" anchor="ctr"/>
          <a:lstStyle/>
          <a:p>
            <a:pPr algn="ctr" indent="0" marL="0">
              <a:buNone/>
            </a:pPr>
            <a:r>
              <a:rPr lang="en-US" sz="1950" b="1" dirty="0">
                <a:solidFill>
                  <a:srgbClr val="FFF100"/>
                </a:solidFill>
                <a:latin typeface="맑은 고딕" pitchFamily="34" charset="0"/>
                <a:ea typeface="맑은 고딕" pitchFamily="34" charset="-122"/>
                <a:cs typeface="맑은 고딕" pitchFamily="34" charset="-120"/>
              </a:rPr>
              <a:t>생성형 AI 사용 지침</a:t>
            </a:r>
            <a:endParaRPr lang="en-US" sz="1950" dirty="0"/>
          </a:p>
        </p:txBody>
      </p:sp>
      <p:pic>
        <p:nvPicPr>
          <p:cNvPr id="6" name="Image 2" descr="preencoded.png">    </p:cNvPr>
          <p:cNvPicPr>
            <a:picLocks noChangeAspect="1"/>
          </p:cNvPicPr>
          <p:nvPr/>
        </p:nvPicPr>
        <p:blipFill>
          <a:blip r:embed="rId3"/>
          <a:stretch>
            <a:fillRect/>
          </a:stretch>
        </p:blipFill>
        <p:spPr>
          <a:xfrm>
            <a:off x="10325130" y="76170"/>
            <a:ext cx="1619220" cy="438180"/>
          </a:xfrm>
          <a:prstGeom prst="rect">
            <a:avLst/>
          </a:prstGeom>
        </p:spPr>
      </p:pic>
      <p:sp>
        <p:nvSpPr>
          <p:cNvPr id="7" name="Text 2"/>
          <p:cNvSpPr/>
          <p:nvPr/>
        </p:nvSpPr>
        <p:spPr>
          <a:xfrm>
            <a:off x="0" y="6591270"/>
            <a:ext cx="12191970" cy="190470"/>
          </a:xfrm>
          <a:prstGeom prst="rect">
            <a:avLst/>
          </a:prstGeom>
          <a:noFill/>
          <a:ln/>
        </p:spPr>
        <p:txBody>
          <a:bodyPr wrap="square" lIns="0" tIns="0" rIns="0" bIns="0" rtlCol="0" anchor="t"/>
          <a:lstStyle/>
          <a:p>
            <a:pPr algn="ctr" indent="0" marL="0">
              <a:buNone/>
            </a:pPr>
            <a:r>
              <a:rPr lang="en-US" sz="1130" dirty="0">
                <a:solidFill>
                  <a:srgbClr val="8A8F96"/>
                </a:solidFill>
                <a:latin typeface="Arial" pitchFamily="34" charset="0"/>
                <a:ea typeface="Arial" pitchFamily="34" charset="-122"/>
                <a:cs typeface="Arial" pitchFamily="34" charset="-120"/>
              </a:rPr>
              <a:t>19</a:t>
            </a:r>
            <a:endParaRPr lang="en-US" sz="1130" dirty="0"/>
          </a:p>
        </p:txBody>
      </p:sp>
      <p:sp>
        <p:nvSpPr>
          <p:cNvPr id="8" name="Shape 3"/>
          <p:cNvSpPr/>
          <p:nvPr/>
        </p:nvSpPr>
        <p:spPr>
          <a:xfrm>
            <a:off x="438180" y="761970"/>
            <a:ext cx="11315700" cy="495330"/>
          </a:xfrm>
          <a:prstGeom prst="rect">
            <a:avLst/>
          </a:prstGeom>
          <a:solidFill>
            <a:srgbClr val="005BAC"/>
          </a:solidFill>
          <a:ln/>
        </p:spPr>
      </p:sp>
      <p:sp>
        <p:nvSpPr>
          <p:cNvPr id="9" name="Text 4"/>
          <p:cNvSpPr/>
          <p:nvPr/>
        </p:nvSpPr>
        <p:spPr>
          <a:xfrm>
            <a:off x="647670" y="885871"/>
            <a:ext cx="323880" cy="285750"/>
          </a:xfrm>
          <a:prstGeom prst="rect">
            <a:avLst/>
          </a:prstGeom>
          <a:noFill/>
          <a:ln/>
        </p:spPr>
        <p:txBody>
          <a:bodyPr wrap="square" lIns="0" tIns="0" rIns="0" bIns="0" rtlCol="0" anchor="t"/>
          <a:lstStyle/>
          <a:p>
            <a:pPr indent="0" marL="0">
              <a:buNone/>
            </a:pPr>
            <a:r>
              <a:rPr lang="en-US" sz="1650" dirty="0">
                <a:solidFill>
                  <a:srgbClr val="3B3838"/>
                </a:solidFill>
                <a:latin typeface="맑은 고딕" pitchFamily="34" charset="0"/>
                <a:ea typeface="맑은 고딕" pitchFamily="34" charset="-122"/>
                <a:cs typeface="맑은 고딕" pitchFamily="34" charset="-120"/>
              </a:rPr>
              <a:t>📚</a:t>
            </a:r>
            <a:endParaRPr lang="en-US" sz="1650" dirty="0"/>
          </a:p>
        </p:txBody>
      </p:sp>
      <p:sp>
        <p:nvSpPr>
          <p:cNvPr id="10" name="Text 5"/>
          <p:cNvSpPr/>
          <p:nvPr/>
        </p:nvSpPr>
        <p:spPr>
          <a:xfrm>
            <a:off x="1066830" y="761970"/>
            <a:ext cx="9525030" cy="495330"/>
          </a:xfrm>
          <a:prstGeom prst="rect">
            <a:avLst/>
          </a:prstGeom>
          <a:noFill/>
          <a:ln/>
        </p:spPr>
        <p:txBody>
          <a:bodyPr wrap="square" lIns="0" tIns="0" rIns="0" bIns="0" rtlCol="0" anchor="ctr"/>
          <a:lstStyle/>
          <a:p>
            <a:pPr indent="0" marL="0">
              <a:buNone/>
            </a:pPr>
            <a:r>
              <a:rPr lang="en-US" sz="1430" b="1" dirty="0">
                <a:solidFill>
                  <a:srgbClr val="FFF100"/>
                </a:solidFill>
                <a:latin typeface="Arial" pitchFamily="34" charset="0"/>
                <a:ea typeface="Arial" pitchFamily="34" charset="-122"/>
                <a:cs typeface="Arial" pitchFamily="34" charset="-120"/>
              </a:rPr>
              <a:t>0. </a:t>
            </a:r>
            <a:pPr indent="0" marL="0">
              <a:buNone/>
            </a:pPr>
            <a:r>
              <a:rPr lang="en-US" sz="1430" b="1" dirty="0">
                <a:solidFill>
                  <a:srgbClr val="FFF100"/>
                </a:solidFill>
                <a:latin typeface="맑은 고딕" pitchFamily="34" charset="0"/>
                <a:ea typeface="맑은 고딕" pitchFamily="34" charset="-122"/>
                <a:cs typeface="맑은 고딕" pitchFamily="34" charset="-120"/>
              </a:rPr>
              <a:t>모든 과제 및 발표자료, 팀프로젝트</a:t>
            </a:r>
            <a:pPr indent="0" marL="0">
              <a:buNone/>
            </a:pPr>
            <a:r>
              <a:rPr lang="en-US" sz="1430" b="1" dirty="0">
                <a:solidFill>
                  <a:srgbClr val="FFFFFF"/>
                </a:solidFill>
                <a:latin typeface="맑은 고딕" pitchFamily="34" charset="0"/>
                <a:ea typeface="맑은 고딕" pitchFamily="34" charset="-122"/>
                <a:cs typeface="맑은 고딕" pitchFamily="34" charset="-120"/>
              </a:rPr>
              <a:t>에 적용한다.</a:t>
            </a:r>
            <a:endParaRPr lang="en-US" sz="1430" dirty="0"/>
          </a:p>
        </p:txBody>
      </p:sp>
      <p:sp>
        <p:nvSpPr>
          <p:cNvPr id="11" name="Shape 6"/>
          <p:cNvSpPr/>
          <p:nvPr/>
        </p:nvSpPr>
        <p:spPr>
          <a:xfrm>
            <a:off x="438180" y="1390620"/>
            <a:ext cx="6229350" cy="742950"/>
          </a:xfrm>
          <a:prstGeom prst="rect">
            <a:avLst/>
          </a:prstGeom>
          <a:solidFill>
            <a:srgbClr val="FFFFFF"/>
          </a:solidFill>
          <a:ln w="12700">
            <a:solidFill>
              <a:srgbClr val="D4DCE6"/>
            </a:solidFill>
            <a:prstDash val="solid"/>
          </a:ln>
        </p:spPr>
      </p:sp>
      <p:sp>
        <p:nvSpPr>
          <p:cNvPr id="12" name="Shape 7"/>
          <p:cNvSpPr/>
          <p:nvPr/>
        </p:nvSpPr>
        <p:spPr>
          <a:xfrm>
            <a:off x="438180" y="1390620"/>
            <a:ext cx="57150" cy="742950"/>
          </a:xfrm>
          <a:prstGeom prst="rect">
            <a:avLst/>
          </a:prstGeom>
          <a:solidFill>
            <a:srgbClr val="005BAC"/>
          </a:solidFill>
          <a:ln/>
        </p:spPr>
      </p:sp>
      <p:sp>
        <p:nvSpPr>
          <p:cNvPr id="13" name="Shape 8"/>
          <p:cNvSpPr/>
          <p:nvPr/>
        </p:nvSpPr>
        <p:spPr>
          <a:xfrm>
            <a:off x="609630" y="1504920"/>
            <a:ext cx="266730" cy="266730"/>
          </a:xfrm>
          <a:prstGeom prst="ellipse">
            <a:avLst/>
          </a:prstGeom>
          <a:solidFill>
            <a:srgbClr val="005BAC"/>
          </a:solidFill>
          <a:ln/>
        </p:spPr>
      </p:sp>
      <p:sp>
        <p:nvSpPr>
          <p:cNvPr id="14" name="Text 9"/>
          <p:cNvSpPr/>
          <p:nvPr/>
        </p:nvSpPr>
        <p:spPr>
          <a:xfrm>
            <a:off x="609630" y="1504920"/>
            <a:ext cx="266730" cy="266730"/>
          </a:xfrm>
          <a:prstGeom prst="rect">
            <a:avLst/>
          </a:prstGeom>
          <a:noFill/>
          <a:ln/>
        </p:spPr>
        <p:txBody>
          <a:bodyPr wrap="square" lIns="0" tIns="0" rIns="0" bIns="0" rtlCol="0" anchor="ctr"/>
          <a:lstStyle/>
          <a:p>
            <a:pPr algn="ctr" indent="0" marL="0">
              <a:buNone/>
            </a:pPr>
            <a:r>
              <a:rPr lang="en-US" sz="1130" b="1" dirty="0">
                <a:solidFill>
                  <a:srgbClr val="FFFFFF"/>
                </a:solidFill>
                <a:latin typeface="Arial" pitchFamily="34" charset="0"/>
                <a:ea typeface="Arial" pitchFamily="34" charset="-122"/>
                <a:cs typeface="Arial" pitchFamily="34" charset="-120"/>
              </a:rPr>
              <a:t>1</a:t>
            </a:r>
            <a:endParaRPr lang="en-US" sz="1130" dirty="0"/>
          </a:p>
        </p:txBody>
      </p:sp>
      <p:sp>
        <p:nvSpPr>
          <p:cNvPr id="15" name="Text 10"/>
          <p:cNvSpPr/>
          <p:nvPr/>
        </p:nvSpPr>
        <p:spPr>
          <a:xfrm>
            <a:off x="971550" y="1476390"/>
            <a:ext cx="2857500" cy="190470"/>
          </a:xfrm>
          <a:prstGeom prst="rect">
            <a:avLst/>
          </a:prstGeom>
          <a:noFill/>
          <a:ln/>
        </p:spPr>
        <p:txBody>
          <a:bodyPr wrap="square" lIns="0" tIns="0" rIns="0" bIns="0" rtlCol="0" anchor="t"/>
          <a:lstStyle/>
          <a:p>
            <a:pPr indent="0" marL="0">
              <a:buNone/>
            </a:pPr>
            <a:r>
              <a:rPr lang="en-US" sz="980" b="1" dirty="0">
                <a:solidFill>
                  <a:srgbClr val="005BAC"/>
                </a:solidFill>
                <a:latin typeface="맑은 고딕" pitchFamily="34" charset="0"/>
                <a:ea typeface="맑은 고딕" pitchFamily="34" charset="-122"/>
                <a:cs typeface="맑은 고딕" pitchFamily="34" charset="-120"/>
              </a:rPr>
              <a:t>초안 작성</a:t>
            </a:r>
            <a:endParaRPr lang="en-US" sz="980" dirty="0"/>
          </a:p>
        </p:txBody>
      </p:sp>
      <p:sp>
        <p:nvSpPr>
          <p:cNvPr id="16" name="Text 11"/>
          <p:cNvSpPr/>
          <p:nvPr/>
        </p:nvSpPr>
        <p:spPr>
          <a:xfrm>
            <a:off x="971550" y="1676370"/>
            <a:ext cx="4953030" cy="400050"/>
          </a:xfrm>
          <a:prstGeom prst="rect">
            <a:avLst/>
          </a:prstGeom>
          <a:noFill/>
          <a:ln/>
        </p:spPr>
        <p:txBody>
          <a:bodyPr wrap="square" lIns="0" tIns="0" rIns="0" bIns="0" rtlCol="0" anchor="t"/>
          <a:lstStyle/>
          <a:p>
            <a:pPr indent="0" marL="0">
              <a:lnSpc>
                <a:spcPct val="130000"/>
              </a:lnSpc>
              <a:buNone/>
            </a:pPr>
            <a:r>
              <a:rPr lang="en-US" sz="1240" dirty="0">
                <a:solidFill>
                  <a:srgbClr val="3B3838"/>
                </a:solidFill>
                <a:latin typeface="맑은 고딕" pitchFamily="34" charset="0"/>
                <a:ea typeface="맑은 고딕" pitchFamily="34" charset="-122"/>
                <a:cs typeface="맑은 고딕" pitchFamily="34" charset="-120"/>
              </a:rPr>
              <a:t>초안본 작성에는 </a:t>
            </a:r>
            <a:pPr indent="0" marL="0">
              <a:lnSpc>
                <a:spcPct val="130000"/>
              </a:lnSpc>
              <a:buNone/>
            </a:pPr>
            <a:r>
              <a:rPr lang="en-US" sz="1240" b="1" dirty="0">
                <a:solidFill>
                  <a:srgbClr val="005BAC"/>
                </a:solidFill>
                <a:latin typeface="맑은 고딕" pitchFamily="34" charset="0"/>
                <a:ea typeface="맑은 고딕" pitchFamily="34" charset="-122"/>
                <a:cs typeface="맑은 고딕" pitchFamily="34" charset="-120"/>
              </a:rPr>
              <a:t>생성형 AI 사용을 허용</a:t>
            </a:r>
            <a:pPr indent="0" marL="0">
              <a:lnSpc>
                <a:spcPct val="130000"/>
              </a:lnSpc>
              <a:buNone/>
            </a:pPr>
            <a:r>
              <a:rPr lang="en-US" sz="1240" dirty="0">
                <a:solidFill>
                  <a:srgbClr val="3B3838"/>
                </a:solidFill>
                <a:latin typeface="맑은 고딕" pitchFamily="34" charset="0"/>
                <a:ea typeface="맑은 고딕" pitchFamily="34" charset="-122"/>
                <a:cs typeface="맑은 고딕" pitchFamily="34" charset="-120"/>
              </a:rPr>
              <a:t>한다.</a:t>
            </a:r>
            <a:endParaRPr lang="en-US" sz="1240" dirty="0"/>
          </a:p>
        </p:txBody>
      </p:sp>
      <p:sp>
        <p:nvSpPr>
          <p:cNvPr id="17" name="Text 12"/>
          <p:cNvSpPr/>
          <p:nvPr/>
        </p:nvSpPr>
        <p:spPr>
          <a:xfrm>
            <a:off x="6057900" y="1524030"/>
            <a:ext cx="381030" cy="304770"/>
          </a:xfrm>
          <a:prstGeom prst="rect">
            <a:avLst/>
          </a:prstGeom>
          <a:noFill/>
          <a:ln/>
        </p:spPr>
        <p:txBody>
          <a:bodyPr wrap="square" lIns="0" tIns="0" rIns="0" bIns="0" rtlCol="0" anchor="t"/>
          <a:lstStyle/>
          <a:p>
            <a:pPr algn="ctr" indent="0" marL="0">
              <a:buNone/>
            </a:pPr>
            <a:r>
              <a:rPr lang="en-US" sz="1650" dirty="0">
                <a:solidFill>
                  <a:srgbClr val="3B3838"/>
                </a:solidFill>
                <a:latin typeface="맑은 고딕" pitchFamily="34" charset="0"/>
                <a:ea typeface="맑은 고딕" pitchFamily="34" charset="-122"/>
                <a:cs typeface="맑은 고딕" pitchFamily="34" charset="-120"/>
              </a:rPr>
              <a:t>📝</a:t>
            </a:r>
            <a:endParaRPr lang="en-US" sz="1650" dirty="0"/>
          </a:p>
        </p:txBody>
      </p:sp>
      <p:sp>
        <p:nvSpPr>
          <p:cNvPr id="18" name="Shape 13"/>
          <p:cNvSpPr/>
          <p:nvPr/>
        </p:nvSpPr>
        <p:spPr>
          <a:xfrm>
            <a:off x="438180" y="2219340"/>
            <a:ext cx="6229350" cy="742950"/>
          </a:xfrm>
          <a:prstGeom prst="rect">
            <a:avLst/>
          </a:prstGeom>
          <a:solidFill>
            <a:srgbClr val="FFFFFF"/>
          </a:solidFill>
          <a:ln w="12700">
            <a:solidFill>
              <a:srgbClr val="D4DCE6"/>
            </a:solidFill>
            <a:prstDash val="solid"/>
          </a:ln>
        </p:spPr>
      </p:sp>
      <p:sp>
        <p:nvSpPr>
          <p:cNvPr id="19" name="Shape 14"/>
          <p:cNvSpPr/>
          <p:nvPr/>
        </p:nvSpPr>
        <p:spPr>
          <a:xfrm>
            <a:off x="438180" y="2219340"/>
            <a:ext cx="57150" cy="742950"/>
          </a:xfrm>
          <a:prstGeom prst="rect">
            <a:avLst/>
          </a:prstGeom>
          <a:solidFill>
            <a:srgbClr val="005BAC"/>
          </a:solidFill>
          <a:ln/>
        </p:spPr>
      </p:sp>
      <p:sp>
        <p:nvSpPr>
          <p:cNvPr id="20" name="Shape 15"/>
          <p:cNvSpPr/>
          <p:nvPr/>
        </p:nvSpPr>
        <p:spPr>
          <a:xfrm>
            <a:off x="609630" y="2333640"/>
            <a:ext cx="266730" cy="266730"/>
          </a:xfrm>
          <a:prstGeom prst="ellipse">
            <a:avLst/>
          </a:prstGeom>
          <a:solidFill>
            <a:srgbClr val="005BAC"/>
          </a:solidFill>
          <a:ln/>
        </p:spPr>
      </p:sp>
      <p:sp>
        <p:nvSpPr>
          <p:cNvPr id="21" name="Text 16"/>
          <p:cNvSpPr/>
          <p:nvPr/>
        </p:nvSpPr>
        <p:spPr>
          <a:xfrm>
            <a:off x="609630" y="2333640"/>
            <a:ext cx="266730" cy="266730"/>
          </a:xfrm>
          <a:prstGeom prst="rect">
            <a:avLst/>
          </a:prstGeom>
          <a:noFill/>
          <a:ln/>
        </p:spPr>
        <p:txBody>
          <a:bodyPr wrap="square" lIns="0" tIns="0" rIns="0" bIns="0" rtlCol="0" anchor="ctr"/>
          <a:lstStyle/>
          <a:p>
            <a:pPr algn="ctr" indent="0" marL="0">
              <a:buNone/>
            </a:pPr>
            <a:r>
              <a:rPr lang="en-US" sz="1130" b="1" dirty="0">
                <a:solidFill>
                  <a:srgbClr val="FFFFFF"/>
                </a:solidFill>
                <a:latin typeface="Arial" pitchFamily="34" charset="0"/>
                <a:ea typeface="Arial" pitchFamily="34" charset="-122"/>
                <a:cs typeface="Arial" pitchFamily="34" charset="-120"/>
              </a:rPr>
              <a:t>2</a:t>
            </a:r>
            <a:endParaRPr lang="en-US" sz="1130" dirty="0"/>
          </a:p>
        </p:txBody>
      </p:sp>
      <p:sp>
        <p:nvSpPr>
          <p:cNvPr id="22" name="Text 17"/>
          <p:cNvSpPr/>
          <p:nvPr/>
        </p:nvSpPr>
        <p:spPr>
          <a:xfrm>
            <a:off x="971550" y="2305020"/>
            <a:ext cx="2857500" cy="190470"/>
          </a:xfrm>
          <a:prstGeom prst="rect">
            <a:avLst/>
          </a:prstGeom>
          <a:noFill/>
          <a:ln/>
        </p:spPr>
        <p:txBody>
          <a:bodyPr wrap="square" lIns="0" tIns="0" rIns="0" bIns="0" rtlCol="0" anchor="t"/>
          <a:lstStyle/>
          <a:p>
            <a:pPr indent="0" marL="0">
              <a:buNone/>
            </a:pPr>
            <a:r>
              <a:rPr lang="en-US" sz="980" b="1" dirty="0">
                <a:solidFill>
                  <a:srgbClr val="005BAC"/>
                </a:solidFill>
                <a:latin typeface="맑은 고딕" pitchFamily="34" charset="0"/>
                <a:ea typeface="맑은 고딕" pitchFamily="34" charset="-122"/>
                <a:cs typeface="맑은 고딕" pitchFamily="34" charset="-120"/>
              </a:rPr>
              <a:t>사람의 몫</a:t>
            </a:r>
            <a:endParaRPr lang="en-US" sz="980" dirty="0"/>
          </a:p>
        </p:txBody>
      </p:sp>
      <p:sp>
        <p:nvSpPr>
          <p:cNvPr id="23" name="Text 18"/>
          <p:cNvSpPr/>
          <p:nvPr/>
        </p:nvSpPr>
        <p:spPr>
          <a:xfrm>
            <a:off x="971550" y="2505090"/>
            <a:ext cx="4953030" cy="400050"/>
          </a:xfrm>
          <a:prstGeom prst="rect">
            <a:avLst/>
          </a:prstGeom>
          <a:noFill/>
          <a:ln/>
        </p:spPr>
        <p:txBody>
          <a:bodyPr wrap="square" lIns="0" tIns="0" rIns="0" bIns="0" rtlCol="0" anchor="t"/>
          <a:lstStyle/>
          <a:p>
            <a:pPr indent="0" marL="0">
              <a:lnSpc>
                <a:spcPct val="130000"/>
              </a:lnSpc>
              <a:buNone/>
            </a:pPr>
            <a:r>
              <a:rPr lang="en-US" sz="1240" b="1" dirty="0">
                <a:solidFill>
                  <a:srgbClr val="C00000"/>
                </a:solidFill>
                <a:latin typeface="맑은 고딕" pitchFamily="34" charset="0"/>
                <a:ea typeface="맑은 고딕" pitchFamily="34" charset="-122"/>
                <a:cs typeface="맑은 고딕" pitchFamily="34" charset="-120"/>
              </a:rPr>
              <a:t>핵심 아이디어, 최종 분석과 결론</a:t>
            </a:r>
            <a:pPr indent="0" marL="0">
              <a:lnSpc>
                <a:spcPct val="130000"/>
              </a:lnSpc>
              <a:buNone/>
            </a:pPr>
            <a:r>
              <a:rPr lang="en-US" sz="1240" dirty="0">
                <a:solidFill>
                  <a:srgbClr val="3B3838"/>
                </a:solidFill>
                <a:latin typeface="맑은 고딕" pitchFamily="34" charset="0"/>
                <a:ea typeface="맑은 고딕" pitchFamily="34" charset="-122"/>
                <a:cs typeface="맑은 고딕" pitchFamily="34" charset="-120"/>
              </a:rPr>
              <a:t>은 반드시 사람이 직접 작성해야 한다.</a:t>
            </a:r>
            <a:endParaRPr lang="en-US" sz="1240" dirty="0"/>
          </a:p>
        </p:txBody>
      </p:sp>
      <p:sp>
        <p:nvSpPr>
          <p:cNvPr id="24" name="Text 19"/>
          <p:cNvSpPr/>
          <p:nvPr/>
        </p:nvSpPr>
        <p:spPr>
          <a:xfrm>
            <a:off x="6057900" y="2352660"/>
            <a:ext cx="381030" cy="304770"/>
          </a:xfrm>
          <a:prstGeom prst="rect">
            <a:avLst/>
          </a:prstGeom>
          <a:noFill/>
          <a:ln/>
        </p:spPr>
        <p:txBody>
          <a:bodyPr wrap="square" lIns="0" tIns="0" rIns="0" bIns="0" rtlCol="0" anchor="t"/>
          <a:lstStyle/>
          <a:p>
            <a:pPr algn="ctr" indent="0" marL="0">
              <a:buNone/>
            </a:pPr>
            <a:r>
              <a:rPr lang="en-US" sz="1650" dirty="0">
                <a:solidFill>
                  <a:srgbClr val="3B3838"/>
                </a:solidFill>
                <a:latin typeface="맑은 고딕" pitchFamily="34" charset="0"/>
                <a:ea typeface="맑은 고딕" pitchFamily="34" charset="-122"/>
                <a:cs typeface="맑은 고딕" pitchFamily="34" charset="-120"/>
              </a:rPr>
              <a:t>✍️</a:t>
            </a:r>
            <a:endParaRPr lang="en-US" sz="1650" dirty="0"/>
          </a:p>
        </p:txBody>
      </p:sp>
      <p:sp>
        <p:nvSpPr>
          <p:cNvPr id="25" name="Shape 20"/>
          <p:cNvSpPr/>
          <p:nvPr/>
        </p:nvSpPr>
        <p:spPr>
          <a:xfrm>
            <a:off x="438180" y="3047970"/>
            <a:ext cx="6229350" cy="1009680"/>
          </a:xfrm>
          <a:prstGeom prst="rect">
            <a:avLst/>
          </a:prstGeom>
          <a:solidFill>
            <a:srgbClr val="FFFFFF"/>
          </a:solidFill>
          <a:ln w="12700">
            <a:solidFill>
              <a:srgbClr val="D4DCE6"/>
            </a:solidFill>
            <a:prstDash val="solid"/>
          </a:ln>
        </p:spPr>
      </p:sp>
      <p:sp>
        <p:nvSpPr>
          <p:cNvPr id="26" name="Shape 21"/>
          <p:cNvSpPr/>
          <p:nvPr/>
        </p:nvSpPr>
        <p:spPr>
          <a:xfrm>
            <a:off x="438180" y="3047970"/>
            <a:ext cx="57150" cy="1009680"/>
          </a:xfrm>
          <a:prstGeom prst="rect">
            <a:avLst/>
          </a:prstGeom>
          <a:solidFill>
            <a:srgbClr val="005BAC"/>
          </a:solidFill>
          <a:ln/>
        </p:spPr>
      </p:sp>
      <p:sp>
        <p:nvSpPr>
          <p:cNvPr id="27" name="Shape 22"/>
          <p:cNvSpPr/>
          <p:nvPr/>
        </p:nvSpPr>
        <p:spPr>
          <a:xfrm>
            <a:off x="609630" y="3162270"/>
            <a:ext cx="266730" cy="266730"/>
          </a:xfrm>
          <a:prstGeom prst="ellipse">
            <a:avLst/>
          </a:prstGeom>
          <a:solidFill>
            <a:srgbClr val="005BAC"/>
          </a:solidFill>
          <a:ln/>
        </p:spPr>
      </p:sp>
      <p:sp>
        <p:nvSpPr>
          <p:cNvPr id="28" name="Text 23"/>
          <p:cNvSpPr/>
          <p:nvPr/>
        </p:nvSpPr>
        <p:spPr>
          <a:xfrm>
            <a:off x="609630" y="3162270"/>
            <a:ext cx="266730" cy="266730"/>
          </a:xfrm>
          <a:prstGeom prst="rect">
            <a:avLst/>
          </a:prstGeom>
          <a:noFill/>
          <a:ln/>
        </p:spPr>
        <p:txBody>
          <a:bodyPr wrap="square" lIns="0" tIns="0" rIns="0" bIns="0" rtlCol="0" anchor="ctr"/>
          <a:lstStyle/>
          <a:p>
            <a:pPr algn="ctr" indent="0" marL="0">
              <a:buNone/>
            </a:pPr>
            <a:r>
              <a:rPr lang="en-US" sz="1130" b="1" dirty="0">
                <a:solidFill>
                  <a:srgbClr val="FFFFFF"/>
                </a:solidFill>
                <a:latin typeface="Arial" pitchFamily="34" charset="0"/>
                <a:ea typeface="Arial" pitchFamily="34" charset="-122"/>
                <a:cs typeface="Arial" pitchFamily="34" charset="-120"/>
              </a:rPr>
              <a:t>3</a:t>
            </a:r>
            <a:endParaRPr lang="en-US" sz="1130" dirty="0"/>
          </a:p>
        </p:txBody>
      </p:sp>
      <p:sp>
        <p:nvSpPr>
          <p:cNvPr id="29" name="Text 24"/>
          <p:cNvSpPr/>
          <p:nvPr/>
        </p:nvSpPr>
        <p:spPr>
          <a:xfrm>
            <a:off x="971550" y="3133740"/>
            <a:ext cx="2857500" cy="190470"/>
          </a:xfrm>
          <a:prstGeom prst="rect">
            <a:avLst/>
          </a:prstGeom>
          <a:noFill/>
          <a:ln/>
        </p:spPr>
        <p:txBody>
          <a:bodyPr wrap="square" lIns="0" tIns="0" rIns="0" bIns="0" rtlCol="0" anchor="t"/>
          <a:lstStyle/>
          <a:p>
            <a:pPr indent="0" marL="0">
              <a:buNone/>
            </a:pPr>
            <a:r>
              <a:rPr lang="en-US" sz="980" b="1" dirty="0">
                <a:solidFill>
                  <a:srgbClr val="005BAC"/>
                </a:solidFill>
                <a:latin typeface="맑은 고딕" pitchFamily="34" charset="0"/>
                <a:ea typeface="맑은 고딕" pitchFamily="34" charset="-122"/>
                <a:cs typeface="맑은 고딕" pitchFamily="34" charset="-120"/>
              </a:rPr>
              <a:t>출처 표기</a:t>
            </a:r>
            <a:endParaRPr lang="en-US" sz="980" dirty="0"/>
          </a:p>
        </p:txBody>
      </p:sp>
      <p:sp>
        <p:nvSpPr>
          <p:cNvPr id="30" name="Text 25"/>
          <p:cNvSpPr/>
          <p:nvPr/>
        </p:nvSpPr>
        <p:spPr>
          <a:xfrm>
            <a:off x="971550" y="3333720"/>
            <a:ext cx="4953030" cy="400050"/>
          </a:xfrm>
          <a:prstGeom prst="rect">
            <a:avLst/>
          </a:prstGeom>
          <a:noFill/>
          <a:ln/>
        </p:spPr>
        <p:txBody>
          <a:bodyPr wrap="square" lIns="0" tIns="0" rIns="0" bIns="0" rtlCol="0" anchor="t"/>
          <a:lstStyle/>
          <a:p>
            <a:pPr indent="0" marL="0">
              <a:lnSpc>
                <a:spcPct val="130000"/>
              </a:lnSpc>
              <a:buNone/>
            </a:pPr>
            <a:r>
              <a:rPr lang="en-US" sz="1240" dirty="0">
                <a:solidFill>
                  <a:srgbClr val="3B3838"/>
                </a:solidFill>
                <a:latin typeface="맑은 고딕" pitchFamily="34" charset="0"/>
                <a:ea typeface="맑은 고딕" pitchFamily="34" charset="-122"/>
                <a:cs typeface="맑은 고딕" pitchFamily="34" charset="-120"/>
              </a:rPr>
              <a:t>생성형 AI 사용 시 </a:t>
            </a:r>
            <a:pPr indent="0" marL="0">
              <a:lnSpc>
                <a:spcPct val="130000"/>
              </a:lnSpc>
              <a:buNone/>
            </a:pPr>
            <a:r>
              <a:rPr lang="en-US" sz="1240" b="1" dirty="0">
                <a:solidFill>
                  <a:srgbClr val="005BAC"/>
                </a:solidFill>
                <a:latin typeface="맑은 고딕" pitchFamily="34" charset="0"/>
                <a:ea typeface="맑은 고딕" pitchFamily="34" charset="-122"/>
                <a:cs typeface="맑은 고딕" pitchFamily="34" charset="-120"/>
              </a:rPr>
              <a:t>서비스 종류 · 활용 목적 · 활용 범위</a:t>
            </a:r>
            <a:pPr indent="0" marL="0">
              <a:lnSpc>
                <a:spcPct val="130000"/>
              </a:lnSpc>
              <a:buNone/>
            </a:pPr>
            <a:r>
              <a:rPr lang="en-US" sz="1240" dirty="0">
                <a:solidFill>
                  <a:srgbClr val="3B3838"/>
                </a:solidFill>
                <a:latin typeface="맑은 고딕" pitchFamily="34" charset="0"/>
                <a:ea typeface="맑은 고딕" pitchFamily="34" charset="-122"/>
                <a:cs typeface="맑은 고딕" pitchFamily="34" charset="-120"/>
              </a:rPr>
              <a:t>를 명시하고 출처를 표기한다.</a:t>
            </a:r>
            <a:endParaRPr lang="en-US" sz="1240" dirty="0"/>
          </a:p>
        </p:txBody>
      </p:sp>
      <p:sp>
        <p:nvSpPr>
          <p:cNvPr id="31" name="Shape 26"/>
          <p:cNvSpPr/>
          <p:nvPr/>
        </p:nvSpPr>
        <p:spPr>
          <a:xfrm>
            <a:off x="1104870" y="3752880"/>
            <a:ext cx="19020" cy="209580"/>
          </a:xfrm>
          <a:prstGeom prst="rect">
            <a:avLst/>
          </a:prstGeom>
          <a:solidFill>
            <a:srgbClr val="9DC3E6"/>
          </a:solidFill>
          <a:ln/>
        </p:spPr>
      </p:sp>
      <p:sp>
        <p:nvSpPr>
          <p:cNvPr id="32" name="Text 27"/>
          <p:cNvSpPr/>
          <p:nvPr/>
        </p:nvSpPr>
        <p:spPr>
          <a:xfrm>
            <a:off x="1200150" y="3752880"/>
            <a:ext cx="4762470" cy="228600"/>
          </a:xfrm>
          <a:prstGeom prst="rect">
            <a:avLst/>
          </a:prstGeom>
          <a:noFill/>
          <a:ln/>
        </p:spPr>
        <p:txBody>
          <a:bodyPr wrap="square" lIns="0" tIns="0" rIns="0" bIns="0" rtlCol="0" anchor="t"/>
          <a:lstStyle/>
          <a:p>
            <a:pPr indent="0" marL="0">
              <a:buNone/>
            </a:pPr>
            <a:r>
              <a:rPr lang="en-US" sz="1130" dirty="0">
                <a:solidFill>
                  <a:srgbClr val="3B3838"/>
                </a:solidFill>
                <a:latin typeface="맑은 고딕" pitchFamily="34" charset="0"/>
                <a:ea typeface="맑은 고딕" pitchFamily="34" charset="-122"/>
                <a:cs typeface="맑은 고딕" pitchFamily="34" charset="-120"/>
              </a:rPr>
              <a:t>• 사용한 </a:t>
            </a:r>
            <a:pPr indent="0" marL="0">
              <a:buNone/>
            </a:pPr>
            <a:r>
              <a:rPr lang="en-US" sz="1130" b="1" dirty="0">
                <a:solidFill>
                  <a:srgbClr val="C00000"/>
                </a:solidFill>
                <a:latin typeface="맑은 고딕" pitchFamily="34" charset="0"/>
                <a:ea typeface="맑은 고딕" pitchFamily="34" charset="-122"/>
                <a:cs typeface="맑은 고딕" pitchFamily="34" charset="-120"/>
              </a:rPr>
              <a:t>프롬프트를 반드시 제시</a:t>
            </a:r>
            <a:pPr indent="0" marL="0">
              <a:buNone/>
            </a:pPr>
            <a:r>
              <a:rPr lang="en-US" sz="1130" dirty="0">
                <a:solidFill>
                  <a:srgbClr val="3B3838"/>
                </a:solidFill>
                <a:latin typeface="맑은 고딕" pitchFamily="34" charset="0"/>
                <a:ea typeface="맑은 고딕" pitchFamily="34" charset="-122"/>
                <a:cs typeface="맑은 고딕" pitchFamily="34" charset="-120"/>
              </a:rPr>
              <a:t>해야 한다 (메타 프롬프트 포함).</a:t>
            </a:r>
            <a:endParaRPr lang="en-US" sz="1130" dirty="0"/>
          </a:p>
        </p:txBody>
      </p:sp>
      <p:sp>
        <p:nvSpPr>
          <p:cNvPr id="33" name="Text 28"/>
          <p:cNvSpPr/>
          <p:nvPr/>
        </p:nvSpPr>
        <p:spPr>
          <a:xfrm>
            <a:off x="6057900" y="3181380"/>
            <a:ext cx="381030" cy="304770"/>
          </a:xfrm>
          <a:prstGeom prst="rect">
            <a:avLst/>
          </a:prstGeom>
          <a:noFill/>
          <a:ln/>
        </p:spPr>
        <p:txBody>
          <a:bodyPr wrap="square" lIns="0" tIns="0" rIns="0" bIns="0" rtlCol="0" anchor="t"/>
          <a:lstStyle/>
          <a:p>
            <a:pPr algn="ctr" indent="0" marL="0">
              <a:buNone/>
            </a:pPr>
            <a:r>
              <a:rPr lang="en-US" sz="1650" dirty="0">
                <a:solidFill>
                  <a:srgbClr val="3B3838"/>
                </a:solidFill>
                <a:latin typeface="맑은 고딕" pitchFamily="34" charset="0"/>
                <a:ea typeface="맑은 고딕" pitchFamily="34" charset="-122"/>
                <a:cs typeface="맑은 고딕" pitchFamily="34" charset="-120"/>
              </a:rPr>
              <a:t>🔍</a:t>
            </a:r>
            <a:endParaRPr lang="en-US" sz="1650" dirty="0"/>
          </a:p>
        </p:txBody>
      </p:sp>
      <p:sp>
        <p:nvSpPr>
          <p:cNvPr id="34" name="Shape 29"/>
          <p:cNvSpPr/>
          <p:nvPr/>
        </p:nvSpPr>
        <p:spPr>
          <a:xfrm>
            <a:off x="438180" y="4143421"/>
            <a:ext cx="6229350" cy="742950"/>
          </a:xfrm>
          <a:prstGeom prst="rect">
            <a:avLst/>
          </a:prstGeom>
          <a:solidFill>
            <a:srgbClr val="FFFFFF"/>
          </a:solidFill>
          <a:ln w="12700">
            <a:solidFill>
              <a:srgbClr val="D4DCE6"/>
            </a:solidFill>
            <a:prstDash val="solid"/>
          </a:ln>
        </p:spPr>
      </p:sp>
      <p:sp>
        <p:nvSpPr>
          <p:cNvPr id="35" name="Shape 30"/>
          <p:cNvSpPr/>
          <p:nvPr/>
        </p:nvSpPr>
        <p:spPr>
          <a:xfrm>
            <a:off x="438180" y="4143421"/>
            <a:ext cx="57150" cy="742950"/>
          </a:xfrm>
          <a:prstGeom prst="rect">
            <a:avLst/>
          </a:prstGeom>
          <a:solidFill>
            <a:srgbClr val="005BAC"/>
          </a:solidFill>
          <a:ln/>
        </p:spPr>
      </p:sp>
      <p:sp>
        <p:nvSpPr>
          <p:cNvPr id="36" name="Shape 31"/>
          <p:cNvSpPr/>
          <p:nvPr/>
        </p:nvSpPr>
        <p:spPr>
          <a:xfrm>
            <a:off x="609630" y="4257721"/>
            <a:ext cx="266730" cy="266730"/>
          </a:xfrm>
          <a:prstGeom prst="ellipse">
            <a:avLst/>
          </a:prstGeom>
          <a:solidFill>
            <a:srgbClr val="005BAC"/>
          </a:solidFill>
          <a:ln/>
        </p:spPr>
      </p:sp>
      <p:sp>
        <p:nvSpPr>
          <p:cNvPr id="37" name="Text 32"/>
          <p:cNvSpPr/>
          <p:nvPr/>
        </p:nvSpPr>
        <p:spPr>
          <a:xfrm>
            <a:off x="609630" y="4257721"/>
            <a:ext cx="266730" cy="266730"/>
          </a:xfrm>
          <a:prstGeom prst="rect">
            <a:avLst/>
          </a:prstGeom>
          <a:noFill/>
          <a:ln/>
        </p:spPr>
        <p:txBody>
          <a:bodyPr wrap="square" lIns="0" tIns="0" rIns="0" bIns="0" rtlCol="0" anchor="ctr"/>
          <a:lstStyle/>
          <a:p>
            <a:pPr algn="ctr" indent="0" marL="0">
              <a:buNone/>
            </a:pPr>
            <a:r>
              <a:rPr lang="en-US" sz="1130" b="1" dirty="0">
                <a:solidFill>
                  <a:srgbClr val="FFFFFF"/>
                </a:solidFill>
                <a:latin typeface="Arial" pitchFamily="34" charset="0"/>
                <a:ea typeface="Arial" pitchFamily="34" charset="-122"/>
                <a:cs typeface="Arial" pitchFamily="34" charset="-120"/>
              </a:rPr>
              <a:t>4</a:t>
            </a:r>
            <a:endParaRPr lang="en-US" sz="1130" dirty="0"/>
          </a:p>
        </p:txBody>
      </p:sp>
      <p:sp>
        <p:nvSpPr>
          <p:cNvPr id="38" name="Text 33"/>
          <p:cNvSpPr/>
          <p:nvPr/>
        </p:nvSpPr>
        <p:spPr>
          <a:xfrm>
            <a:off x="971550" y="4229100"/>
            <a:ext cx="2857500" cy="190470"/>
          </a:xfrm>
          <a:prstGeom prst="rect">
            <a:avLst/>
          </a:prstGeom>
          <a:noFill/>
          <a:ln/>
        </p:spPr>
        <p:txBody>
          <a:bodyPr wrap="square" lIns="0" tIns="0" rIns="0" bIns="0" rtlCol="0" anchor="t"/>
          <a:lstStyle/>
          <a:p>
            <a:pPr indent="0" marL="0">
              <a:buNone/>
            </a:pPr>
            <a:r>
              <a:rPr lang="en-US" sz="980" b="1" dirty="0">
                <a:solidFill>
                  <a:srgbClr val="005BAC"/>
                </a:solidFill>
                <a:latin typeface="맑은 고딕" pitchFamily="34" charset="0"/>
                <a:ea typeface="맑은 고딕" pitchFamily="34" charset="-122"/>
                <a:cs typeface="맑은 고딕" pitchFamily="34" charset="-120"/>
              </a:rPr>
              <a:t>재해석</a:t>
            </a:r>
            <a:endParaRPr lang="en-US" sz="980" dirty="0"/>
          </a:p>
        </p:txBody>
      </p:sp>
      <p:sp>
        <p:nvSpPr>
          <p:cNvPr id="39" name="Text 34"/>
          <p:cNvSpPr/>
          <p:nvPr/>
        </p:nvSpPr>
        <p:spPr>
          <a:xfrm>
            <a:off x="971550" y="4429171"/>
            <a:ext cx="4953030" cy="400050"/>
          </a:xfrm>
          <a:prstGeom prst="rect">
            <a:avLst/>
          </a:prstGeom>
          <a:noFill/>
          <a:ln/>
        </p:spPr>
        <p:txBody>
          <a:bodyPr wrap="square" lIns="0" tIns="0" rIns="0" bIns="0" rtlCol="0" anchor="t"/>
          <a:lstStyle/>
          <a:p>
            <a:pPr indent="0" marL="0">
              <a:lnSpc>
                <a:spcPct val="130000"/>
              </a:lnSpc>
              <a:buNone/>
            </a:pPr>
            <a:r>
              <a:rPr lang="en-US" sz="1240" dirty="0">
                <a:solidFill>
                  <a:srgbClr val="3B3838"/>
                </a:solidFill>
                <a:latin typeface="맑은 고딕" pitchFamily="34" charset="0"/>
                <a:ea typeface="맑은 고딕" pitchFamily="34" charset="-122"/>
                <a:cs typeface="맑은 고딕" pitchFamily="34" charset="-120"/>
              </a:rPr>
              <a:t>AI 답변을 그대로 쓰지 않고 </a:t>
            </a:r>
            <a:pPr indent="0" marL="0">
              <a:lnSpc>
                <a:spcPct val="130000"/>
              </a:lnSpc>
              <a:buNone/>
            </a:pPr>
            <a:r>
              <a:rPr lang="en-US" sz="1240" b="1" dirty="0">
                <a:solidFill>
                  <a:srgbClr val="005BAC"/>
                </a:solidFill>
                <a:latin typeface="맑은 고딕" pitchFamily="34" charset="0"/>
                <a:ea typeface="맑은 고딕" pitchFamily="34" charset="-122"/>
                <a:cs typeface="맑은 고딕" pitchFamily="34" charset="-120"/>
              </a:rPr>
              <a:t>재해석 · 변형하여 발전</a:t>
            </a:r>
            <a:pPr indent="0" marL="0">
              <a:lnSpc>
                <a:spcPct val="130000"/>
              </a:lnSpc>
              <a:buNone/>
            </a:pPr>
            <a:r>
              <a:rPr lang="en-US" sz="1240" dirty="0">
                <a:solidFill>
                  <a:srgbClr val="3B3838"/>
                </a:solidFill>
                <a:latin typeface="맑은 고딕" pitchFamily="34" charset="0"/>
                <a:ea typeface="맑은 고딕" pitchFamily="34" charset="-122"/>
                <a:cs typeface="맑은 고딕" pitchFamily="34" charset="-120"/>
              </a:rPr>
              <a:t>시킨다.</a:t>
            </a:r>
            <a:endParaRPr lang="en-US" sz="1240" dirty="0"/>
          </a:p>
        </p:txBody>
      </p:sp>
      <p:sp>
        <p:nvSpPr>
          <p:cNvPr id="40" name="Text 35"/>
          <p:cNvSpPr/>
          <p:nvPr/>
        </p:nvSpPr>
        <p:spPr>
          <a:xfrm>
            <a:off x="6057900" y="4276740"/>
            <a:ext cx="381030" cy="304770"/>
          </a:xfrm>
          <a:prstGeom prst="rect">
            <a:avLst/>
          </a:prstGeom>
          <a:noFill/>
          <a:ln/>
        </p:spPr>
        <p:txBody>
          <a:bodyPr wrap="square" lIns="0" tIns="0" rIns="0" bIns="0" rtlCol="0" anchor="t"/>
          <a:lstStyle/>
          <a:p>
            <a:pPr algn="ctr" indent="0" marL="0">
              <a:buNone/>
            </a:pPr>
            <a:r>
              <a:rPr lang="en-US" sz="1650" dirty="0">
                <a:solidFill>
                  <a:srgbClr val="3B3838"/>
                </a:solidFill>
                <a:latin typeface="맑은 고딕" pitchFamily="34" charset="0"/>
                <a:ea typeface="맑은 고딕" pitchFamily="34" charset="-122"/>
                <a:cs typeface="맑은 고딕" pitchFamily="34" charset="-120"/>
              </a:rPr>
              <a:t>🔄</a:t>
            </a:r>
            <a:endParaRPr lang="en-US" sz="1650" dirty="0"/>
          </a:p>
        </p:txBody>
      </p:sp>
      <p:sp>
        <p:nvSpPr>
          <p:cNvPr id="41" name="Shape 36"/>
          <p:cNvSpPr/>
          <p:nvPr/>
        </p:nvSpPr>
        <p:spPr>
          <a:xfrm>
            <a:off x="438180" y="4972050"/>
            <a:ext cx="6229350" cy="742950"/>
          </a:xfrm>
          <a:prstGeom prst="rect">
            <a:avLst/>
          </a:prstGeom>
          <a:solidFill>
            <a:srgbClr val="FFFFFF"/>
          </a:solidFill>
          <a:ln w="12700">
            <a:solidFill>
              <a:srgbClr val="D4DCE6"/>
            </a:solidFill>
            <a:prstDash val="solid"/>
          </a:ln>
        </p:spPr>
      </p:sp>
      <p:sp>
        <p:nvSpPr>
          <p:cNvPr id="42" name="Shape 37"/>
          <p:cNvSpPr/>
          <p:nvPr/>
        </p:nvSpPr>
        <p:spPr>
          <a:xfrm>
            <a:off x="438180" y="4972050"/>
            <a:ext cx="57150" cy="742950"/>
          </a:xfrm>
          <a:prstGeom prst="rect">
            <a:avLst/>
          </a:prstGeom>
          <a:solidFill>
            <a:srgbClr val="005BAC"/>
          </a:solidFill>
          <a:ln/>
        </p:spPr>
      </p:sp>
      <p:sp>
        <p:nvSpPr>
          <p:cNvPr id="43" name="Shape 38"/>
          <p:cNvSpPr/>
          <p:nvPr/>
        </p:nvSpPr>
        <p:spPr>
          <a:xfrm>
            <a:off x="609630" y="5086350"/>
            <a:ext cx="266730" cy="266730"/>
          </a:xfrm>
          <a:prstGeom prst="ellipse">
            <a:avLst/>
          </a:prstGeom>
          <a:solidFill>
            <a:srgbClr val="005BAC"/>
          </a:solidFill>
          <a:ln/>
        </p:spPr>
      </p:sp>
      <p:sp>
        <p:nvSpPr>
          <p:cNvPr id="44" name="Text 39"/>
          <p:cNvSpPr/>
          <p:nvPr/>
        </p:nvSpPr>
        <p:spPr>
          <a:xfrm>
            <a:off x="609630" y="5086350"/>
            <a:ext cx="266730" cy="266730"/>
          </a:xfrm>
          <a:prstGeom prst="rect">
            <a:avLst/>
          </a:prstGeom>
          <a:noFill/>
          <a:ln/>
        </p:spPr>
        <p:txBody>
          <a:bodyPr wrap="square" lIns="0" tIns="0" rIns="0" bIns="0" rtlCol="0" anchor="ctr"/>
          <a:lstStyle/>
          <a:p>
            <a:pPr algn="ctr" indent="0" marL="0">
              <a:buNone/>
            </a:pPr>
            <a:r>
              <a:rPr lang="en-US" sz="1130" b="1" dirty="0">
                <a:solidFill>
                  <a:srgbClr val="FFFFFF"/>
                </a:solidFill>
                <a:latin typeface="Arial" pitchFamily="34" charset="0"/>
                <a:ea typeface="Arial" pitchFamily="34" charset="-122"/>
                <a:cs typeface="Arial" pitchFamily="34" charset="-120"/>
              </a:rPr>
              <a:t>5</a:t>
            </a:r>
            <a:endParaRPr lang="en-US" sz="1130" dirty="0"/>
          </a:p>
        </p:txBody>
      </p:sp>
      <p:sp>
        <p:nvSpPr>
          <p:cNvPr id="45" name="Text 40"/>
          <p:cNvSpPr/>
          <p:nvPr/>
        </p:nvSpPr>
        <p:spPr>
          <a:xfrm>
            <a:off x="971550" y="5057821"/>
            <a:ext cx="2857500" cy="190470"/>
          </a:xfrm>
          <a:prstGeom prst="rect">
            <a:avLst/>
          </a:prstGeom>
          <a:noFill/>
          <a:ln/>
        </p:spPr>
        <p:txBody>
          <a:bodyPr wrap="square" lIns="0" tIns="0" rIns="0" bIns="0" rtlCol="0" anchor="t"/>
          <a:lstStyle/>
          <a:p>
            <a:pPr indent="0" marL="0">
              <a:buNone/>
            </a:pPr>
            <a:r>
              <a:rPr lang="en-US" sz="980" b="1" dirty="0">
                <a:solidFill>
                  <a:srgbClr val="005BAC"/>
                </a:solidFill>
                <a:latin typeface="맑은 고딕" pitchFamily="34" charset="0"/>
                <a:ea typeface="맑은 고딕" pitchFamily="34" charset="-122"/>
                <a:cs typeface="맑은 고딕" pitchFamily="34" charset="-120"/>
              </a:rPr>
              <a:t>책임 고지</a:t>
            </a:r>
            <a:endParaRPr lang="en-US" sz="980" dirty="0"/>
          </a:p>
        </p:txBody>
      </p:sp>
      <p:sp>
        <p:nvSpPr>
          <p:cNvPr id="46" name="Text 41"/>
          <p:cNvSpPr/>
          <p:nvPr/>
        </p:nvSpPr>
        <p:spPr>
          <a:xfrm>
            <a:off x="971550" y="5257800"/>
            <a:ext cx="4953030" cy="400050"/>
          </a:xfrm>
          <a:prstGeom prst="rect">
            <a:avLst/>
          </a:prstGeom>
          <a:noFill/>
          <a:ln/>
        </p:spPr>
        <p:txBody>
          <a:bodyPr wrap="square" lIns="0" tIns="0" rIns="0" bIns="0" rtlCol="0" anchor="t"/>
          <a:lstStyle/>
          <a:p>
            <a:pPr indent="0" marL="0">
              <a:lnSpc>
                <a:spcPct val="130000"/>
              </a:lnSpc>
              <a:buNone/>
            </a:pPr>
            <a:r>
              <a:rPr lang="en-US" sz="1240" dirty="0">
                <a:solidFill>
                  <a:srgbClr val="3B3838"/>
                </a:solidFill>
                <a:latin typeface="맑은 고딕" pitchFamily="34" charset="0"/>
                <a:ea typeface="맑은 고딕" pitchFamily="34" charset="-122"/>
                <a:cs typeface="맑은 고딕" pitchFamily="34" charset="-120"/>
              </a:rPr>
              <a:t>지침 위반 시 </a:t>
            </a:r>
            <a:pPr indent="0" marL="0">
              <a:lnSpc>
                <a:spcPct val="130000"/>
              </a:lnSpc>
              <a:buNone/>
            </a:pPr>
            <a:r>
              <a:rPr lang="en-US" sz="1240" b="1" dirty="0">
                <a:solidFill>
                  <a:srgbClr val="C00000"/>
                </a:solidFill>
                <a:latin typeface="맑은 고딕" pitchFamily="34" charset="0"/>
                <a:ea typeface="맑은 고딕" pitchFamily="34" charset="-122"/>
                <a:cs typeface="맑은 고딕" pitchFamily="34" charset="-120"/>
              </a:rPr>
              <a:t>모든 불이익은 작성자인 담당자</a:t>
            </a:r>
            <a:pPr indent="0" marL="0">
              <a:lnSpc>
                <a:spcPct val="130000"/>
              </a:lnSpc>
              <a:buNone/>
            </a:pPr>
            <a:r>
              <a:rPr lang="en-US" sz="1240" dirty="0">
                <a:solidFill>
                  <a:srgbClr val="3B3838"/>
                </a:solidFill>
                <a:latin typeface="맑은 고딕" pitchFamily="34" charset="0"/>
                <a:ea typeface="맑은 고딕" pitchFamily="34" charset="-122"/>
                <a:cs typeface="맑은 고딕" pitchFamily="34" charset="-120"/>
              </a:rPr>
              <a:t>에게 있음을 고지한다.</a:t>
            </a:r>
            <a:endParaRPr lang="en-US" sz="1240" dirty="0"/>
          </a:p>
        </p:txBody>
      </p:sp>
      <p:sp>
        <p:nvSpPr>
          <p:cNvPr id="47" name="Text 42"/>
          <p:cNvSpPr/>
          <p:nvPr/>
        </p:nvSpPr>
        <p:spPr>
          <a:xfrm>
            <a:off x="6057900" y="5105370"/>
            <a:ext cx="381030" cy="304770"/>
          </a:xfrm>
          <a:prstGeom prst="rect">
            <a:avLst/>
          </a:prstGeom>
          <a:noFill/>
          <a:ln/>
        </p:spPr>
        <p:txBody>
          <a:bodyPr wrap="square" lIns="0" tIns="0" rIns="0" bIns="0" rtlCol="0" anchor="t"/>
          <a:lstStyle/>
          <a:p>
            <a:pPr algn="ctr" indent="0" marL="0">
              <a:buNone/>
            </a:pPr>
            <a:r>
              <a:rPr lang="en-US" sz="1650" dirty="0">
                <a:solidFill>
                  <a:srgbClr val="3B3838"/>
                </a:solidFill>
                <a:latin typeface="맑은 고딕" pitchFamily="34" charset="0"/>
                <a:ea typeface="맑은 고딕" pitchFamily="34" charset="-122"/>
                <a:cs typeface="맑은 고딕" pitchFamily="34" charset="-120"/>
              </a:rPr>
              <a:t>⚠️</a:t>
            </a:r>
            <a:endParaRPr lang="en-US" sz="1650" dirty="0"/>
          </a:p>
        </p:txBody>
      </p:sp>
      <p:sp>
        <p:nvSpPr>
          <p:cNvPr id="48" name="Text 43"/>
          <p:cNvSpPr/>
          <p:nvPr/>
        </p:nvSpPr>
        <p:spPr>
          <a:xfrm>
            <a:off x="6896130" y="1447770"/>
            <a:ext cx="1409730" cy="190470"/>
          </a:xfrm>
          <a:prstGeom prst="rect">
            <a:avLst/>
          </a:prstGeom>
          <a:noFill/>
          <a:ln/>
        </p:spPr>
        <p:txBody>
          <a:bodyPr wrap="square" lIns="0" tIns="0" rIns="0" bIns="0" rtlCol="0" anchor="t"/>
          <a:lstStyle/>
          <a:p>
            <a:pPr algn="ctr" indent="0" marL="0">
              <a:buNone/>
            </a:pPr>
            <a:r>
              <a:rPr lang="en-US" sz="980" b="1" spc="100" kern="0" dirty="0">
                <a:solidFill>
                  <a:srgbClr val="0071CE"/>
                </a:solidFill>
                <a:latin typeface="Arial" pitchFamily="34" charset="0"/>
                <a:ea typeface="Arial" pitchFamily="34" charset="-122"/>
                <a:cs typeface="Arial" pitchFamily="34" charset="-120"/>
              </a:rPr>
              <a:t>STEP 1</a:t>
            </a:r>
            <a:endParaRPr lang="en-US" sz="980" dirty="0"/>
          </a:p>
        </p:txBody>
      </p:sp>
      <p:sp>
        <p:nvSpPr>
          <p:cNvPr id="49" name="Shape 44"/>
          <p:cNvSpPr/>
          <p:nvPr/>
        </p:nvSpPr>
        <p:spPr>
          <a:xfrm>
            <a:off x="6896130" y="1676370"/>
            <a:ext cx="1409730" cy="990570"/>
          </a:xfrm>
          <a:prstGeom prst="roundRect">
            <a:avLst>
              <a:gd name="adj" fmla="val 7385"/>
            </a:avLst>
          </a:prstGeom>
          <a:solidFill>
            <a:srgbClr val="DEEBF7"/>
          </a:solidFill>
          <a:ln w="19050">
            <a:solidFill>
              <a:srgbClr val="9DC3E6"/>
            </a:solidFill>
            <a:prstDash val="solid"/>
          </a:ln>
        </p:spPr>
      </p:sp>
      <p:sp>
        <p:nvSpPr>
          <p:cNvPr id="50" name="Text 45"/>
          <p:cNvSpPr/>
          <p:nvPr/>
        </p:nvSpPr>
        <p:spPr>
          <a:xfrm>
            <a:off x="6896130" y="1828800"/>
            <a:ext cx="1409730" cy="266730"/>
          </a:xfrm>
          <a:prstGeom prst="rect">
            <a:avLst/>
          </a:prstGeom>
          <a:noFill/>
          <a:ln/>
        </p:spPr>
        <p:txBody>
          <a:bodyPr wrap="square" lIns="0" tIns="0" rIns="0" bIns="0" rtlCol="0" anchor="t"/>
          <a:lstStyle/>
          <a:p>
            <a:pPr algn="ctr" indent="0" marL="0">
              <a:buNone/>
            </a:pPr>
            <a:r>
              <a:rPr lang="en-US" sz="1430" b="1" dirty="0">
                <a:solidFill>
                  <a:srgbClr val="17365D"/>
                </a:solidFill>
                <a:latin typeface="맑은 고딕" pitchFamily="34" charset="0"/>
                <a:ea typeface="맑은 고딕" pitchFamily="34" charset="-122"/>
                <a:cs typeface="맑은 고딕" pitchFamily="34" charset="-120"/>
              </a:rPr>
              <a:t>AI 초안</a:t>
            </a:r>
            <a:endParaRPr lang="en-US" sz="1430" dirty="0"/>
          </a:p>
        </p:txBody>
      </p:sp>
      <p:sp>
        <p:nvSpPr>
          <p:cNvPr id="51" name="Text 46"/>
          <p:cNvSpPr/>
          <p:nvPr/>
        </p:nvSpPr>
        <p:spPr>
          <a:xfrm>
            <a:off x="6896130" y="2133570"/>
            <a:ext cx="1409730" cy="209580"/>
          </a:xfrm>
          <a:prstGeom prst="rect">
            <a:avLst/>
          </a:prstGeom>
          <a:noFill/>
          <a:ln/>
        </p:spPr>
        <p:txBody>
          <a:bodyPr wrap="square" lIns="0" tIns="0" rIns="0" bIns="0" rtlCol="0" anchor="t"/>
          <a:lstStyle/>
          <a:p>
            <a:pPr algn="ctr" indent="0" marL="0">
              <a:buNone/>
            </a:pPr>
            <a:r>
              <a:rPr lang="en-US" sz="1050" dirty="0">
                <a:solidFill>
                  <a:srgbClr val="3B3838"/>
                </a:solidFill>
                <a:latin typeface="맑은 고딕" pitchFamily="34" charset="0"/>
                <a:ea typeface="맑은 고딕" pitchFamily="34" charset="-122"/>
                <a:cs typeface="맑은 고딕" pitchFamily="34" charset="-120"/>
              </a:rPr>
              <a:t>생성형 AI 사용</a:t>
            </a:r>
            <a:endParaRPr lang="en-US" sz="1050" dirty="0"/>
          </a:p>
        </p:txBody>
      </p:sp>
      <p:sp>
        <p:nvSpPr>
          <p:cNvPr id="52" name="Text 47"/>
          <p:cNvSpPr/>
          <p:nvPr/>
        </p:nvSpPr>
        <p:spPr>
          <a:xfrm>
            <a:off x="6896130" y="2362170"/>
            <a:ext cx="1409730" cy="228600"/>
          </a:xfrm>
          <a:prstGeom prst="rect">
            <a:avLst/>
          </a:prstGeom>
          <a:noFill/>
          <a:ln/>
        </p:spPr>
        <p:txBody>
          <a:bodyPr wrap="square" lIns="0" tIns="0" rIns="0" bIns="0" rtlCol="0" anchor="t"/>
          <a:lstStyle/>
          <a:p>
            <a:pPr algn="ctr" indent="0" marL="0">
              <a:buNone/>
            </a:pPr>
            <a:r>
              <a:rPr lang="en-US" sz="1130" b="1" dirty="0">
                <a:solidFill>
                  <a:srgbClr val="0071CE"/>
                </a:solidFill>
                <a:latin typeface="맑은 고딕" pitchFamily="34" charset="0"/>
                <a:ea typeface="맑은 고딕" pitchFamily="34" charset="-122"/>
                <a:cs typeface="맑은 고딕" pitchFamily="34" charset="-120"/>
              </a:rPr>
              <a:t>허용</a:t>
            </a:r>
            <a:endParaRPr lang="en-US" sz="1130" dirty="0"/>
          </a:p>
        </p:txBody>
      </p:sp>
      <p:sp>
        <p:nvSpPr>
          <p:cNvPr id="53" name="Shape 48"/>
          <p:cNvSpPr/>
          <p:nvPr/>
        </p:nvSpPr>
        <p:spPr>
          <a:xfrm>
            <a:off x="8362920" y="2076420"/>
            <a:ext cx="190470" cy="190470"/>
          </a:xfrm>
          <a:prstGeom prst="rightArrow">
            <a:avLst/>
          </a:prstGeom>
          <a:solidFill>
            <a:srgbClr val="0071CE"/>
          </a:solidFill>
          <a:ln/>
        </p:spPr>
      </p:sp>
      <p:sp>
        <p:nvSpPr>
          <p:cNvPr id="54" name="Text 49"/>
          <p:cNvSpPr/>
          <p:nvPr/>
        </p:nvSpPr>
        <p:spPr>
          <a:xfrm>
            <a:off x="8610630" y="1447770"/>
            <a:ext cx="1409730" cy="190470"/>
          </a:xfrm>
          <a:prstGeom prst="rect">
            <a:avLst/>
          </a:prstGeom>
          <a:noFill/>
          <a:ln/>
        </p:spPr>
        <p:txBody>
          <a:bodyPr wrap="square" lIns="0" tIns="0" rIns="0" bIns="0" rtlCol="0" anchor="t"/>
          <a:lstStyle/>
          <a:p>
            <a:pPr algn="ctr" indent="0" marL="0">
              <a:buNone/>
            </a:pPr>
            <a:r>
              <a:rPr lang="en-US" sz="980" b="1" spc="100" kern="0" dirty="0">
                <a:solidFill>
                  <a:srgbClr val="0071CE"/>
                </a:solidFill>
                <a:latin typeface="Arial" pitchFamily="34" charset="0"/>
                <a:ea typeface="Arial" pitchFamily="34" charset="-122"/>
                <a:cs typeface="Arial" pitchFamily="34" charset="-120"/>
              </a:rPr>
              <a:t>STEP 2</a:t>
            </a:r>
            <a:endParaRPr lang="en-US" sz="980" dirty="0"/>
          </a:p>
        </p:txBody>
      </p:sp>
      <p:sp>
        <p:nvSpPr>
          <p:cNvPr id="55" name="Shape 50"/>
          <p:cNvSpPr/>
          <p:nvPr/>
        </p:nvSpPr>
        <p:spPr>
          <a:xfrm>
            <a:off x="8610630" y="1676370"/>
            <a:ext cx="1409730" cy="990570"/>
          </a:xfrm>
          <a:prstGeom prst="roundRect">
            <a:avLst>
              <a:gd name="adj" fmla="val 7385"/>
            </a:avLst>
          </a:prstGeom>
          <a:solidFill>
            <a:srgbClr val="4BA3E3"/>
          </a:solidFill>
          <a:ln w="19050">
            <a:solidFill>
              <a:srgbClr val="2E8BD4"/>
            </a:solidFill>
            <a:prstDash val="solid"/>
          </a:ln>
        </p:spPr>
      </p:sp>
      <p:sp>
        <p:nvSpPr>
          <p:cNvPr id="56" name="Text 51"/>
          <p:cNvSpPr/>
          <p:nvPr/>
        </p:nvSpPr>
        <p:spPr>
          <a:xfrm>
            <a:off x="8610630" y="1828800"/>
            <a:ext cx="1409730" cy="266730"/>
          </a:xfrm>
          <a:prstGeom prst="rect">
            <a:avLst/>
          </a:prstGeom>
          <a:noFill/>
          <a:ln/>
        </p:spPr>
        <p:txBody>
          <a:bodyPr wrap="square" lIns="0" tIns="0" rIns="0" bIns="0" rtlCol="0" anchor="t"/>
          <a:lstStyle/>
          <a:p>
            <a:pPr algn="ctr" indent="0" marL="0">
              <a:buNone/>
            </a:pPr>
            <a:r>
              <a:rPr lang="en-US" sz="1430" b="1" dirty="0">
                <a:solidFill>
                  <a:srgbClr val="FFFFFF"/>
                </a:solidFill>
                <a:latin typeface="맑은 고딕" pitchFamily="34" charset="0"/>
                <a:ea typeface="맑은 고딕" pitchFamily="34" charset="-122"/>
                <a:cs typeface="맑은 고딕" pitchFamily="34" charset="-120"/>
              </a:rPr>
              <a:t>재해석 · 변형</a:t>
            </a:r>
            <a:endParaRPr lang="en-US" sz="1430" dirty="0"/>
          </a:p>
        </p:txBody>
      </p:sp>
      <p:sp>
        <p:nvSpPr>
          <p:cNvPr id="57" name="Text 52"/>
          <p:cNvSpPr/>
          <p:nvPr/>
        </p:nvSpPr>
        <p:spPr>
          <a:xfrm>
            <a:off x="8610630" y="2133570"/>
            <a:ext cx="1409730" cy="209580"/>
          </a:xfrm>
          <a:prstGeom prst="rect">
            <a:avLst/>
          </a:prstGeom>
          <a:noFill/>
          <a:ln/>
        </p:spPr>
        <p:txBody>
          <a:bodyPr wrap="square" lIns="0" tIns="0" rIns="0" bIns="0" rtlCol="0" anchor="t"/>
          <a:lstStyle/>
          <a:p>
            <a:pPr algn="ctr" indent="0" marL="0">
              <a:buNone/>
            </a:pPr>
            <a:r>
              <a:rPr lang="en-US" sz="1050" dirty="0">
                <a:solidFill>
                  <a:srgbClr val="EAF4FC"/>
                </a:solidFill>
                <a:latin typeface="맑은 고딕" pitchFamily="34" charset="0"/>
                <a:ea typeface="맑은 고딕" pitchFamily="34" charset="-122"/>
                <a:cs typeface="맑은 고딕" pitchFamily="34" charset="-120"/>
              </a:rPr>
              <a:t>그대로 쓰지 않는다</a:t>
            </a:r>
            <a:endParaRPr lang="en-US" sz="1050" dirty="0"/>
          </a:p>
        </p:txBody>
      </p:sp>
      <p:sp>
        <p:nvSpPr>
          <p:cNvPr id="58" name="Text 53"/>
          <p:cNvSpPr/>
          <p:nvPr/>
        </p:nvSpPr>
        <p:spPr>
          <a:xfrm>
            <a:off x="8610630" y="2362170"/>
            <a:ext cx="1409730" cy="228600"/>
          </a:xfrm>
          <a:prstGeom prst="rect">
            <a:avLst/>
          </a:prstGeom>
          <a:noFill/>
          <a:ln/>
        </p:spPr>
        <p:txBody>
          <a:bodyPr wrap="square" lIns="0" tIns="0" rIns="0" bIns="0" rtlCol="0" anchor="t"/>
          <a:lstStyle/>
          <a:p>
            <a:pPr algn="ctr" indent="0" marL="0">
              <a:buNone/>
            </a:pPr>
            <a:r>
              <a:rPr lang="en-US" sz="1130" b="1" dirty="0">
                <a:solidFill>
                  <a:srgbClr val="FFFFFF"/>
                </a:solidFill>
                <a:latin typeface="맑은 고딕" pitchFamily="34" charset="0"/>
                <a:ea typeface="맑은 고딕" pitchFamily="34" charset="-122"/>
                <a:cs typeface="맑은 고딕" pitchFamily="34" charset="-120"/>
              </a:rPr>
              <a:t>필수</a:t>
            </a:r>
            <a:endParaRPr lang="en-US" sz="1130" dirty="0"/>
          </a:p>
        </p:txBody>
      </p:sp>
      <p:sp>
        <p:nvSpPr>
          <p:cNvPr id="59" name="Shape 54"/>
          <p:cNvSpPr/>
          <p:nvPr/>
        </p:nvSpPr>
        <p:spPr>
          <a:xfrm>
            <a:off x="10077420" y="2076420"/>
            <a:ext cx="190470" cy="190470"/>
          </a:xfrm>
          <a:prstGeom prst="rightArrow">
            <a:avLst/>
          </a:prstGeom>
          <a:solidFill>
            <a:srgbClr val="0071CE"/>
          </a:solidFill>
          <a:ln/>
        </p:spPr>
      </p:sp>
      <p:sp>
        <p:nvSpPr>
          <p:cNvPr id="60" name="Text 55"/>
          <p:cNvSpPr/>
          <p:nvPr/>
        </p:nvSpPr>
        <p:spPr>
          <a:xfrm>
            <a:off x="10325130" y="1447770"/>
            <a:ext cx="1409730" cy="190470"/>
          </a:xfrm>
          <a:prstGeom prst="rect">
            <a:avLst/>
          </a:prstGeom>
          <a:noFill/>
          <a:ln/>
        </p:spPr>
        <p:txBody>
          <a:bodyPr wrap="square" lIns="0" tIns="0" rIns="0" bIns="0" rtlCol="0" anchor="t"/>
          <a:lstStyle/>
          <a:p>
            <a:pPr algn="ctr" indent="0" marL="0">
              <a:buNone/>
            </a:pPr>
            <a:r>
              <a:rPr lang="en-US" sz="980" b="1" spc="100" kern="0" dirty="0">
                <a:solidFill>
                  <a:srgbClr val="0071CE"/>
                </a:solidFill>
                <a:latin typeface="Arial" pitchFamily="34" charset="0"/>
                <a:ea typeface="Arial" pitchFamily="34" charset="-122"/>
                <a:cs typeface="Arial" pitchFamily="34" charset="-120"/>
              </a:rPr>
              <a:t>STEP 3</a:t>
            </a:r>
            <a:endParaRPr lang="en-US" sz="980" dirty="0"/>
          </a:p>
        </p:txBody>
      </p:sp>
      <p:sp>
        <p:nvSpPr>
          <p:cNvPr id="61" name="Shape 56"/>
          <p:cNvSpPr/>
          <p:nvPr/>
        </p:nvSpPr>
        <p:spPr>
          <a:xfrm>
            <a:off x="10325130" y="1676370"/>
            <a:ext cx="1409730" cy="990570"/>
          </a:xfrm>
          <a:prstGeom prst="roundRect">
            <a:avLst>
              <a:gd name="adj" fmla="val 7385"/>
            </a:avLst>
          </a:prstGeom>
          <a:solidFill>
            <a:srgbClr val="005BAC"/>
          </a:solidFill>
          <a:ln w="19050">
            <a:solidFill>
              <a:srgbClr val="003F7D"/>
            </a:solidFill>
            <a:prstDash val="solid"/>
          </a:ln>
        </p:spPr>
      </p:sp>
      <p:sp>
        <p:nvSpPr>
          <p:cNvPr id="62" name="Text 57"/>
          <p:cNvSpPr/>
          <p:nvPr/>
        </p:nvSpPr>
        <p:spPr>
          <a:xfrm>
            <a:off x="10325130" y="1828800"/>
            <a:ext cx="1409730" cy="266730"/>
          </a:xfrm>
          <a:prstGeom prst="rect">
            <a:avLst/>
          </a:prstGeom>
          <a:noFill/>
          <a:ln/>
        </p:spPr>
        <p:txBody>
          <a:bodyPr wrap="square" lIns="0" tIns="0" rIns="0" bIns="0" rtlCol="0" anchor="t"/>
          <a:lstStyle/>
          <a:p>
            <a:pPr algn="ctr" indent="0" marL="0">
              <a:buNone/>
            </a:pPr>
            <a:r>
              <a:rPr lang="en-US" sz="1430" b="1" dirty="0">
                <a:solidFill>
                  <a:srgbClr val="FFFFFF"/>
                </a:solidFill>
                <a:latin typeface="맑은 고딕" pitchFamily="34" charset="0"/>
                <a:ea typeface="맑은 고딕" pitchFamily="34" charset="-122"/>
                <a:cs typeface="맑은 고딕" pitchFamily="34" charset="-120"/>
              </a:rPr>
              <a:t>핵심 · 결론</a:t>
            </a:r>
            <a:endParaRPr lang="en-US" sz="1430" dirty="0"/>
          </a:p>
        </p:txBody>
      </p:sp>
      <p:sp>
        <p:nvSpPr>
          <p:cNvPr id="63" name="Text 58"/>
          <p:cNvSpPr/>
          <p:nvPr/>
        </p:nvSpPr>
        <p:spPr>
          <a:xfrm>
            <a:off x="10325130" y="2133570"/>
            <a:ext cx="1409730" cy="209580"/>
          </a:xfrm>
          <a:prstGeom prst="rect">
            <a:avLst/>
          </a:prstGeom>
          <a:noFill/>
          <a:ln/>
        </p:spPr>
        <p:txBody>
          <a:bodyPr wrap="square" lIns="0" tIns="0" rIns="0" bIns="0" rtlCol="0" anchor="t"/>
          <a:lstStyle/>
          <a:p>
            <a:pPr algn="ctr" indent="0" marL="0">
              <a:buNone/>
            </a:pPr>
            <a:r>
              <a:rPr lang="en-US" sz="1050" dirty="0">
                <a:solidFill>
                  <a:srgbClr val="D6E8F7"/>
                </a:solidFill>
                <a:latin typeface="맑은 고딕" pitchFamily="34" charset="0"/>
                <a:ea typeface="맑은 고딕" pitchFamily="34" charset="-122"/>
                <a:cs typeface="맑은 고딕" pitchFamily="34" charset="-120"/>
              </a:rPr>
              <a:t>아이디어 · 최종 분석</a:t>
            </a:r>
            <a:endParaRPr lang="en-US" sz="1050" dirty="0"/>
          </a:p>
        </p:txBody>
      </p:sp>
      <p:sp>
        <p:nvSpPr>
          <p:cNvPr id="64" name="Text 59"/>
          <p:cNvSpPr/>
          <p:nvPr/>
        </p:nvSpPr>
        <p:spPr>
          <a:xfrm>
            <a:off x="10325130" y="2362170"/>
            <a:ext cx="1409730" cy="228600"/>
          </a:xfrm>
          <a:prstGeom prst="rect">
            <a:avLst/>
          </a:prstGeom>
          <a:noFill/>
          <a:ln/>
        </p:spPr>
        <p:txBody>
          <a:bodyPr wrap="square" lIns="0" tIns="0" rIns="0" bIns="0" rtlCol="0" anchor="t"/>
          <a:lstStyle/>
          <a:p>
            <a:pPr algn="ctr" indent="0" marL="0">
              <a:buNone/>
            </a:pPr>
            <a:r>
              <a:rPr lang="en-US" sz="1130" b="1" dirty="0">
                <a:solidFill>
                  <a:srgbClr val="FFF100"/>
                </a:solidFill>
                <a:latin typeface="맑은 고딕" pitchFamily="34" charset="0"/>
                <a:ea typeface="맑은 고딕" pitchFamily="34" charset="-122"/>
                <a:cs typeface="맑은 고딕" pitchFamily="34" charset="-120"/>
              </a:rPr>
              <a:t>사람이 직접 작성</a:t>
            </a:r>
            <a:endParaRPr lang="en-US" sz="1130" dirty="0"/>
          </a:p>
        </p:txBody>
      </p:sp>
      <p:sp>
        <p:nvSpPr>
          <p:cNvPr id="65" name="Shape 60"/>
          <p:cNvSpPr/>
          <p:nvPr/>
        </p:nvSpPr>
        <p:spPr>
          <a:xfrm>
            <a:off x="6896130" y="2895630"/>
            <a:ext cx="4838730" cy="685800"/>
          </a:xfrm>
          <a:prstGeom prst="roundRect">
            <a:avLst>
              <a:gd name="adj" fmla="val 10667"/>
            </a:avLst>
          </a:prstGeom>
          <a:solidFill>
            <a:srgbClr val="FFFFFF"/>
          </a:solidFill>
          <a:ln w="19050">
            <a:solidFill>
              <a:srgbClr val="C00000"/>
            </a:solidFill>
            <a:prstDash val="dash"/>
          </a:ln>
        </p:spPr>
      </p:sp>
      <p:sp>
        <p:nvSpPr>
          <p:cNvPr id="66" name="Text 61"/>
          <p:cNvSpPr/>
          <p:nvPr/>
        </p:nvSpPr>
        <p:spPr>
          <a:xfrm>
            <a:off x="6896130" y="2990820"/>
            <a:ext cx="4838730" cy="228600"/>
          </a:xfrm>
          <a:prstGeom prst="rect">
            <a:avLst/>
          </a:prstGeom>
          <a:noFill/>
          <a:ln/>
        </p:spPr>
        <p:txBody>
          <a:bodyPr wrap="square" lIns="0" tIns="0" rIns="0" bIns="0" rtlCol="0" anchor="t"/>
          <a:lstStyle/>
          <a:p>
            <a:pPr algn="ctr" indent="0" marL="0">
              <a:buNone/>
            </a:pPr>
            <a:r>
              <a:rPr lang="en-US" sz="1130" b="1" dirty="0">
                <a:solidFill>
                  <a:srgbClr val="C00000"/>
                </a:solidFill>
                <a:latin typeface="맑은 고딕" pitchFamily="34" charset="0"/>
                <a:ea typeface="맑은 고딕" pitchFamily="34" charset="-122"/>
                <a:cs typeface="맑은 고딕" pitchFamily="34" charset="-120"/>
              </a:rPr>
              <a:t>전 과정 기록 · 출처 표기</a:t>
            </a:r>
            <a:endParaRPr lang="en-US" sz="1130" dirty="0"/>
          </a:p>
        </p:txBody>
      </p:sp>
      <p:sp>
        <p:nvSpPr>
          <p:cNvPr id="67" name="Text 62"/>
          <p:cNvSpPr/>
          <p:nvPr/>
        </p:nvSpPr>
        <p:spPr>
          <a:xfrm>
            <a:off x="6896130" y="3219420"/>
            <a:ext cx="4838730" cy="190470"/>
          </a:xfrm>
          <a:prstGeom prst="rect">
            <a:avLst/>
          </a:prstGeom>
          <a:noFill/>
          <a:ln/>
        </p:spPr>
        <p:txBody>
          <a:bodyPr wrap="square" lIns="0" tIns="0" rIns="0" bIns="0" rtlCol="0" anchor="t"/>
          <a:lstStyle/>
          <a:p>
            <a:pPr algn="ctr" indent="0" marL="0">
              <a:buNone/>
            </a:pPr>
            <a:r>
              <a:rPr lang="en-US" sz="1050" dirty="0">
                <a:solidFill>
                  <a:srgbClr val="3B3838"/>
                </a:solidFill>
                <a:latin typeface="맑은 고딕" pitchFamily="34" charset="0"/>
                <a:ea typeface="맑은 고딕" pitchFamily="34" charset="-122"/>
                <a:cs typeface="맑은 고딕" pitchFamily="34" charset="-120"/>
              </a:rPr>
              <a:t>서비스 종류 · 활용 목적 · 활용 범위</a:t>
            </a:r>
            <a:endParaRPr lang="en-US" sz="1050" dirty="0"/>
          </a:p>
        </p:txBody>
      </p:sp>
      <p:sp>
        <p:nvSpPr>
          <p:cNvPr id="68" name="Text 63"/>
          <p:cNvSpPr/>
          <p:nvPr/>
        </p:nvSpPr>
        <p:spPr>
          <a:xfrm>
            <a:off x="6896130" y="3390870"/>
            <a:ext cx="4838730" cy="190470"/>
          </a:xfrm>
          <a:prstGeom prst="rect">
            <a:avLst/>
          </a:prstGeom>
          <a:noFill/>
          <a:ln/>
        </p:spPr>
        <p:txBody>
          <a:bodyPr wrap="square" lIns="0" tIns="0" rIns="0" bIns="0" rtlCol="0" anchor="t"/>
          <a:lstStyle/>
          <a:p>
            <a:pPr algn="ctr" indent="0" marL="0">
              <a:buNone/>
            </a:pPr>
            <a:r>
              <a:rPr lang="en-US" sz="1050" b="1" dirty="0">
                <a:solidFill>
                  <a:srgbClr val="3B3838"/>
                </a:solidFill>
                <a:latin typeface="맑은 고딕" pitchFamily="34" charset="0"/>
                <a:ea typeface="맑은 고딕" pitchFamily="34" charset="-122"/>
                <a:cs typeface="맑은 고딕" pitchFamily="34" charset="-120"/>
              </a:rPr>
              <a:t>사용한 프롬프트(메타 프롬프트 포함)</a:t>
            </a:r>
            <a:endParaRPr lang="en-US" sz="1050" dirty="0"/>
          </a:p>
        </p:txBody>
      </p:sp>
      <p:sp>
        <p:nvSpPr>
          <p:cNvPr id="69" name="Shape 64"/>
          <p:cNvSpPr/>
          <p:nvPr/>
        </p:nvSpPr>
        <p:spPr>
          <a:xfrm>
            <a:off x="6896130" y="3905220"/>
            <a:ext cx="4838730" cy="1524030"/>
          </a:xfrm>
          <a:prstGeom prst="rect">
            <a:avLst/>
          </a:prstGeom>
          <a:solidFill>
            <a:srgbClr val="F2F7FC"/>
          </a:solidFill>
          <a:ln w="12700">
            <a:solidFill>
              <a:srgbClr val="9DC3E6"/>
            </a:solidFill>
            <a:prstDash val="solid"/>
          </a:ln>
        </p:spPr>
      </p:sp>
      <p:sp>
        <p:nvSpPr>
          <p:cNvPr id="70" name="Text 65"/>
          <p:cNvSpPr/>
          <p:nvPr/>
        </p:nvSpPr>
        <p:spPr>
          <a:xfrm>
            <a:off x="7058071" y="4000500"/>
            <a:ext cx="4514850" cy="209580"/>
          </a:xfrm>
          <a:prstGeom prst="rect">
            <a:avLst/>
          </a:prstGeom>
          <a:noFill/>
          <a:ln/>
        </p:spPr>
        <p:txBody>
          <a:bodyPr wrap="square" lIns="0" tIns="0" rIns="0" bIns="0" rtlCol="0" anchor="t"/>
          <a:lstStyle/>
          <a:p>
            <a:pPr indent="0" marL="0">
              <a:buNone/>
            </a:pPr>
            <a:r>
              <a:rPr lang="en-US" sz="1130" dirty="0">
                <a:solidFill>
                  <a:srgbClr val="3B3838"/>
                </a:solidFill>
                <a:latin typeface="맑은 고딕" pitchFamily="34" charset="0"/>
                <a:ea typeface="맑은 고딕" pitchFamily="34" charset="-122"/>
                <a:cs typeface="맑은 고딕" pitchFamily="34" charset="-120"/>
              </a:rPr>
              <a:t>📋  </a:t>
            </a:r>
            <a:pPr indent="0" marL="0">
              <a:buNone/>
            </a:pPr>
            <a:r>
              <a:rPr lang="en-US" sz="1090" b="1" dirty="0">
                <a:solidFill>
                  <a:srgbClr val="17365D"/>
                </a:solidFill>
                <a:latin typeface="맑은 고딕" pitchFamily="34" charset="0"/>
                <a:ea typeface="맑은 고딕" pitchFamily="34" charset="-122"/>
                <a:cs typeface="맑은 고딕" pitchFamily="34" charset="-120"/>
              </a:rPr>
              <a:t>출처 표기 양식 </a:t>
            </a:r>
            <a:pPr indent="0" marL="0">
              <a:buNone/>
            </a:pPr>
            <a:r>
              <a:rPr lang="en-US" sz="1090" dirty="0">
                <a:solidFill>
                  <a:srgbClr val="63666B"/>
                </a:solidFill>
                <a:latin typeface="맑은 고딕" pitchFamily="34" charset="0"/>
                <a:ea typeface="맑은 고딕" pitchFamily="34" charset="-122"/>
                <a:cs typeface="맑은 고딕" pitchFamily="34" charset="-120"/>
              </a:rPr>
              <a:t>(과제 끝에 붙여 제출)</a:t>
            </a:r>
            <a:endParaRPr lang="en-US" sz="1130" dirty="0"/>
          </a:p>
        </p:txBody>
      </p:sp>
      <p:sp>
        <p:nvSpPr>
          <p:cNvPr id="71" name="Text 66"/>
          <p:cNvSpPr/>
          <p:nvPr/>
        </p:nvSpPr>
        <p:spPr>
          <a:xfrm>
            <a:off x="7058071" y="4267230"/>
            <a:ext cx="4514850" cy="1104870"/>
          </a:xfrm>
          <a:prstGeom prst="rect">
            <a:avLst/>
          </a:prstGeom>
          <a:noFill/>
          <a:ln/>
        </p:spPr>
        <p:txBody>
          <a:bodyPr wrap="square" lIns="0" tIns="0" rIns="0" bIns="0" rtlCol="0" anchor="t"/>
          <a:lstStyle/>
          <a:p>
            <a:pPr indent="0" marL="0">
              <a:lnSpc>
                <a:spcPct val="132000"/>
              </a:lnSpc>
              <a:buNone/>
            </a:pPr>
            <a:r>
              <a:rPr lang="en-US" sz="1010" dirty="0">
                <a:solidFill>
                  <a:srgbClr val="3B3838"/>
                </a:solidFill>
                <a:latin typeface="Consolas" pitchFamily="34" charset="0"/>
                <a:ea typeface="Consolas" pitchFamily="34" charset="-122"/>
                <a:cs typeface="Consolas" pitchFamily="34" charset="-120"/>
              </a:rPr>
              <a:t>[생성형 AI 활용 표기]</a:t>
            </a:r>
            <a:endParaRPr lang="en-US" sz="1010" dirty="0"/>
          </a:p>
          <a:p>
            <a:pPr indent="0" marL="0">
              <a:lnSpc>
                <a:spcPct val="132000"/>
              </a:lnSpc>
              <a:buNone/>
            </a:pPr>
            <a:r>
              <a:rPr lang="en-US" sz="1010" dirty="0">
                <a:solidFill>
                  <a:srgbClr val="3B3838"/>
                </a:solidFill>
                <a:latin typeface="Consolas" pitchFamily="34" charset="0"/>
                <a:ea typeface="Consolas" pitchFamily="34" charset="-122"/>
                <a:cs typeface="Consolas" pitchFamily="34" charset="-120"/>
              </a:rPr>
              <a:t>· 사용 서비스 : [서비스명 / 모델명]</a:t>
            </a:r>
            <a:endParaRPr lang="en-US" sz="1010" dirty="0"/>
          </a:p>
          <a:p>
            <a:pPr indent="0" marL="0">
              <a:lnSpc>
                <a:spcPct val="132000"/>
              </a:lnSpc>
              <a:buNone/>
            </a:pPr>
            <a:r>
              <a:rPr lang="en-US" sz="1010" dirty="0">
                <a:solidFill>
                  <a:srgbClr val="3B3838"/>
                </a:solidFill>
                <a:latin typeface="Consolas" pitchFamily="34" charset="0"/>
                <a:ea typeface="Consolas" pitchFamily="34" charset="-122"/>
                <a:cs typeface="Consolas" pitchFamily="34" charset="-120"/>
              </a:rPr>
              <a:t>· 활용 목적   : [자료 조사 · 초안 작성 · 문장 다듬기 …]</a:t>
            </a:r>
            <a:endParaRPr lang="en-US" sz="1010" dirty="0"/>
          </a:p>
          <a:p>
            <a:pPr indent="0" marL="0">
              <a:lnSpc>
                <a:spcPct val="132000"/>
              </a:lnSpc>
              <a:buNone/>
            </a:pPr>
            <a:r>
              <a:rPr lang="en-US" sz="1010" dirty="0">
                <a:solidFill>
                  <a:srgbClr val="3B3838"/>
                </a:solidFill>
                <a:latin typeface="Consolas" pitchFamily="34" charset="0"/>
                <a:ea typeface="Consolas" pitchFamily="34" charset="-122"/>
                <a:cs typeface="Consolas" pitchFamily="34" charset="-120"/>
              </a:rPr>
              <a:t>· 활용 범위   : [예: 2장 초안, 전체의 약 20%]</a:t>
            </a:r>
            <a:endParaRPr lang="en-US" sz="1010" dirty="0"/>
          </a:p>
          <a:p>
            <a:pPr indent="0" marL="0">
              <a:lnSpc>
                <a:spcPct val="132000"/>
              </a:lnSpc>
              <a:buNone/>
            </a:pPr>
            <a:r>
              <a:rPr lang="en-US" sz="1010" dirty="0">
                <a:solidFill>
                  <a:srgbClr val="3B3838"/>
                </a:solidFill>
                <a:latin typeface="Consolas" pitchFamily="34" charset="0"/>
                <a:ea typeface="Consolas" pitchFamily="34" charset="-122"/>
                <a:cs typeface="Consolas" pitchFamily="34" charset="-120"/>
              </a:rPr>
              <a:t>· 사용 프롬프트 : [입력한 프롬프트 전문 · 메타 프롬프트 포함]</a:t>
            </a:r>
            <a:endParaRPr lang="en-US" sz="101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FF0F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970" cy="3562320"/>
          </a:xfrm>
          <a:prstGeom prst="rect">
            <a:avLst/>
          </a:prstGeom>
        </p:spPr>
      </p:pic>
      <p:pic>
        <p:nvPicPr>
          <p:cNvPr id="3" name="Image 1" descr="preencoded.png">    </p:cNvPr>
          <p:cNvPicPr>
            <a:picLocks noChangeAspect="1"/>
          </p:cNvPicPr>
          <p:nvPr/>
        </p:nvPicPr>
        <p:blipFill>
          <a:blip r:embed="rId2"/>
          <a:stretch>
            <a:fillRect/>
          </a:stretch>
        </p:blipFill>
        <p:spPr>
          <a:xfrm>
            <a:off x="0" y="3581430"/>
            <a:ext cx="5333970" cy="438180"/>
          </a:xfrm>
          <a:prstGeom prst="rect">
            <a:avLst/>
          </a:prstGeom>
        </p:spPr>
      </p:pic>
      <p:pic>
        <p:nvPicPr>
          <p:cNvPr id="4" name="Image 2" descr="preencoded.png">    </p:cNvPr>
          <p:cNvPicPr>
            <a:picLocks noChangeAspect="1"/>
          </p:cNvPicPr>
          <p:nvPr/>
        </p:nvPicPr>
        <p:blipFill>
          <a:blip r:embed="rId3"/>
          <a:stretch>
            <a:fillRect/>
          </a:stretch>
        </p:blipFill>
        <p:spPr>
          <a:xfrm>
            <a:off x="-57150" y="2324130"/>
            <a:ext cx="1714500" cy="1904970"/>
          </a:xfrm>
          <a:prstGeom prst="rect">
            <a:avLst/>
          </a:prstGeom>
        </p:spPr>
      </p:pic>
      <p:sp>
        <p:nvSpPr>
          <p:cNvPr id="5" name="Text 0"/>
          <p:cNvSpPr/>
          <p:nvPr/>
        </p:nvSpPr>
        <p:spPr>
          <a:xfrm>
            <a:off x="4762470" y="3714750"/>
            <a:ext cx="6934170" cy="609630"/>
          </a:xfrm>
          <a:prstGeom prst="rect">
            <a:avLst/>
          </a:prstGeom>
          <a:noFill/>
          <a:ln/>
        </p:spPr>
        <p:txBody>
          <a:bodyPr wrap="square" lIns="0" tIns="0" rIns="0" bIns="0" rtlCol="0" anchor="t"/>
          <a:lstStyle/>
          <a:p>
            <a:pPr algn="r" indent="0" marL="0">
              <a:buNone/>
            </a:pPr>
            <a:r>
              <a:rPr lang="en-US" sz="3450" b="1" dirty="0">
                <a:solidFill>
                  <a:srgbClr val="17365D"/>
                </a:solidFill>
                <a:latin typeface="맑은 고딕" pitchFamily="34" charset="0"/>
                <a:ea typeface="맑은 고딕" pitchFamily="34" charset="-122"/>
                <a:cs typeface="맑은 고딕" pitchFamily="34" charset="-120"/>
              </a:rPr>
              <a:t>다음 차시 안내</a:t>
            </a:r>
            <a:endParaRPr lang="en-US" sz="3450" dirty="0"/>
          </a:p>
        </p:txBody>
      </p:sp>
      <p:sp>
        <p:nvSpPr>
          <p:cNvPr id="6" name="Text 1"/>
          <p:cNvSpPr/>
          <p:nvPr/>
        </p:nvSpPr>
        <p:spPr>
          <a:xfrm>
            <a:off x="3810030" y="4381530"/>
            <a:ext cx="7886700" cy="666780"/>
          </a:xfrm>
          <a:prstGeom prst="rect">
            <a:avLst/>
          </a:prstGeom>
          <a:noFill/>
          <a:ln/>
        </p:spPr>
        <p:txBody>
          <a:bodyPr wrap="square" lIns="0" tIns="0" rIns="0" bIns="0" rtlCol="0" anchor="t"/>
          <a:lstStyle/>
          <a:p>
            <a:pPr algn="r" indent="0" marL="0">
              <a:lnSpc>
                <a:spcPct val="140000"/>
              </a:lnSpc>
              <a:buNone/>
            </a:pPr>
            <a:r>
              <a:rPr lang="en-US" sz="1580" dirty="0">
                <a:solidFill>
                  <a:srgbClr val="63666B"/>
                </a:solidFill>
                <a:latin typeface="맑은 고딕" pitchFamily="34" charset="0"/>
                <a:ea typeface="맑은 고딕" pitchFamily="34" charset="-122"/>
                <a:cs typeface="맑은 고딕" pitchFamily="34" charset="-120"/>
              </a:rPr>
              <a:t>제1강 창업과 기업가 정신</a:t>
            </a:r>
            <a:endParaRPr lang="en-US" sz="1580" dirty="0"/>
          </a:p>
          <a:p>
            <a:pPr algn="r" indent="0" marL="0">
              <a:lnSpc>
                <a:spcPct val="140000"/>
              </a:lnSpc>
              <a:buNone/>
            </a:pPr>
            <a:r>
              <a:rPr lang="en-US" sz="1580" dirty="0">
                <a:solidFill>
                  <a:srgbClr val="63666B"/>
                </a:solidFill>
                <a:latin typeface="맑은 고딕" pitchFamily="34" charset="0"/>
                <a:ea typeface="맑은 고딕" pitchFamily="34" charset="-122"/>
                <a:cs typeface="맑은 고딕" pitchFamily="34" charset="-120"/>
              </a:rPr>
              <a:t>(기업가정신의 개념, 기업가 정신의 구성요소)</a:t>
            </a:r>
            <a:endParaRPr lang="en-US" sz="1580" dirty="0"/>
          </a:p>
        </p:txBody>
      </p:sp>
      <p:pic>
        <p:nvPicPr>
          <p:cNvPr id="7" name="Image 3" descr="preencoded.png">    </p:cNvPr>
          <p:cNvPicPr>
            <a:picLocks noChangeAspect="1"/>
          </p:cNvPicPr>
          <p:nvPr/>
        </p:nvPicPr>
        <p:blipFill>
          <a:blip r:embed="rId4"/>
          <a:stretch>
            <a:fillRect/>
          </a:stretch>
        </p:blipFill>
        <p:spPr>
          <a:xfrm>
            <a:off x="10668030" y="6191220"/>
            <a:ext cx="1162020" cy="419070"/>
          </a:xfrm>
          <a:prstGeom prst="rect">
            <a:avLst/>
          </a:prstGeom>
        </p:spPr>
      </p:pic>
      <p:sp>
        <p:nvSpPr>
          <p:cNvPr id="8" name="Text 2"/>
          <p:cNvSpPr/>
          <p:nvPr/>
        </p:nvSpPr>
        <p:spPr>
          <a:xfrm>
            <a:off x="4876770" y="742950"/>
            <a:ext cx="6819870" cy="1143000"/>
          </a:xfrm>
          <a:prstGeom prst="rect">
            <a:avLst/>
          </a:prstGeom>
          <a:noFill/>
          <a:ln/>
        </p:spPr>
        <p:txBody>
          <a:bodyPr wrap="square" lIns="0" tIns="0" rIns="0" bIns="0" rtlCol="0" anchor="t"/>
          <a:lstStyle/>
          <a:p>
            <a:pPr algn="r" indent="0" marL="0">
              <a:lnSpc>
                <a:spcPct val="190000"/>
              </a:lnSpc>
              <a:buNone/>
            </a:pPr>
            <a:r>
              <a:rPr lang="en-US" sz="1730" b="1" i="1" dirty="0">
                <a:solidFill>
                  <a:srgbClr val="FFFFFF"/>
                </a:solidFill>
                <a:latin typeface="맑은 고딕" pitchFamily="34" charset="0"/>
                <a:ea typeface="맑은 고딕" pitchFamily="34" charset="-122"/>
                <a:cs typeface="맑은 고딕" pitchFamily="34" charset="-120"/>
              </a:rPr>
              <a:t>미래의 세대는 창업으로 기업가 정신이 필요하다.</a:t>
            </a:r>
            <a:endParaRPr lang="en-US" sz="1730" dirty="0"/>
          </a:p>
          <a:p>
            <a:pPr algn="r" indent="0" marL="0">
              <a:lnSpc>
                <a:spcPct val="190000"/>
              </a:lnSpc>
              <a:buNone/>
            </a:pPr>
            <a:r>
              <a:rPr lang="en-US" sz="1730" b="1" i="1" dirty="0">
                <a:solidFill>
                  <a:srgbClr val="FFFFFF"/>
                </a:solidFill>
                <a:latin typeface="맑은 고딕" pitchFamily="34" charset="0"/>
                <a:ea typeface="맑은 고딕" pitchFamily="34" charset="-122"/>
                <a:cs typeface="맑은 고딕" pitchFamily="34" charset="-120"/>
              </a:rPr>
              <a:t>기업가 정신의 개념과 기업가 정신의 구성요소를 확인한다.</a:t>
            </a:r>
            <a:endParaRPr lang="en-US" sz="173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동아방송예술대학교 창의융합교양학부</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제1강 오리엔테이션 · 창업과 기업가 정신</dc:title>
  <dc:subject>PptxGenJS Presentation</dc:subject>
  <dc:creator>정동엽</dc:creator>
  <cp:lastModifiedBy>정동엽</cp:lastModifiedBy>
  <cp:revision>1</cp:revision>
  <dcterms:created xsi:type="dcterms:W3CDTF">2026-08-22T11:49:54Z</dcterms:created>
  <dcterms:modified xsi:type="dcterms:W3CDTF">2026-08-22T11:49:54Z</dcterms:modified>
</cp:coreProperties>
</file>